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 id="2147483668" r:id="rId2"/>
    <p:sldMasterId id="2147483670" r:id="rId3"/>
  </p:sldMasterIdLst>
  <p:notesMasterIdLst>
    <p:notesMasterId r:id="rId38"/>
  </p:notesMasterIdLst>
  <p:sldIdLst>
    <p:sldId id="282" r:id="rId4"/>
    <p:sldId id="300" r:id="rId5"/>
    <p:sldId id="279" r:id="rId6"/>
    <p:sldId id="283" r:id="rId7"/>
    <p:sldId id="266" r:id="rId8"/>
    <p:sldId id="284" r:id="rId9"/>
    <p:sldId id="280" r:id="rId10"/>
    <p:sldId id="278" r:id="rId11"/>
    <p:sldId id="257" r:id="rId12"/>
    <p:sldId id="271" r:id="rId13"/>
    <p:sldId id="285" r:id="rId14"/>
    <p:sldId id="275" r:id="rId15"/>
    <p:sldId id="256" r:id="rId16"/>
    <p:sldId id="305" r:id="rId17"/>
    <p:sldId id="286" r:id="rId18"/>
    <p:sldId id="274" r:id="rId19"/>
    <p:sldId id="273" r:id="rId20"/>
    <p:sldId id="287" r:id="rId21"/>
    <p:sldId id="259" r:id="rId22"/>
    <p:sldId id="260" r:id="rId23"/>
    <p:sldId id="289" r:id="rId24"/>
    <p:sldId id="261" r:id="rId25"/>
    <p:sldId id="297" r:id="rId26"/>
    <p:sldId id="292" r:id="rId27"/>
    <p:sldId id="293" r:id="rId28"/>
    <p:sldId id="294" r:id="rId29"/>
    <p:sldId id="295" r:id="rId30"/>
    <p:sldId id="307" r:id="rId31"/>
    <p:sldId id="296" r:id="rId32"/>
    <p:sldId id="298" r:id="rId33"/>
    <p:sldId id="301" r:id="rId34"/>
    <p:sldId id="302" r:id="rId35"/>
    <p:sldId id="303" r:id="rId36"/>
    <p:sldId id="304" r:id="rId37"/>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A7E630F-A7FB-DD10-7352-308753DC00DD}" name="Abhinav Paul" initials="AP" userId="S::abhinav_paul_ampba2025w@isb.edu::912410e9-a97a-4bef-91d0-7b1c7eb51852" providerId="AD"/>
  <p188:author id="{54EA23F1-B03B-83CC-11CE-C6E807377A2E}" name="Abhishek Sampath" initials="AS" userId="S::abhishek_sampath_ampba2025w@isb.edu::d7e614bb-9acb-40db-b551-d03132faaacd" providerId="AD"/>
  <p188:author id="{CA6973FA-87BA-3834-618A-7762BF607014}" name="Abhishek Sampath" initials="AS" userId="S::Abhishek_Sampath_ampba2025W@isb.edu::d7e614bb-9acb-40db-b551-d03132faaacd"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563EB"/>
    <a:srgbClr val="1E3A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2F1B0F-5EAC-1A47-DBE2-3DD3FDC0E139}" v="587" dt="2026-05-29T10:02:16.402"/>
    <p1510:client id="{2AD7016E-2F69-7081-433A-684470287703}" v="40" dt="2026-05-31T04:09:21.333"/>
    <p1510:client id="{2F645D1D-326F-C315-7EB1-634471976846}" v="3" dt="2026-05-29T12:28:32.133"/>
    <p1510:client id="{33047AB4-16B0-4351-6781-ABF2D933D827}" v="38" dt="2026-05-30T12:44:11.731"/>
    <p1510:client id="{3C9C6FD7-B2F9-55E0-1060-1E74CF028607}" v="591" dt="2026-05-29T10:21:43.429"/>
    <p1510:client id="{419185A8-D069-B033-7A14-82039D6B13DD}" v="328" dt="2026-05-31T05:09:54.376"/>
    <p1510:client id="{554DD301-57DB-6CDA-0B1C-CD2EE577518B}" v="23" dt="2026-05-29T11:21:29.247"/>
    <p1510:client id="{69C7F869-D9D0-292F-2FE8-112AADB21470}" v="47" dt="2026-05-29T12:43:55.637"/>
    <p1510:client id="{9A83C0A5-84E1-4447-A3AF-AD054CC867D0}" v="28" dt="2026-05-29T11:48:23.388"/>
    <p1510:client id="{AD9EC3DE-8F28-D59E-E237-A00C86B7CC97}" v="223" dt="2026-05-29T09:15:18.523"/>
    <p1510:client id="{BAC6B47A-235D-1F85-B085-74085C345235}" v="110" dt="2026-05-31T03:47:54.396"/>
    <p1510:client id="{C9EB0BE0-F7B9-E00C-FF72-934BDA9CEB10}" v="604" dt="2026-05-29T11:17:39.848"/>
    <p1510:client id="{D67BB593-71E4-471D-F802-84F52E96A016}" v="890" dt="2026-05-29T09:38:07.975"/>
    <p1510:client id="{E534AC9F-D076-AD3C-045F-F5F37F6F6DCC}" v="19" dt="2026-05-29T12:07:28.68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880"/>
        <p:guide pos="216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presProps" Target="presProps.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microsoft.com/office/2018/10/relationships/authors" Target="author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microsoft.com/office/2015/10/relationships/revisionInfo" Target="revisionInfo.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F23B041-20A7-6A4F-B990-0F48094C3781}" type="doc">
      <dgm:prSet loTypeId="urn:microsoft.com/office/officeart/2005/8/layout/lProcess2" loCatId="" qsTypeId="urn:microsoft.com/office/officeart/2005/8/quickstyle/simple1" qsCatId="simple" csTypeId="urn:microsoft.com/office/officeart/2005/8/colors/accent1_2" csCatId="accent1" phldr="1"/>
      <dgm:spPr/>
      <dgm:t>
        <a:bodyPr/>
        <a:lstStyle/>
        <a:p>
          <a:endParaRPr lang="en-GB"/>
        </a:p>
      </dgm:t>
    </dgm:pt>
    <dgm:pt modelId="{E6A2FFF2-8955-4F41-828B-A50B621B7E3F}">
      <dgm:prSet phldrT="[Text]" custT="1"/>
      <dgm:spPr/>
      <dgm:t>
        <a:bodyPr anchor="ctr"/>
        <a:lstStyle/>
        <a:p>
          <a:r>
            <a:rPr lang="en-GB" sz="1600"/>
            <a:t>SENSE</a:t>
          </a:r>
        </a:p>
        <a:p>
          <a:r>
            <a:rPr lang="en-GB" sz="1000"/>
            <a:t>( Data Source )</a:t>
          </a:r>
        </a:p>
      </dgm:t>
    </dgm:pt>
    <dgm:pt modelId="{A1637585-4AEA-6548-A534-D0B29E1045BF}" type="parTrans" cxnId="{947AB9E4-65B6-9247-8530-61B5641F6BE3}">
      <dgm:prSet/>
      <dgm:spPr/>
      <dgm:t>
        <a:bodyPr/>
        <a:lstStyle/>
        <a:p>
          <a:endParaRPr lang="en-GB"/>
        </a:p>
      </dgm:t>
    </dgm:pt>
    <dgm:pt modelId="{085B1972-BA1E-0F40-A935-7B0A796BA77C}" type="sibTrans" cxnId="{947AB9E4-65B6-9247-8530-61B5641F6BE3}">
      <dgm:prSet/>
      <dgm:spPr/>
      <dgm:t>
        <a:bodyPr/>
        <a:lstStyle/>
        <a:p>
          <a:endParaRPr lang="en-GB"/>
        </a:p>
      </dgm:t>
    </dgm:pt>
    <dgm:pt modelId="{8C2E8826-F91D-3645-B1C1-7635C1EE85EC}">
      <dgm:prSet phldrT="[Text]"/>
      <dgm:spPr/>
      <dgm:t>
        <a:bodyPr anchor="ctr"/>
        <a:lstStyle/>
        <a:p>
          <a:r>
            <a:rPr lang="en-GB"/>
            <a:t>Services Tickets</a:t>
          </a:r>
        </a:p>
      </dgm:t>
    </dgm:pt>
    <dgm:pt modelId="{21414FD1-6EB3-FC48-8475-4FE32E1F95AB}" type="parTrans" cxnId="{36B6AD9E-AA07-2E4B-B908-63C59F0C4FE2}">
      <dgm:prSet/>
      <dgm:spPr/>
      <dgm:t>
        <a:bodyPr/>
        <a:lstStyle/>
        <a:p>
          <a:endParaRPr lang="en-GB"/>
        </a:p>
      </dgm:t>
    </dgm:pt>
    <dgm:pt modelId="{390306B6-4087-B241-B801-3DC403D4BAD5}" type="sibTrans" cxnId="{36B6AD9E-AA07-2E4B-B908-63C59F0C4FE2}">
      <dgm:prSet/>
      <dgm:spPr/>
      <dgm:t>
        <a:bodyPr/>
        <a:lstStyle/>
        <a:p>
          <a:endParaRPr lang="en-GB"/>
        </a:p>
      </dgm:t>
    </dgm:pt>
    <dgm:pt modelId="{4C2E58D8-24B8-1B49-B5EB-0D6314A005EB}">
      <dgm:prSet phldrT="[Text]"/>
      <dgm:spPr/>
      <dgm:t>
        <a:bodyPr anchor="ctr"/>
        <a:lstStyle/>
        <a:p>
          <a:r>
            <a:rPr lang="en-GB"/>
            <a:t>Asset Manager</a:t>
          </a:r>
        </a:p>
      </dgm:t>
    </dgm:pt>
    <dgm:pt modelId="{97B076C2-4084-594E-B400-74F2F5740710}" type="parTrans" cxnId="{5D3C2D9D-A67E-F34D-A810-519426FCC178}">
      <dgm:prSet/>
      <dgm:spPr/>
      <dgm:t>
        <a:bodyPr/>
        <a:lstStyle/>
        <a:p>
          <a:endParaRPr lang="en-GB"/>
        </a:p>
      </dgm:t>
    </dgm:pt>
    <dgm:pt modelId="{BA31EC55-D716-1041-A40D-2D049BC65C19}" type="sibTrans" cxnId="{5D3C2D9D-A67E-F34D-A810-519426FCC178}">
      <dgm:prSet/>
      <dgm:spPr/>
      <dgm:t>
        <a:bodyPr/>
        <a:lstStyle/>
        <a:p>
          <a:endParaRPr lang="en-GB"/>
        </a:p>
      </dgm:t>
    </dgm:pt>
    <dgm:pt modelId="{5D1AEBCF-7035-B04D-BFDC-07E33E52C17B}">
      <dgm:prSet phldrT="[Text]" custT="1"/>
      <dgm:spPr/>
      <dgm:t>
        <a:bodyPr anchor="ctr"/>
        <a:lstStyle/>
        <a:p>
          <a:r>
            <a:rPr lang="en-GB" sz="1600">
              <a:latin typeface="Franklin Gothic Book" panose="020B0503020102020204"/>
            </a:rPr>
            <a:t>PROCESS</a:t>
          </a:r>
          <a:endParaRPr lang="en-GB" sz="1600"/>
        </a:p>
        <a:p>
          <a:pPr rtl="0"/>
          <a:r>
            <a:rPr lang="en-GB" sz="1000"/>
            <a:t>( Data </a:t>
          </a:r>
          <a:r>
            <a:rPr lang="en-GB" sz="1000">
              <a:latin typeface="Franklin Gothic Book" panose="020B0503020102020204"/>
            </a:rPr>
            <a:t>Processing and</a:t>
          </a:r>
          <a:r>
            <a:rPr lang="en-GB" sz="1000"/>
            <a:t> Feature Layer )</a:t>
          </a:r>
        </a:p>
      </dgm:t>
    </dgm:pt>
    <dgm:pt modelId="{3D06116E-5006-6244-A678-5DE73FAA3D72}" type="parTrans" cxnId="{953122EB-0335-6D4A-B2CD-C8224326BEF7}">
      <dgm:prSet/>
      <dgm:spPr/>
      <dgm:t>
        <a:bodyPr/>
        <a:lstStyle/>
        <a:p>
          <a:endParaRPr lang="en-GB"/>
        </a:p>
      </dgm:t>
    </dgm:pt>
    <dgm:pt modelId="{C3276C2B-7791-4F43-8B68-635BD93F76BE}" type="sibTrans" cxnId="{953122EB-0335-6D4A-B2CD-C8224326BEF7}">
      <dgm:prSet/>
      <dgm:spPr/>
      <dgm:t>
        <a:bodyPr/>
        <a:lstStyle/>
        <a:p>
          <a:endParaRPr lang="en-GB"/>
        </a:p>
      </dgm:t>
    </dgm:pt>
    <dgm:pt modelId="{07BDF0AD-D60D-D242-824F-D586F6E7F960}">
      <dgm:prSet phldrT="[Text]"/>
      <dgm:spPr/>
      <dgm:t>
        <a:bodyPr anchor="ctr"/>
        <a:lstStyle/>
        <a:p>
          <a:r>
            <a:rPr lang="en-GB"/>
            <a:t>Data Cleaning</a:t>
          </a:r>
        </a:p>
      </dgm:t>
    </dgm:pt>
    <dgm:pt modelId="{1172D6C7-940A-4347-8FDC-A25545C69B47}" type="parTrans" cxnId="{D4A6F95B-2342-F44B-835A-75F69CC8E22D}">
      <dgm:prSet/>
      <dgm:spPr/>
      <dgm:t>
        <a:bodyPr/>
        <a:lstStyle/>
        <a:p>
          <a:endParaRPr lang="en-GB"/>
        </a:p>
      </dgm:t>
    </dgm:pt>
    <dgm:pt modelId="{E3D894A0-5992-7848-A826-4D193D1BF4BE}" type="sibTrans" cxnId="{D4A6F95B-2342-F44B-835A-75F69CC8E22D}">
      <dgm:prSet/>
      <dgm:spPr/>
      <dgm:t>
        <a:bodyPr/>
        <a:lstStyle/>
        <a:p>
          <a:endParaRPr lang="en-GB"/>
        </a:p>
      </dgm:t>
    </dgm:pt>
    <dgm:pt modelId="{52492B77-0FB6-0744-87B0-ABBFC92E5877}">
      <dgm:prSet phldrT="[Text]"/>
      <dgm:spPr/>
      <dgm:t>
        <a:bodyPr anchor="ctr"/>
        <a:lstStyle/>
        <a:p>
          <a:r>
            <a:rPr lang="en-GB"/>
            <a:t>Data </a:t>
          </a:r>
          <a:r>
            <a:rPr lang="en-GB">
              <a:latin typeface="Franklin Gothic Book" panose="020B0503020102020204"/>
            </a:rPr>
            <a:t>Processing</a:t>
          </a:r>
          <a:endParaRPr lang="en-GB"/>
        </a:p>
      </dgm:t>
    </dgm:pt>
    <dgm:pt modelId="{83BEC38B-C0A6-3F4D-ACC9-D8CFB5C9F94C}" type="parTrans" cxnId="{47004D0C-7516-314A-9178-21DE9414D560}">
      <dgm:prSet/>
      <dgm:spPr/>
      <dgm:t>
        <a:bodyPr/>
        <a:lstStyle/>
        <a:p>
          <a:endParaRPr lang="en-GB"/>
        </a:p>
      </dgm:t>
    </dgm:pt>
    <dgm:pt modelId="{9B8292F4-A2E1-C641-B720-6C7743ACB6C6}" type="sibTrans" cxnId="{47004D0C-7516-314A-9178-21DE9414D560}">
      <dgm:prSet/>
      <dgm:spPr/>
      <dgm:t>
        <a:bodyPr/>
        <a:lstStyle/>
        <a:p>
          <a:endParaRPr lang="en-GB"/>
        </a:p>
      </dgm:t>
    </dgm:pt>
    <dgm:pt modelId="{BBACE4CF-F0F6-7749-B260-8B3676D1EE39}">
      <dgm:prSet phldrT="[Text]" custT="1"/>
      <dgm:spPr/>
      <dgm:t>
        <a:bodyPr anchor="ctr"/>
        <a:lstStyle/>
        <a:p>
          <a:r>
            <a:rPr lang="en-GB" sz="1600"/>
            <a:t>PREDICT</a:t>
          </a:r>
          <a:endParaRPr lang="en-GB" sz="1700"/>
        </a:p>
        <a:p>
          <a:r>
            <a:rPr lang="en-GB" sz="1000"/>
            <a:t>( AI and ML Modules )</a:t>
          </a:r>
        </a:p>
      </dgm:t>
    </dgm:pt>
    <dgm:pt modelId="{E4D873FB-4529-BD47-9061-2E70674F8C5D}" type="parTrans" cxnId="{11C28155-8368-BE44-9245-585CC8D8EC56}">
      <dgm:prSet/>
      <dgm:spPr/>
      <dgm:t>
        <a:bodyPr/>
        <a:lstStyle/>
        <a:p>
          <a:endParaRPr lang="en-GB"/>
        </a:p>
      </dgm:t>
    </dgm:pt>
    <dgm:pt modelId="{CA970261-33B1-F743-9566-109E301632C7}" type="sibTrans" cxnId="{11C28155-8368-BE44-9245-585CC8D8EC56}">
      <dgm:prSet/>
      <dgm:spPr/>
      <dgm:t>
        <a:bodyPr/>
        <a:lstStyle/>
        <a:p>
          <a:endParaRPr lang="en-GB"/>
        </a:p>
      </dgm:t>
    </dgm:pt>
    <dgm:pt modelId="{BD810D76-2AF7-5742-A4EE-301347B40500}">
      <dgm:prSet phldrT="[Text]"/>
      <dgm:spPr/>
      <dgm:t>
        <a:bodyPr anchor="ctr"/>
        <a:lstStyle/>
        <a:p>
          <a:r>
            <a:rPr lang="en-GB"/>
            <a:t>Hardware maintenance</a:t>
          </a:r>
        </a:p>
      </dgm:t>
    </dgm:pt>
    <dgm:pt modelId="{B1BEE8CA-C8D5-E94D-A2AB-87FB0CD1BA7A}" type="parTrans" cxnId="{D07E3BCC-7E73-E549-A93B-D74059DF8BBE}">
      <dgm:prSet/>
      <dgm:spPr/>
      <dgm:t>
        <a:bodyPr/>
        <a:lstStyle/>
        <a:p>
          <a:endParaRPr lang="en-GB"/>
        </a:p>
      </dgm:t>
    </dgm:pt>
    <dgm:pt modelId="{517D3F04-F385-E841-A47D-39508DAE47DF}" type="sibTrans" cxnId="{D07E3BCC-7E73-E549-A93B-D74059DF8BBE}">
      <dgm:prSet/>
      <dgm:spPr/>
      <dgm:t>
        <a:bodyPr/>
        <a:lstStyle/>
        <a:p>
          <a:endParaRPr lang="en-GB"/>
        </a:p>
      </dgm:t>
    </dgm:pt>
    <dgm:pt modelId="{23334B50-DACD-B84F-84C1-B165BC491049}">
      <dgm:prSet phldrT="[Text]"/>
      <dgm:spPr/>
      <dgm:t>
        <a:bodyPr anchor="ctr"/>
        <a:lstStyle/>
        <a:p>
          <a:r>
            <a:rPr lang="en-SG" b="0"/>
            <a:t>NLP Ticket Classification</a:t>
          </a:r>
          <a:endParaRPr lang="en-GB" b="0"/>
        </a:p>
      </dgm:t>
    </dgm:pt>
    <dgm:pt modelId="{225F6DF6-F636-AE41-9BEF-A1619D84BC7C}" type="parTrans" cxnId="{C30F3B16-6613-1648-8B57-16102FC471C9}">
      <dgm:prSet/>
      <dgm:spPr/>
      <dgm:t>
        <a:bodyPr/>
        <a:lstStyle/>
        <a:p>
          <a:endParaRPr lang="en-GB"/>
        </a:p>
      </dgm:t>
    </dgm:pt>
    <dgm:pt modelId="{3D183498-91A9-0440-99C1-28E77E5AFA23}" type="sibTrans" cxnId="{C30F3B16-6613-1648-8B57-16102FC471C9}">
      <dgm:prSet/>
      <dgm:spPr/>
      <dgm:t>
        <a:bodyPr/>
        <a:lstStyle/>
        <a:p>
          <a:endParaRPr lang="en-GB"/>
        </a:p>
      </dgm:t>
    </dgm:pt>
    <dgm:pt modelId="{618A1641-2927-D949-8474-15D2AD9ECF44}">
      <dgm:prSet custT="1"/>
      <dgm:spPr/>
      <dgm:t>
        <a:bodyPr anchor="ctr"/>
        <a:lstStyle/>
        <a:p>
          <a:r>
            <a:rPr lang="en-GB" sz="1600"/>
            <a:t>COORDINATE</a:t>
          </a:r>
          <a:endParaRPr lang="en-GB" sz="1700"/>
        </a:p>
        <a:p>
          <a:r>
            <a:rPr lang="en-GB" sz="1000"/>
            <a:t>( Optimization Algorithm )</a:t>
          </a:r>
        </a:p>
      </dgm:t>
    </dgm:pt>
    <dgm:pt modelId="{E496706C-1284-4C49-B195-C8091E9AF46D}" type="parTrans" cxnId="{0E17E7AB-D1B8-3741-81F7-1549C12E59C6}">
      <dgm:prSet/>
      <dgm:spPr/>
      <dgm:t>
        <a:bodyPr/>
        <a:lstStyle/>
        <a:p>
          <a:endParaRPr lang="en-GB"/>
        </a:p>
      </dgm:t>
    </dgm:pt>
    <dgm:pt modelId="{E799AA83-AA46-3F47-97EE-1D4125D5A3CC}" type="sibTrans" cxnId="{0E17E7AB-D1B8-3741-81F7-1549C12E59C6}">
      <dgm:prSet/>
      <dgm:spPr/>
      <dgm:t>
        <a:bodyPr/>
        <a:lstStyle/>
        <a:p>
          <a:endParaRPr lang="en-GB"/>
        </a:p>
      </dgm:t>
    </dgm:pt>
    <dgm:pt modelId="{450352FF-401B-7E4F-8A8E-113243EC8109}">
      <dgm:prSet custT="1"/>
      <dgm:spPr/>
      <dgm:t>
        <a:bodyPr anchor="ctr"/>
        <a:lstStyle/>
        <a:p>
          <a:r>
            <a:rPr lang="en-GB" sz="1600"/>
            <a:t>DECIDE</a:t>
          </a:r>
          <a:endParaRPr lang="en-GB" sz="2800"/>
        </a:p>
        <a:p>
          <a:r>
            <a:rPr lang="en-GB" sz="1000"/>
            <a:t>( Decision Engine )</a:t>
          </a:r>
        </a:p>
      </dgm:t>
    </dgm:pt>
    <dgm:pt modelId="{1F9A8731-A371-BB45-B100-4275A3BA230A}" type="parTrans" cxnId="{0A1F6C09-57C8-E143-9706-0F07F0655677}">
      <dgm:prSet/>
      <dgm:spPr/>
      <dgm:t>
        <a:bodyPr/>
        <a:lstStyle/>
        <a:p>
          <a:endParaRPr lang="en-GB"/>
        </a:p>
      </dgm:t>
    </dgm:pt>
    <dgm:pt modelId="{1CA584EC-927C-ED4E-BB87-850748A454A5}" type="sibTrans" cxnId="{0A1F6C09-57C8-E143-9706-0F07F0655677}">
      <dgm:prSet/>
      <dgm:spPr/>
      <dgm:t>
        <a:bodyPr/>
        <a:lstStyle/>
        <a:p>
          <a:endParaRPr lang="en-GB"/>
        </a:p>
      </dgm:t>
    </dgm:pt>
    <dgm:pt modelId="{5BB51E20-8977-C044-A30C-0C33D4D25AB4}">
      <dgm:prSet custT="1"/>
      <dgm:spPr/>
      <dgm:t>
        <a:bodyPr anchor="ctr"/>
        <a:lstStyle/>
        <a:p>
          <a:r>
            <a:rPr lang="en-GB" sz="1600"/>
            <a:t>ACT</a:t>
          </a:r>
          <a:endParaRPr lang="en-GB" sz="3100"/>
        </a:p>
        <a:p>
          <a:r>
            <a:rPr lang="en-GB" sz="1000"/>
            <a:t>( Actions taken )</a:t>
          </a:r>
        </a:p>
      </dgm:t>
    </dgm:pt>
    <dgm:pt modelId="{9A53F0A3-2F74-3248-8CDC-8A79E7B6819E}" type="parTrans" cxnId="{9F18AA5D-614E-D44C-BAA1-6C46D7FD95F0}">
      <dgm:prSet/>
      <dgm:spPr/>
      <dgm:t>
        <a:bodyPr/>
        <a:lstStyle/>
        <a:p>
          <a:endParaRPr lang="en-GB"/>
        </a:p>
      </dgm:t>
    </dgm:pt>
    <dgm:pt modelId="{7C7907D5-9ED9-8E4C-AEE6-B075D33E8642}" type="sibTrans" cxnId="{9F18AA5D-614E-D44C-BAA1-6C46D7FD95F0}">
      <dgm:prSet/>
      <dgm:spPr/>
      <dgm:t>
        <a:bodyPr/>
        <a:lstStyle/>
        <a:p>
          <a:endParaRPr lang="en-GB"/>
        </a:p>
      </dgm:t>
    </dgm:pt>
    <dgm:pt modelId="{85680BA2-AA3D-F446-A4C1-4075DC3ECF66}">
      <dgm:prSet custT="1"/>
      <dgm:spPr/>
      <dgm:t>
        <a:bodyPr anchor="ctr"/>
        <a:lstStyle/>
        <a:p>
          <a:r>
            <a:rPr lang="en-GB" sz="1600"/>
            <a:t>LEARN</a:t>
          </a:r>
          <a:endParaRPr lang="en-GB" sz="3100"/>
        </a:p>
        <a:p>
          <a:pPr rtl="0"/>
          <a:r>
            <a:rPr lang="en-GB" sz="1000"/>
            <a:t>( Monitoring and Reinforced Learning </a:t>
          </a:r>
          <a:r>
            <a:rPr lang="en-GB" sz="1000">
              <a:latin typeface="Franklin Gothic Book" panose="020B0503020102020204"/>
            </a:rPr>
            <a:t>: Human in Loop </a:t>
          </a:r>
          <a:r>
            <a:rPr lang="en-GB" sz="1000"/>
            <a:t>)</a:t>
          </a:r>
        </a:p>
      </dgm:t>
    </dgm:pt>
    <dgm:pt modelId="{79F66098-375E-5349-BE04-AD185F71B0C3}" type="parTrans" cxnId="{DF122F1E-8EF6-614A-AABD-E90463198E9F}">
      <dgm:prSet/>
      <dgm:spPr/>
      <dgm:t>
        <a:bodyPr/>
        <a:lstStyle/>
        <a:p>
          <a:endParaRPr lang="en-GB"/>
        </a:p>
      </dgm:t>
    </dgm:pt>
    <dgm:pt modelId="{F1A00A43-2E03-D445-87DE-F6AED5E973B1}" type="sibTrans" cxnId="{DF122F1E-8EF6-614A-AABD-E90463198E9F}">
      <dgm:prSet/>
      <dgm:spPr/>
      <dgm:t>
        <a:bodyPr/>
        <a:lstStyle/>
        <a:p>
          <a:endParaRPr lang="en-GB"/>
        </a:p>
      </dgm:t>
    </dgm:pt>
    <dgm:pt modelId="{84EA5854-37AE-394A-884D-26B2FC7052D7}">
      <dgm:prSet/>
      <dgm:spPr/>
      <dgm:t>
        <a:bodyPr anchor="ctr"/>
        <a:lstStyle/>
        <a:p>
          <a:r>
            <a:rPr lang="en-GB"/>
            <a:t>Engineer Master</a:t>
          </a:r>
        </a:p>
      </dgm:t>
    </dgm:pt>
    <dgm:pt modelId="{59773D26-02AF-1743-9B58-0C3354AAE38D}" type="parTrans" cxnId="{603BC0A2-1D74-6F43-A8DE-9D3520A4D14E}">
      <dgm:prSet/>
      <dgm:spPr/>
      <dgm:t>
        <a:bodyPr/>
        <a:lstStyle/>
        <a:p>
          <a:endParaRPr lang="en-GB"/>
        </a:p>
      </dgm:t>
    </dgm:pt>
    <dgm:pt modelId="{CB997996-C36B-E74E-8EC5-21E499218C28}" type="sibTrans" cxnId="{603BC0A2-1D74-6F43-A8DE-9D3520A4D14E}">
      <dgm:prSet/>
      <dgm:spPr/>
      <dgm:t>
        <a:bodyPr/>
        <a:lstStyle/>
        <a:p>
          <a:endParaRPr lang="en-GB"/>
        </a:p>
      </dgm:t>
    </dgm:pt>
    <dgm:pt modelId="{1D1521C1-AAC5-C841-B6D5-7A36AD6673F9}">
      <dgm:prSet/>
      <dgm:spPr/>
      <dgm:t>
        <a:bodyPr anchor="ctr"/>
        <a:lstStyle/>
        <a:p>
          <a:r>
            <a:rPr lang="en-GB"/>
            <a:t>Hardware Telemetry</a:t>
          </a:r>
        </a:p>
      </dgm:t>
    </dgm:pt>
    <dgm:pt modelId="{EFCA2E27-D304-134A-91DE-4E4819C257A1}" type="parTrans" cxnId="{7B9744F0-AC61-6641-BF51-BC24B2F8D205}">
      <dgm:prSet/>
      <dgm:spPr/>
      <dgm:t>
        <a:bodyPr/>
        <a:lstStyle/>
        <a:p>
          <a:endParaRPr lang="en-GB"/>
        </a:p>
      </dgm:t>
    </dgm:pt>
    <dgm:pt modelId="{32B4193B-1F6E-BE41-9355-71ECF5BA2EA9}" type="sibTrans" cxnId="{7B9744F0-AC61-6641-BF51-BC24B2F8D205}">
      <dgm:prSet/>
      <dgm:spPr/>
      <dgm:t>
        <a:bodyPr/>
        <a:lstStyle/>
        <a:p>
          <a:endParaRPr lang="en-GB"/>
        </a:p>
      </dgm:t>
    </dgm:pt>
    <dgm:pt modelId="{F292FC73-C6DD-A542-92AA-2DB3950A5997}">
      <dgm:prSet/>
      <dgm:spPr/>
      <dgm:t>
        <a:bodyPr anchor="ctr"/>
        <a:lstStyle/>
        <a:p>
          <a:r>
            <a:rPr lang="en-GB"/>
            <a:t>Maintenance History</a:t>
          </a:r>
        </a:p>
      </dgm:t>
    </dgm:pt>
    <dgm:pt modelId="{DB397BAC-19F0-9545-80F2-757D51645F27}" type="parTrans" cxnId="{C222C90C-682E-DE4B-BE60-3D10A4266830}">
      <dgm:prSet/>
      <dgm:spPr/>
      <dgm:t>
        <a:bodyPr/>
        <a:lstStyle/>
        <a:p>
          <a:endParaRPr lang="en-GB"/>
        </a:p>
      </dgm:t>
    </dgm:pt>
    <dgm:pt modelId="{D27251C6-F6D9-804A-843A-3D50DA8BA6CF}" type="sibTrans" cxnId="{C222C90C-682E-DE4B-BE60-3D10A4266830}">
      <dgm:prSet/>
      <dgm:spPr/>
      <dgm:t>
        <a:bodyPr/>
        <a:lstStyle/>
        <a:p>
          <a:endParaRPr lang="en-GB"/>
        </a:p>
      </dgm:t>
    </dgm:pt>
    <dgm:pt modelId="{0FB82AFE-9AC5-6945-8B58-44F5E6A60032}">
      <dgm:prSet/>
      <dgm:spPr/>
      <dgm:t>
        <a:bodyPr anchor="ctr"/>
        <a:lstStyle/>
        <a:p>
          <a:r>
            <a:rPr lang="en-GB"/>
            <a:t>Client Master</a:t>
          </a:r>
        </a:p>
      </dgm:t>
    </dgm:pt>
    <dgm:pt modelId="{DBE4DC3B-FD48-DE48-9B04-4DC87DEEC728}" type="parTrans" cxnId="{CE810277-0FF3-374B-A097-16933534F7AB}">
      <dgm:prSet/>
      <dgm:spPr/>
      <dgm:t>
        <a:bodyPr/>
        <a:lstStyle/>
        <a:p>
          <a:endParaRPr lang="en-GB"/>
        </a:p>
      </dgm:t>
    </dgm:pt>
    <dgm:pt modelId="{EC9AAE7E-400E-C540-B075-EF63A7F5DF7D}" type="sibTrans" cxnId="{CE810277-0FF3-374B-A097-16933534F7AB}">
      <dgm:prSet/>
      <dgm:spPr/>
      <dgm:t>
        <a:bodyPr/>
        <a:lstStyle/>
        <a:p>
          <a:endParaRPr lang="en-GB"/>
        </a:p>
      </dgm:t>
    </dgm:pt>
    <dgm:pt modelId="{CA76132A-78FA-C143-B56B-9C925F845E5F}">
      <dgm:prSet/>
      <dgm:spPr/>
      <dgm:t>
        <a:bodyPr anchor="ctr"/>
        <a:lstStyle/>
        <a:p>
          <a:r>
            <a:rPr lang="en-GB"/>
            <a:t>Inventory History</a:t>
          </a:r>
        </a:p>
      </dgm:t>
    </dgm:pt>
    <dgm:pt modelId="{CC256D06-0430-7044-B05A-5E5D020D8607}" type="parTrans" cxnId="{9BD62170-87D9-A743-A524-21C407585741}">
      <dgm:prSet/>
      <dgm:spPr/>
      <dgm:t>
        <a:bodyPr/>
        <a:lstStyle/>
        <a:p>
          <a:endParaRPr lang="en-GB"/>
        </a:p>
      </dgm:t>
    </dgm:pt>
    <dgm:pt modelId="{F95A7A9B-2E56-2F4E-AFC6-E7D1085EB23E}" type="sibTrans" cxnId="{9BD62170-87D9-A743-A524-21C407585741}">
      <dgm:prSet/>
      <dgm:spPr/>
      <dgm:t>
        <a:bodyPr/>
        <a:lstStyle/>
        <a:p>
          <a:endParaRPr lang="en-GB"/>
        </a:p>
      </dgm:t>
    </dgm:pt>
    <dgm:pt modelId="{80FE84DE-9FAB-674B-A7A1-78CE2EE89DA9}">
      <dgm:prSet/>
      <dgm:spPr/>
      <dgm:t>
        <a:bodyPr anchor="ctr"/>
        <a:lstStyle/>
        <a:p>
          <a:r>
            <a:rPr lang="en-GB"/>
            <a:t>Feature Engineering</a:t>
          </a:r>
        </a:p>
      </dgm:t>
    </dgm:pt>
    <dgm:pt modelId="{8CA5C642-4059-E642-9CD7-D534BFDFBD8E}" type="parTrans" cxnId="{70E14598-CC75-B142-8877-24B40FA23FF5}">
      <dgm:prSet/>
      <dgm:spPr/>
      <dgm:t>
        <a:bodyPr/>
        <a:lstStyle/>
        <a:p>
          <a:endParaRPr lang="en-GB"/>
        </a:p>
      </dgm:t>
    </dgm:pt>
    <dgm:pt modelId="{CEBFEFA0-8E49-5C4A-999C-FC4D6EB806E2}" type="sibTrans" cxnId="{70E14598-CC75-B142-8877-24B40FA23FF5}">
      <dgm:prSet/>
      <dgm:spPr/>
      <dgm:t>
        <a:bodyPr/>
        <a:lstStyle/>
        <a:p>
          <a:endParaRPr lang="en-GB"/>
        </a:p>
      </dgm:t>
    </dgm:pt>
    <dgm:pt modelId="{1EC1AFD5-2566-294F-A9BB-FABD79CED2BB}">
      <dgm:prSet/>
      <dgm:spPr/>
      <dgm:t>
        <a:bodyPr/>
        <a:lstStyle/>
        <a:p>
          <a:pPr>
            <a:buFont typeface="Arial" panose="020B0604020202020204" pitchFamily="34" charset="0"/>
            <a:buChar char="•"/>
          </a:pPr>
          <a:r>
            <a:rPr lang="en-US" b="0"/>
            <a:t>Ticket Knowledge Base / Historical Ticket Repository</a:t>
          </a:r>
          <a:endParaRPr lang="en-GB" b="0"/>
        </a:p>
      </dgm:t>
    </dgm:pt>
    <dgm:pt modelId="{BB330986-BD49-DF47-A865-95AFED50DBAE}" type="parTrans" cxnId="{39864D57-5AA5-B045-9B15-E93DECFF2959}">
      <dgm:prSet/>
      <dgm:spPr/>
      <dgm:t>
        <a:bodyPr/>
        <a:lstStyle/>
        <a:p>
          <a:endParaRPr lang="en-GB"/>
        </a:p>
      </dgm:t>
    </dgm:pt>
    <dgm:pt modelId="{99863251-53F6-F04C-9850-8D5D5DABC805}" type="sibTrans" cxnId="{39864D57-5AA5-B045-9B15-E93DECFF2959}">
      <dgm:prSet/>
      <dgm:spPr/>
      <dgm:t>
        <a:bodyPr/>
        <a:lstStyle/>
        <a:p>
          <a:endParaRPr lang="en-GB"/>
        </a:p>
      </dgm:t>
    </dgm:pt>
    <dgm:pt modelId="{64565257-B61F-7E46-B70C-C08F2EAB09F1}">
      <dgm:prSet phldrT="[Text]"/>
      <dgm:spPr/>
      <dgm:t>
        <a:bodyPr anchor="ctr"/>
        <a:lstStyle/>
        <a:p>
          <a:r>
            <a:rPr lang="en-GB"/>
            <a:t>SLA breach</a:t>
          </a:r>
        </a:p>
      </dgm:t>
    </dgm:pt>
    <dgm:pt modelId="{C9C341B1-BF85-094D-B46B-A4163BC354BF}" type="parTrans" cxnId="{E51EBE42-7AB8-2544-B7BD-BF0637D9B904}">
      <dgm:prSet/>
      <dgm:spPr/>
      <dgm:t>
        <a:bodyPr/>
        <a:lstStyle/>
        <a:p>
          <a:endParaRPr lang="en-GB"/>
        </a:p>
      </dgm:t>
    </dgm:pt>
    <dgm:pt modelId="{F0F6B0BC-54EB-7048-AEFD-129EF12D07D1}" type="sibTrans" cxnId="{E51EBE42-7AB8-2544-B7BD-BF0637D9B904}">
      <dgm:prSet/>
      <dgm:spPr/>
      <dgm:t>
        <a:bodyPr/>
        <a:lstStyle/>
        <a:p>
          <a:endParaRPr lang="en-GB"/>
        </a:p>
      </dgm:t>
    </dgm:pt>
    <dgm:pt modelId="{AA17BFDB-7F5D-C547-9367-176365F29CDA}">
      <dgm:prSet phldrT="[Text]"/>
      <dgm:spPr/>
      <dgm:t>
        <a:bodyPr anchor="ctr"/>
        <a:lstStyle/>
        <a:p>
          <a:r>
            <a:rPr lang="en-GB"/>
            <a:t>Failure Prediction - Time series Ensemble Model</a:t>
          </a:r>
        </a:p>
      </dgm:t>
    </dgm:pt>
    <dgm:pt modelId="{1DDE4CDB-01E4-4E49-B762-A7AE997D33B3}" type="parTrans" cxnId="{2F384094-0C3A-EE45-8686-E3433C03A036}">
      <dgm:prSet/>
      <dgm:spPr/>
      <dgm:t>
        <a:bodyPr/>
        <a:lstStyle/>
        <a:p>
          <a:endParaRPr lang="en-GB"/>
        </a:p>
      </dgm:t>
    </dgm:pt>
    <dgm:pt modelId="{D64F7AD1-E697-FF45-82CF-EB56BF26370A}" type="sibTrans" cxnId="{2F384094-0C3A-EE45-8686-E3433C03A036}">
      <dgm:prSet/>
      <dgm:spPr/>
      <dgm:t>
        <a:bodyPr/>
        <a:lstStyle/>
        <a:p>
          <a:endParaRPr lang="en-GB"/>
        </a:p>
      </dgm:t>
    </dgm:pt>
    <dgm:pt modelId="{D0EBA0B2-0E94-E94E-AC80-B2984D5766A6}">
      <dgm:prSet phldrT="[Text]"/>
      <dgm:spPr/>
      <dgm:t>
        <a:bodyPr anchor="ctr"/>
        <a:lstStyle/>
        <a:p>
          <a:r>
            <a:rPr lang="en-GB"/>
            <a:t>Classification Model</a:t>
          </a:r>
        </a:p>
      </dgm:t>
    </dgm:pt>
    <dgm:pt modelId="{546DC5B5-931D-7241-BEEF-99C31BC50676}" type="parTrans" cxnId="{25099F18-C126-F646-B16C-07E67093430B}">
      <dgm:prSet/>
      <dgm:spPr/>
      <dgm:t>
        <a:bodyPr/>
        <a:lstStyle/>
        <a:p>
          <a:endParaRPr lang="en-GB"/>
        </a:p>
      </dgm:t>
    </dgm:pt>
    <dgm:pt modelId="{65B60A2B-6393-D14B-AB9A-D8A94789DACA}" type="sibTrans" cxnId="{25099F18-C126-F646-B16C-07E67093430B}">
      <dgm:prSet/>
      <dgm:spPr/>
      <dgm:t>
        <a:bodyPr/>
        <a:lstStyle/>
        <a:p>
          <a:endParaRPr lang="en-GB"/>
        </a:p>
      </dgm:t>
    </dgm:pt>
    <dgm:pt modelId="{8BAF20D4-15E8-E54F-BE1D-59662E491638}">
      <dgm:prSet/>
      <dgm:spPr/>
      <dgm:t>
        <a:bodyPr anchor="ctr"/>
        <a:lstStyle/>
        <a:p>
          <a:r>
            <a:rPr lang="en-GB"/>
            <a:t>Hardware Optimization</a:t>
          </a:r>
        </a:p>
      </dgm:t>
    </dgm:pt>
    <dgm:pt modelId="{F0571F21-D740-9E46-87E0-71F9D76D309E}" type="parTrans" cxnId="{752A5601-4696-414A-923C-4AC58561A910}">
      <dgm:prSet/>
      <dgm:spPr/>
      <dgm:t>
        <a:bodyPr/>
        <a:lstStyle/>
        <a:p>
          <a:endParaRPr lang="en-GB"/>
        </a:p>
      </dgm:t>
    </dgm:pt>
    <dgm:pt modelId="{6F0C28F0-2E6A-7E4C-8537-695AA3A7AD9F}" type="sibTrans" cxnId="{752A5601-4696-414A-923C-4AC58561A910}">
      <dgm:prSet/>
      <dgm:spPr/>
      <dgm:t>
        <a:bodyPr/>
        <a:lstStyle/>
        <a:p>
          <a:endParaRPr lang="en-GB"/>
        </a:p>
      </dgm:t>
    </dgm:pt>
    <dgm:pt modelId="{BCC16F39-3F5F-7742-8298-F6A1AC7865A2}">
      <dgm:prSet/>
      <dgm:spPr/>
      <dgm:t>
        <a:bodyPr anchor="ctr"/>
        <a:lstStyle/>
        <a:p>
          <a:r>
            <a:rPr lang="en-GB"/>
            <a:t>Unconstraint Procurement Recommendations</a:t>
          </a:r>
        </a:p>
      </dgm:t>
    </dgm:pt>
    <dgm:pt modelId="{E00F2221-98A2-2448-9FE6-ABB069C82FEA}" type="parTrans" cxnId="{4C4F8BB5-E229-4543-845B-18911A3F5AFA}">
      <dgm:prSet/>
      <dgm:spPr/>
      <dgm:t>
        <a:bodyPr/>
        <a:lstStyle/>
        <a:p>
          <a:endParaRPr lang="en-GB"/>
        </a:p>
      </dgm:t>
    </dgm:pt>
    <dgm:pt modelId="{EC6346AE-3027-564C-9A9C-93CB4E372A23}" type="sibTrans" cxnId="{4C4F8BB5-E229-4543-845B-18911A3F5AFA}">
      <dgm:prSet/>
      <dgm:spPr/>
      <dgm:t>
        <a:bodyPr/>
        <a:lstStyle/>
        <a:p>
          <a:endParaRPr lang="en-GB"/>
        </a:p>
      </dgm:t>
    </dgm:pt>
    <dgm:pt modelId="{48462BB7-0BB8-1B49-9177-618FD6E3C51E}">
      <dgm:prSet/>
      <dgm:spPr/>
      <dgm:t>
        <a:bodyPr anchor="ctr"/>
        <a:lstStyle/>
        <a:p>
          <a:r>
            <a:rPr lang="en-GB"/>
            <a:t>Failure Prediction based Maintenance schedule</a:t>
          </a:r>
        </a:p>
      </dgm:t>
    </dgm:pt>
    <dgm:pt modelId="{650CEB53-DA2C-014D-92E5-E291101AF11A}" type="parTrans" cxnId="{80E6DC89-0EE3-9647-85B4-764D4E47F9F3}">
      <dgm:prSet/>
      <dgm:spPr/>
      <dgm:t>
        <a:bodyPr/>
        <a:lstStyle/>
        <a:p>
          <a:endParaRPr lang="en-GB"/>
        </a:p>
      </dgm:t>
    </dgm:pt>
    <dgm:pt modelId="{51B1003C-3024-8E43-993F-83BC94E34A62}" type="sibTrans" cxnId="{80E6DC89-0EE3-9647-85B4-764D4E47F9F3}">
      <dgm:prSet/>
      <dgm:spPr/>
      <dgm:t>
        <a:bodyPr/>
        <a:lstStyle/>
        <a:p>
          <a:endParaRPr lang="en-GB"/>
        </a:p>
      </dgm:t>
    </dgm:pt>
    <dgm:pt modelId="{D02C15FE-0F24-BB43-9F66-158DA4844336}">
      <dgm:prSet/>
      <dgm:spPr/>
      <dgm:t>
        <a:bodyPr anchor="ctr"/>
        <a:lstStyle/>
        <a:p>
          <a:pPr algn="l"/>
          <a:r>
            <a:rPr lang="en-SG" b="0"/>
            <a:t>Recommendation Engine</a:t>
          </a:r>
          <a:endParaRPr lang="en-GB" b="0"/>
        </a:p>
      </dgm:t>
    </dgm:pt>
    <dgm:pt modelId="{274ED583-EFA1-CB42-B961-E7CC3778EBF5}" type="parTrans" cxnId="{776ED92E-1D6F-0141-A426-0D1196F46E24}">
      <dgm:prSet/>
      <dgm:spPr/>
      <dgm:t>
        <a:bodyPr/>
        <a:lstStyle/>
        <a:p>
          <a:endParaRPr lang="en-GB"/>
        </a:p>
      </dgm:t>
    </dgm:pt>
    <dgm:pt modelId="{D43D06D2-ABAE-DA4C-8ADA-37740BBCAABA}" type="sibTrans" cxnId="{776ED92E-1D6F-0141-A426-0D1196F46E24}">
      <dgm:prSet/>
      <dgm:spPr/>
      <dgm:t>
        <a:bodyPr/>
        <a:lstStyle/>
        <a:p>
          <a:endParaRPr lang="en-GB"/>
        </a:p>
      </dgm:t>
    </dgm:pt>
    <dgm:pt modelId="{22DFDBE0-1D6E-5E4D-BBA7-5172A82220BA}">
      <dgm:prSet/>
      <dgm:spPr/>
      <dgm:t>
        <a:bodyPr anchor="ctr"/>
        <a:lstStyle/>
        <a:p>
          <a:r>
            <a:rPr lang="en-GB"/>
            <a:t>SLA Breach</a:t>
          </a:r>
        </a:p>
      </dgm:t>
    </dgm:pt>
    <dgm:pt modelId="{40995B54-557F-B846-BDD5-F20E3BB2E481}" type="parTrans" cxnId="{5428CC18-4D06-FB49-B9B0-55537033CBEA}">
      <dgm:prSet/>
      <dgm:spPr/>
      <dgm:t>
        <a:bodyPr/>
        <a:lstStyle/>
        <a:p>
          <a:endParaRPr lang="en-GB"/>
        </a:p>
      </dgm:t>
    </dgm:pt>
    <dgm:pt modelId="{149092CB-3DF1-1F49-B6D6-541F2CC2E14A}" type="sibTrans" cxnId="{5428CC18-4D06-FB49-B9B0-55537033CBEA}">
      <dgm:prSet/>
      <dgm:spPr/>
      <dgm:t>
        <a:bodyPr/>
        <a:lstStyle/>
        <a:p>
          <a:endParaRPr lang="en-GB"/>
        </a:p>
      </dgm:t>
    </dgm:pt>
    <dgm:pt modelId="{6DB988A0-B69F-2C4D-B724-9D1ABFFD7DD3}">
      <dgm:prSet phldrT="[Text]"/>
      <dgm:spPr/>
      <dgm:t>
        <a:bodyPr anchor="ctr"/>
        <a:lstStyle/>
        <a:p>
          <a:r>
            <a:rPr lang="en-GB"/>
            <a:t>Spare Part and Assets Demand Forecast</a:t>
          </a:r>
        </a:p>
      </dgm:t>
    </dgm:pt>
    <dgm:pt modelId="{35C8626A-C447-7C4E-87BD-59EC40811B7B}" type="parTrans" cxnId="{BDB1EC51-27CA-1144-93A2-3E5EF6C83835}">
      <dgm:prSet/>
      <dgm:spPr/>
      <dgm:t>
        <a:bodyPr/>
        <a:lstStyle/>
        <a:p>
          <a:endParaRPr lang="en-GB"/>
        </a:p>
      </dgm:t>
    </dgm:pt>
    <dgm:pt modelId="{45948A77-C52E-6448-A968-24A71D4CBA64}" type="sibTrans" cxnId="{BDB1EC51-27CA-1144-93A2-3E5EF6C83835}">
      <dgm:prSet/>
      <dgm:spPr/>
      <dgm:t>
        <a:bodyPr/>
        <a:lstStyle/>
        <a:p>
          <a:endParaRPr lang="en-GB"/>
        </a:p>
      </dgm:t>
    </dgm:pt>
    <dgm:pt modelId="{F5E9619F-D34C-E242-B77C-A2BD4353D633}">
      <dgm:prSet/>
      <dgm:spPr/>
      <dgm:t>
        <a:bodyPr anchor="ctr"/>
        <a:lstStyle/>
        <a:p>
          <a:r>
            <a:rPr lang="en-GB"/>
            <a:t>Resolution Time Analysis</a:t>
          </a:r>
        </a:p>
      </dgm:t>
    </dgm:pt>
    <dgm:pt modelId="{1EED5D79-5A14-CE47-9746-090CD55E2EA7}" type="parTrans" cxnId="{83BD6CA6-D3B7-D44D-B0D2-E268A8A5AB09}">
      <dgm:prSet/>
      <dgm:spPr/>
      <dgm:t>
        <a:bodyPr/>
        <a:lstStyle/>
        <a:p>
          <a:endParaRPr lang="en-GB"/>
        </a:p>
      </dgm:t>
    </dgm:pt>
    <dgm:pt modelId="{DFB52A79-1B9F-ED48-B71C-E35024EC2D45}" type="sibTrans" cxnId="{83BD6CA6-D3B7-D44D-B0D2-E268A8A5AB09}">
      <dgm:prSet/>
      <dgm:spPr/>
      <dgm:t>
        <a:bodyPr/>
        <a:lstStyle/>
        <a:p>
          <a:endParaRPr lang="en-GB"/>
        </a:p>
      </dgm:t>
    </dgm:pt>
    <dgm:pt modelId="{74A6885B-1326-C747-84EA-01E641F87EC5}">
      <dgm:prSet/>
      <dgm:spPr/>
      <dgm:t>
        <a:bodyPr anchor="ctr"/>
        <a:lstStyle/>
        <a:p>
          <a:r>
            <a:rPr lang="en-GB"/>
            <a:t>Service Tier Impact</a:t>
          </a:r>
        </a:p>
      </dgm:t>
    </dgm:pt>
    <dgm:pt modelId="{07A7802B-32D8-F945-A28D-3CDB7D56ECE8}" type="parTrans" cxnId="{D3C81A86-FE74-9B47-BCAD-CFD03AF7E58A}">
      <dgm:prSet/>
      <dgm:spPr/>
      <dgm:t>
        <a:bodyPr/>
        <a:lstStyle/>
        <a:p>
          <a:endParaRPr lang="en-GB"/>
        </a:p>
      </dgm:t>
    </dgm:pt>
    <dgm:pt modelId="{A87D10DE-499C-9F49-86CE-09D34AD1E690}" type="sibTrans" cxnId="{D3C81A86-FE74-9B47-BCAD-CFD03AF7E58A}">
      <dgm:prSet/>
      <dgm:spPr/>
      <dgm:t>
        <a:bodyPr/>
        <a:lstStyle/>
        <a:p>
          <a:endParaRPr lang="en-GB"/>
        </a:p>
      </dgm:t>
    </dgm:pt>
    <dgm:pt modelId="{187E8E7E-9DD9-6E4F-80FE-EF5677CFB1A7}">
      <dgm:prSet/>
      <dgm:spPr/>
      <dgm:t>
        <a:bodyPr anchor="ctr"/>
        <a:lstStyle/>
        <a:p>
          <a:r>
            <a:rPr lang="en-GB"/>
            <a:t>Allocation optimization</a:t>
          </a:r>
        </a:p>
      </dgm:t>
    </dgm:pt>
    <dgm:pt modelId="{2CF5C9EA-35F7-D948-AD0A-C39107ABF8B3}" type="parTrans" cxnId="{CD289120-30DE-3741-8B3E-BB98CF2F46C9}">
      <dgm:prSet/>
      <dgm:spPr/>
      <dgm:t>
        <a:bodyPr/>
        <a:lstStyle/>
        <a:p>
          <a:endParaRPr lang="en-GB"/>
        </a:p>
      </dgm:t>
    </dgm:pt>
    <dgm:pt modelId="{62D1B55C-BB3C-7144-B3C6-138BF211B04A}" type="sibTrans" cxnId="{CD289120-30DE-3741-8B3E-BB98CF2F46C9}">
      <dgm:prSet/>
      <dgm:spPr/>
      <dgm:t>
        <a:bodyPr/>
        <a:lstStyle/>
        <a:p>
          <a:endParaRPr lang="en-GB"/>
        </a:p>
      </dgm:t>
    </dgm:pt>
    <dgm:pt modelId="{B018D43E-851C-2746-BF60-A6288C2EBD30}">
      <dgm:prSet phldrT="[Text]"/>
      <dgm:spPr/>
      <dgm:t>
        <a:bodyPr anchor="ctr"/>
        <a:lstStyle/>
        <a:p>
          <a:r>
            <a:rPr lang="en-GB"/>
            <a:t>Breach Time Prediction</a:t>
          </a:r>
        </a:p>
      </dgm:t>
    </dgm:pt>
    <dgm:pt modelId="{00F0A414-ABD3-4248-887B-AFF2E757F97E}" type="parTrans" cxnId="{86747B0B-D701-3943-8003-C29ED3D09540}">
      <dgm:prSet/>
      <dgm:spPr/>
      <dgm:t>
        <a:bodyPr/>
        <a:lstStyle/>
        <a:p>
          <a:endParaRPr lang="en-GB"/>
        </a:p>
      </dgm:t>
    </dgm:pt>
    <dgm:pt modelId="{5BB313C5-88A2-0949-BDB4-FA6482399087}" type="sibTrans" cxnId="{86747B0B-D701-3943-8003-C29ED3D09540}">
      <dgm:prSet/>
      <dgm:spPr/>
      <dgm:t>
        <a:bodyPr/>
        <a:lstStyle/>
        <a:p>
          <a:endParaRPr lang="en-GB"/>
        </a:p>
      </dgm:t>
    </dgm:pt>
    <dgm:pt modelId="{D653474C-0EC3-F54F-A8E3-82FA8068C872}">
      <dgm:prSet custT="1"/>
      <dgm:spPr/>
      <dgm:t>
        <a:bodyPr anchor="ctr"/>
        <a:lstStyle/>
        <a:p>
          <a:r>
            <a:rPr lang="en-GB" sz="1000"/>
            <a:t>Decision Thresholds</a:t>
          </a:r>
        </a:p>
      </dgm:t>
    </dgm:pt>
    <dgm:pt modelId="{CDD135B9-43F1-6E41-AEFF-0221D9ACE897}" type="parTrans" cxnId="{0352753F-F2C7-494D-B7B7-764EBD7C3F54}">
      <dgm:prSet/>
      <dgm:spPr/>
      <dgm:t>
        <a:bodyPr/>
        <a:lstStyle/>
        <a:p>
          <a:endParaRPr lang="en-GB"/>
        </a:p>
      </dgm:t>
    </dgm:pt>
    <dgm:pt modelId="{AC05F829-AA3E-214D-BA6E-23C48A243B73}" type="sibTrans" cxnId="{0352753F-F2C7-494D-B7B7-764EBD7C3F54}">
      <dgm:prSet/>
      <dgm:spPr/>
      <dgm:t>
        <a:bodyPr/>
        <a:lstStyle/>
        <a:p>
          <a:endParaRPr lang="en-GB"/>
        </a:p>
      </dgm:t>
    </dgm:pt>
    <dgm:pt modelId="{D6549954-0CB5-7345-B43B-CF98B0D27D3B}">
      <dgm:prSet custT="1"/>
      <dgm:spPr/>
      <dgm:t>
        <a:bodyPr anchor="ctr"/>
        <a:lstStyle/>
        <a:p>
          <a:r>
            <a:rPr lang="en-GB" sz="700"/>
            <a:t>Business Policy</a:t>
          </a:r>
        </a:p>
      </dgm:t>
    </dgm:pt>
    <dgm:pt modelId="{FDC26452-9868-1441-89A5-DFC28C0CACD3}" type="parTrans" cxnId="{878385EF-0C60-2E4C-B031-0363886F8BFB}">
      <dgm:prSet/>
      <dgm:spPr/>
      <dgm:t>
        <a:bodyPr/>
        <a:lstStyle/>
        <a:p>
          <a:endParaRPr lang="en-GB"/>
        </a:p>
      </dgm:t>
    </dgm:pt>
    <dgm:pt modelId="{560A014C-4A1F-294F-A871-B7FD0FF0E567}" type="sibTrans" cxnId="{878385EF-0C60-2E4C-B031-0363886F8BFB}">
      <dgm:prSet/>
      <dgm:spPr/>
      <dgm:t>
        <a:bodyPr/>
        <a:lstStyle/>
        <a:p>
          <a:endParaRPr lang="en-GB"/>
        </a:p>
      </dgm:t>
    </dgm:pt>
    <dgm:pt modelId="{55BF3005-82C7-9046-8F41-8A16133B2E92}">
      <dgm:prSet custT="1"/>
      <dgm:spPr/>
      <dgm:t>
        <a:bodyPr anchor="ctr"/>
        <a:lstStyle/>
        <a:p>
          <a:r>
            <a:rPr lang="en-GB" sz="700"/>
            <a:t>SLA Breach Thresholds</a:t>
          </a:r>
        </a:p>
      </dgm:t>
    </dgm:pt>
    <dgm:pt modelId="{C97781D2-5FB4-8946-B809-AF490773B8C0}" type="parTrans" cxnId="{66D9A092-08CB-C940-B0D0-5CFC4DA6146C}">
      <dgm:prSet/>
      <dgm:spPr/>
      <dgm:t>
        <a:bodyPr/>
        <a:lstStyle/>
        <a:p>
          <a:endParaRPr lang="en-GB"/>
        </a:p>
      </dgm:t>
    </dgm:pt>
    <dgm:pt modelId="{CB14FD34-CF28-4649-A38C-B5B0ECC4DAB4}" type="sibTrans" cxnId="{66D9A092-08CB-C940-B0D0-5CFC4DA6146C}">
      <dgm:prSet/>
      <dgm:spPr/>
      <dgm:t>
        <a:bodyPr/>
        <a:lstStyle/>
        <a:p>
          <a:endParaRPr lang="en-GB"/>
        </a:p>
      </dgm:t>
    </dgm:pt>
    <dgm:pt modelId="{035001EF-DE9A-4A4B-A36D-5F9E2D41D5BB}">
      <dgm:prSet custT="1"/>
      <dgm:spPr/>
      <dgm:t>
        <a:bodyPr anchor="ctr"/>
        <a:lstStyle/>
        <a:p>
          <a:r>
            <a:rPr lang="en-GB" sz="700"/>
            <a:t>Employee Specialization</a:t>
          </a:r>
        </a:p>
      </dgm:t>
    </dgm:pt>
    <dgm:pt modelId="{993290E0-879F-E549-8BDD-0E642124EC4D}" type="parTrans" cxnId="{2CFFE454-5C19-DC41-A722-E4BE32B8DD21}">
      <dgm:prSet/>
      <dgm:spPr/>
      <dgm:t>
        <a:bodyPr/>
        <a:lstStyle/>
        <a:p>
          <a:endParaRPr lang="en-GB"/>
        </a:p>
      </dgm:t>
    </dgm:pt>
    <dgm:pt modelId="{DF8369ED-00E4-B941-A36B-2818D6B8375D}" type="sibTrans" cxnId="{2CFFE454-5C19-DC41-A722-E4BE32B8DD21}">
      <dgm:prSet/>
      <dgm:spPr/>
      <dgm:t>
        <a:bodyPr/>
        <a:lstStyle/>
        <a:p>
          <a:endParaRPr lang="en-GB"/>
        </a:p>
      </dgm:t>
    </dgm:pt>
    <dgm:pt modelId="{A858C4DB-4563-2E41-BE7A-BB47A20B0384}">
      <dgm:prSet custT="1"/>
      <dgm:spPr/>
      <dgm:t>
        <a:bodyPr anchor="ctr"/>
        <a:lstStyle/>
        <a:p>
          <a:r>
            <a:rPr lang="en-GB" sz="1000"/>
            <a:t>Final Decision</a:t>
          </a:r>
        </a:p>
      </dgm:t>
    </dgm:pt>
    <dgm:pt modelId="{7B46D845-86E8-694C-8B0F-9EC475582638}" type="parTrans" cxnId="{E66228C9-C7F9-5A48-BB57-DFE3A86E2CEC}">
      <dgm:prSet/>
      <dgm:spPr/>
      <dgm:t>
        <a:bodyPr/>
        <a:lstStyle/>
        <a:p>
          <a:endParaRPr lang="en-GB"/>
        </a:p>
      </dgm:t>
    </dgm:pt>
    <dgm:pt modelId="{126BE764-1832-8840-A5AC-C9BAD08F825C}" type="sibTrans" cxnId="{E66228C9-C7F9-5A48-BB57-DFE3A86E2CEC}">
      <dgm:prSet/>
      <dgm:spPr/>
      <dgm:t>
        <a:bodyPr/>
        <a:lstStyle/>
        <a:p>
          <a:endParaRPr lang="en-GB"/>
        </a:p>
      </dgm:t>
    </dgm:pt>
    <dgm:pt modelId="{1B600EF2-738B-7440-A462-5495BF4670F1}">
      <dgm:prSet custT="1"/>
      <dgm:spPr/>
      <dgm:t>
        <a:bodyPr anchor="ctr"/>
        <a:lstStyle/>
        <a:p>
          <a:r>
            <a:rPr lang="en-GB" sz="700"/>
            <a:t>Ticket Routing</a:t>
          </a:r>
        </a:p>
      </dgm:t>
    </dgm:pt>
    <dgm:pt modelId="{D431C89B-8816-F543-B154-78EF4CCD1089}" type="parTrans" cxnId="{BBB76D37-86C1-3B4E-85E1-4DBA8BBD7DAE}">
      <dgm:prSet/>
      <dgm:spPr/>
      <dgm:t>
        <a:bodyPr/>
        <a:lstStyle/>
        <a:p>
          <a:endParaRPr lang="en-GB"/>
        </a:p>
      </dgm:t>
    </dgm:pt>
    <dgm:pt modelId="{18AFAC1F-11F9-8340-8634-7FEC77236292}" type="sibTrans" cxnId="{BBB76D37-86C1-3B4E-85E1-4DBA8BBD7DAE}">
      <dgm:prSet/>
      <dgm:spPr/>
      <dgm:t>
        <a:bodyPr/>
        <a:lstStyle/>
        <a:p>
          <a:endParaRPr lang="en-GB"/>
        </a:p>
      </dgm:t>
    </dgm:pt>
    <dgm:pt modelId="{6D2D6452-E4C2-CA4A-B2E0-30971175132F}">
      <dgm:prSet custT="1"/>
      <dgm:spPr/>
      <dgm:t>
        <a:bodyPr anchor="ctr"/>
        <a:lstStyle/>
        <a:p>
          <a:r>
            <a:rPr lang="en-US" sz="700" b="0"/>
            <a:t>Suggested Engineer Group</a:t>
          </a:r>
          <a:endParaRPr lang="en-GB" sz="700" b="0"/>
        </a:p>
      </dgm:t>
    </dgm:pt>
    <dgm:pt modelId="{D6C631FF-7180-AE43-ABB4-14B58F65527E}" type="parTrans" cxnId="{6238B1B1-9387-7D4B-A509-FD17D468C4C9}">
      <dgm:prSet/>
      <dgm:spPr/>
      <dgm:t>
        <a:bodyPr/>
        <a:lstStyle/>
        <a:p>
          <a:endParaRPr lang="en-GB"/>
        </a:p>
      </dgm:t>
    </dgm:pt>
    <dgm:pt modelId="{627CDA5B-4D5E-F14E-95DA-A26D6AD51BBB}" type="sibTrans" cxnId="{6238B1B1-9387-7D4B-A509-FD17D468C4C9}">
      <dgm:prSet/>
      <dgm:spPr/>
      <dgm:t>
        <a:bodyPr/>
        <a:lstStyle/>
        <a:p>
          <a:endParaRPr lang="en-GB"/>
        </a:p>
      </dgm:t>
    </dgm:pt>
    <dgm:pt modelId="{26A0593B-5DC0-8E40-8FA3-0BF1331DC5A7}">
      <dgm:prSet custT="1"/>
      <dgm:spPr/>
      <dgm:t>
        <a:bodyPr anchor="ctr"/>
        <a:lstStyle/>
        <a:p>
          <a:r>
            <a:rPr lang="en-GB" sz="700"/>
            <a:t>Constraint Procurement Recommendations</a:t>
          </a:r>
        </a:p>
      </dgm:t>
    </dgm:pt>
    <dgm:pt modelId="{D629EFF3-37C2-B84C-B996-6C70F92FD170}" type="parTrans" cxnId="{503E1993-61A1-CC4D-A5E9-0EBAE4DD26AA}">
      <dgm:prSet/>
      <dgm:spPr/>
      <dgm:t>
        <a:bodyPr/>
        <a:lstStyle/>
        <a:p>
          <a:endParaRPr lang="en-GB"/>
        </a:p>
      </dgm:t>
    </dgm:pt>
    <dgm:pt modelId="{405D1088-0401-114C-A12C-9FE83571A26B}" type="sibTrans" cxnId="{503E1993-61A1-CC4D-A5E9-0EBAE4DD26AA}">
      <dgm:prSet/>
      <dgm:spPr/>
      <dgm:t>
        <a:bodyPr/>
        <a:lstStyle/>
        <a:p>
          <a:endParaRPr lang="en-GB"/>
        </a:p>
      </dgm:t>
    </dgm:pt>
    <dgm:pt modelId="{5D13AA42-9DA4-994A-A7E3-81372F83435E}">
      <dgm:prSet custT="1"/>
      <dgm:spPr/>
      <dgm:t>
        <a:bodyPr anchor="ctr"/>
        <a:lstStyle/>
        <a:p>
          <a:r>
            <a:rPr lang="en-GB" sz="700"/>
            <a:t>Operational Governance</a:t>
          </a:r>
        </a:p>
      </dgm:t>
    </dgm:pt>
    <dgm:pt modelId="{C6931CE4-B93F-7840-A57B-33025E341D2A}" type="parTrans" cxnId="{842FF0F2-E66C-3A47-8239-231ACADF5A2F}">
      <dgm:prSet/>
      <dgm:spPr/>
      <dgm:t>
        <a:bodyPr/>
        <a:lstStyle/>
        <a:p>
          <a:endParaRPr lang="en-GB"/>
        </a:p>
      </dgm:t>
    </dgm:pt>
    <dgm:pt modelId="{E036A2A1-1F62-0C4F-9839-1BEE92F8CB2B}" type="sibTrans" cxnId="{842FF0F2-E66C-3A47-8239-231ACADF5A2F}">
      <dgm:prSet/>
      <dgm:spPr/>
      <dgm:t>
        <a:bodyPr/>
        <a:lstStyle/>
        <a:p>
          <a:endParaRPr lang="en-GB"/>
        </a:p>
      </dgm:t>
    </dgm:pt>
    <dgm:pt modelId="{DEE32D54-86F6-4748-BB40-A2AD70B8C581}">
      <dgm:prSet custT="1"/>
      <dgm:spPr/>
      <dgm:t>
        <a:bodyPr anchor="ctr"/>
        <a:lstStyle/>
        <a:p>
          <a:r>
            <a:rPr lang="en-GB" sz="1000"/>
            <a:t>Preventive Maintenance</a:t>
          </a:r>
        </a:p>
      </dgm:t>
    </dgm:pt>
    <dgm:pt modelId="{93CB3E5E-3A34-A744-99AD-79ABED2F2C19}" type="parTrans" cxnId="{56E89793-32EC-9E42-9394-6BE97033074B}">
      <dgm:prSet/>
      <dgm:spPr/>
      <dgm:t>
        <a:bodyPr/>
        <a:lstStyle/>
        <a:p>
          <a:endParaRPr lang="en-GB"/>
        </a:p>
      </dgm:t>
    </dgm:pt>
    <dgm:pt modelId="{3BA84E23-C957-4541-A6D9-7B0B73D0F0CF}" type="sibTrans" cxnId="{56E89793-32EC-9E42-9394-6BE97033074B}">
      <dgm:prSet/>
      <dgm:spPr/>
      <dgm:t>
        <a:bodyPr/>
        <a:lstStyle/>
        <a:p>
          <a:endParaRPr lang="en-GB"/>
        </a:p>
      </dgm:t>
    </dgm:pt>
    <dgm:pt modelId="{67E24331-EAC9-EB40-B3A3-3F6B8CE28836}">
      <dgm:prSet custT="1"/>
      <dgm:spPr/>
      <dgm:t>
        <a:bodyPr anchor="ctr"/>
        <a:lstStyle/>
        <a:p>
          <a:r>
            <a:rPr lang="en-GB" sz="1000"/>
            <a:t>Spare Parts and Assets Procurement Ordering</a:t>
          </a:r>
        </a:p>
      </dgm:t>
    </dgm:pt>
    <dgm:pt modelId="{ADF104C5-397C-3849-911E-33EEFBB975CE}" type="parTrans" cxnId="{7C0BA309-C2CF-1D41-97B2-710369564FB7}">
      <dgm:prSet/>
      <dgm:spPr/>
      <dgm:t>
        <a:bodyPr/>
        <a:lstStyle/>
        <a:p>
          <a:endParaRPr lang="en-GB"/>
        </a:p>
      </dgm:t>
    </dgm:pt>
    <dgm:pt modelId="{12B09948-0D9B-9847-B046-15E4BFD9FE80}" type="sibTrans" cxnId="{7C0BA309-C2CF-1D41-97B2-710369564FB7}">
      <dgm:prSet/>
      <dgm:spPr/>
      <dgm:t>
        <a:bodyPr/>
        <a:lstStyle/>
        <a:p>
          <a:endParaRPr lang="en-GB"/>
        </a:p>
      </dgm:t>
    </dgm:pt>
    <dgm:pt modelId="{BAD966CB-2016-1949-BFC4-98698AAC89C7}">
      <dgm:prSet custT="1"/>
      <dgm:spPr/>
      <dgm:t>
        <a:bodyPr anchor="ctr"/>
        <a:lstStyle/>
        <a:p>
          <a:r>
            <a:rPr lang="en-GB" sz="700"/>
            <a:t>Preventive Maintenance schedule</a:t>
          </a:r>
        </a:p>
      </dgm:t>
    </dgm:pt>
    <dgm:pt modelId="{D50F8CA0-FCB5-7E40-8AD5-F91478E52D7D}" type="parTrans" cxnId="{C4D5E7FF-392D-AA44-9F0D-8BD1A6244B91}">
      <dgm:prSet/>
      <dgm:spPr/>
      <dgm:t>
        <a:bodyPr/>
        <a:lstStyle/>
        <a:p>
          <a:endParaRPr lang="en-GB"/>
        </a:p>
      </dgm:t>
    </dgm:pt>
    <dgm:pt modelId="{D95BC964-52DC-4649-BB2D-E1F5FC04800C}" type="sibTrans" cxnId="{C4D5E7FF-392D-AA44-9F0D-8BD1A6244B91}">
      <dgm:prSet/>
      <dgm:spPr/>
      <dgm:t>
        <a:bodyPr/>
        <a:lstStyle/>
        <a:p>
          <a:endParaRPr lang="en-GB"/>
        </a:p>
      </dgm:t>
    </dgm:pt>
    <dgm:pt modelId="{6C562C82-5816-B044-87E5-1A60EF073C84}">
      <dgm:prSet custT="1"/>
      <dgm:spPr/>
      <dgm:t>
        <a:bodyPr/>
        <a:lstStyle/>
        <a:p>
          <a:r>
            <a:rPr lang="en-US" sz="800" b="0"/>
            <a:t>Engineer Assignment and Ticket Solutioning</a:t>
          </a:r>
          <a:endParaRPr lang="en-GB" sz="800" b="0"/>
        </a:p>
      </dgm:t>
    </dgm:pt>
    <dgm:pt modelId="{358B5257-0224-8B47-9B58-525C03DBB91C}" type="parTrans" cxnId="{C8CF3E9C-4585-B24F-961C-53056296E6C2}">
      <dgm:prSet/>
      <dgm:spPr/>
      <dgm:t>
        <a:bodyPr/>
        <a:lstStyle/>
        <a:p>
          <a:endParaRPr lang="en-GB"/>
        </a:p>
      </dgm:t>
    </dgm:pt>
    <dgm:pt modelId="{0E45242A-FDAA-9342-BCFA-272E812D1AF1}" type="sibTrans" cxnId="{C8CF3E9C-4585-B24F-961C-53056296E6C2}">
      <dgm:prSet/>
      <dgm:spPr/>
      <dgm:t>
        <a:bodyPr/>
        <a:lstStyle/>
        <a:p>
          <a:endParaRPr lang="en-GB"/>
        </a:p>
      </dgm:t>
    </dgm:pt>
    <dgm:pt modelId="{34D462DE-60B3-DF4C-BA92-F01AEFEBE595}">
      <dgm:prSet custT="1"/>
      <dgm:spPr/>
      <dgm:t>
        <a:bodyPr anchor="ctr"/>
        <a:lstStyle/>
        <a:p>
          <a:r>
            <a:rPr lang="en-GB" sz="1000"/>
            <a:t>KPI Reporting</a:t>
          </a:r>
        </a:p>
      </dgm:t>
    </dgm:pt>
    <dgm:pt modelId="{9F06949D-1FA2-4746-8A37-AFB637FB1343}" type="parTrans" cxnId="{B9E0305C-55E0-DB4B-9E85-D3F277A54453}">
      <dgm:prSet/>
      <dgm:spPr/>
      <dgm:t>
        <a:bodyPr/>
        <a:lstStyle/>
        <a:p>
          <a:endParaRPr lang="en-GB"/>
        </a:p>
      </dgm:t>
    </dgm:pt>
    <dgm:pt modelId="{EE1D3801-00D3-B24C-B208-8959CC90160A}" type="sibTrans" cxnId="{B9E0305C-55E0-DB4B-9E85-D3F277A54453}">
      <dgm:prSet/>
      <dgm:spPr/>
      <dgm:t>
        <a:bodyPr/>
        <a:lstStyle/>
        <a:p>
          <a:endParaRPr lang="en-GB"/>
        </a:p>
      </dgm:t>
    </dgm:pt>
    <dgm:pt modelId="{C4CB39FC-26E6-8243-AE05-37FD11795FBA}">
      <dgm:prSet custT="1"/>
      <dgm:spPr/>
      <dgm:t>
        <a:bodyPr anchor="ctr"/>
        <a:lstStyle/>
        <a:p>
          <a:r>
            <a:rPr lang="en-GB" sz="1000"/>
            <a:t>Model Performance Monitoring</a:t>
          </a:r>
        </a:p>
      </dgm:t>
    </dgm:pt>
    <dgm:pt modelId="{3164177F-3C3D-474C-A96B-5B54D195AE9F}" type="parTrans" cxnId="{5C06D301-0B44-AD4C-A5C4-0AA2941953C2}">
      <dgm:prSet/>
      <dgm:spPr/>
      <dgm:t>
        <a:bodyPr/>
        <a:lstStyle/>
        <a:p>
          <a:endParaRPr lang="en-GB"/>
        </a:p>
      </dgm:t>
    </dgm:pt>
    <dgm:pt modelId="{E69DF814-6508-BD44-A46F-3C78F7DC0E41}" type="sibTrans" cxnId="{5C06D301-0B44-AD4C-A5C4-0AA2941953C2}">
      <dgm:prSet/>
      <dgm:spPr/>
      <dgm:t>
        <a:bodyPr/>
        <a:lstStyle/>
        <a:p>
          <a:endParaRPr lang="en-GB"/>
        </a:p>
      </dgm:t>
    </dgm:pt>
    <dgm:pt modelId="{28CE13DD-8CE3-2F40-A204-1271EA087C95}">
      <dgm:prSet custT="1"/>
      <dgm:spPr/>
      <dgm:t>
        <a:bodyPr anchor="ctr"/>
        <a:lstStyle/>
        <a:p>
          <a:r>
            <a:rPr lang="en-GB" sz="1000"/>
            <a:t>Procurement Analytics</a:t>
          </a:r>
        </a:p>
      </dgm:t>
    </dgm:pt>
    <dgm:pt modelId="{41818084-FA0C-3C48-923D-B91A834BAA3C}" type="parTrans" cxnId="{EF252E50-3F73-684A-A645-C4DD1FA461DE}">
      <dgm:prSet/>
      <dgm:spPr/>
      <dgm:t>
        <a:bodyPr/>
        <a:lstStyle/>
        <a:p>
          <a:endParaRPr lang="en-GB"/>
        </a:p>
      </dgm:t>
    </dgm:pt>
    <dgm:pt modelId="{F3472A41-0B95-3D4C-A579-96D3583235AD}" type="sibTrans" cxnId="{EF252E50-3F73-684A-A645-C4DD1FA461DE}">
      <dgm:prSet/>
      <dgm:spPr/>
      <dgm:t>
        <a:bodyPr/>
        <a:lstStyle/>
        <a:p>
          <a:endParaRPr lang="en-GB"/>
        </a:p>
      </dgm:t>
    </dgm:pt>
    <dgm:pt modelId="{02DED13C-8E1F-544E-9429-CF5A53B1F64B}">
      <dgm:prSet custT="1"/>
      <dgm:spPr/>
      <dgm:t>
        <a:bodyPr/>
        <a:lstStyle/>
        <a:p>
          <a:r>
            <a:rPr lang="en-IN" sz="700"/>
            <a:t>Ticket Resolution Time</a:t>
          </a:r>
          <a:endParaRPr lang="en-GB" sz="700"/>
        </a:p>
      </dgm:t>
    </dgm:pt>
    <dgm:pt modelId="{DBB9A0CB-D74E-B845-A19C-D5BF7C6BC7EB}" type="parTrans" cxnId="{47696267-CF8F-0F42-8FB9-A890E96C362B}">
      <dgm:prSet/>
      <dgm:spPr/>
      <dgm:t>
        <a:bodyPr/>
        <a:lstStyle/>
        <a:p>
          <a:endParaRPr lang="en-GB"/>
        </a:p>
      </dgm:t>
    </dgm:pt>
    <dgm:pt modelId="{F42D0DC7-C921-F440-9603-8F68A98D966A}" type="sibTrans" cxnId="{47696267-CF8F-0F42-8FB9-A890E96C362B}">
      <dgm:prSet/>
      <dgm:spPr/>
      <dgm:t>
        <a:bodyPr/>
        <a:lstStyle/>
        <a:p>
          <a:endParaRPr lang="en-GB"/>
        </a:p>
      </dgm:t>
    </dgm:pt>
    <dgm:pt modelId="{B2902A0F-0109-6647-8E5F-6743F423B65C}">
      <dgm:prSet custT="1"/>
      <dgm:spPr/>
      <dgm:t>
        <a:bodyPr/>
        <a:lstStyle/>
        <a:p>
          <a:r>
            <a:rPr lang="en-IN" sz="700"/>
            <a:t>SLA Compliance Rate</a:t>
          </a:r>
          <a:endParaRPr lang="en-GB" sz="700"/>
        </a:p>
      </dgm:t>
    </dgm:pt>
    <dgm:pt modelId="{9CDE310D-9EB5-3A45-9D4F-68A8E706298E}" type="parTrans" cxnId="{7B436EA5-25E4-094D-8E31-8D281DF722F6}">
      <dgm:prSet/>
      <dgm:spPr/>
      <dgm:t>
        <a:bodyPr/>
        <a:lstStyle/>
        <a:p>
          <a:endParaRPr lang="en-GB"/>
        </a:p>
      </dgm:t>
    </dgm:pt>
    <dgm:pt modelId="{F59665FE-D2DF-FD4E-9601-58BEF19075B1}" type="sibTrans" cxnId="{7B436EA5-25E4-094D-8E31-8D281DF722F6}">
      <dgm:prSet/>
      <dgm:spPr/>
      <dgm:t>
        <a:bodyPr/>
        <a:lstStyle/>
        <a:p>
          <a:endParaRPr lang="en-GB"/>
        </a:p>
      </dgm:t>
    </dgm:pt>
    <dgm:pt modelId="{BF5F16DF-792D-8640-B2E6-85CD66269970}">
      <dgm:prSet custT="1"/>
      <dgm:spPr/>
      <dgm:t>
        <a:bodyPr/>
        <a:lstStyle/>
        <a:p>
          <a:r>
            <a:rPr lang="en-IN" sz="700"/>
            <a:t>Infrastructure Downtime</a:t>
          </a:r>
          <a:endParaRPr lang="en-GB" sz="700"/>
        </a:p>
      </dgm:t>
    </dgm:pt>
    <dgm:pt modelId="{6A609626-2AB9-1644-9C94-577FF0186307}" type="parTrans" cxnId="{5D122FD1-BB06-1842-A81D-28C49F2038A2}">
      <dgm:prSet/>
      <dgm:spPr/>
      <dgm:t>
        <a:bodyPr/>
        <a:lstStyle/>
        <a:p>
          <a:endParaRPr lang="en-GB"/>
        </a:p>
      </dgm:t>
    </dgm:pt>
    <dgm:pt modelId="{A347EEDA-5A64-6D45-AFBE-A438F7A25C4F}" type="sibTrans" cxnId="{5D122FD1-BB06-1842-A81D-28C49F2038A2}">
      <dgm:prSet/>
      <dgm:spPr/>
      <dgm:t>
        <a:bodyPr/>
        <a:lstStyle/>
        <a:p>
          <a:endParaRPr lang="en-GB"/>
        </a:p>
      </dgm:t>
    </dgm:pt>
    <dgm:pt modelId="{20248A52-11AB-4447-AE4B-E10C40DEDBC8}">
      <dgm:prSet custT="1"/>
      <dgm:spPr/>
      <dgm:t>
        <a:bodyPr anchor="ctr"/>
        <a:lstStyle/>
        <a:p>
          <a:r>
            <a:rPr lang="en-IN" sz="700"/>
            <a:t>Prediction Accuracy</a:t>
          </a:r>
          <a:endParaRPr lang="en-GB" sz="700"/>
        </a:p>
      </dgm:t>
    </dgm:pt>
    <dgm:pt modelId="{7E7FA497-4C3C-F542-9CFD-496489AB4562}" type="parTrans" cxnId="{A69D80EA-B1CD-5A49-A7D4-2990E97CB4B3}">
      <dgm:prSet/>
      <dgm:spPr/>
      <dgm:t>
        <a:bodyPr/>
        <a:lstStyle/>
        <a:p>
          <a:endParaRPr lang="en-GB"/>
        </a:p>
      </dgm:t>
    </dgm:pt>
    <dgm:pt modelId="{805A9FD4-9F7C-784B-A761-07D912B82BB5}" type="sibTrans" cxnId="{A69D80EA-B1CD-5A49-A7D4-2990E97CB4B3}">
      <dgm:prSet/>
      <dgm:spPr/>
      <dgm:t>
        <a:bodyPr/>
        <a:lstStyle/>
        <a:p>
          <a:endParaRPr lang="en-GB"/>
        </a:p>
      </dgm:t>
    </dgm:pt>
    <dgm:pt modelId="{0EF65611-517F-6E47-BE20-0986A7CBC837}">
      <dgm:prSet custT="1"/>
      <dgm:spPr/>
      <dgm:t>
        <a:bodyPr/>
        <a:lstStyle/>
        <a:p>
          <a:r>
            <a:rPr lang="en-IN" sz="700"/>
            <a:t>Failure Prediction Accuracy</a:t>
          </a:r>
          <a:endParaRPr lang="en-GB" sz="700"/>
        </a:p>
      </dgm:t>
    </dgm:pt>
    <dgm:pt modelId="{37A3422D-1917-8943-999F-A6916FFF4ECC}" type="parTrans" cxnId="{C1BA5F21-9891-EF47-BC16-F2AB75D583CD}">
      <dgm:prSet/>
      <dgm:spPr/>
      <dgm:t>
        <a:bodyPr/>
        <a:lstStyle/>
        <a:p>
          <a:endParaRPr lang="en-GB"/>
        </a:p>
      </dgm:t>
    </dgm:pt>
    <dgm:pt modelId="{0AFA851D-B64D-9149-A8B5-8441C6BC1E62}" type="sibTrans" cxnId="{C1BA5F21-9891-EF47-BC16-F2AB75D583CD}">
      <dgm:prSet/>
      <dgm:spPr/>
      <dgm:t>
        <a:bodyPr/>
        <a:lstStyle/>
        <a:p>
          <a:endParaRPr lang="en-GB"/>
        </a:p>
      </dgm:t>
    </dgm:pt>
    <dgm:pt modelId="{CD91D16F-B170-5B41-842F-664DC72C9B17}">
      <dgm:prSet custT="1"/>
      <dgm:spPr/>
      <dgm:t>
        <a:bodyPr/>
        <a:lstStyle/>
        <a:p>
          <a:r>
            <a:rPr lang="en-GB" sz="700"/>
            <a:t>Ordering Size</a:t>
          </a:r>
        </a:p>
      </dgm:t>
    </dgm:pt>
    <dgm:pt modelId="{197221D1-4F5B-7048-8F21-BB0E2A3B778B}" type="parTrans" cxnId="{3BF21307-6D0E-F44A-AB55-79CE911B2DC3}">
      <dgm:prSet/>
      <dgm:spPr/>
      <dgm:t>
        <a:bodyPr/>
        <a:lstStyle/>
        <a:p>
          <a:endParaRPr lang="en-GB"/>
        </a:p>
      </dgm:t>
    </dgm:pt>
    <dgm:pt modelId="{56328C2D-9487-2342-9582-13488BCC9AC6}" type="sibTrans" cxnId="{3BF21307-6D0E-F44A-AB55-79CE911B2DC3}">
      <dgm:prSet/>
      <dgm:spPr/>
      <dgm:t>
        <a:bodyPr/>
        <a:lstStyle/>
        <a:p>
          <a:endParaRPr lang="en-GB"/>
        </a:p>
      </dgm:t>
    </dgm:pt>
    <dgm:pt modelId="{614C0115-2F38-8246-A178-5EA41154DA83}">
      <dgm:prSet custT="1"/>
      <dgm:spPr/>
      <dgm:t>
        <a:bodyPr/>
        <a:lstStyle/>
        <a:p>
          <a:r>
            <a:rPr lang="en-GB" sz="700"/>
            <a:t>Current Inventory Levels</a:t>
          </a:r>
        </a:p>
      </dgm:t>
    </dgm:pt>
    <dgm:pt modelId="{A5603524-59BB-9D49-9D88-3FDCE5A7E7C3}" type="parTrans" cxnId="{06CAF9EF-FB93-CE42-895A-197599A9527E}">
      <dgm:prSet/>
      <dgm:spPr/>
      <dgm:t>
        <a:bodyPr/>
        <a:lstStyle/>
        <a:p>
          <a:endParaRPr lang="en-GB"/>
        </a:p>
      </dgm:t>
    </dgm:pt>
    <dgm:pt modelId="{0C557D0D-383B-C24B-9CD6-9DAD200CBB95}" type="sibTrans" cxnId="{06CAF9EF-FB93-CE42-895A-197599A9527E}">
      <dgm:prSet/>
      <dgm:spPr/>
      <dgm:t>
        <a:bodyPr/>
        <a:lstStyle/>
        <a:p>
          <a:endParaRPr lang="en-GB"/>
        </a:p>
      </dgm:t>
    </dgm:pt>
    <dgm:pt modelId="{C187A26A-A9B7-41BD-9429-B174283408F2}">
      <dgm:prSet/>
      <dgm:spPr/>
      <dgm:t>
        <a:bodyPr/>
        <a:lstStyle/>
        <a:p>
          <a:pPr>
            <a:buFont typeface="Arial" panose="020B0604020202020204" pitchFamily="34" charset="0"/>
            <a:buChar char="•"/>
          </a:pPr>
          <a:r>
            <a:rPr lang="en-SG"/>
            <a:t>Service tickets</a:t>
          </a:r>
          <a:endParaRPr lang="en-GB"/>
        </a:p>
      </dgm:t>
    </dgm:pt>
    <dgm:pt modelId="{E1694BCA-5AC1-433C-9577-47D17BEF3BFB}" type="parTrans" cxnId="{A994F644-56C4-48B0-9434-58E7FB768394}">
      <dgm:prSet/>
      <dgm:spPr/>
    </dgm:pt>
    <dgm:pt modelId="{9B44D3DA-419F-43A6-8A82-9424A993A4D6}" type="sibTrans" cxnId="{A994F644-56C4-48B0-9434-58E7FB768394}">
      <dgm:prSet/>
      <dgm:spPr/>
    </dgm:pt>
    <dgm:pt modelId="{63ADD0F8-9442-44C3-9B35-60284A99E087}">
      <dgm:prSet/>
      <dgm:spPr/>
      <dgm:t>
        <a:bodyPr/>
        <a:lstStyle/>
        <a:p>
          <a:pPr>
            <a:buFont typeface="Arial" panose="020B0604020202020204" pitchFamily="34" charset="0"/>
            <a:buChar char="•"/>
          </a:pPr>
          <a:r>
            <a:rPr lang="en-SG"/>
            <a:t>Resolution notes</a:t>
          </a:r>
          <a:endParaRPr lang="en-GB"/>
        </a:p>
      </dgm:t>
    </dgm:pt>
    <dgm:pt modelId="{A897AFA8-7476-4766-A9BF-FDD030A0EB1F}" type="parTrans" cxnId="{2455DE92-07B6-41CE-A7A1-736B43C89278}">
      <dgm:prSet/>
      <dgm:spPr/>
    </dgm:pt>
    <dgm:pt modelId="{49B72E2A-319F-41B1-B65F-23C3220DFB5B}" type="sibTrans" cxnId="{2455DE92-07B6-41CE-A7A1-736B43C89278}">
      <dgm:prSet/>
      <dgm:spPr/>
    </dgm:pt>
    <dgm:pt modelId="{34CD7661-26A8-44A0-B724-EE4B5E7540F1}">
      <dgm:prSet/>
      <dgm:spPr/>
      <dgm:t>
        <a:bodyPr/>
        <a:lstStyle/>
        <a:p>
          <a:pPr>
            <a:buFont typeface="Arial" panose="020B0604020202020204" pitchFamily="34" charset="0"/>
            <a:buChar char="•"/>
          </a:pPr>
          <a:r>
            <a:rPr lang="en-SG"/>
            <a:t>Asset / issue metadata</a:t>
          </a:r>
          <a:endParaRPr lang="en-GB"/>
        </a:p>
      </dgm:t>
    </dgm:pt>
    <dgm:pt modelId="{09E90336-D250-4C48-BE5C-7C0021030B21}" type="parTrans" cxnId="{0D893BF3-F7DA-43A3-81C7-2012EC4617E3}">
      <dgm:prSet/>
      <dgm:spPr/>
    </dgm:pt>
    <dgm:pt modelId="{2DD28107-E674-4AE5-BF13-5C906C15AD89}" type="sibTrans" cxnId="{0D893BF3-F7DA-43A3-81C7-2012EC4617E3}">
      <dgm:prSet/>
      <dgm:spPr/>
    </dgm:pt>
    <dgm:pt modelId="{839379B8-F980-42FD-8248-69314A90A780}">
      <dgm:prSet/>
      <dgm:spPr/>
      <dgm:t>
        <a:bodyPr/>
        <a:lstStyle/>
        <a:p>
          <a:pPr>
            <a:buFont typeface="Arial" panose="020B0604020202020204" pitchFamily="34" charset="0"/>
            <a:buChar char="•"/>
          </a:pPr>
          <a:r>
            <a:rPr lang="en-SG"/>
            <a:t>Category Classification </a:t>
          </a:r>
        </a:p>
      </dgm:t>
    </dgm:pt>
    <dgm:pt modelId="{1B6538C7-9151-43D3-B9DD-CED971DABB7C}" type="parTrans" cxnId="{3B8489D6-F419-42C5-9815-92F983C149F0}">
      <dgm:prSet/>
      <dgm:spPr/>
      <dgm:t>
        <a:bodyPr/>
        <a:lstStyle/>
        <a:p>
          <a:endParaRPr lang="en-SG"/>
        </a:p>
      </dgm:t>
    </dgm:pt>
    <dgm:pt modelId="{3EBFB33D-39E9-4D0D-8B9F-34ECE299FE87}" type="sibTrans" cxnId="{3B8489D6-F419-42C5-9815-92F983C149F0}">
      <dgm:prSet/>
      <dgm:spPr/>
      <dgm:t>
        <a:bodyPr/>
        <a:lstStyle/>
        <a:p>
          <a:endParaRPr lang="en-SG"/>
        </a:p>
      </dgm:t>
    </dgm:pt>
    <dgm:pt modelId="{CC51BBDD-D711-49DD-9F14-7BBE513D275D}">
      <dgm:prSet/>
      <dgm:spPr/>
      <dgm:t>
        <a:bodyPr/>
        <a:lstStyle/>
        <a:p>
          <a:pPr>
            <a:buFont typeface="Arial" panose="020B0604020202020204" pitchFamily="34" charset="0"/>
            <a:buChar char="•"/>
          </a:pPr>
          <a:r>
            <a:rPr lang="en-SG"/>
            <a:t>Priority Classification </a:t>
          </a:r>
        </a:p>
      </dgm:t>
    </dgm:pt>
    <dgm:pt modelId="{24EFE370-7624-4953-9840-98E18CD204C7}" type="parTrans" cxnId="{468C636F-9251-475C-A4E1-06E82C4EDD1F}">
      <dgm:prSet/>
      <dgm:spPr/>
      <dgm:t>
        <a:bodyPr/>
        <a:lstStyle/>
        <a:p>
          <a:endParaRPr lang="en-SG"/>
        </a:p>
      </dgm:t>
    </dgm:pt>
    <dgm:pt modelId="{1A75E2DE-3CA6-4D1E-B54E-A6B7CFA56DFC}" type="sibTrans" cxnId="{468C636F-9251-475C-A4E1-06E82C4EDD1F}">
      <dgm:prSet/>
      <dgm:spPr/>
      <dgm:t>
        <a:bodyPr/>
        <a:lstStyle/>
        <a:p>
          <a:endParaRPr lang="en-SG"/>
        </a:p>
      </dgm:t>
    </dgm:pt>
    <dgm:pt modelId="{8F8B5182-EF2A-4874-A85E-2B5F511FCEAE}">
      <dgm:prSet/>
      <dgm:spPr/>
      <dgm:t>
        <a:bodyPr/>
        <a:lstStyle/>
        <a:p>
          <a:pPr>
            <a:buFont typeface="Arial" panose="020B0604020202020204" pitchFamily="34" charset="0"/>
            <a:buChar char="•"/>
          </a:pPr>
          <a:r>
            <a:rPr lang="en-SG"/>
            <a:t>Ticket Understanding</a:t>
          </a:r>
        </a:p>
      </dgm:t>
    </dgm:pt>
    <dgm:pt modelId="{458AA4D2-CA7A-4035-9397-9C495B3DC6E0}" type="parTrans" cxnId="{8AE6CA4D-68A8-4621-94DC-4DAF05065CF8}">
      <dgm:prSet/>
      <dgm:spPr/>
      <dgm:t>
        <a:bodyPr/>
        <a:lstStyle/>
        <a:p>
          <a:endParaRPr lang="en-SG"/>
        </a:p>
      </dgm:t>
    </dgm:pt>
    <dgm:pt modelId="{A4AA3323-8763-40B3-84F2-4F0861269CD9}" type="sibTrans" cxnId="{8AE6CA4D-68A8-4621-94DC-4DAF05065CF8}">
      <dgm:prSet/>
      <dgm:spPr/>
      <dgm:t>
        <a:bodyPr/>
        <a:lstStyle/>
        <a:p>
          <a:endParaRPr lang="en-SG"/>
        </a:p>
      </dgm:t>
    </dgm:pt>
    <dgm:pt modelId="{80AFA95B-CD00-423D-9973-66BC9BC2F6FF}">
      <dgm:prSet/>
      <dgm:spPr/>
      <dgm:t>
        <a:bodyPr/>
        <a:lstStyle/>
        <a:p>
          <a:pPr>
            <a:buFont typeface="Arial" panose="020B0604020202020204" pitchFamily="34" charset="0"/>
            <a:buChar char="•"/>
          </a:pPr>
          <a:r>
            <a:rPr lang="en-SG"/>
            <a:t>TF-IDF Vectorization </a:t>
          </a:r>
        </a:p>
      </dgm:t>
    </dgm:pt>
    <dgm:pt modelId="{0645B420-FE94-4992-B45B-ED731AACE6BD}" type="parTrans" cxnId="{586419BC-08F1-40C9-A413-1078CBE61E40}">
      <dgm:prSet/>
      <dgm:spPr/>
      <dgm:t>
        <a:bodyPr/>
        <a:lstStyle/>
        <a:p>
          <a:endParaRPr lang="en-SG"/>
        </a:p>
      </dgm:t>
    </dgm:pt>
    <dgm:pt modelId="{9E17BAD3-702D-4F3E-B759-3A81915602D5}" type="sibTrans" cxnId="{586419BC-08F1-40C9-A413-1078CBE61E40}">
      <dgm:prSet/>
      <dgm:spPr/>
      <dgm:t>
        <a:bodyPr/>
        <a:lstStyle/>
        <a:p>
          <a:endParaRPr lang="en-SG"/>
        </a:p>
      </dgm:t>
    </dgm:pt>
    <dgm:pt modelId="{5519DBD3-19B4-4CFE-9EAF-F2603E2D5D6E}">
      <dgm:prSet/>
      <dgm:spPr/>
      <dgm:t>
        <a:bodyPr/>
        <a:lstStyle/>
        <a:p>
          <a:pPr>
            <a:buFont typeface="Arial" panose="020B0604020202020204" pitchFamily="34" charset="0"/>
            <a:buChar char="•"/>
          </a:pPr>
          <a:r>
            <a:rPr lang="en-SG"/>
            <a:t>Cosine Similarity Retrieval </a:t>
          </a:r>
        </a:p>
      </dgm:t>
    </dgm:pt>
    <dgm:pt modelId="{EE3F0A55-F5BA-449F-8CE5-BE6B12F7693B}" type="parTrans" cxnId="{AC0A1F2E-1B14-40F7-8E34-4B7154E78E43}">
      <dgm:prSet/>
      <dgm:spPr/>
      <dgm:t>
        <a:bodyPr/>
        <a:lstStyle/>
        <a:p>
          <a:endParaRPr lang="en-SG"/>
        </a:p>
      </dgm:t>
    </dgm:pt>
    <dgm:pt modelId="{BF63B6F4-AA3B-4DEF-A1AC-6B1CB63CB36E}" type="sibTrans" cxnId="{AC0A1F2E-1B14-40F7-8E34-4B7154E78E43}">
      <dgm:prSet/>
      <dgm:spPr/>
      <dgm:t>
        <a:bodyPr/>
        <a:lstStyle/>
        <a:p>
          <a:endParaRPr lang="en-SG"/>
        </a:p>
      </dgm:t>
    </dgm:pt>
    <dgm:pt modelId="{5976C64C-D0AE-45CE-BAF5-255F86F2E68E}">
      <dgm:prSet/>
      <dgm:spPr/>
      <dgm:t>
        <a:bodyPr/>
        <a:lstStyle/>
        <a:p>
          <a:pPr>
            <a:buFont typeface="Arial" panose="020B0604020202020204" pitchFamily="34" charset="0"/>
            <a:buChar char="•"/>
          </a:pPr>
          <a:r>
            <a:rPr lang="en-SG"/>
            <a:t>Rule-Based Ranking</a:t>
          </a:r>
        </a:p>
      </dgm:t>
    </dgm:pt>
    <dgm:pt modelId="{61D28F17-C660-438F-8767-F3D45CAC88DE}" type="parTrans" cxnId="{BD663A71-6F80-4479-8008-201045C0FC8C}">
      <dgm:prSet/>
      <dgm:spPr/>
      <dgm:t>
        <a:bodyPr/>
        <a:lstStyle/>
        <a:p>
          <a:endParaRPr lang="en-SG"/>
        </a:p>
      </dgm:t>
    </dgm:pt>
    <dgm:pt modelId="{B23FEE7F-7F16-4454-92D0-F3A896614EBE}" type="sibTrans" cxnId="{BD663A71-6F80-4479-8008-201045C0FC8C}">
      <dgm:prSet/>
      <dgm:spPr/>
      <dgm:t>
        <a:bodyPr/>
        <a:lstStyle/>
        <a:p>
          <a:endParaRPr lang="en-SG"/>
        </a:p>
      </dgm:t>
    </dgm:pt>
    <dgm:pt modelId="{405473ED-0F86-46A0-A027-EF4F1CF344A9}">
      <dgm:prSet custT="1"/>
      <dgm:spPr/>
      <dgm:t>
        <a:bodyPr anchor="ctr"/>
        <a:lstStyle/>
        <a:p>
          <a:r>
            <a:rPr lang="en-US" sz="700" b="0"/>
            <a:t>Recommended Resolution</a:t>
          </a:r>
          <a:endParaRPr lang="en-GB" sz="700" b="0"/>
        </a:p>
      </dgm:t>
    </dgm:pt>
    <dgm:pt modelId="{BB958F38-BA06-4148-B699-A15CC56C85D1}" type="parTrans" cxnId="{928DBACE-D141-4F62-BD40-C79B98FA41AE}">
      <dgm:prSet/>
      <dgm:spPr/>
    </dgm:pt>
    <dgm:pt modelId="{EBFAE875-1A8F-418B-9C0F-51A30461B945}" type="sibTrans" cxnId="{928DBACE-D141-4F62-BD40-C79B98FA41AE}">
      <dgm:prSet/>
      <dgm:spPr/>
    </dgm:pt>
    <dgm:pt modelId="{22283EAA-8EB5-4AF7-8828-F850E7B3C506}">
      <dgm:prSet custT="1"/>
      <dgm:spPr/>
      <dgm:t>
        <a:bodyPr/>
        <a:lstStyle/>
        <a:p>
          <a:pPr>
            <a:buFont typeface="Arial" panose="020B0604020202020204" pitchFamily="34" charset="0"/>
            <a:buChar char="•"/>
          </a:pPr>
          <a:r>
            <a:rPr lang="en-SG" sz="600"/>
            <a:t>Assign Recommended Engineer / Group </a:t>
          </a:r>
        </a:p>
      </dgm:t>
    </dgm:pt>
    <dgm:pt modelId="{EB5AA649-89D8-4265-8C0F-AD167C1656A6}" type="parTrans" cxnId="{BB98EE80-3BBB-4A1F-8533-DC07331EA021}">
      <dgm:prSet/>
      <dgm:spPr/>
      <dgm:t>
        <a:bodyPr/>
        <a:lstStyle/>
        <a:p>
          <a:endParaRPr lang="en-SG"/>
        </a:p>
      </dgm:t>
    </dgm:pt>
    <dgm:pt modelId="{CA9C84EF-D22F-43F0-BA5D-BC0BDB8FE169}" type="sibTrans" cxnId="{BB98EE80-3BBB-4A1F-8533-DC07331EA021}">
      <dgm:prSet/>
      <dgm:spPr/>
      <dgm:t>
        <a:bodyPr/>
        <a:lstStyle/>
        <a:p>
          <a:endParaRPr lang="en-SG"/>
        </a:p>
      </dgm:t>
    </dgm:pt>
    <dgm:pt modelId="{653843A3-1F17-40DD-9664-96E8EBE4CEE0}">
      <dgm:prSet custT="1"/>
      <dgm:spPr/>
      <dgm:t>
        <a:bodyPr/>
        <a:lstStyle/>
        <a:p>
          <a:pPr>
            <a:buFont typeface="Arial" panose="020B0604020202020204" pitchFamily="34" charset="0"/>
            <a:buChar char="•"/>
          </a:pPr>
          <a:r>
            <a:rPr lang="en-SG" sz="600"/>
            <a:t>Apply Suggested Resolution </a:t>
          </a:r>
        </a:p>
      </dgm:t>
    </dgm:pt>
    <dgm:pt modelId="{ED8911CB-DAB6-4B83-BCB6-5207086DE51D}" type="parTrans" cxnId="{D3674867-D25B-4057-8236-90952465E77E}">
      <dgm:prSet/>
      <dgm:spPr/>
      <dgm:t>
        <a:bodyPr/>
        <a:lstStyle/>
        <a:p>
          <a:endParaRPr lang="en-SG"/>
        </a:p>
      </dgm:t>
    </dgm:pt>
    <dgm:pt modelId="{16FE19C3-39CC-41C6-BD93-AF5E6B01C853}" type="sibTrans" cxnId="{D3674867-D25B-4057-8236-90952465E77E}">
      <dgm:prSet/>
      <dgm:spPr/>
      <dgm:t>
        <a:bodyPr/>
        <a:lstStyle/>
        <a:p>
          <a:endParaRPr lang="en-SG"/>
        </a:p>
      </dgm:t>
    </dgm:pt>
    <dgm:pt modelId="{F4A41531-03A3-4AE8-A53C-CA4A9A8F8A89}">
      <dgm:prSet custT="1"/>
      <dgm:spPr/>
      <dgm:t>
        <a:bodyPr/>
        <a:lstStyle/>
        <a:p>
          <a:pPr>
            <a:buFont typeface="Arial" panose="020B0604020202020204" pitchFamily="34" charset="0"/>
            <a:buChar char="•"/>
          </a:pPr>
          <a:r>
            <a:rPr lang="en-SG" sz="600"/>
            <a:t>Update Ticket Workflow</a:t>
          </a:r>
        </a:p>
      </dgm:t>
    </dgm:pt>
    <dgm:pt modelId="{5F7676FE-4A8D-4FBC-A258-BB408365C4F1}" type="parTrans" cxnId="{6CD76668-CB82-4F8C-804E-297C5D27BCAC}">
      <dgm:prSet/>
      <dgm:spPr/>
      <dgm:t>
        <a:bodyPr/>
        <a:lstStyle/>
        <a:p>
          <a:endParaRPr lang="en-SG"/>
        </a:p>
      </dgm:t>
    </dgm:pt>
    <dgm:pt modelId="{356EAD39-145E-4699-8DA7-C3C95D494FE2}" type="sibTrans" cxnId="{6CD76668-CB82-4F8C-804E-297C5D27BCAC}">
      <dgm:prSet/>
      <dgm:spPr/>
      <dgm:t>
        <a:bodyPr/>
        <a:lstStyle/>
        <a:p>
          <a:endParaRPr lang="en-SG"/>
        </a:p>
      </dgm:t>
    </dgm:pt>
    <dgm:pt modelId="{7B1BB674-07AD-7B4D-AD32-75F050A6E2DE}" type="pres">
      <dgm:prSet presAssocID="{BF23B041-20A7-6A4F-B990-0F48094C3781}" presName="theList" presStyleCnt="0">
        <dgm:presLayoutVars>
          <dgm:dir/>
          <dgm:animLvl val="lvl"/>
          <dgm:resizeHandles val="exact"/>
        </dgm:presLayoutVars>
      </dgm:prSet>
      <dgm:spPr/>
    </dgm:pt>
    <dgm:pt modelId="{C38121F9-97FE-EC42-845C-D8AAC60234E4}" type="pres">
      <dgm:prSet presAssocID="{E6A2FFF2-8955-4F41-828B-A50B621B7E3F}" presName="compNode" presStyleCnt="0"/>
      <dgm:spPr/>
    </dgm:pt>
    <dgm:pt modelId="{BC928BDC-5244-CC4F-BC2E-01D6755A23C0}" type="pres">
      <dgm:prSet presAssocID="{E6A2FFF2-8955-4F41-828B-A50B621B7E3F}" presName="aNode" presStyleLbl="bgShp" presStyleIdx="0" presStyleCnt="7"/>
      <dgm:spPr/>
    </dgm:pt>
    <dgm:pt modelId="{137F4872-AA67-1B40-9F54-D2C51631C6AA}" type="pres">
      <dgm:prSet presAssocID="{E6A2FFF2-8955-4F41-828B-A50B621B7E3F}" presName="textNode" presStyleLbl="bgShp" presStyleIdx="0" presStyleCnt="7"/>
      <dgm:spPr/>
    </dgm:pt>
    <dgm:pt modelId="{0F51D67D-C2B7-BF45-963F-C122C6C6E65E}" type="pres">
      <dgm:prSet presAssocID="{E6A2FFF2-8955-4F41-828B-A50B621B7E3F}" presName="compChildNode" presStyleCnt="0"/>
      <dgm:spPr/>
    </dgm:pt>
    <dgm:pt modelId="{3BA89111-03EE-9C4E-ADB1-0B5237CF813E}" type="pres">
      <dgm:prSet presAssocID="{E6A2FFF2-8955-4F41-828B-A50B621B7E3F}" presName="theInnerList" presStyleCnt="0"/>
      <dgm:spPr/>
    </dgm:pt>
    <dgm:pt modelId="{BAFF8F21-7682-474A-A883-D5351F57BC42}" type="pres">
      <dgm:prSet presAssocID="{8C2E8826-F91D-3645-B1C1-7635C1EE85EC}" presName="childNode" presStyleLbl="node1" presStyleIdx="0" presStyleCnt="25">
        <dgm:presLayoutVars>
          <dgm:bulletEnabled val="1"/>
        </dgm:presLayoutVars>
      </dgm:prSet>
      <dgm:spPr/>
    </dgm:pt>
    <dgm:pt modelId="{8074180E-07CE-364F-BDD8-47B49851AC20}" type="pres">
      <dgm:prSet presAssocID="{8C2E8826-F91D-3645-B1C1-7635C1EE85EC}" presName="aSpace2" presStyleCnt="0"/>
      <dgm:spPr/>
    </dgm:pt>
    <dgm:pt modelId="{9944EA47-B199-1542-AE3B-0D77578EAA95}" type="pres">
      <dgm:prSet presAssocID="{4C2E58D8-24B8-1B49-B5EB-0D6314A005EB}" presName="childNode" presStyleLbl="node1" presStyleIdx="1" presStyleCnt="25">
        <dgm:presLayoutVars>
          <dgm:bulletEnabled val="1"/>
        </dgm:presLayoutVars>
      </dgm:prSet>
      <dgm:spPr/>
    </dgm:pt>
    <dgm:pt modelId="{0ECD3F78-BEC6-2045-9BAB-D2DFCC97046D}" type="pres">
      <dgm:prSet presAssocID="{4C2E58D8-24B8-1B49-B5EB-0D6314A005EB}" presName="aSpace2" presStyleCnt="0"/>
      <dgm:spPr/>
    </dgm:pt>
    <dgm:pt modelId="{439305CA-12AB-CE4A-ACBC-68AF77B79983}" type="pres">
      <dgm:prSet presAssocID="{84EA5854-37AE-394A-884D-26B2FC7052D7}" presName="childNode" presStyleLbl="node1" presStyleIdx="2" presStyleCnt="25">
        <dgm:presLayoutVars>
          <dgm:bulletEnabled val="1"/>
        </dgm:presLayoutVars>
      </dgm:prSet>
      <dgm:spPr/>
    </dgm:pt>
    <dgm:pt modelId="{623BF188-6C7A-6841-BA20-0433AF7D30D3}" type="pres">
      <dgm:prSet presAssocID="{84EA5854-37AE-394A-884D-26B2FC7052D7}" presName="aSpace2" presStyleCnt="0"/>
      <dgm:spPr/>
    </dgm:pt>
    <dgm:pt modelId="{5C7A16F3-FEB5-824C-B341-388E7B1168AA}" type="pres">
      <dgm:prSet presAssocID="{1D1521C1-AAC5-C841-B6D5-7A36AD6673F9}" presName="childNode" presStyleLbl="node1" presStyleIdx="3" presStyleCnt="25">
        <dgm:presLayoutVars>
          <dgm:bulletEnabled val="1"/>
        </dgm:presLayoutVars>
      </dgm:prSet>
      <dgm:spPr/>
    </dgm:pt>
    <dgm:pt modelId="{781C0F1C-7CBE-1143-9630-522D89A93B82}" type="pres">
      <dgm:prSet presAssocID="{1D1521C1-AAC5-C841-B6D5-7A36AD6673F9}" presName="aSpace2" presStyleCnt="0"/>
      <dgm:spPr/>
    </dgm:pt>
    <dgm:pt modelId="{3ACBFAD9-9CBE-AD4D-8CF5-5927F6AA4C61}" type="pres">
      <dgm:prSet presAssocID="{F292FC73-C6DD-A542-92AA-2DB3950A5997}" presName="childNode" presStyleLbl="node1" presStyleIdx="4" presStyleCnt="25">
        <dgm:presLayoutVars>
          <dgm:bulletEnabled val="1"/>
        </dgm:presLayoutVars>
      </dgm:prSet>
      <dgm:spPr/>
    </dgm:pt>
    <dgm:pt modelId="{BBAC4EB1-E10A-8848-8779-71CC950C4408}" type="pres">
      <dgm:prSet presAssocID="{F292FC73-C6DD-A542-92AA-2DB3950A5997}" presName="aSpace2" presStyleCnt="0"/>
      <dgm:spPr/>
    </dgm:pt>
    <dgm:pt modelId="{D4AF50BA-2F7D-954E-A09A-05EF1CF9E50D}" type="pres">
      <dgm:prSet presAssocID="{0FB82AFE-9AC5-6945-8B58-44F5E6A60032}" presName="childNode" presStyleLbl="node1" presStyleIdx="5" presStyleCnt="25">
        <dgm:presLayoutVars>
          <dgm:bulletEnabled val="1"/>
        </dgm:presLayoutVars>
      </dgm:prSet>
      <dgm:spPr/>
    </dgm:pt>
    <dgm:pt modelId="{324A857D-9DE6-9442-9225-1C9D9C22D579}" type="pres">
      <dgm:prSet presAssocID="{0FB82AFE-9AC5-6945-8B58-44F5E6A60032}" presName="aSpace2" presStyleCnt="0"/>
      <dgm:spPr/>
    </dgm:pt>
    <dgm:pt modelId="{A2F9DB0E-BEE6-C341-8409-013F83163756}" type="pres">
      <dgm:prSet presAssocID="{CA76132A-78FA-C143-B56B-9C925F845E5F}" presName="childNode" presStyleLbl="node1" presStyleIdx="6" presStyleCnt="25">
        <dgm:presLayoutVars>
          <dgm:bulletEnabled val="1"/>
        </dgm:presLayoutVars>
      </dgm:prSet>
      <dgm:spPr/>
    </dgm:pt>
    <dgm:pt modelId="{3EF3EAD5-0E8A-4C4E-BFA0-D82223913A07}" type="pres">
      <dgm:prSet presAssocID="{E6A2FFF2-8955-4F41-828B-A50B621B7E3F}" presName="aSpace" presStyleCnt="0"/>
      <dgm:spPr/>
    </dgm:pt>
    <dgm:pt modelId="{022884F7-4A62-6A4D-8010-BD562CE3464A}" type="pres">
      <dgm:prSet presAssocID="{5D1AEBCF-7035-B04D-BFDC-07E33E52C17B}" presName="compNode" presStyleCnt="0"/>
      <dgm:spPr/>
    </dgm:pt>
    <dgm:pt modelId="{407FA46C-5433-9345-A88F-536430ED5CB5}" type="pres">
      <dgm:prSet presAssocID="{5D1AEBCF-7035-B04D-BFDC-07E33E52C17B}" presName="aNode" presStyleLbl="bgShp" presStyleIdx="1" presStyleCnt="7"/>
      <dgm:spPr/>
    </dgm:pt>
    <dgm:pt modelId="{B4F7093A-19E5-E240-B0B0-2CFE40A8A8A4}" type="pres">
      <dgm:prSet presAssocID="{5D1AEBCF-7035-B04D-BFDC-07E33E52C17B}" presName="textNode" presStyleLbl="bgShp" presStyleIdx="1" presStyleCnt="7"/>
      <dgm:spPr/>
    </dgm:pt>
    <dgm:pt modelId="{355FC07E-C4C2-2946-864A-5F62C8B0CEB5}" type="pres">
      <dgm:prSet presAssocID="{5D1AEBCF-7035-B04D-BFDC-07E33E52C17B}" presName="compChildNode" presStyleCnt="0"/>
      <dgm:spPr/>
    </dgm:pt>
    <dgm:pt modelId="{840C1BF0-B98C-7746-889E-EA82676F4CE9}" type="pres">
      <dgm:prSet presAssocID="{5D1AEBCF-7035-B04D-BFDC-07E33E52C17B}" presName="theInnerList" presStyleCnt="0"/>
      <dgm:spPr/>
    </dgm:pt>
    <dgm:pt modelId="{86480DEC-B2B8-4A48-AE7F-0803FF15111D}" type="pres">
      <dgm:prSet presAssocID="{07BDF0AD-D60D-D242-824F-D586F6E7F960}" presName="childNode" presStyleLbl="node1" presStyleIdx="7" presStyleCnt="25">
        <dgm:presLayoutVars>
          <dgm:bulletEnabled val="1"/>
        </dgm:presLayoutVars>
      </dgm:prSet>
      <dgm:spPr/>
    </dgm:pt>
    <dgm:pt modelId="{D3B97557-8347-8A4A-AFC4-A80CF919FB36}" type="pres">
      <dgm:prSet presAssocID="{07BDF0AD-D60D-D242-824F-D586F6E7F960}" presName="aSpace2" presStyleCnt="0"/>
      <dgm:spPr/>
    </dgm:pt>
    <dgm:pt modelId="{5EA8250C-FD11-B940-9430-DA94674329CA}" type="pres">
      <dgm:prSet presAssocID="{52492B77-0FB6-0744-87B0-ABBFC92E5877}" presName="childNode" presStyleLbl="node1" presStyleIdx="8" presStyleCnt="25">
        <dgm:presLayoutVars>
          <dgm:bulletEnabled val="1"/>
        </dgm:presLayoutVars>
      </dgm:prSet>
      <dgm:spPr/>
    </dgm:pt>
    <dgm:pt modelId="{F9A0D803-0A67-7A4C-A3C9-A66BE44C8320}" type="pres">
      <dgm:prSet presAssocID="{52492B77-0FB6-0744-87B0-ABBFC92E5877}" presName="aSpace2" presStyleCnt="0"/>
      <dgm:spPr/>
    </dgm:pt>
    <dgm:pt modelId="{C563279C-3BD3-5A46-B7EA-9BA2832B92D4}" type="pres">
      <dgm:prSet presAssocID="{80FE84DE-9FAB-674B-A7A1-78CE2EE89DA9}" presName="childNode" presStyleLbl="node1" presStyleIdx="9" presStyleCnt="25">
        <dgm:presLayoutVars>
          <dgm:bulletEnabled val="1"/>
        </dgm:presLayoutVars>
      </dgm:prSet>
      <dgm:spPr/>
    </dgm:pt>
    <dgm:pt modelId="{D871DE97-1C25-C545-B513-19DC9E388C47}" type="pres">
      <dgm:prSet presAssocID="{80FE84DE-9FAB-674B-A7A1-78CE2EE89DA9}" presName="aSpace2" presStyleCnt="0"/>
      <dgm:spPr/>
    </dgm:pt>
    <dgm:pt modelId="{B2F38DB6-5DC4-FB45-B301-B2D5BC803A65}" type="pres">
      <dgm:prSet presAssocID="{1EC1AFD5-2566-294F-A9BB-FABD79CED2BB}" presName="childNode" presStyleLbl="node1" presStyleIdx="10" presStyleCnt="25">
        <dgm:presLayoutVars>
          <dgm:bulletEnabled val="1"/>
        </dgm:presLayoutVars>
      </dgm:prSet>
      <dgm:spPr/>
    </dgm:pt>
    <dgm:pt modelId="{F23B1BF1-04CF-2343-9307-1B0D667FD1C7}" type="pres">
      <dgm:prSet presAssocID="{5D1AEBCF-7035-B04D-BFDC-07E33E52C17B}" presName="aSpace" presStyleCnt="0"/>
      <dgm:spPr/>
    </dgm:pt>
    <dgm:pt modelId="{EACEDDC3-9B77-734E-8704-1581BEBA5902}" type="pres">
      <dgm:prSet presAssocID="{BBACE4CF-F0F6-7749-B260-8B3676D1EE39}" presName="compNode" presStyleCnt="0"/>
      <dgm:spPr/>
    </dgm:pt>
    <dgm:pt modelId="{7668852D-2BC1-5D43-A053-9A92DAC94835}" type="pres">
      <dgm:prSet presAssocID="{BBACE4CF-F0F6-7749-B260-8B3676D1EE39}" presName="aNode" presStyleLbl="bgShp" presStyleIdx="2" presStyleCnt="7"/>
      <dgm:spPr/>
    </dgm:pt>
    <dgm:pt modelId="{E5BDCD03-0791-7B4B-822D-C1293C991ABA}" type="pres">
      <dgm:prSet presAssocID="{BBACE4CF-F0F6-7749-B260-8B3676D1EE39}" presName="textNode" presStyleLbl="bgShp" presStyleIdx="2" presStyleCnt="7"/>
      <dgm:spPr/>
    </dgm:pt>
    <dgm:pt modelId="{C2E271B2-764C-7740-9411-8DF331E19E6C}" type="pres">
      <dgm:prSet presAssocID="{BBACE4CF-F0F6-7749-B260-8B3676D1EE39}" presName="compChildNode" presStyleCnt="0"/>
      <dgm:spPr/>
    </dgm:pt>
    <dgm:pt modelId="{423EE669-0B8C-6C47-A0E9-ED64E32D389B}" type="pres">
      <dgm:prSet presAssocID="{BBACE4CF-F0F6-7749-B260-8B3676D1EE39}" presName="theInnerList" presStyleCnt="0"/>
      <dgm:spPr/>
    </dgm:pt>
    <dgm:pt modelId="{C19C75FB-02BB-E240-B029-C4451B1AF53B}" type="pres">
      <dgm:prSet presAssocID="{BD810D76-2AF7-5742-A4EE-301347B40500}" presName="childNode" presStyleLbl="node1" presStyleIdx="11" presStyleCnt="25">
        <dgm:presLayoutVars>
          <dgm:bulletEnabled val="1"/>
        </dgm:presLayoutVars>
      </dgm:prSet>
      <dgm:spPr/>
    </dgm:pt>
    <dgm:pt modelId="{88D6EA0B-D65E-B14E-AEE5-E9A9174D5E0C}" type="pres">
      <dgm:prSet presAssocID="{BD810D76-2AF7-5742-A4EE-301347B40500}" presName="aSpace2" presStyleCnt="0"/>
      <dgm:spPr/>
    </dgm:pt>
    <dgm:pt modelId="{5B2E0B64-5774-E74B-BB0F-5439968E1560}" type="pres">
      <dgm:prSet presAssocID="{64565257-B61F-7E46-B70C-C08F2EAB09F1}" presName="childNode" presStyleLbl="node1" presStyleIdx="12" presStyleCnt="25">
        <dgm:presLayoutVars>
          <dgm:bulletEnabled val="1"/>
        </dgm:presLayoutVars>
      </dgm:prSet>
      <dgm:spPr/>
    </dgm:pt>
    <dgm:pt modelId="{6D159404-FBBC-EE4A-9B82-4CDB8A066E86}" type="pres">
      <dgm:prSet presAssocID="{64565257-B61F-7E46-B70C-C08F2EAB09F1}" presName="aSpace2" presStyleCnt="0"/>
      <dgm:spPr/>
    </dgm:pt>
    <dgm:pt modelId="{E1169713-2DA9-F04F-AC54-B9CC46F63B51}" type="pres">
      <dgm:prSet presAssocID="{23334B50-DACD-B84F-84C1-B165BC491049}" presName="childNode" presStyleLbl="node1" presStyleIdx="13" presStyleCnt="25">
        <dgm:presLayoutVars>
          <dgm:bulletEnabled val="1"/>
        </dgm:presLayoutVars>
      </dgm:prSet>
      <dgm:spPr/>
    </dgm:pt>
    <dgm:pt modelId="{03D49FEF-0407-D541-89E8-AE7A9D231881}" type="pres">
      <dgm:prSet presAssocID="{BBACE4CF-F0F6-7749-B260-8B3676D1EE39}" presName="aSpace" presStyleCnt="0"/>
      <dgm:spPr/>
    </dgm:pt>
    <dgm:pt modelId="{E0C3B386-89F5-B74F-8CBC-C08FF8CCAA6B}" type="pres">
      <dgm:prSet presAssocID="{618A1641-2927-D949-8474-15D2AD9ECF44}" presName="compNode" presStyleCnt="0"/>
      <dgm:spPr/>
    </dgm:pt>
    <dgm:pt modelId="{15960519-F868-2942-A175-0B4B197DBB7D}" type="pres">
      <dgm:prSet presAssocID="{618A1641-2927-D949-8474-15D2AD9ECF44}" presName="aNode" presStyleLbl="bgShp" presStyleIdx="3" presStyleCnt="7"/>
      <dgm:spPr/>
    </dgm:pt>
    <dgm:pt modelId="{2EA2E5A8-2961-DA4A-987D-CF644F09E7DD}" type="pres">
      <dgm:prSet presAssocID="{618A1641-2927-D949-8474-15D2AD9ECF44}" presName="textNode" presStyleLbl="bgShp" presStyleIdx="3" presStyleCnt="7"/>
      <dgm:spPr/>
    </dgm:pt>
    <dgm:pt modelId="{E01CB74C-AF6C-D24E-AF88-4CA5036DCFE0}" type="pres">
      <dgm:prSet presAssocID="{618A1641-2927-D949-8474-15D2AD9ECF44}" presName="compChildNode" presStyleCnt="0"/>
      <dgm:spPr/>
    </dgm:pt>
    <dgm:pt modelId="{14DB31F8-683E-DE4C-B34C-508D0C17CE69}" type="pres">
      <dgm:prSet presAssocID="{618A1641-2927-D949-8474-15D2AD9ECF44}" presName="theInnerList" presStyleCnt="0"/>
      <dgm:spPr/>
    </dgm:pt>
    <dgm:pt modelId="{A3FCB19C-CF71-2447-8256-F898160424C3}" type="pres">
      <dgm:prSet presAssocID="{8BAF20D4-15E8-E54F-BE1D-59662E491638}" presName="childNode" presStyleLbl="node1" presStyleIdx="14" presStyleCnt="25">
        <dgm:presLayoutVars>
          <dgm:bulletEnabled val="1"/>
        </dgm:presLayoutVars>
      </dgm:prSet>
      <dgm:spPr/>
    </dgm:pt>
    <dgm:pt modelId="{74B0D57B-3FDF-1F48-AB01-740DFEDAD3B9}" type="pres">
      <dgm:prSet presAssocID="{8BAF20D4-15E8-E54F-BE1D-59662E491638}" presName="aSpace2" presStyleCnt="0"/>
      <dgm:spPr/>
    </dgm:pt>
    <dgm:pt modelId="{A2CF386A-0813-9F4E-8934-83D35A04F3A6}" type="pres">
      <dgm:prSet presAssocID="{22DFDBE0-1D6E-5E4D-BBA7-5172A82220BA}" presName="childNode" presStyleLbl="node1" presStyleIdx="15" presStyleCnt="25">
        <dgm:presLayoutVars>
          <dgm:bulletEnabled val="1"/>
        </dgm:presLayoutVars>
      </dgm:prSet>
      <dgm:spPr/>
    </dgm:pt>
    <dgm:pt modelId="{6FA03FA4-7137-674C-99A7-68DDBC66A6DF}" type="pres">
      <dgm:prSet presAssocID="{22DFDBE0-1D6E-5E4D-BBA7-5172A82220BA}" presName="aSpace2" presStyleCnt="0"/>
      <dgm:spPr/>
    </dgm:pt>
    <dgm:pt modelId="{F8ABA68E-DDAC-9548-95F1-472135ECA6AF}" type="pres">
      <dgm:prSet presAssocID="{D02C15FE-0F24-BB43-9F66-158DA4844336}" presName="childNode" presStyleLbl="node1" presStyleIdx="16" presStyleCnt="25">
        <dgm:presLayoutVars>
          <dgm:bulletEnabled val="1"/>
        </dgm:presLayoutVars>
      </dgm:prSet>
      <dgm:spPr/>
    </dgm:pt>
    <dgm:pt modelId="{6B48BE6A-8241-074A-8809-807CC07A9D55}" type="pres">
      <dgm:prSet presAssocID="{618A1641-2927-D949-8474-15D2AD9ECF44}" presName="aSpace" presStyleCnt="0"/>
      <dgm:spPr/>
    </dgm:pt>
    <dgm:pt modelId="{C6A4563F-C59D-8B44-9262-0FE74442051C}" type="pres">
      <dgm:prSet presAssocID="{450352FF-401B-7E4F-8A8E-113243EC8109}" presName="compNode" presStyleCnt="0"/>
      <dgm:spPr/>
    </dgm:pt>
    <dgm:pt modelId="{291D62C6-CEAA-6E48-A152-01E7D4260C45}" type="pres">
      <dgm:prSet presAssocID="{450352FF-401B-7E4F-8A8E-113243EC8109}" presName="aNode" presStyleLbl="bgShp" presStyleIdx="4" presStyleCnt="7"/>
      <dgm:spPr/>
    </dgm:pt>
    <dgm:pt modelId="{B33E3E79-A576-FF4C-BA0A-3F6B2D4F2BA9}" type="pres">
      <dgm:prSet presAssocID="{450352FF-401B-7E4F-8A8E-113243EC8109}" presName="textNode" presStyleLbl="bgShp" presStyleIdx="4" presStyleCnt="7"/>
      <dgm:spPr/>
    </dgm:pt>
    <dgm:pt modelId="{9A59CD22-6CFF-2240-A073-FB973AAB27EF}" type="pres">
      <dgm:prSet presAssocID="{450352FF-401B-7E4F-8A8E-113243EC8109}" presName="compChildNode" presStyleCnt="0"/>
      <dgm:spPr/>
    </dgm:pt>
    <dgm:pt modelId="{C5AFC0F2-DCE1-3A47-AAB1-A6AF74DE2F39}" type="pres">
      <dgm:prSet presAssocID="{450352FF-401B-7E4F-8A8E-113243EC8109}" presName="theInnerList" presStyleCnt="0"/>
      <dgm:spPr/>
    </dgm:pt>
    <dgm:pt modelId="{6E64806D-5F85-4C44-B759-46F3F7DE500A}" type="pres">
      <dgm:prSet presAssocID="{D653474C-0EC3-F54F-A8E3-82FA8068C872}" presName="childNode" presStyleLbl="node1" presStyleIdx="17" presStyleCnt="25">
        <dgm:presLayoutVars>
          <dgm:bulletEnabled val="1"/>
        </dgm:presLayoutVars>
      </dgm:prSet>
      <dgm:spPr/>
    </dgm:pt>
    <dgm:pt modelId="{41DF64F8-3EA7-F748-B373-97A090B15587}" type="pres">
      <dgm:prSet presAssocID="{D653474C-0EC3-F54F-A8E3-82FA8068C872}" presName="aSpace2" presStyleCnt="0"/>
      <dgm:spPr/>
    </dgm:pt>
    <dgm:pt modelId="{B16B47BA-18CD-A84D-AD0C-997BA13CA7BF}" type="pres">
      <dgm:prSet presAssocID="{A858C4DB-4563-2E41-BE7A-BB47A20B0384}" presName="childNode" presStyleLbl="node1" presStyleIdx="18" presStyleCnt="25">
        <dgm:presLayoutVars>
          <dgm:bulletEnabled val="1"/>
        </dgm:presLayoutVars>
      </dgm:prSet>
      <dgm:spPr/>
    </dgm:pt>
    <dgm:pt modelId="{F9E20C0C-3248-4741-8F47-FA35640F1786}" type="pres">
      <dgm:prSet presAssocID="{450352FF-401B-7E4F-8A8E-113243EC8109}" presName="aSpace" presStyleCnt="0"/>
      <dgm:spPr/>
    </dgm:pt>
    <dgm:pt modelId="{D7DB8433-FD4A-BE4B-842D-CE86FDE72FE4}" type="pres">
      <dgm:prSet presAssocID="{5BB51E20-8977-C044-A30C-0C33D4D25AB4}" presName="compNode" presStyleCnt="0"/>
      <dgm:spPr/>
    </dgm:pt>
    <dgm:pt modelId="{1C561C77-FD69-9C49-85F8-25CA2783B0E9}" type="pres">
      <dgm:prSet presAssocID="{5BB51E20-8977-C044-A30C-0C33D4D25AB4}" presName="aNode" presStyleLbl="bgShp" presStyleIdx="5" presStyleCnt="7"/>
      <dgm:spPr/>
    </dgm:pt>
    <dgm:pt modelId="{0FE00457-3D4C-CB4A-B263-2CDEC34A60FB}" type="pres">
      <dgm:prSet presAssocID="{5BB51E20-8977-C044-A30C-0C33D4D25AB4}" presName="textNode" presStyleLbl="bgShp" presStyleIdx="5" presStyleCnt="7"/>
      <dgm:spPr/>
    </dgm:pt>
    <dgm:pt modelId="{2668242A-1074-F64E-80D6-A5051FED3C97}" type="pres">
      <dgm:prSet presAssocID="{5BB51E20-8977-C044-A30C-0C33D4D25AB4}" presName="compChildNode" presStyleCnt="0"/>
      <dgm:spPr/>
    </dgm:pt>
    <dgm:pt modelId="{4AD511CD-A889-AB44-A730-F4C796B22AC2}" type="pres">
      <dgm:prSet presAssocID="{5BB51E20-8977-C044-A30C-0C33D4D25AB4}" presName="theInnerList" presStyleCnt="0"/>
      <dgm:spPr/>
    </dgm:pt>
    <dgm:pt modelId="{429F17A2-F7AE-F74D-9772-247C8A0065D7}" type="pres">
      <dgm:prSet presAssocID="{DEE32D54-86F6-4748-BB40-A2AD70B8C581}" presName="childNode" presStyleLbl="node1" presStyleIdx="19" presStyleCnt="25">
        <dgm:presLayoutVars>
          <dgm:bulletEnabled val="1"/>
        </dgm:presLayoutVars>
      </dgm:prSet>
      <dgm:spPr/>
    </dgm:pt>
    <dgm:pt modelId="{4F92511C-50DB-4946-A972-6E9B1A68D58E}" type="pres">
      <dgm:prSet presAssocID="{DEE32D54-86F6-4748-BB40-A2AD70B8C581}" presName="aSpace2" presStyleCnt="0"/>
      <dgm:spPr/>
    </dgm:pt>
    <dgm:pt modelId="{73EE8F82-9862-184B-9EF6-386C054EE803}" type="pres">
      <dgm:prSet presAssocID="{67E24331-EAC9-EB40-B3A3-3F6B8CE28836}" presName="childNode" presStyleLbl="node1" presStyleIdx="20" presStyleCnt="25">
        <dgm:presLayoutVars>
          <dgm:bulletEnabled val="1"/>
        </dgm:presLayoutVars>
      </dgm:prSet>
      <dgm:spPr/>
    </dgm:pt>
    <dgm:pt modelId="{738049C8-AB49-0D40-9385-57A51805FF8B}" type="pres">
      <dgm:prSet presAssocID="{67E24331-EAC9-EB40-B3A3-3F6B8CE28836}" presName="aSpace2" presStyleCnt="0"/>
      <dgm:spPr/>
    </dgm:pt>
    <dgm:pt modelId="{79AB209A-281C-7B43-9059-18F77B42F906}" type="pres">
      <dgm:prSet presAssocID="{6C562C82-5816-B044-87E5-1A60EF073C84}" presName="childNode" presStyleLbl="node1" presStyleIdx="21" presStyleCnt="25">
        <dgm:presLayoutVars>
          <dgm:bulletEnabled val="1"/>
        </dgm:presLayoutVars>
      </dgm:prSet>
      <dgm:spPr/>
    </dgm:pt>
    <dgm:pt modelId="{0A0F4AFA-076A-B14C-AB84-5497EFB5437D}" type="pres">
      <dgm:prSet presAssocID="{5BB51E20-8977-C044-A30C-0C33D4D25AB4}" presName="aSpace" presStyleCnt="0"/>
      <dgm:spPr/>
    </dgm:pt>
    <dgm:pt modelId="{370636F1-F990-8946-988C-52BCB60C46A6}" type="pres">
      <dgm:prSet presAssocID="{85680BA2-AA3D-F446-A4C1-4075DC3ECF66}" presName="compNode" presStyleCnt="0"/>
      <dgm:spPr/>
    </dgm:pt>
    <dgm:pt modelId="{8516D76A-4173-134F-A060-E4088441E35A}" type="pres">
      <dgm:prSet presAssocID="{85680BA2-AA3D-F446-A4C1-4075DC3ECF66}" presName="aNode" presStyleLbl="bgShp" presStyleIdx="6" presStyleCnt="7"/>
      <dgm:spPr/>
    </dgm:pt>
    <dgm:pt modelId="{EA8B3B04-5518-B048-8DE3-535B8B9A8EFF}" type="pres">
      <dgm:prSet presAssocID="{85680BA2-AA3D-F446-A4C1-4075DC3ECF66}" presName="textNode" presStyleLbl="bgShp" presStyleIdx="6" presStyleCnt="7"/>
      <dgm:spPr/>
    </dgm:pt>
    <dgm:pt modelId="{D537B4CF-0446-D74A-97E2-38B16D879624}" type="pres">
      <dgm:prSet presAssocID="{85680BA2-AA3D-F446-A4C1-4075DC3ECF66}" presName="compChildNode" presStyleCnt="0"/>
      <dgm:spPr/>
    </dgm:pt>
    <dgm:pt modelId="{C0A08658-4633-6148-B243-05EDE187F01A}" type="pres">
      <dgm:prSet presAssocID="{85680BA2-AA3D-F446-A4C1-4075DC3ECF66}" presName="theInnerList" presStyleCnt="0"/>
      <dgm:spPr/>
    </dgm:pt>
    <dgm:pt modelId="{FA0B817B-AFE3-3F4F-8A05-4F98D9571DAD}" type="pres">
      <dgm:prSet presAssocID="{34D462DE-60B3-DF4C-BA92-F01AEFEBE595}" presName="childNode" presStyleLbl="node1" presStyleIdx="22" presStyleCnt="25">
        <dgm:presLayoutVars>
          <dgm:bulletEnabled val="1"/>
        </dgm:presLayoutVars>
      </dgm:prSet>
      <dgm:spPr/>
    </dgm:pt>
    <dgm:pt modelId="{AC1DFA44-C58C-D54C-A5A4-0D5B827E4456}" type="pres">
      <dgm:prSet presAssocID="{34D462DE-60B3-DF4C-BA92-F01AEFEBE595}" presName="aSpace2" presStyleCnt="0"/>
      <dgm:spPr/>
    </dgm:pt>
    <dgm:pt modelId="{1CAAE67D-9FAC-EC4A-9228-46C26CC586F7}" type="pres">
      <dgm:prSet presAssocID="{C4CB39FC-26E6-8243-AE05-37FD11795FBA}" presName="childNode" presStyleLbl="node1" presStyleIdx="23" presStyleCnt="25">
        <dgm:presLayoutVars>
          <dgm:bulletEnabled val="1"/>
        </dgm:presLayoutVars>
      </dgm:prSet>
      <dgm:spPr/>
    </dgm:pt>
    <dgm:pt modelId="{D7F44369-2976-D249-9A7C-65DE35CDB707}" type="pres">
      <dgm:prSet presAssocID="{C4CB39FC-26E6-8243-AE05-37FD11795FBA}" presName="aSpace2" presStyleCnt="0"/>
      <dgm:spPr/>
    </dgm:pt>
    <dgm:pt modelId="{4D0F52EB-DC93-1047-83DC-F54187C237CD}" type="pres">
      <dgm:prSet presAssocID="{28CE13DD-8CE3-2F40-A204-1271EA087C95}" presName="childNode" presStyleLbl="node1" presStyleIdx="24" presStyleCnt="25">
        <dgm:presLayoutVars>
          <dgm:bulletEnabled val="1"/>
        </dgm:presLayoutVars>
      </dgm:prSet>
      <dgm:spPr/>
    </dgm:pt>
  </dgm:ptLst>
  <dgm:cxnLst>
    <dgm:cxn modelId="{752A5601-4696-414A-923C-4AC58561A910}" srcId="{618A1641-2927-D949-8474-15D2AD9ECF44}" destId="{8BAF20D4-15E8-E54F-BE1D-59662E491638}" srcOrd="0" destOrd="0" parTransId="{F0571F21-D740-9E46-87E0-71F9D76D309E}" sibTransId="{6F0C28F0-2E6A-7E4C-8537-695AA3A7AD9F}"/>
    <dgm:cxn modelId="{5C06D301-0B44-AD4C-A5C4-0AA2941953C2}" srcId="{85680BA2-AA3D-F446-A4C1-4075DC3ECF66}" destId="{C4CB39FC-26E6-8243-AE05-37FD11795FBA}" srcOrd="1" destOrd="0" parTransId="{3164177F-3C3D-474C-A96B-5B54D195AE9F}" sibTransId="{E69DF814-6508-BD44-A46F-3C78F7DC0E41}"/>
    <dgm:cxn modelId="{2DB48205-132B-46A1-B9ED-C830CDC07007}" type="presOf" srcId="{22DFDBE0-1D6E-5E4D-BBA7-5172A82220BA}" destId="{A2CF386A-0813-9F4E-8934-83D35A04F3A6}" srcOrd="0" destOrd="0" presId="urn:microsoft.com/office/officeart/2005/8/layout/lProcess2"/>
    <dgm:cxn modelId="{3BF21307-6D0E-F44A-AB55-79CE911B2DC3}" srcId="{28CE13DD-8CE3-2F40-A204-1271EA087C95}" destId="{CD91D16F-B170-5B41-842F-664DC72C9B17}" srcOrd="0" destOrd="0" parTransId="{197221D1-4F5B-7048-8F21-BB0E2A3B778B}" sibTransId="{56328C2D-9487-2342-9582-13488BCC9AC6}"/>
    <dgm:cxn modelId="{FC93EE08-CCB5-4862-8272-BCDC37F55823}" type="presOf" srcId="{653843A3-1F17-40DD-9664-96E8EBE4CEE0}" destId="{79AB209A-281C-7B43-9059-18F77B42F906}" srcOrd="0" destOrd="2" presId="urn:microsoft.com/office/officeart/2005/8/layout/lProcess2"/>
    <dgm:cxn modelId="{0A1F6C09-57C8-E143-9706-0F07F0655677}" srcId="{BF23B041-20A7-6A4F-B990-0F48094C3781}" destId="{450352FF-401B-7E4F-8A8E-113243EC8109}" srcOrd="4" destOrd="0" parTransId="{1F9A8731-A371-BB45-B100-4275A3BA230A}" sibTransId="{1CA584EC-927C-ED4E-BB87-850748A454A5}"/>
    <dgm:cxn modelId="{7C0BA309-C2CF-1D41-97B2-710369564FB7}" srcId="{5BB51E20-8977-C044-A30C-0C33D4D25AB4}" destId="{67E24331-EAC9-EB40-B3A3-3F6B8CE28836}" srcOrd="1" destOrd="0" parTransId="{ADF104C5-397C-3849-911E-33EEFBB975CE}" sibTransId="{12B09948-0D9B-9847-B046-15E4BFD9FE80}"/>
    <dgm:cxn modelId="{86747B0B-D701-3943-8003-C29ED3D09540}" srcId="{64565257-B61F-7E46-B70C-C08F2EAB09F1}" destId="{B018D43E-851C-2746-BF60-A6288C2EBD30}" srcOrd="1" destOrd="0" parTransId="{00F0A414-ABD3-4248-887B-AFF2E757F97E}" sibTransId="{5BB313C5-88A2-0949-BDB4-FA6482399087}"/>
    <dgm:cxn modelId="{47004D0C-7516-314A-9178-21DE9414D560}" srcId="{5D1AEBCF-7035-B04D-BFDC-07E33E52C17B}" destId="{52492B77-0FB6-0744-87B0-ABBFC92E5877}" srcOrd="1" destOrd="0" parTransId="{83BEC38B-C0A6-3F4D-ACC9-D8CFB5C9F94C}" sibTransId="{9B8292F4-A2E1-C641-B720-6C7743ACB6C6}"/>
    <dgm:cxn modelId="{A76CAB0C-71D0-4942-A786-5829232E9CB9}" type="presOf" srcId="{28CE13DD-8CE3-2F40-A204-1271EA087C95}" destId="{4D0F52EB-DC93-1047-83DC-F54187C237CD}" srcOrd="0" destOrd="0" presId="urn:microsoft.com/office/officeart/2005/8/layout/lProcess2"/>
    <dgm:cxn modelId="{C222C90C-682E-DE4B-BE60-3D10A4266830}" srcId="{E6A2FFF2-8955-4F41-828B-A50B621B7E3F}" destId="{F292FC73-C6DD-A542-92AA-2DB3950A5997}" srcOrd="4" destOrd="0" parTransId="{DB397BAC-19F0-9545-80F2-757D51645F27}" sibTransId="{D27251C6-F6D9-804A-843A-3D50DA8BA6CF}"/>
    <dgm:cxn modelId="{8E3C4011-CCD8-4180-B0DB-A00BB667782F}" type="presOf" srcId="{34CD7661-26A8-44A0-B724-EE4B5E7540F1}" destId="{B2F38DB6-5DC4-FB45-B301-B2D5BC803A65}" srcOrd="0" destOrd="3" presId="urn:microsoft.com/office/officeart/2005/8/layout/lProcess2"/>
    <dgm:cxn modelId="{C30F3B16-6613-1648-8B57-16102FC471C9}" srcId="{BBACE4CF-F0F6-7749-B260-8B3676D1EE39}" destId="{23334B50-DACD-B84F-84C1-B165BC491049}" srcOrd="2" destOrd="0" parTransId="{225F6DF6-F636-AE41-9BEF-A1619D84BC7C}" sibTransId="{3D183498-91A9-0440-99C1-28E77E5AFA23}"/>
    <dgm:cxn modelId="{25099F18-C126-F646-B16C-07E67093430B}" srcId="{64565257-B61F-7E46-B70C-C08F2EAB09F1}" destId="{D0EBA0B2-0E94-E94E-AC80-B2984D5766A6}" srcOrd="0" destOrd="0" parTransId="{546DC5B5-931D-7241-BEEF-99C31BC50676}" sibTransId="{65B60A2B-6393-D14B-AB9A-D8A94789DACA}"/>
    <dgm:cxn modelId="{5428CC18-4D06-FB49-B9B0-55537033CBEA}" srcId="{618A1641-2927-D949-8474-15D2AD9ECF44}" destId="{22DFDBE0-1D6E-5E4D-BBA7-5172A82220BA}" srcOrd="1" destOrd="0" parTransId="{40995B54-557F-B846-BDD5-F20E3BB2E481}" sibTransId="{149092CB-3DF1-1F49-B6D6-541F2CC2E14A}"/>
    <dgm:cxn modelId="{676BD41B-D760-4721-B711-6A038D68C577}" type="presOf" srcId="{B2902A0F-0109-6647-8E5F-6743F423B65C}" destId="{FA0B817B-AFE3-3F4F-8A05-4F98D9571DAD}" srcOrd="0" destOrd="2" presId="urn:microsoft.com/office/officeart/2005/8/layout/lProcess2"/>
    <dgm:cxn modelId="{DF122F1E-8EF6-614A-AABD-E90463198E9F}" srcId="{BF23B041-20A7-6A4F-B990-0F48094C3781}" destId="{85680BA2-AA3D-F446-A4C1-4075DC3ECF66}" srcOrd="6" destOrd="0" parTransId="{79F66098-375E-5349-BE04-AD185F71B0C3}" sibTransId="{F1A00A43-2E03-D445-87DE-F6AED5E973B1}"/>
    <dgm:cxn modelId="{5862731F-B58B-4DBB-8140-5CB45C7D15EE}" type="presOf" srcId="{BF5F16DF-792D-8640-B2E6-85CD66269970}" destId="{FA0B817B-AFE3-3F4F-8A05-4F98D9571DAD}" srcOrd="0" destOrd="3" presId="urn:microsoft.com/office/officeart/2005/8/layout/lProcess2"/>
    <dgm:cxn modelId="{CD289120-30DE-3741-8B3E-BB98CF2F46C9}" srcId="{22DFDBE0-1D6E-5E4D-BBA7-5172A82220BA}" destId="{187E8E7E-9DD9-6E4F-80FE-EF5677CFB1A7}" srcOrd="2" destOrd="0" parTransId="{2CF5C9EA-35F7-D948-AD0A-C39107ABF8B3}" sibTransId="{62D1B55C-BB3C-7144-B3C6-138BF211B04A}"/>
    <dgm:cxn modelId="{C1BA5F21-9891-EF47-BC16-F2AB75D583CD}" srcId="{C4CB39FC-26E6-8243-AE05-37FD11795FBA}" destId="{0EF65611-517F-6E47-BE20-0986A7CBC837}" srcOrd="1" destOrd="0" parTransId="{37A3422D-1917-8943-999F-A6916FFF4ECC}" sibTransId="{0AFA851D-B64D-9149-A8B5-8441C6BC1E62}"/>
    <dgm:cxn modelId="{D3BFD325-9C9E-4268-9A9D-2EA28D9FFC90}" type="presOf" srcId="{D653474C-0EC3-F54F-A8E3-82FA8068C872}" destId="{6E64806D-5F85-4C44-B759-46F3F7DE500A}" srcOrd="0" destOrd="0" presId="urn:microsoft.com/office/officeart/2005/8/layout/lProcess2"/>
    <dgm:cxn modelId="{AC0A1F2E-1B14-40F7-8E34-4B7154E78E43}" srcId="{D02C15FE-0F24-BB43-9F66-158DA4844336}" destId="{5519DBD3-19B4-4CFE-9EAF-F2603E2D5D6E}" srcOrd="1" destOrd="0" parTransId="{EE3F0A55-F5BA-449F-8CE5-BE6B12F7693B}" sibTransId="{BF63B6F4-AA3B-4DEF-A1AC-6B1CB63CB36E}"/>
    <dgm:cxn modelId="{776ED92E-1D6F-0141-A426-0D1196F46E24}" srcId="{618A1641-2927-D949-8474-15D2AD9ECF44}" destId="{D02C15FE-0F24-BB43-9F66-158DA4844336}" srcOrd="2" destOrd="0" parTransId="{274ED583-EFA1-CB42-B961-E7CC3778EBF5}" sibTransId="{D43D06D2-ABAE-DA4C-8ADA-37740BBCAABA}"/>
    <dgm:cxn modelId="{A7357B2F-2EB2-4584-91B2-B543DC624B84}" type="presOf" srcId="{BAD966CB-2016-1949-BFC4-98698AAC89C7}" destId="{B16B47BA-18CD-A84D-AD0C-997BA13CA7BF}" srcOrd="0" destOrd="5" presId="urn:microsoft.com/office/officeart/2005/8/layout/lProcess2"/>
    <dgm:cxn modelId="{48BC5631-3248-4A74-BCAA-A62FCF3AFD10}" type="presOf" srcId="{839379B8-F980-42FD-8248-69314A90A780}" destId="{E1169713-2DA9-F04F-AC54-B9CC46F63B51}" srcOrd="0" destOrd="1" presId="urn:microsoft.com/office/officeart/2005/8/layout/lProcess2"/>
    <dgm:cxn modelId="{5FAADA35-E6F7-4DAD-A6F9-D15B07244A26}" type="presOf" srcId="{D02C15FE-0F24-BB43-9F66-158DA4844336}" destId="{F8ABA68E-DDAC-9548-95F1-472135ECA6AF}" srcOrd="0" destOrd="0" presId="urn:microsoft.com/office/officeart/2005/8/layout/lProcess2"/>
    <dgm:cxn modelId="{BBB76D37-86C1-3B4E-85E1-4DBA8BBD7DAE}" srcId="{A858C4DB-4563-2E41-BE7A-BB47A20B0384}" destId="{1B600EF2-738B-7440-A462-5495BF4670F1}" srcOrd="0" destOrd="0" parTransId="{D431C89B-8816-F543-B154-78EF4CCD1089}" sibTransId="{18AFAC1F-11F9-8340-8634-7FEC77236292}"/>
    <dgm:cxn modelId="{63DB5A37-25EA-5D48-BD2F-1230A4C5A8A2}" type="presOf" srcId="{BF23B041-20A7-6A4F-B990-0F48094C3781}" destId="{7B1BB674-07AD-7B4D-AD32-75F050A6E2DE}" srcOrd="0" destOrd="0" presId="urn:microsoft.com/office/officeart/2005/8/layout/lProcess2"/>
    <dgm:cxn modelId="{D9BDC838-DCA3-4AB1-96E1-204E407246F3}" type="presOf" srcId="{34D462DE-60B3-DF4C-BA92-F01AEFEBE595}" destId="{FA0B817B-AFE3-3F4F-8A05-4F98D9571DAD}" srcOrd="0" destOrd="0" presId="urn:microsoft.com/office/officeart/2005/8/layout/lProcess2"/>
    <dgm:cxn modelId="{167DC63B-EFBE-4AC4-AAC4-A508032259AA}" type="presOf" srcId="{8BAF20D4-15E8-E54F-BE1D-59662E491638}" destId="{A3FCB19C-CF71-2447-8256-F898160424C3}" srcOrd="0" destOrd="0" presId="urn:microsoft.com/office/officeart/2005/8/layout/lProcess2"/>
    <dgm:cxn modelId="{217FD43C-1F6C-4ABF-8455-356278AACC6E}" type="presOf" srcId="{6C562C82-5816-B044-87E5-1A60EF073C84}" destId="{79AB209A-281C-7B43-9059-18F77B42F906}" srcOrd="0" destOrd="0" presId="urn:microsoft.com/office/officeart/2005/8/layout/lProcess2"/>
    <dgm:cxn modelId="{0352753F-F2C7-494D-B7B7-764EBD7C3F54}" srcId="{450352FF-401B-7E4F-8A8E-113243EC8109}" destId="{D653474C-0EC3-F54F-A8E3-82FA8068C872}" srcOrd="0" destOrd="0" parTransId="{CDD135B9-43F1-6E41-AEFF-0221D9ACE897}" sibTransId="{AC05F829-AA3E-214D-BA6E-23C48A243B73}"/>
    <dgm:cxn modelId="{8443745B-86AA-4C1C-B2FC-BB5D41FA9B22}" type="presOf" srcId="{67E24331-EAC9-EB40-B3A3-3F6B8CE28836}" destId="{73EE8F82-9862-184B-9EF6-386C054EE803}" srcOrd="0" destOrd="0" presId="urn:microsoft.com/office/officeart/2005/8/layout/lProcess2"/>
    <dgm:cxn modelId="{D4A6F95B-2342-F44B-835A-75F69CC8E22D}" srcId="{5D1AEBCF-7035-B04D-BFDC-07E33E52C17B}" destId="{07BDF0AD-D60D-D242-824F-D586F6E7F960}" srcOrd="0" destOrd="0" parTransId="{1172D6C7-940A-4347-8FDC-A25545C69B47}" sibTransId="{E3D894A0-5992-7848-A826-4D193D1BF4BE}"/>
    <dgm:cxn modelId="{B9E0305C-55E0-DB4B-9E85-D3F277A54453}" srcId="{85680BA2-AA3D-F446-A4C1-4075DC3ECF66}" destId="{34D462DE-60B3-DF4C-BA92-F01AEFEBE595}" srcOrd="0" destOrd="0" parTransId="{9F06949D-1FA2-4746-8A37-AFB637FB1343}" sibTransId="{EE1D3801-00D3-B24C-B208-8959CC90160A}"/>
    <dgm:cxn modelId="{9F18AA5D-614E-D44C-BAA1-6C46D7FD95F0}" srcId="{BF23B041-20A7-6A4F-B990-0F48094C3781}" destId="{5BB51E20-8977-C044-A30C-0C33D4D25AB4}" srcOrd="5" destOrd="0" parTransId="{9A53F0A3-2F74-3248-8CDC-8A79E7B6819E}" sibTransId="{7C7907D5-9ED9-8E4C-AEE6-B075D33E8642}"/>
    <dgm:cxn modelId="{FE112261-AA50-4C04-9847-3EBFE24E7B47}" type="presOf" srcId="{20248A52-11AB-4447-AE4B-E10C40DEDBC8}" destId="{1CAAE67D-9FAC-EC4A-9228-46C26CC586F7}" srcOrd="0" destOrd="1" presId="urn:microsoft.com/office/officeart/2005/8/layout/lProcess2"/>
    <dgm:cxn modelId="{E51EBE42-7AB8-2544-B7BD-BF0637D9B904}" srcId="{BBACE4CF-F0F6-7749-B260-8B3676D1EE39}" destId="{64565257-B61F-7E46-B70C-C08F2EAB09F1}" srcOrd="1" destOrd="0" parTransId="{C9C341B1-BF85-094D-B46B-A4163BC354BF}" sibTransId="{F0F6B0BC-54EB-7048-AEFD-129EF12D07D1}"/>
    <dgm:cxn modelId="{1E2CC042-191F-4180-BF3C-31662FDA1B3B}" type="presOf" srcId="{6D2D6452-E4C2-CA4A-B2E0-30971175132F}" destId="{B16B47BA-18CD-A84D-AD0C-997BA13CA7BF}" srcOrd="0" destOrd="2" presId="urn:microsoft.com/office/officeart/2005/8/layout/lProcess2"/>
    <dgm:cxn modelId="{D6AFE844-AE62-44CF-9C5A-68627554772F}" type="presOf" srcId="{64565257-B61F-7E46-B70C-C08F2EAB09F1}" destId="{5B2E0B64-5774-E74B-BB0F-5439968E1560}" srcOrd="0" destOrd="0" presId="urn:microsoft.com/office/officeart/2005/8/layout/lProcess2"/>
    <dgm:cxn modelId="{A994F644-56C4-48B0-9434-58E7FB768394}" srcId="{1EC1AFD5-2566-294F-A9BB-FABD79CED2BB}" destId="{C187A26A-A9B7-41BD-9429-B174283408F2}" srcOrd="0" destOrd="0" parTransId="{E1694BCA-5AC1-433C-9577-47D17BEF3BFB}" sibTransId="{9B44D3DA-419F-43A6-8A82-9424A993A4D6}"/>
    <dgm:cxn modelId="{47696267-CF8F-0F42-8FB9-A890E96C362B}" srcId="{34D462DE-60B3-DF4C-BA92-F01AEFEBE595}" destId="{02DED13C-8E1F-544E-9429-CF5A53B1F64B}" srcOrd="0" destOrd="0" parTransId="{DBB9A0CB-D74E-B845-A19C-D5BF7C6BC7EB}" sibTransId="{F42D0DC7-C921-F440-9603-8F68A98D966A}"/>
    <dgm:cxn modelId="{D3674867-D25B-4057-8236-90952465E77E}" srcId="{6C562C82-5816-B044-87E5-1A60EF073C84}" destId="{653843A3-1F17-40DD-9664-96E8EBE4CEE0}" srcOrd="1" destOrd="0" parTransId="{ED8911CB-DAB6-4B83-BCB6-5207086DE51D}" sibTransId="{16FE19C3-39CC-41C6-BD93-AF5E6B01C853}"/>
    <dgm:cxn modelId="{8DF85C48-5575-425A-ACDA-F38D765EA2B9}" type="presOf" srcId="{5D1AEBCF-7035-B04D-BFDC-07E33E52C17B}" destId="{407FA46C-5433-9345-A88F-536430ED5CB5}" srcOrd="0" destOrd="0" presId="urn:microsoft.com/office/officeart/2005/8/layout/lProcess2"/>
    <dgm:cxn modelId="{6CD76668-CB82-4F8C-804E-297C5D27BCAC}" srcId="{6C562C82-5816-B044-87E5-1A60EF073C84}" destId="{F4A41531-03A3-4AE8-A53C-CA4A9A8F8A89}" srcOrd="2" destOrd="0" parTransId="{5F7676FE-4A8D-4FBC-A258-BB408365C4F1}" sibTransId="{356EAD39-145E-4699-8DA7-C3C95D494FE2}"/>
    <dgm:cxn modelId="{30E3BE68-6D4D-4878-AD85-49C9C41F3236}" type="presOf" srcId="{0FB82AFE-9AC5-6945-8B58-44F5E6A60032}" destId="{D4AF50BA-2F7D-954E-A09A-05EF1CF9E50D}" srcOrd="0" destOrd="0" presId="urn:microsoft.com/office/officeart/2005/8/layout/lProcess2"/>
    <dgm:cxn modelId="{B44E0D69-A2C2-46F4-BFC9-C914D92C347C}" type="presOf" srcId="{B018D43E-851C-2746-BF60-A6288C2EBD30}" destId="{5B2E0B64-5774-E74B-BB0F-5439968E1560}" srcOrd="0" destOrd="2" presId="urn:microsoft.com/office/officeart/2005/8/layout/lProcess2"/>
    <dgm:cxn modelId="{69262A69-7520-4ABA-815E-CAEB4E5DCD38}" type="presOf" srcId="{55BF3005-82C7-9046-8F41-8A16133B2E92}" destId="{6E64806D-5F85-4C44-B759-46F3F7DE500A}" srcOrd="0" destOrd="3" presId="urn:microsoft.com/office/officeart/2005/8/layout/lProcess2"/>
    <dgm:cxn modelId="{CCA5E669-407A-4CF0-8B7D-EC1582111789}" type="presOf" srcId="{07BDF0AD-D60D-D242-824F-D586F6E7F960}" destId="{86480DEC-B2B8-4A48-AE7F-0803FF15111D}" srcOrd="0" destOrd="0" presId="urn:microsoft.com/office/officeart/2005/8/layout/lProcess2"/>
    <dgm:cxn modelId="{B8CCF249-038E-4BF7-ABB0-5773592DCD51}" type="presOf" srcId="{23334B50-DACD-B84F-84C1-B165BC491049}" destId="{E1169713-2DA9-F04F-AC54-B9CC46F63B51}" srcOrd="0" destOrd="0" presId="urn:microsoft.com/office/officeart/2005/8/layout/lProcess2"/>
    <dgm:cxn modelId="{E828466A-205A-4DD7-B5D5-FA81782C89C8}" type="presOf" srcId="{48462BB7-0BB8-1B49-9177-618FD6E3C51E}" destId="{A3FCB19C-CF71-2447-8256-F898160424C3}" srcOrd="0" destOrd="2" presId="urn:microsoft.com/office/officeart/2005/8/layout/lProcess2"/>
    <dgm:cxn modelId="{A94AE54B-2D11-4C0E-A30D-7CEE6C1600D4}" type="presOf" srcId="{450352FF-401B-7E4F-8A8E-113243EC8109}" destId="{B33E3E79-A576-FF4C-BA0A-3F6B2D4F2BA9}" srcOrd="1" destOrd="0" presId="urn:microsoft.com/office/officeart/2005/8/layout/lProcess2"/>
    <dgm:cxn modelId="{8AE6CA4D-68A8-4621-94DC-4DAF05065CF8}" srcId="{23334B50-DACD-B84F-84C1-B165BC491049}" destId="{8F8B5182-EF2A-4874-A85E-2B5F511FCEAE}" srcOrd="2" destOrd="0" parTransId="{458AA4D2-CA7A-4035-9397-9C495B3DC6E0}" sibTransId="{A4AA3323-8763-40B3-84F2-4F0861269CD9}"/>
    <dgm:cxn modelId="{CB681E6E-3B5C-4642-A445-290C25A9B886}" type="presOf" srcId="{BD810D76-2AF7-5742-A4EE-301347B40500}" destId="{C19C75FB-02BB-E240-B029-C4451B1AF53B}" srcOrd="0" destOrd="0" presId="urn:microsoft.com/office/officeart/2005/8/layout/lProcess2"/>
    <dgm:cxn modelId="{7322424E-6CAC-4447-922D-91C703B013B3}" type="presOf" srcId="{85680BA2-AA3D-F446-A4C1-4075DC3ECF66}" destId="{8516D76A-4173-134F-A060-E4088441E35A}" srcOrd="0" destOrd="0" presId="urn:microsoft.com/office/officeart/2005/8/layout/lProcess2"/>
    <dgm:cxn modelId="{F429974E-A1C9-4792-913A-F035E986B2A9}" type="presOf" srcId="{BCC16F39-3F5F-7742-8298-F6A1AC7865A2}" destId="{A3FCB19C-CF71-2447-8256-F898160424C3}" srcOrd="0" destOrd="1" presId="urn:microsoft.com/office/officeart/2005/8/layout/lProcess2"/>
    <dgm:cxn modelId="{468C636F-9251-475C-A4E1-06E82C4EDD1F}" srcId="{23334B50-DACD-B84F-84C1-B165BC491049}" destId="{CC51BBDD-D711-49DD-9F14-7BBE513D275D}" srcOrd="1" destOrd="0" parTransId="{24EFE370-7624-4953-9840-98E18CD204C7}" sibTransId="{1A75E2DE-3CA6-4D1E-B54E-A6B7CFA56DFC}"/>
    <dgm:cxn modelId="{9BD62170-87D9-A743-A524-21C407585741}" srcId="{E6A2FFF2-8955-4F41-828B-A50B621B7E3F}" destId="{CA76132A-78FA-C143-B56B-9C925F845E5F}" srcOrd="6" destOrd="0" parTransId="{CC256D06-0430-7044-B05A-5E5D020D8607}" sibTransId="{F95A7A9B-2E56-2F4E-AFC6-E7D1085EB23E}"/>
    <dgm:cxn modelId="{EF252E50-3F73-684A-A645-C4DD1FA461DE}" srcId="{85680BA2-AA3D-F446-A4C1-4075DC3ECF66}" destId="{28CE13DD-8CE3-2F40-A204-1271EA087C95}" srcOrd="2" destOrd="0" parTransId="{41818084-FA0C-3C48-923D-B91A834BAA3C}" sibTransId="{F3472A41-0B95-3D4C-A579-96D3583235AD}"/>
    <dgm:cxn modelId="{99AA7E70-7D8F-4FA0-9C6E-90E52359F50F}" type="presOf" srcId="{C187A26A-A9B7-41BD-9429-B174283408F2}" destId="{B2F38DB6-5DC4-FB45-B301-B2D5BC803A65}" srcOrd="0" destOrd="1" presId="urn:microsoft.com/office/officeart/2005/8/layout/lProcess2"/>
    <dgm:cxn modelId="{BD663A71-6F80-4479-8008-201045C0FC8C}" srcId="{D02C15FE-0F24-BB43-9F66-158DA4844336}" destId="{5976C64C-D0AE-45CE-BAF5-255F86F2E68E}" srcOrd="2" destOrd="0" parTransId="{61D28F17-C660-438F-8767-F3D45CAC88DE}" sibTransId="{B23FEE7F-7F16-4454-92D0-F3A896614EBE}"/>
    <dgm:cxn modelId="{F6FA9C71-6839-4403-BEDC-DB067A456579}" type="presOf" srcId="{4C2E58D8-24B8-1B49-B5EB-0D6314A005EB}" destId="{9944EA47-B199-1542-AE3B-0D77578EAA95}" srcOrd="0" destOrd="0" presId="urn:microsoft.com/office/officeart/2005/8/layout/lProcess2"/>
    <dgm:cxn modelId="{BDB1EC51-27CA-1144-93A2-3E5EF6C83835}" srcId="{BD810D76-2AF7-5742-A4EE-301347B40500}" destId="{6DB988A0-B69F-2C4D-B724-9D1ABFFD7DD3}" srcOrd="1" destOrd="0" parTransId="{35C8626A-C447-7C4E-87BD-59EC40811B7B}" sibTransId="{45948A77-C52E-6448-A968-24A71D4CBA64}"/>
    <dgm:cxn modelId="{4B58ED72-E5CE-4B1D-86A5-378B55DF883E}" type="presOf" srcId="{618A1641-2927-D949-8474-15D2AD9ECF44}" destId="{2EA2E5A8-2961-DA4A-987D-CF644F09E7DD}" srcOrd="1" destOrd="0" presId="urn:microsoft.com/office/officeart/2005/8/layout/lProcess2"/>
    <dgm:cxn modelId="{B8C64C53-D7B2-431B-8419-15A9EBB6B8CC}" type="presOf" srcId="{D0EBA0B2-0E94-E94E-AC80-B2984D5766A6}" destId="{5B2E0B64-5774-E74B-BB0F-5439968E1560}" srcOrd="0" destOrd="1" presId="urn:microsoft.com/office/officeart/2005/8/layout/lProcess2"/>
    <dgm:cxn modelId="{07198F54-3420-4561-AF95-91C47BE98DBA}" type="presOf" srcId="{52492B77-0FB6-0744-87B0-ABBFC92E5877}" destId="{5EA8250C-FD11-B940-9430-DA94674329CA}" srcOrd="0" destOrd="0" presId="urn:microsoft.com/office/officeart/2005/8/layout/lProcess2"/>
    <dgm:cxn modelId="{2CFFE454-5C19-DC41-A722-E4BE32B8DD21}" srcId="{D653474C-0EC3-F54F-A8E3-82FA8068C872}" destId="{035001EF-DE9A-4A4B-A36D-5F9E2D41D5BB}" srcOrd="3" destOrd="0" parTransId="{993290E0-879F-E549-8BDD-0E642124EC4D}" sibTransId="{DF8369ED-00E4-B941-A36B-2818D6B8375D}"/>
    <dgm:cxn modelId="{11C28155-8368-BE44-9245-585CC8D8EC56}" srcId="{BF23B041-20A7-6A4F-B990-0F48094C3781}" destId="{BBACE4CF-F0F6-7749-B260-8B3676D1EE39}" srcOrd="2" destOrd="0" parTransId="{E4D873FB-4529-BD47-9061-2E70674F8C5D}" sibTransId="{CA970261-33B1-F743-9566-109E301632C7}"/>
    <dgm:cxn modelId="{55E13376-00F4-450C-8A36-298B0A451C7B}" type="presOf" srcId="{74A6885B-1326-C747-84EA-01E641F87EC5}" destId="{A2CF386A-0813-9F4E-8934-83D35A04F3A6}" srcOrd="0" destOrd="2" presId="urn:microsoft.com/office/officeart/2005/8/layout/lProcess2"/>
    <dgm:cxn modelId="{A21D8A76-EC84-4CCD-B342-EC95C2864F8A}" type="presOf" srcId="{5D1AEBCF-7035-B04D-BFDC-07E33E52C17B}" destId="{B4F7093A-19E5-E240-B0B0-2CFE40A8A8A4}" srcOrd="1" destOrd="0" presId="urn:microsoft.com/office/officeart/2005/8/layout/lProcess2"/>
    <dgm:cxn modelId="{7BDD9156-9585-490C-BB41-FA741BCBD9F6}" type="presOf" srcId="{F5E9619F-D34C-E242-B77C-A2BD4353D633}" destId="{A2CF386A-0813-9F4E-8934-83D35A04F3A6}" srcOrd="0" destOrd="1" presId="urn:microsoft.com/office/officeart/2005/8/layout/lProcess2"/>
    <dgm:cxn modelId="{CE810277-0FF3-374B-A097-16933534F7AB}" srcId="{E6A2FFF2-8955-4F41-828B-A50B621B7E3F}" destId="{0FB82AFE-9AC5-6945-8B58-44F5E6A60032}" srcOrd="5" destOrd="0" parTransId="{DBE4DC3B-FD48-DE48-9B04-4DC87DEEC728}" sibTransId="{EC9AAE7E-400E-C540-B075-EF63A7F5DF7D}"/>
    <dgm:cxn modelId="{39864D57-5AA5-B045-9B15-E93DECFF2959}" srcId="{5D1AEBCF-7035-B04D-BFDC-07E33E52C17B}" destId="{1EC1AFD5-2566-294F-A9BB-FABD79CED2BB}" srcOrd="3" destOrd="0" parTransId="{BB330986-BD49-DF47-A865-95AFED50DBAE}" sibTransId="{99863251-53F6-F04C-9850-8D5D5DABC805}"/>
    <dgm:cxn modelId="{FDF75E78-8194-446A-B77A-E061A223C378}" type="presOf" srcId="{1D1521C1-AAC5-C841-B6D5-7A36AD6673F9}" destId="{5C7A16F3-FEB5-824C-B341-388E7B1168AA}" srcOrd="0" destOrd="0" presId="urn:microsoft.com/office/officeart/2005/8/layout/lProcess2"/>
    <dgm:cxn modelId="{DB210F79-BDAF-412D-A60F-C7D26689C44C}" type="presOf" srcId="{6DB988A0-B69F-2C4D-B724-9D1ABFFD7DD3}" destId="{C19C75FB-02BB-E240-B029-C4451B1AF53B}" srcOrd="0" destOrd="2" presId="urn:microsoft.com/office/officeart/2005/8/layout/lProcess2"/>
    <dgm:cxn modelId="{59F6DC7E-E9AB-448F-BED1-A7DFEAD948E2}" type="presOf" srcId="{02DED13C-8E1F-544E-9429-CF5A53B1F64B}" destId="{FA0B817B-AFE3-3F4F-8A05-4F98D9571DAD}" srcOrd="0" destOrd="1" presId="urn:microsoft.com/office/officeart/2005/8/layout/lProcess2"/>
    <dgm:cxn modelId="{A5B9AE7F-0D71-4B57-88F5-290CB9F943AD}" type="presOf" srcId="{035001EF-DE9A-4A4B-A36D-5F9E2D41D5BB}" destId="{6E64806D-5F85-4C44-B759-46F3F7DE500A}" srcOrd="0" destOrd="4" presId="urn:microsoft.com/office/officeart/2005/8/layout/lProcess2"/>
    <dgm:cxn modelId="{874D2880-1746-4352-AA84-8B4B559D4D6B}" type="presOf" srcId="{DEE32D54-86F6-4748-BB40-A2AD70B8C581}" destId="{429F17A2-F7AE-F74D-9772-247C8A0065D7}" srcOrd="0" destOrd="0" presId="urn:microsoft.com/office/officeart/2005/8/layout/lProcess2"/>
    <dgm:cxn modelId="{BB98EE80-3BBB-4A1F-8533-DC07331EA021}" srcId="{6C562C82-5816-B044-87E5-1A60EF073C84}" destId="{22283EAA-8EB5-4AF7-8828-F850E7B3C506}" srcOrd="0" destOrd="0" parTransId="{EB5AA649-89D8-4265-8C0F-AD167C1656A6}" sibTransId="{CA9C84EF-D22F-43F0-BA5D-BC0BDB8FE169}"/>
    <dgm:cxn modelId="{FF24F081-07B8-421F-94BC-D53196F34B24}" type="presOf" srcId="{22283EAA-8EB5-4AF7-8828-F850E7B3C506}" destId="{79AB209A-281C-7B43-9059-18F77B42F906}" srcOrd="0" destOrd="1" presId="urn:microsoft.com/office/officeart/2005/8/layout/lProcess2"/>
    <dgm:cxn modelId="{8F692082-B4A0-49C0-A90B-EA9B89D0769C}" type="presOf" srcId="{80FE84DE-9FAB-674B-A7A1-78CE2EE89DA9}" destId="{C563279C-3BD3-5A46-B7EA-9BA2832B92D4}" srcOrd="0" destOrd="0" presId="urn:microsoft.com/office/officeart/2005/8/layout/lProcess2"/>
    <dgm:cxn modelId="{FABD2984-5B02-48C0-A94B-541D73FFE5E4}" type="presOf" srcId="{1B600EF2-738B-7440-A462-5495BF4670F1}" destId="{B16B47BA-18CD-A84D-AD0C-997BA13CA7BF}" srcOrd="0" destOrd="1" presId="urn:microsoft.com/office/officeart/2005/8/layout/lProcess2"/>
    <dgm:cxn modelId="{D3C81A86-FE74-9B47-BCAD-CFD03AF7E58A}" srcId="{22DFDBE0-1D6E-5E4D-BBA7-5172A82220BA}" destId="{74A6885B-1326-C747-84EA-01E641F87EC5}" srcOrd="1" destOrd="0" parTransId="{07A7802B-32D8-F945-A28D-3CDB7D56ECE8}" sibTransId="{A87D10DE-499C-9F49-86CE-09D34AD1E690}"/>
    <dgm:cxn modelId="{80E6DC89-0EE3-9647-85B4-764D4E47F9F3}" srcId="{8BAF20D4-15E8-E54F-BE1D-59662E491638}" destId="{48462BB7-0BB8-1B49-9177-618FD6E3C51E}" srcOrd="1" destOrd="0" parTransId="{650CEB53-DA2C-014D-92E5-E291101AF11A}" sibTransId="{51B1003C-3024-8E43-993F-83BC94E34A62}"/>
    <dgm:cxn modelId="{3A6E978B-B966-488F-B70A-3E56F008F288}" type="presOf" srcId="{614C0115-2F38-8246-A178-5EA41154DA83}" destId="{4D0F52EB-DC93-1047-83DC-F54187C237CD}" srcOrd="0" destOrd="2" presId="urn:microsoft.com/office/officeart/2005/8/layout/lProcess2"/>
    <dgm:cxn modelId="{2D92DD8B-186C-4ABA-923B-26475D1E67B8}" type="presOf" srcId="{26A0593B-5DC0-8E40-8FA3-0BF1331DC5A7}" destId="{B16B47BA-18CD-A84D-AD0C-997BA13CA7BF}" srcOrd="0" destOrd="4" presId="urn:microsoft.com/office/officeart/2005/8/layout/lProcess2"/>
    <dgm:cxn modelId="{66D9A092-08CB-C940-B0D0-5CFC4DA6146C}" srcId="{D653474C-0EC3-F54F-A8E3-82FA8068C872}" destId="{55BF3005-82C7-9046-8F41-8A16133B2E92}" srcOrd="2" destOrd="0" parTransId="{C97781D2-5FB4-8946-B809-AF490773B8C0}" sibTransId="{CB14FD34-CF28-4649-A38C-B5B0ECC4DAB4}"/>
    <dgm:cxn modelId="{2455DE92-07B6-41CE-A7A1-736B43C89278}" srcId="{1EC1AFD5-2566-294F-A9BB-FABD79CED2BB}" destId="{63ADD0F8-9442-44C3-9B35-60284A99E087}" srcOrd="1" destOrd="0" parTransId="{A897AFA8-7476-4766-A9BF-FDD030A0EB1F}" sibTransId="{49B72E2A-319F-41B1-B65F-23C3220DFB5B}"/>
    <dgm:cxn modelId="{503E1993-61A1-CC4D-A5E9-0EBAE4DD26AA}" srcId="{A858C4DB-4563-2E41-BE7A-BB47A20B0384}" destId="{26A0593B-5DC0-8E40-8FA3-0BF1331DC5A7}" srcOrd="3" destOrd="0" parTransId="{D629EFF3-37C2-B84C-B996-6C70F92FD170}" sibTransId="{405D1088-0401-114C-A12C-9FE83571A26B}"/>
    <dgm:cxn modelId="{56E89793-32EC-9E42-9394-6BE97033074B}" srcId="{5BB51E20-8977-C044-A30C-0C33D4D25AB4}" destId="{DEE32D54-86F6-4748-BB40-A2AD70B8C581}" srcOrd="0" destOrd="0" parTransId="{93CB3E5E-3A34-A744-99AD-79ABED2F2C19}" sibTransId="{3BA84E23-C957-4541-A6D9-7B0B73D0F0CF}"/>
    <dgm:cxn modelId="{2F384094-0C3A-EE45-8686-E3433C03A036}" srcId="{BD810D76-2AF7-5742-A4EE-301347B40500}" destId="{AA17BFDB-7F5D-C547-9367-176365F29CDA}" srcOrd="0" destOrd="0" parTransId="{1DDE4CDB-01E4-4E49-B762-A7AE997D33B3}" sibTransId="{D64F7AD1-E697-FF45-82CF-EB56BF26370A}"/>
    <dgm:cxn modelId="{32900897-D565-4AB4-AEF0-AD15F306EF6A}" type="presOf" srcId="{5519DBD3-19B4-4CFE-9EAF-F2603E2D5D6E}" destId="{F8ABA68E-DDAC-9548-95F1-472135ECA6AF}" srcOrd="0" destOrd="2" presId="urn:microsoft.com/office/officeart/2005/8/layout/lProcess2"/>
    <dgm:cxn modelId="{6D918E97-011C-4DA5-9806-D67912A9CE93}" type="presOf" srcId="{F4A41531-03A3-4AE8-A53C-CA4A9A8F8A89}" destId="{79AB209A-281C-7B43-9059-18F77B42F906}" srcOrd="0" destOrd="3" presId="urn:microsoft.com/office/officeart/2005/8/layout/lProcess2"/>
    <dgm:cxn modelId="{07093998-1584-4D56-9A8A-0D0B0D65A51B}" type="presOf" srcId="{5BB51E20-8977-C044-A30C-0C33D4D25AB4}" destId="{0FE00457-3D4C-CB4A-B263-2CDEC34A60FB}" srcOrd="1" destOrd="0" presId="urn:microsoft.com/office/officeart/2005/8/layout/lProcess2"/>
    <dgm:cxn modelId="{70E14598-CC75-B142-8877-24B40FA23FF5}" srcId="{5D1AEBCF-7035-B04D-BFDC-07E33E52C17B}" destId="{80FE84DE-9FAB-674B-A7A1-78CE2EE89DA9}" srcOrd="2" destOrd="0" parTransId="{8CA5C642-4059-E642-9CD7-D534BFDFBD8E}" sibTransId="{CEBFEFA0-8E49-5C4A-999C-FC4D6EB806E2}"/>
    <dgm:cxn modelId="{1E25BA98-F095-45FE-9DC7-0216CF0AA05A}" type="presOf" srcId="{450352FF-401B-7E4F-8A8E-113243EC8109}" destId="{291D62C6-CEAA-6E48-A152-01E7D4260C45}" srcOrd="0" destOrd="0" presId="urn:microsoft.com/office/officeart/2005/8/layout/lProcess2"/>
    <dgm:cxn modelId="{C8CF3E9C-4585-B24F-961C-53056296E6C2}" srcId="{5BB51E20-8977-C044-A30C-0C33D4D25AB4}" destId="{6C562C82-5816-B044-87E5-1A60EF073C84}" srcOrd="2" destOrd="0" parTransId="{358B5257-0224-8B47-9B58-525C03DBB91C}" sibTransId="{0E45242A-FDAA-9342-BCFA-272E812D1AF1}"/>
    <dgm:cxn modelId="{5D3C2D9D-A67E-F34D-A810-519426FCC178}" srcId="{E6A2FFF2-8955-4F41-828B-A50B621B7E3F}" destId="{4C2E58D8-24B8-1B49-B5EB-0D6314A005EB}" srcOrd="1" destOrd="0" parTransId="{97B076C2-4084-594E-B400-74F2F5740710}" sibTransId="{BA31EC55-D716-1041-A40D-2D049BC65C19}"/>
    <dgm:cxn modelId="{4F64079E-2F62-4FA9-8AFF-D4DB87280549}" type="presOf" srcId="{5BB51E20-8977-C044-A30C-0C33D4D25AB4}" destId="{1C561C77-FD69-9C49-85F8-25CA2783B0E9}" srcOrd="0" destOrd="0" presId="urn:microsoft.com/office/officeart/2005/8/layout/lProcess2"/>
    <dgm:cxn modelId="{36B6AD9E-AA07-2E4B-B908-63C59F0C4FE2}" srcId="{E6A2FFF2-8955-4F41-828B-A50B621B7E3F}" destId="{8C2E8826-F91D-3645-B1C1-7635C1EE85EC}" srcOrd="0" destOrd="0" parTransId="{21414FD1-6EB3-FC48-8475-4FE32E1F95AB}" sibTransId="{390306B6-4087-B241-B801-3DC403D4BAD5}"/>
    <dgm:cxn modelId="{603BC0A2-1D74-6F43-A8DE-9D3520A4D14E}" srcId="{E6A2FFF2-8955-4F41-828B-A50B621B7E3F}" destId="{84EA5854-37AE-394A-884D-26B2FC7052D7}" srcOrd="2" destOrd="0" parTransId="{59773D26-02AF-1743-9B58-0C3354AAE38D}" sibTransId="{CB997996-C36B-E74E-8EC5-21E499218C28}"/>
    <dgm:cxn modelId="{7B436EA5-25E4-094D-8E31-8D281DF722F6}" srcId="{34D462DE-60B3-DF4C-BA92-F01AEFEBE595}" destId="{B2902A0F-0109-6647-8E5F-6743F423B65C}" srcOrd="1" destOrd="0" parTransId="{9CDE310D-9EB5-3A45-9D4F-68A8E706298E}" sibTransId="{F59665FE-D2DF-FD4E-9601-58BEF19075B1}"/>
    <dgm:cxn modelId="{83BD6CA6-D3B7-D44D-B0D2-E268A8A5AB09}" srcId="{22DFDBE0-1D6E-5E4D-BBA7-5172A82220BA}" destId="{F5E9619F-D34C-E242-B77C-A2BD4353D633}" srcOrd="0" destOrd="0" parTransId="{1EED5D79-5A14-CE47-9746-090CD55E2EA7}" sibTransId="{DFB52A79-1B9F-ED48-B71C-E35024EC2D45}"/>
    <dgm:cxn modelId="{71E4DBA6-403A-4E6F-A2BA-700855FFF81D}" type="presOf" srcId="{618A1641-2927-D949-8474-15D2AD9ECF44}" destId="{15960519-F868-2942-A175-0B4B197DBB7D}" srcOrd="0" destOrd="0" presId="urn:microsoft.com/office/officeart/2005/8/layout/lProcess2"/>
    <dgm:cxn modelId="{0E17E7AB-D1B8-3741-81F7-1549C12E59C6}" srcId="{BF23B041-20A7-6A4F-B990-0F48094C3781}" destId="{618A1641-2927-D949-8474-15D2AD9ECF44}" srcOrd="3" destOrd="0" parTransId="{E496706C-1284-4C49-B195-C8091E9AF46D}" sibTransId="{E799AA83-AA46-3F47-97EE-1D4125D5A3CC}"/>
    <dgm:cxn modelId="{A37065AD-2487-40F1-ACFF-855B7D0B85E6}" type="presOf" srcId="{84EA5854-37AE-394A-884D-26B2FC7052D7}" destId="{439305CA-12AB-CE4A-ACBC-68AF77B79983}" srcOrd="0" destOrd="0" presId="urn:microsoft.com/office/officeart/2005/8/layout/lProcess2"/>
    <dgm:cxn modelId="{4BA30EB0-DDCC-4049-AC1A-2C91F88A5AB8}" type="presOf" srcId="{E6A2FFF2-8955-4F41-828B-A50B621B7E3F}" destId="{137F4872-AA67-1B40-9F54-D2C51631C6AA}" srcOrd="1" destOrd="0" presId="urn:microsoft.com/office/officeart/2005/8/layout/lProcess2"/>
    <dgm:cxn modelId="{BA0AD0B0-A29A-4D3E-A95D-4E2371975361}" type="presOf" srcId="{D6549954-0CB5-7345-B43B-CF98B0D27D3B}" destId="{6E64806D-5F85-4C44-B759-46F3F7DE500A}" srcOrd="0" destOrd="1" presId="urn:microsoft.com/office/officeart/2005/8/layout/lProcess2"/>
    <dgm:cxn modelId="{6238B1B1-9387-7D4B-A509-FD17D468C4C9}" srcId="{A858C4DB-4563-2E41-BE7A-BB47A20B0384}" destId="{6D2D6452-E4C2-CA4A-B2E0-30971175132F}" srcOrd="1" destOrd="0" parTransId="{D6C631FF-7180-AE43-ABB4-14B58F65527E}" sibTransId="{627CDA5B-4D5E-F14E-95DA-A26D6AD51BBB}"/>
    <dgm:cxn modelId="{4477E3B4-D4C0-4BFF-87D0-7CDFC717156C}" type="presOf" srcId="{BBACE4CF-F0F6-7749-B260-8B3676D1EE39}" destId="{E5BDCD03-0791-7B4B-822D-C1293C991ABA}" srcOrd="1" destOrd="0" presId="urn:microsoft.com/office/officeart/2005/8/layout/lProcess2"/>
    <dgm:cxn modelId="{4C4F8BB5-E229-4543-845B-18911A3F5AFA}" srcId="{8BAF20D4-15E8-E54F-BE1D-59662E491638}" destId="{BCC16F39-3F5F-7742-8298-F6A1AC7865A2}" srcOrd="0" destOrd="0" parTransId="{E00F2221-98A2-2448-9FE6-ABB069C82FEA}" sibTransId="{EC6346AE-3027-564C-9A9C-93CB4E372A23}"/>
    <dgm:cxn modelId="{F9D5C9B6-CC48-416D-B73E-A09A1B5B67AC}" type="presOf" srcId="{C4CB39FC-26E6-8243-AE05-37FD11795FBA}" destId="{1CAAE67D-9FAC-EC4A-9228-46C26CC586F7}" srcOrd="0" destOrd="0" presId="urn:microsoft.com/office/officeart/2005/8/layout/lProcess2"/>
    <dgm:cxn modelId="{586419BC-08F1-40C9-A413-1078CBE61E40}" srcId="{D02C15FE-0F24-BB43-9F66-158DA4844336}" destId="{80AFA95B-CD00-423D-9973-66BC9BC2F6FF}" srcOrd="0" destOrd="0" parTransId="{0645B420-FE94-4992-B45B-ED731AACE6BD}" sibTransId="{9E17BAD3-702D-4F3E-B759-3A81915602D5}"/>
    <dgm:cxn modelId="{9417F9BD-E917-48C2-A145-7AE85EDEB44F}" type="presOf" srcId="{F292FC73-C6DD-A542-92AA-2DB3950A5997}" destId="{3ACBFAD9-9CBE-AD4D-8CF5-5927F6AA4C61}" srcOrd="0" destOrd="0" presId="urn:microsoft.com/office/officeart/2005/8/layout/lProcess2"/>
    <dgm:cxn modelId="{CAF262C5-57DA-47B6-9A05-13AA417F5240}" type="presOf" srcId="{8F8B5182-EF2A-4874-A85E-2B5F511FCEAE}" destId="{E1169713-2DA9-F04F-AC54-B9CC46F63B51}" srcOrd="0" destOrd="3" presId="urn:microsoft.com/office/officeart/2005/8/layout/lProcess2"/>
    <dgm:cxn modelId="{E66228C9-C7F9-5A48-BB57-DFE3A86E2CEC}" srcId="{450352FF-401B-7E4F-8A8E-113243EC8109}" destId="{A858C4DB-4563-2E41-BE7A-BB47A20B0384}" srcOrd="1" destOrd="0" parTransId="{7B46D845-86E8-694C-8B0F-9EC475582638}" sibTransId="{126BE764-1832-8840-A5AC-C9BAD08F825C}"/>
    <dgm:cxn modelId="{D07E3BCC-7E73-E549-A93B-D74059DF8BBE}" srcId="{BBACE4CF-F0F6-7749-B260-8B3676D1EE39}" destId="{BD810D76-2AF7-5742-A4EE-301347B40500}" srcOrd="0" destOrd="0" parTransId="{B1BEE8CA-C8D5-E94D-A2AB-87FB0CD1BA7A}" sibTransId="{517D3F04-F385-E841-A47D-39508DAE47DF}"/>
    <dgm:cxn modelId="{33FEE8CD-2E45-4486-9D66-082E54271E99}" type="presOf" srcId="{BBACE4CF-F0F6-7749-B260-8B3676D1EE39}" destId="{7668852D-2BC1-5D43-A053-9A92DAC94835}" srcOrd="0" destOrd="0" presId="urn:microsoft.com/office/officeart/2005/8/layout/lProcess2"/>
    <dgm:cxn modelId="{928DBACE-D141-4F62-BD40-C79B98FA41AE}" srcId="{A858C4DB-4563-2E41-BE7A-BB47A20B0384}" destId="{405473ED-0F86-46A0-A027-EF4F1CF344A9}" srcOrd="2" destOrd="0" parTransId="{BB958F38-BA06-4148-B699-A15CC56C85D1}" sibTransId="{EBFAE875-1A8F-418B-9C0F-51A30461B945}"/>
    <dgm:cxn modelId="{5D122FD1-BB06-1842-A81D-28C49F2038A2}" srcId="{34D462DE-60B3-DF4C-BA92-F01AEFEBE595}" destId="{BF5F16DF-792D-8640-B2E6-85CD66269970}" srcOrd="2" destOrd="0" parTransId="{6A609626-2AB9-1644-9C94-577FF0186307}" sibTransId="{A347EEDA-5A64-6D45-AFBE-A438F7A25C4F}"/>
    <dgm:cxn modelId="{808C9ED1-4227-4979-AFF9-BA1E6ED9176B}" type="presOf" srcId="{CA76132A-78FA-C143-B56B-9C925F845E5F}" destId="{A2F9DB0E-BEE6-C341-8409-013F83163756}" srcOrd="0" destOrd="0" presId="urn:microsoft.com/office/officeart/2005/8/layout/lProcess2"/>
    <dgm:cxn modelId="{67844DD2-2CA8-416E-A8CC-9816C01104DA}" type="presOf" srcId="{85680BA2-AA3D-F446-A4C1-4075DC3ECF66}" destId="{EA8B3B04-5518-B048-8DE3-535B8B9A8EFF}" srcOrd="1" destOrd="0" presId="urn:microsoft.com/office/officeart/2005/8/layout/lProcess2"/>
    <dgm:cxn modelId="{29DCABD5-3D23-488E-8CD9-E8355D0BC3C2}" type="presOf" srcId="{8C2E8826-F91D-3645-B1C1-7635C1EE85EC}" destId="{BAFF8F21-7682-474A-A883-D5351F57BC42}" srcOrd="0" destOrd="0" presId="urn:microsoft.com/office/officeart/2005/8/layout/lProcess2"/>
    <dgm:cxn modelId="{AE0524D6-DF09-4198-848E-2E4DF33182FA}" type="presOf" srcId="{63ADD0F8-9442-44C3-9B35-60284A99E087}" destId="{B2F38DB6-5DC4-FB45-B301-B2D5BC803A65}" srcOrd="0" destOrd="2" presId="urn:microsoft.com/office/officeart/2005/8/layout/lProcess2"/>
    <dgm:cxn modelId="{3B8489D6-F419-42C5-9815-92F983C149F0}" srcId="{23334B50-DACD-B84F-84C1-B165BC491049}" destId="{839379B8-F980-42FD-8248-69314A90A780}" srcOrd="0" destOrd="0" parTransId="{1B6538C7-9151-43D3-B9DD-CED971DABB7C}" sibTransId="{3EBFB33D-39E9-4D0D-8B9F-34ECE299FE87}"/>
    <dgm:cxn modelId="{24BD93DA-B024-4EEB-85CD-FD2206ED19EB}" type="presOf" srcId="{CD91D16F-B170-5B41-842F-664DC72C9B17}" destId="{4D0F52EB-DC93-1047-83DC-F54187C237CD}" srcOrd="0" destOrd="1" presId="urn:microsoft.com/office/officeart/2005/8/layout/lProcess2"/>
    <dgm:cxn modelId="{BA6866DB-23D1-464D-B772-3DFC9A9FF41F}" type="presOf" srcId="{AA17BFDB-7F5D-C547-9367-176365F29CDA}" destId="{C19C75FB-02BB-E240-B029-C4451B1AF53B}" srcOrd="0" destOrd="1" presId="urn:microsoft.com/office/officeart/2005/8/layout/lProcess2"/>
    <dgm:cxn modelId="{433267DC-BDEE-4752-A396-7A484C5904C5}" type="presOf" srcId="{5D13AA42-9DA4-994A-A7E3-81372F83435E}" destId="{6E64806D-5F85-4C44-B759-46F3F7DE500A}" srcOrd="0" destOrd="2" presId="urn:microsoft.com/office/officeart/2005/8/layout/lProcess2"/>
    <dgm:cxn modelId="{E9F988DC-99B8-42D6-A446-90B6D44C9113}" type="presOf" srcId="{187E8E7E-9DD9-6E4F-80FE-EF5677CFB1A7}" destId="{A2CF386A-0813-9F4E-8934-83D35A04F3A6}" srcOrd="0" destOrd="3" presId="urn:microsoft.com/office/officeart/2005/8/layout/lProcess2"/>
    <dgm:cxn modelId="{99528DE2-D46F-45DD-A8B1-BE1B5151E64A}" type="presOf" srcId="{405473ED-0F86-46A0-A027-EF4F1CF344A9}" destId="{B16B47BA-18CD-A84D-AD0C-997BA13CA7BF}" srcOrd="0" destOrd="3" presId="urn:microsoft.com/office/officeart/2005/8/layout/lProcess2"/>
    <dgm:cxn modelId="{947AB9E4-65B6-9247-8530-61B5641F6BE3}" srcId="{BF23B041-20A7-6A4F-B990-0F48094C3781}" destId="{E6A2FFF2-8955-4F41-828B-A50B621B7E3F}" srcOrd="0" destOrd="0" parTransId="{A1637585-4AEA-6548-A534-D0B29E1045BF}" sibTransId="{085B1972-BA1E-0F40-A935-7B0A796BA77C}"/>
    <dgm:cxn modelId="{A3A5E8E5-6472-4793-A585-E8716B8D13E8}" type="presOf" srcId="{5976C64C-D0AE-45CE-BAF5-255F86F2E68E}" destId="{F8ABA68E-DDAC-9548-95F1-472135ECA6AF}" srcOrd="0" destOrd="3" presId="urn:microsoft.com/office/officeart/2005/8/layout/lProcess2"/>
    <dgm:cxn modelId="{9F4728E7-3B61-4F5A-8E8D-167F8F6EB54D}" type="presOf" srcId="{0EF65611-517F-6E47-BE20-0986A7CBC837}" destId="{1CAAE67D-9FAC-EC4A-9228-46C26CC586F7}" srcOrd="0" destOrd="2" presId="urn:microsoft.com/office/officeart/2005/8/layout/lProcess2"/>
    <dgm:cxn modelId="{3A0603E9-0AA6-4BF2-B244-D8338A0E3BE5}" type="presOf" srcId="{CC51BBDD-D711-49DD-9F14-7BBE513D275D}" destId="{E1169713-2DA9-F04F-AC54-B9CC46F63B51}" srcOrd="0" destOrd="2" presId="urn:microsoft.com/office/officeart/2005/8/layout/lProcess2"/>
    <dgm:cxn modelId="{A69D80EA-B1CD-5A49-A7D4-2990E97CB4B3}" srcId="{C4CB39FC-26E6-8243-AE05-37FD11795FBA}" destId="{20248A52-11AB-4447-AE4B-E10C40DEDBC8}" srcOrd="0" destOrd="0" parTransId="{7E7FA497-4C3C-F542-9CFD-496489AB4562}" sibTransId="{805A9FD4-9F7C-784B-A761-07D912B82BB5}"/>
    <dgm:cxn modelId="{953122EB-0335-6D4A-B2CD-C8224326BEF7}" srcId="{BF23B041-20A7-6A4F-B990-0F48094C3781}" destId="{5D1AEBCF-7035-B04D-BFDC-07E33E52C17B}" srcOrd="1" destOrd="0" parTransId="{3D06116E-5006-6244-A678-5DE73FAA3D72}" sibTransId="{C3276C2B-7791-4F43-8B68-635BD93F76BE}"/>
    <dgm:cxn modelId="{878385EF-0C60-2E4C-B031-0363886F8BFB}" srcId="{D653474C-0EC3-F54F-A8E3-82FA8068C872}" destId="{D6549954-0CB5-7345-B43B-CF98B0D27D3B}" srcOrd="0" destOrd="0" parTransId="{FDC26452-9868-1441-89A5-DFC28C0CACD3}" sibTransId="{560A014C-4A1F-294F-A871-B7FD0FF0E567}"/>
    <dgm:cxn modelId="{06CAF9EF-FB93-CE42-895A-197599A9527E}" srcId="{28CE13DD-8CE3-2F40-A204-1271EA087C95}" destId="{614C0115-2F38-8246-A178-5EA41154DA83}" srcOrd="1" destOrd="0" parTransId="{A5603524-59BB-9D49-9D88-3FDCE5A7E7C3}" sibTransId="{0C557D0D-383B-C24B-9CD6-9DAD200CBB95}"/>
    <dgm:cxn modelId="{7B9744F0-AC61-6641-BF51-BC24B2F8D205}" srcId="{E6A2FFF2-8955-4F41-828B-A50B621B7E3F}" destId="{1D1521C1-AAC5-C841-B6D5-7A36AD6673F9}" srcOrd="3" destOrd="0" parTransId="{EFCA2E27-D304-134A-91DE-4E4819C257A1}" sibTransId="{32B4193B-1F6E-BE41-9355-71ECF5BA2EA9}"/>
    <dgm:cxn modelId="{FDDCF3F1-0669-423F-9050-A87AF9B29679}" type="presOf" srcId="{E6A2FFF2-8955-4F41-828B-A50B621B7E3F}" destId="{BC928BDC-5244-CC4F-BC2E-01D6755A23C0}" srcOrd="0" destOrd="0" presId="urn:microsoft.com/office/officeart/2005/8/layout/lProcess2"/>
    <dgm:cxn modelId="{842FF0F2-E66C-3A47-8239-231ACADF5A2F}" srcId="{D653474C-0EC3-F54F-A8E3-82FA8068C872}" destId="{5D13AA42-9DA4-994A-A7E3-81372F83435E}" srcOrd="1" destOrd="0" parTransId="{C6931CE4-B93F-7840-A57B-33025E341D2A}" sibTransId="{E036A2A1-1F62-0C4F-9839-1BEE92F8CB2B}"/>
    <dgm:cxn modelId="{0D893BF3-F7DA-43A3-81C7-2012EC4617E3}" srcId="{1EC1AFD5-2566-294F-A9BB-FABD79CED2BB}" destId="{34CD7661-26A8-44A0-B724-EE4B5E7540F1}" srcOrd="2" destOrd="0" parTransId="{09E90336-D250-4C48-BE5C-7C0021030B21}" sibTransId="{2DD28107-E674-4AE5-BF13-5C906C15AD89}"/>
    <dgm:cxn modelId="{967417F6-466F-465B-8042-12790214D19A}" type="presOf" srcId="{80AFA95B-CD00-423D-9973-66BC9BC2F6FF}" destId="{F8ABA68E-DDAC-9548-95F1-472135ECA6AF}" srcOrd="0" destOrd="1" presId="urn:microsoft.com/office/officeart/2005/8/layout/lProcess2"/>
    <dgm:cxn modelId="{BAE6A2F6-B5FA-4C86-BAC0-807D5B2509FE}" type="presOf" srcId="{A858C4DB-4563-2E41-BE7A-BB47A20B0384}" destId="{B16B47BA-18CD-A84D-AD0C-997BA13CA7BF}" srcOrd="0" destOrd="0" presId="urn:microsoft.com/office/officeart/2005/8/layout/lProcess2"/>
    <dgm:cxn modelId="{186652FE-B043-420E-826F-B1CEE0BA38E4}" type="presOf" srcId="{1EC1AFD5-2566-294F-A9BB-FABD79CED2BB}" destId="{B2F38DB6-5DC4-FB45-B301-B2D5BC803A65}" srcOrd="0" destOrd="0" presId="urn:microsoft.com/office/officeart/2005/8/layout/lProcess2"/>
    <dgm:cxn modelId="{C4D5E7FF-392D-AA44-9F0D-8BD1A6244B91}" srcId="{A858C4DB-4563-2E41-BE7A-BB47A20B0384}" destId="{BAD966CB-2016-1949-BFC4-98698AAC89C7}" srcOrd="4" destOrd="0" parTransId="{D50F8CA0-FCB5-7E40-8AD5-F91478E52D7D}" sibTransId="{D95BC964-52DC-4649-BB2D-E1F5FC04800C}"/>
    <dgm:cxn modelId="{A25BAE7B-EE92-4065-B469-BF3E343C29B3}" type="presParOf" srcId="{7B1BB674-07AD-7B4D-AD32-75F050A6E2DE}" destId="{C38121F9-97FE-EC42-845C-D8AAC60234E4}" srcOrd="0" destOrd="0" presId="urn:microsoft.com/office/officeart/2005/8/layout/lProcess2"/>
    <dgm:cxn modelId="{77227BA6-194A-434B-B397-57D2B4427DDC}" type="presParOf" srcId="{C38121F9-97FE-EC42-845C-D8AAC60234E4}" destId="{BC928BDC-5244-CC4F-BC2E-01D6755A23C0}" srcOrd="0" destOrd="0" presId="urn:microsoft.com/office/officeart/2005/8/layout/lProcess2"/>
    <dgm:cxn modelId="{3971E798-7A54-412F-828F-AF078FCE6FBC}" type="presParOf" srcId="{C38121F9-97FE-EC42-845C-D8AAC60234E4}" destId="{137F4872-AA67-1B40-9F54-D2C51631C6AA}" srcOrd="1" destOrd="0" presId="urn:microsoft.com/office/officeart/2005/8/layout/lProcess2"/>
    <dgm:cxn modelId="{6BC27F3B-A153-441A-800C-A17C718A65A9}" type="presParOf" srcId="{C38121F9-97FE-EC42-845C-D8AAC60234E4}" destId="{0F51D67D-C2B7-BF45-963F-C122C6C6E65E}" srcOrd="2" destOrd="0" presId="urn:microsoft.com/office/officeart/2005/8/layout/lProcess2"/>
    <dgm:cxn modelId="{DEDFBB81-DFF3-45E4-8980-29FBFAAD5A36}" type="presParOf" srcId="{0F51D67D-C2B7-BF45-963F-C122C6C6E65E}" destId="{3BA89111-03EE-9C4E-ADB1-0B5237CF813E}" srcOrd="0" destOrd="0" presId="urn:microsoft.com/office/officeart/2005/8/layout/lProcess2"/>
    <dgm:cxn modelId="{1632A8E6-CB20-4A32-B4A9-E53E22100211}" type="presParOf" srcId="{3BA89111-03EE-9C4E-ADB1-0B5237CF813E}" destId="{BAFF8F21-7682-474A-A883-D5351F57BC42}" srcOrd="0" destOrd="0" presId="urn:microsoft.com/office/officeart/2005/8/layout/lProcess2"/>
    <dgm:cxn modelId="{DB3A0751-32E2-4DC7-8968-B9B38E497DE9}" type="presParOf" srcId="{3BA89111-03EE-9C4E-ADB1-0B5237CF813E}" destId="{8074180E-07CE-364F-BDD8-47B49851AC20}" srcOrd="1" destOrd="0" presId="urn:microsoft.com/office/officeart/2005/8/layout/lProcess2"/>
    <dgm:cxn modelId="{1250E795-B76A-4C14-BBE8-E42224ECB50B}" type="presParOf" srcId="{3BA89111-03EE-9C4E-ADB1-0B5237CF813E}" destId="{9944EA47-B199-1542-AE3B-0D77578EAA95}" srcOrd="2" destOrd="0" presId="urn:microsoft.com/office/officeart/2005/8/layout/lProcess2"/>
    <dgm:cxn modelId="{E7BCB23E-F748-47F6-A4AF-6C62D3B00A77}" type="presParOf" srcId="{3BA89111-03EE-9C4E-ADB1-0B5237CF813E}" destId="{0ECD3F78-BEC6-2045-9BAB-D2DFCC97046D}" srcOrd="3" destOrd="0" presId="urn:microsoft.com/office/officeart/2005/8/layout/lProcess2"/>
    <dgm:cxn modelId="{F00C4165-E2DC-4832-9CFD-8529FB4E00F4}" type="presParOf" srcId="{3BA89111-03EE-9C4E-ADB1-0B5237CF813E}" destId="{439305CA-12AB-CE4A-ACBC-68AF77B79983}" srcOrd="4" destOrd="0" presId="urn:microsoft.com/office/officeart/2005/8/layout/lProcess2"/>
    <dgm:cxn modelId="{53E31918-BF11-4015-9790-3B4ACA46642A}" type="presParOf" srcId="{3BA89111-03EE-9C4E-ADB1-0B5237CF813E}" destId="{623BF188-6C7A-6841-BA20-0433AF7D30D3}" srcOrd="5" destOrd="0" presId="urn:microsoft.com/office/officeart/2005/8/layout/lProcess2"/>
    <dgm:cxn modelId="{41E3CCB7-9704-4A93-88CC-489437BCE665}" type="presParOf" srcId="{3BA89111-03EE-9C4E-ADB1-0B5237CF813E}" destId="{5C7A16F3-FEB5-824C-B341-388E7B1168AA}" srcOrd="6" destOrd="0" presId="urn:microsoft.com/office/officeart/2005/8/layout/lProcess2"/>
    <dgm:cxn modelId="{C896B952-1EF3-4CFF-B95C-A72204938DA7}" type="presParOf" srcId="{3BA89111-03EE-9C4E-ADB1-0B5237CF813E}" destId="{781C0F1C-7CBE-1143-9630-522D89A93B82}" srcOrd="7" destOrd="0" presId="urn:microsoft.com/office/officeart/2005/8/layout/lProcess2"/>
    <dgm:cxn modelId="{A339480E-9104-4CEF-8DC2-8F1F90DAE155}" type="presParOf" srcId="{3BA89111-03EE-9C4E-ADB1-0B5237CF813E}" destId="{3ACBFAD9-9CBE-AD4D-8CF5-5927F6AA4C61}" srcOrd="8" destOrd="0" presId="urn:microsoft.com/office/officeart/2005/8/layout/lProcess2"/>
    <dgm:cxn modelId="{23B18E59-2E4B-4E1E-A46E-39366910C3E7}" type="presParOf" srcId="{3BA89111-03EE-9C4E-ADB1-0B5237CF813E}" destId="{BBAC4EB1-E10A-8848-8779-71CC950C4408}" srcOrd="9" destOrd="0" presId="urn:microsoft.com/office/officeart/2005/8/layout/lProcess2"/>
    <dgm:cxn modelId="{CEC5AB8F-D448-491E-B91D-4242CF1B85B5}" type="presParOf" srcId="{3BA89111-03EE-9C4E-ADB1-0B5237CF813E}" destId="{D4AF50BA-2F7D-954E-A09A-05EF1CF9E50D}" srcOrd="10" destOrd="0" presId="urn:microsoft.com/office/officeart/2005/8/layout/lProcess2"/>
    <dgm:cxn modelId="{0EBE2561-AE4C-4E0F-B3D4-9BB38A948CB3}" type="presParOf" srcId="{3BA89111-03EE-9C4E-ADB1-0B5237CF813E}" destId="{324A857D-9DE6-9442-9225-1C9D9C22D579}" srcOrd="11" destOrd="0" presId="urn:microsoft.com/office/officeart/2005/8/layout/lProcess2"/>
    <dgm:cxn modelId="{06EF5105-431E-4EEA-AA5E-0B5383BF43F0}" type="presParOf" srcId="{3BA89111-03EE-9C4E-ADB1-0B5237CF813E}" destId="{A2F9DB0E-BEE6-C341-8409-013F83163756}" srcOrd="12" destOrd="0" presId="urn:microsoft.com/office/officeart/2005/8/layout/lProcess2"/>
    <dgm:cxn modelId="{A9982E6F-F78D-412B-B087-439D9EFF7C9D}" type="presParOf" srcId="{7B1BB674-07AD-7B4D-AD32-75F050A6E2DE}" destId="{3EF3EAD5-0E8A-4C4E-BFA0-D82223913A07}" srcOrd="1" destOrd="0" presId="urn:microsoft.com/office/officeart/2005/8/layout/lProcess2"/>
    <dgm:cxn modelId="{F529BDF7-38FE-4919-BB2F-9C1C9D4E449F}" type="presParOf" srcId="{7B1BB674-07AD-7B4D-AD32-75F050A6E2DE}" destId="{022884F7-4A62-6A4D-8010-BD562CE3464A}" srcOrd="2" destOrd="0" presId="urn:microsoft.com/office/officeart/2005/8/layout/lProcess2"/>
    <dgm:cxn modelId="{8E8538D0-D6BA-4616-A5E5-9BE58DCAAF78}" type="presParOf" srcId="{022884F7-4A62-6A4D-8010-BD562CE3464A}" destId="{407FA46C-5433-9345-A88F-536430ED5CB5}" srcOrd="0" destOrd="0" presId="urn:microsoft.com/office/officeart/2005/8/layout/lProcess2"/>
    <dgm:cxn modelId="{1EA22BD1-1322-491F-B706-3122BA1E79C2}" type="presParOf" srcId="{022884F7-4A62-6A4D-8010-BD562CE3464A}" destId="{B4F7093A-19E5-E240-B0B0-2CFE40A8A8A4}" srcOrd="1" destOrd="0" presId="urn:microsoft.com/office/officeart/2005/8/layout/lProcess2"/>
    <dgm:cxn modelId="{38E9B6B5-381C-4E01-9CFA-4D65BB262A6A}" type="presParOf" srcId="{022884F7-4A62-6A4D-8010-BD562CE3464A}" destId="{355FC07E-C4C2-2946-864A-5F62C8B0CEB5}" srcOrd="2" destOrd="0" presId="urn:microsoft.com/office/officeart/2005/8/layout/lProcess2"/>
    <dgm:cxn modelId="{88344AAB-87C4-4D57-9366-F510C2F86B5F}" type="presParOf" srcId="{355FC07E-C4C2-2946-864A-5F62C8B0CEB5}" destId="{840C1BF0-B98C-7746-889E-EA82676F4CE9}" srcOrd="0" destOrd="0" presId="urn:microsoft.com/office/officeart/2005/8/layout/lProcess2"/>
    <dgm:cxn modelId="{9296A4D1-D376-4D72-B5D3-C89AB1FD5582}" type="presParOf" srcId="{840C1BF0-B98C-7746-889E-EA82676F4CE9}" destId="{86480DEC-B2B8-4A48-AE7F-0803FF15111D}" srcOrd="0" destOrd="0" presId="urn:microsoft.com/office/officeart/2005/8/layout/lProcess2"/>
    <dgm:cxn modelId="{2057638F-66A9-44AB-8830-8B7FFDDE37B3}" type="presParOf" srcId="{840C1BF0-B98C-7746-889E-EA82676F4CE9}" destId="{D3B97557-8347-8A4A-AFC4-A80CF919FB36}" srcOrd="1" destOrd="0" presId="urn:microsoft.com/office/officeart/2005/8/layout/lProcess2"/>
    <dgm:cxn modelId="{047A118A-D7DD-49AB-812F-4420F5FC8E6F}" type="presParOf" srcId="{840C1BF0-B98C-7746-889E-EA82676F4CE9}" destId="{5EA8250C-FD11-B940-9430-DA94674329CA}" srcOrd="2" destOrd="0" presId="urn:microsoft.com/office/officeart/2005/8/layout/lProcess2"/>
    <dgm:cxn modelId="{ECC50850-EA60-4C4A-BAE0-6900E66C8F29}" type="presParOf" srcId="{840C1BF0-B98C-7746-889E-EA82676F4CE9}" destId="{F9A0D803-0A67-7A4C-A3C9-A66BE44C8320}" srcOrd="3" destOrd="0" presId="urn:microsoft.com/office/officeart/2005/8/layout/lProcess2"/>
    <dgm:cxn modelId="{E9047530-4470-4DB7-8EE5-B44A6AB748FA}" type="presParOf" srcId="{840C1BF0-B98C-7746-889E-EA82676F4CE9}" destId="{C563279C-3BD3-5A46-B7EA-9BA2832B92D4}" srcOrd="4" destOrd="0" presId="urn:microsoft.com/office/officeart/2005/8/layout/lProcess2"/>
    <dgm:cxn modelId="{8EAB373F-E27F-4864-9B3B-A8A333772837}" type="presParOf" srcId="{840C1BF0-B98C-7746-889E-EA82676F4CE9}" destId="{D871DE97-1C25-C545-B513-19DC9E388C47}" srcOrd="5" destOrd="0" presId="urn:microsoft.com/office/officeart/2005/8/layout/lProcess2"/>
    <dgm:cxn modelId="{749ECDB2-3CC1-40EA-B5FE-5F9A97DF2E92}" type="presParOf" srcId="{840C1BF0-B98C-7746-889E-EA82676F4CE9}" destId="{B2F38DB6-5DC4-FB45-B301-B2D5BC803A65}" srcOrd="6" destOrd="0" presId="urn:microsoft.com/office/officeart/2005/8/layout/lProcess2"/>
    <dgm:cxn modelId="{E3161C7D-8E15-47E7-8A04-5A912135947A}" type="presParOf" srcId="{7B1BB674-07AD-7B4D-AD32-75F050A6E2DE}" destId="{F23B1BF1-04CF-2343-9307-1B0D667FD1C7}" srcOrd="3" destOrd="0" presId="urn:microsoft.com/office/officeart/2005/8/layout/lProcess2"/>
    <dgm:cxn modelId="{28725C99-CD2C-4D3C-86A7-B07C99DCF6B3}" type="presParOf" srcId="{7B1BB674-07AD-7B4D-AD32-75F050A6E2DE}" destId="{EACEDDC3-9B77-734E-8704-1581BEBA5902}" srcOrd="4" destOrd="0" presId="urn:microsoft.com/office/officeart/2005/8/layout/lProcess2"/>
    <dgm:cxn modelId="{9425B73D-27E7-40AF-9CC6-9A10A51898AE}" type="presParOf" srcId="{EACEDDC3-9B77-734E-8704-1581BEBA5902}" destId="{7668852D-2BC1-5D43-A053-9A92DAC94835}" srcOrd="0" destOrd="0" presId="urn:microsoft.com/office/officeart/2005/8/layout/lProcess2"/>
    <dgm:cxn modelId="{3F582AE3-672D-4A15-BC5D-E11695DD1484}" type="presParOf" srcId="{EACEDDC3-9B77-734E-8704-1581BEBA5902}" destId="{E5BDCD03-0791-7B4B-822D-C1293C991ABA}" srcOrd="1" destOrd="0" presId="urn:microsoft.com/office/officeart/2005/8/layout/lProcess2"/>
    <dgm:cxn modelId="{9051BF3F-44DC-4691-BA5A-BFE168D328F1}" type="presParOf" srcId="{EACEDDC3-9B77-734E-8704-1581BEBA5902}" destId="{C2E271B2-764C-7740-9411-8DF331E19E6C}" srcOrd="2" destOrd="0" presId="urn:microsoft.com/office/officeart/2005/8/layout/lProcess2"/>
    <dgm:cxn modelId="{8BECB094-9742-4625-A8B3-F296CEADADF1}" type="presParOf" srcId="{C2E271B2-764C-7740-9411-8DF331E19E6C}" destId="{423EE669-0B8C-6C47-A0E9-ED64E32D389B}" srcOrd="0" destOrd="0" presId="urn:microsoft.com/office/officeart/2005/8/layout/lProcess2"/>
    <dgm:cxn modelId="{79EE9151-305F-4018-818C-EE03A8DF12EB}" type="presParOf" srcId="{423EE669-0B8C-6C47-A0E9-ED64E32D389B}" destId="{C19C75FB-02BB-E240-B029-C4451B1AF53B}" srcOrd="0" destOrd="0" presId="urn:microsoft.com/office/officeart/2005/8/layout/lProcess2"/>
    <dgm:cxn modelId="{DF4103A6-2EDB-492F-8CF9-E8411734E444}" type="presParOf" srcId="{423EE669-0B8C-6C47-A0E9-ED64E32D389B}" destId="{88D6EA0B-D65E-B14E-AEE5-E9A9174D5E0C}" srcOrd="1" destOrd="0" presId="urn:microsoft.com/office/officeart/2005/8/layout/lProcess2"/>
    <dgm:cxn modelId="{88903E20-EF78-4443-8EF6-D9253E5C33EF}" type="presParOf" srcId="{423EE669-0B8C-6C47-A0E9-ED64E32D389B}" destId="{5B2E0B64-5774-E74B-BB0F-5439968E1560}" srcOrd="2" destOrd="0" presId="urn:microsoft.com/office/officeart/2005/8/layout/lProcess2"/>
    <dgm:cxn modelId="{3B030F35-FA27-4F01-92D6-2AC33784D475}" type="presParOf" srcId="{423EE669-0B8C-6C47-A0E9-ED64E32D389B}" destId="{6D159404-FBBC-EE4A-9B82-4CDB8A066E86}" srcOrd="3" destOrd="0" presId="urn:microsoft.com/office/officeart/2005/8/layout/lProcess2"/>
    <dgm:cxn modelId="{53831711-0281-4FFE-AAD4-322583771CC7}" type="presParOf" srcId="{423EE669-0B8C-6C47-A0E9-ED64E32D389B}" destId="{E1169713-2DA9-F04F-AC54-B9CC46F63B51}" srcOrd="4" destOrd="0" presId="urn:microsoft.com/office/officeart/2005/8/layout/lProcess2"/>
    <dgm:cxn modelId="{24F80395-4A21-41DB-9AEC-9BFBCF5DAB37}" type="presParOf" srcId="{7B1BB674-07AD-7B4D-AD32-75F050A6E2DE}" destId="{03D49FEF-0407-D541-89E8-AE7A9D231881}" srcOrd="5" destOrd="0" presId="urn:microsoft.com/office/officeart/2005/8/layout/lProcess2"/>
    <dgm:cxn modelId="{9905AFEF-47EA-4757-9D5A-ABA8144A7B2F}" type="presParOf" srcId="{7B1BB674-07AD-7B4D-AD32-75F050A6E2DE}" destId="{E0C3B386-89F5-B74F-8CBC-C08FF8CCAA6B}" srcOrd="6" destOrd="0" presId="urn:microsoft.com/office/officeart/2005/8/layout/lProcess2"/>
    <dgm:cxn modelId="{D1258410-9787-4CAB-BB3C-E65D20F14E4F}" type="presParOf" srcId="{E0C3B386-89F5-B74F-8CBC-C08FF8CCAA6B}" destId="{15960519-F868-2942-A175-0B4B197DBB7D}" srcOrd="0" destOrd="0" presId="urn:microsoft.com/office/officeart/2005/8/layout/lProcess2"/>
    <dgm:cxn modelId="{B1AE1F26-8803-417F-94D4-231510596DEA}" type="presParOf" srcId="{E0C3B386-89F5-B74F-8CBC-C08FF8CCAA6B}" destId="{2EA2E5A8-2961-DA4A-987D-CF644F09E7DD}" srcOrd="1" destOrd="0" presId="urn:microsoft.com/office/officeart/2005/8/layout/lProcess2"/>
    <dgm:cxn modelId="{C65BC86E-B6F9-4AD6-8953-745A3A0BE0EE}" type="presParOf" srcId="{E0C3B386-89F5-B74F-8CBC-C08FF8CCAA6B}" destId="{E01CB74C-AF6C-D24E-AF88-4CA5036DCFE0}" srcOrd="2" destOrd="0" presId="urn:microsoft.com/office/officeart/2005/8/layout/lProcess2"/>
    <dgm:cxn modelId="{556F1D5A-50F6-4708-A660-6E3D142E0489}" type="presParOf" srcId="{E01CB74C-AF6C-D24E-AF88-4CA5036DCFE0}" destId="{14DB31F8-683E-DE4C-B34C-508D0C17CE69}" srcOrd="0" destOrd="0" presId="urn:microsoft.com/office/officeart/2005/8/layout/lProcess2"/>
    <dgm:cxn modelId="{03C2DA2A-BD35-4564-96D1-A34F9C5C6B53}" type="presParOf" srcId="{14DB31F8-683E-DE4C-B34C-508D0C17CE69}" destId="{A3FCB19C-CF71-2447-8256-F898160424C3}" srcOrd="0" destOrd="0" presId="urn:microsoft.com/office/officeart/2005/8/layout/lProcess2"/>
    <dgm:cxn modelId="{B37054A0-A228-48D2-932D-B0CF395D938A}" type="presParOf" srcId="{14DB31F8-683E-DE4C-B34C-508D0C17CE69}" destId="{74B0D57B-3FDF-1F48-AB01-740DFEDAD3B9}" srcOrd="1" destOrd="0" presId="urn:microsoft.com/office/officeart/2005/8/layout/lProcess2"/>
    <dgm:cxn modelId="{16C86BD9-295A-442F-9AC4-06971B0A8B93}" type="presParOf" srcId="{14DB31F8-683E-DE4C-B34C-508D0C17CE69}" destId="{A2CF386A-0813-9F4E-8934-83D35A04F3A6}" srcOrd="2" destOrd="0" presId="urn:microsoft.com/office/officeart/2005/8/layout/lProcess2"/>
    <dgm:cxn modelId="{BBE32D08-1A9E-4F0D-9D96-0ABA7908BDC6}" type="presParOf" srcId="{14DB31F8-683E-DE4C-B34C-508D0C17CE69}" destId="{6FA03FA4-7137-674C-99A7-68DDBC66A6DF}" srcOrd="3" destOrd="0" presId="urn:microsoft.com/office/officeart/2005/8/layout/lProcess2"/>
    <dgm:cxn modelId="{15D65DDC-8D06-48F0-80C0-B5407FC20B3D}" type="presParOf" srcId="{14DB31F8-683E-DE4C-B34C-508D0C17CE69}" destId="{F8ABA68E-DDAC-9548-95F1-472135ECA6AF}" srcOrd="4" destOrd="0" presId="urn:microsoft.com/office/officeart/2005/8/layout/lProcess2"/>
    <dgm:cxn modelId="{12AD1C4A-78CD-4316-9A5B-15C6A9972588}" type="presParOf" srcId="{7B1BB674-07AD-7B4D-AD32-75F050A6E2DE}" destId="{6B48BE6A-8241-074A-8809-807CC07A9D55}" srcOrd="7" destOrd="0" presId="urn:microsoft.com/office/officeart/2005/8/layout/lProcess2"/>
    <dgm:cxn modelId="{78FE9D56-5E6D-4D26-B563-92C053C8C1DD}" type="presParOf" srcId="{7B1BB674-07AD-7B4D-AD32-75F050A6E2DE}" destId="{C6A4563F-C59D-8B44-9262-0FE74442051C}" srcOrd="8" destOrd="0" presId="urn:microsoft.com/office/officeart/2005/8/layout/lProcess2"/>
    <dgm:cxn modelId="{537F8BBF-15D5-4912-AB16-C04FABD6E682}" type="presParOf" srcId="{C6A4563F-C59D-8B44-9262-0FE74442051C}" destId="{291D62C6-CEAA-6E48-A152-01E7D4260C45}" srcOrd="0" destOrd="0" presId="urn:microsoft.com/office/officeart/2005/8/layout/lProcess2"/>
    <dgm:cxn modelId="{B0E094D4-1729-4BAC-B201-FB210B94586A}" type="presParOf" srcId="{C6A4563F-C59D-8B44-9262-0FE74442051C}" destId="{B33E3E79-A576-FF4C-BA0A-3F6B2D4F2BA9}" srcOrd="1" destOrd="0" presId="urn:microsoft.com/office/officeart/2005/8/layout/lProcess2"/>
    <dgm:cxn modelId="{6142432D-A055-4E19-A5CF-7C05D226A49B}" type="presParOf" srcId="{C6A4563F-C59D-8B44-9262-0FE74442051C}" destId="{9A59CD22-6CFF-2240-A073-FB973AAB27EF}" srcOrd="2" destOrd="0" presId="urn:microsoft.com/office/officeart/2005/8/layout/lProcess2"/>
    <dgm:cxn modelId="{80B34A79-0680-4372-988A-3152CBA9FF94}" type="presParOf" srcId="{9A59CD22-6CFF-2240-A073-FB973AAB27EF}" destId="{C5AFC0F2-DCE1-3A47-AAB1-A6AF74DE2F39}" srcOrd="0" destOrd="0" presId="urn:microsoft.com/office/officeart/2005/8/layout/lProcess2"/>
    <dgm:cxn modelId="{2BD4B9F6-2020-4274-A60A-912F688D4AE9}" type="presParOf" srcId="{C5AFC0F2-DCE1-3A47-AAB1-A6AF74DE2F39}" destId="{6E64806D-5F85-4C44-B759-46F3F7DE500A}" srcOrd="0" destOrd="0" presId="urn:microsoft.com/office/officeart/2005/8/layout/lProcess2"/>
    <dgm:cxn modelId="{3CB6F38E-1736-4C8E-A056-2659457A77BE}" type="presParOf" srcId="{C5AFC0F2-DCE1-3A47-AAB1-A6AF74DE2F39}" destId="{41DF64F8-3EA7-F748-B373-97A090B15587}" srcOrd="1" destOrd="0" presId="urn:microsoft.com/office/officeart/2005/8/layout/lProcess2"/>
    <dgm:cxn modelId="{D86E7548-632F-4537-B2AC-F2B6BB22315E}" type="presParOf" srcId="{C5AFC0F2-DCE1-3A47-AAB1-A6AF74DE2F39}" destId="{B16B47BA-18CD-A84D-AD0C-997BA13CA7BF}" srcOrd="2" destOrd="0" presId="urn:microsoft.com/office/officeart/2005/8/layout/lProcess2"/>
    <dgm:cxn modelId="{F3A98EFC-BAFB-4752-A1CA-A33C5331CA47}" type="presParOf" srcId="{7B1BB674-07AD-7B4D-AD32-75F050A6E2DE}" destId="{F9E20C0C-3248-4741-8F47-FA35640F1786}" srcOrd="9" destOrd="0" presId="urn:microsoft.com/office/officeart/2005/8/layout/lProcess2"/>
    <dgm:cxn modelId="{869CFEAB-0D62-4C6A-A5F0-7F4209A7F12D}" type="presParOf" srcId="{7B1BB674-07AD-7B4D-AD32-75F050A6E2DE}" destId="{D7DB8433-FD4A-BE4B-842D-CE86FDE72FE4}" srcOrd="10" destOrd="0" presId="urn:microsoft.com/office/officeart/2005/8/layout/lProcess2"/>
    <dgm:cxn modelId="{4DB45689-0318-46DB-8BF3-DFC5C5346D8B}" type="presParOf" srcId="{D7DB8433-FD4A-BE4B-842D-CE86FDE72FE4}" destId="{1C561C77-FD69-9C49-85F8-25CA2783B0E9}" srcOrd="0" destOrd="0" presId="urn:microsoft.com/office/officeart/2005/8/layout/lProcess2"/>
    <dgm:cxn modelId="{64912DF4-F39B-48EC-A507-710C32F71038}" type="presParOf" srcId="{D7DB8433-FD4A-BE4B-842D-CE86FDE72FE4}" destId="{0FE00457-3D4C-CB4A-B263-2CDEC34A60FB}" srcOrd="1" destOrd="0" presId="urn:microsoft.com/office/officeart/2005/8/layout/lProcess2"/>
    <dgm:cxn modelId="{4DBA2F67-1B3D-4AD0-82EC-839EC089B732}" type="presParOf" srcId="{D7DB8433-FD4A-BE4B-842D-CE86FDE72FE4}" destId="{2668242A-1074-F64E-80D6-A5051FED3C97}" srcOrd="2" destOrd="0" presId="urn:microsoft.com/office/officeart/2005/8/layout/lProcess2"/>
    <dgm:cxn modelId="{73F44CA1-65BD-4447-8EB8-724726183A24}" type="presParOf" srcId="{2668242A-1074-F64E-80D6-A5051FED3C97}" destId="{4AD511CD-A889-AB44-A730-F4C796B22AC2}" srcOrd="0" destOrd="0" presId="urn:microsoft.com/office/officeart/2005/8/layout/lProcess2"/>
    <dgm:cxn modelId="{71707BA2-26C5-4328-8552-0E5A85A47487}" type="presParOf" srcId="{4AD511CD-A889-AB44-A730-F4C796B22AC2}" destId="{429F17A2-F7AE-F74D-9772-247C8A0065D7}" srcOrd="0" destOrd="0" presId="urn:microsoft.com/office/officeart/2005/8/layout/lProcess2"/>
    <dgm:cxn modelId="{92B1326F-5ACB-43F7-AB87-BEC28FDA814E}" type="presParOf" srcId="{4AD511CD-A889-AB44-A730-F4C796B22AC2}" destId="{4F92511C-50DB-4946-A972-6E9B1A68D58E}" srcOrd="1" destOrd="0" presId="urn:microsoft.com/office/officeart/2005/8/layout/lProcess2"/>
    <dgm:cxn modelId="{DE8EA437-44DD-4AF7-A807-7FEBB37F6DF5}" type="presParOf" srcId="{4AD511CD-A889-AB44-A730-F4C796B22AC2}" destId="{73EE8F82-9862-184B-9EF6-386C054EE803}" srcOrd="2" destOrd="0" presId="urn:microsoft.com/office/officeart/2005/8/layout/lProcess2"/>
    <dgm:cxn modelId="{90D26778-653F-4023-BFDD-DEBE9E1CEC30}" type="presParOf" srcId="{4AD511CD-A889-AB44-A730-F4C796B22AC2}" destId="{738049C8-AB49-0D40-9385-57A51805FF8B}" srcOrd="3" destOrd="0" presId="urn:microsoft.com/office/officeart/2005/8/layout/lProcess2"/>
    <dgm:cxn modelId="{88B4B876-DC9D-489A-9F9E-C85938FAF8A1}" type="presParOf" srcId="{4AD511CD-A889-AB44-A730-F4C796B22AC2}" destId="{79AB209A-281C-7B43-9059-18F77B42F906}" srcOrd="4" destOrd="0" presId="urn:microsoft.com/office/officeart/2005/8/layout/lProcess2"/>
    <dgm:cxn modelId="{59E6F211-1C62-452F-9832-91B58C0FF4C6}" type="presParOf" srcId="{7B1BB674-07AD-7B4D-AD32-75F050A6E2DE}" destId="{0A0F4AFA-076A-B14C-AB84-5497EFB5437D}" srcOrd="11" destOrd="0" presId="urn:microsoft.com/office/officeart/2005/8/layout/lProcess2"/>
    <dgm:cxn modelId="{65BFAD81-7281-4A15-9CDE-D14F76224B69}" type="presParOf" srcId="{7B1BB674-07AD-7B4D-AD32-75F050A6E2DE}" destId="{370636F1-F990-8946-988C-52BCB60C46A6}" srcOrd="12" destOrd="0" presId="urn:microsoft.com/office/officeart/2005/8/layout/lProcess2"/>
    <dgm:cxn modelId="{58B588AA-867D-4D86-967A-287DF0D37E5F}" type="presParOf" srcId="{370636F1-F990-8946-988C-52BCB60C46A6}" destId="{8516D76A-4173-134F-A060-E4088441E35A}" srcOrd="0" destOrd="0" presId="urn:microsoft.com/office/officeart/2005/8/layout/lProcess2"/>
    <dgm:cxn modelId="{756255D7-6E65-41DB-BA19-BF0630440F4D}" type="presParOf" srcId="{370636F1-F990-8946-988C-52BCB60C46A6}" destId="{EA8B3B04-5518-B048-8DE3-535B8B9A8EFF}" srcOrd="1" destOrd="0" presId="urn:microsoft.com/office/officeart/2005/8/layout/lProcess2"/>
    <dgm:cxn modelId="{B28D13CA-D1B4-4185-96CC-B221D78C9842}" type="presParOf" srcId="{370636F1-F990-8946-988C-52BCB60C46A6}" destId="{D537B4CF-0446-D74A-97E2-38B16D879624}" srcOrd="2" destOrd="0" presId="urn:microsoft.com/office/officeart/2005/8/layout/lProcess2"/>
    <dgm:cxn modelId="{094F1BD8-9ED0-417F-B7F5-9F322CAF3412}" type="presParOf" srcId="{D537B4CF-0446-D74A-97E2-38B16D879624}" destId="{C0A08658-4633-6148-B243-05EDE187F01A}" srcOrd="0" destOrd="0" presId="urn:microsoft.com/office/officeart/2005/8/layout/lProcess2"/>
    <dgm:cxn modelId="{2CDB136D-0976-48AE-8CC3-518C082C5576}" type="presParOf" srcId="{C0A08658-4633-6148-B243-05EDE187F01A}" destId="{FA0B817B-AFE3-3F4F-8A05-4F98D9571DAD}" srcOrd="0" destOrd="0" presId="urn:microsoft.com/office/officeart/2005/8/layout/lProcess2"/>
    <dgm:cxn modelId="{D8E42E83-4003-45A1-89B2-0EF6662BB4B9}" type="presParOf" srcId="{C0A08658-4633-6148-B243-05EDE187F01A}" destId="{AC1DFA44-C58C-D54C-A5A4-0D5B827E4456}" srcOrd="1" destOrd="0" presId="urn:microsoft.com/office/officeart/2005/8/layout/lProcess2"/>
    <dgm:cxn modelId="{DDF82DBF-E6BB-422D-86BD-83C5DAFBA46E}" type="presParOf" srcId="{C0A08658-4633-6148-B243-05EDE187F01A}" destId="{1CAAE67D-9FAC-EC4A-9228-46C26CC586F7}" srcOrd="2" destOrd="0" presId="urn:microsoft.com/office/officeart/2005/8/layout/lProcess2"/>
    <dgm:cxn modelId="{984EEA8F-FECB-44CE-BF9C-DE41EB4CC8B6}" type="presParOf" srcId="{C0A08658-4633-6148-B243-05EDE187F01A}" destId="{D7F44369-2976-D249-9A7C-65DE35CDB707}" srcOrd="3" destOrd="0" presId="urn:microsoft.com/office/officeart/2005/8/layout/lProcess2"/>
    <dgm:cxn modelId="{AF0EFC8F-A891-4072-8BA1-0D9BD13F3179}" type="presParOf" srcId="{C0A08658-4633-6148-B243-05EDE187F01A}" destId="{4D0F52EB-DC93-1047-83DC-F54187C237CD}" srcOrd="4"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928BDC-5244-CC4F-BC2E-01D6755A23C0}">
      <dsp:nvSpPr>
        <dsp:cNvPr id="0" name=""/>
        <dsp:cNvSpPr/>
      </dsp:nvSpPr>
      <dsp:spPr>
        <a:xfrm>
          <a:off x="7965" y="0"/>
          <a:ext cx="1469984" cy="416375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a:t>SENSE</a:t>
          </a:r>
        </a:p>
        <a:p>
          <a:pPr marL="0" lvl="0" indent="0" algn="ctr" defTabSz="711200">
            <a:lnSpc>
              <a:spcPct val="90000"/>
            </a:lnSpc>
            <a:spcBef>
              <a:spcPct val="0"/>
            </a:spcBef>
            <a:spcAft>
              <a:spcPct val="35000"/>
            </a:spcAft>
            <a:buNone/>
          </a:pPr>
          <a:r>
            <a:rPr lang="en-GB" sz="1000" kern="1200"/>
            <a:t>( Data Source )</a:t>
          </a:r>
        </a:p>
      </dsp:txBody>
      <dsp:txXfrm>
        <a:off x="7965" y="0"/>
        <a:ext cx="1469984" cy="1249127"/>
      </dsp:txXfrm>
    </dsp:sp>
    <dsp:sp modelId="{BAFF8F21-7682-474A-A883-D5351F57BC42}">
      <dsp:nvSpPr>
        <dsp:cNvPr id="0" name=""/>
        <dsp:cNvSpPr/>
      </dsp:nvSpPr>
      <dsp:spPr>
        <a:xfrm>
          <a:off x="154964" y="1251669"/>
          <a:ext cx="1175987" cy="34094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3335" rIns="17780" bIns="13335" numCol="1" spcCol="1270" anchor="ctr" anchorCtr="0">
          <a:noAutofit/>
        </a:bodyPr>
        <a:lstStyle/>
        <a:p>
          <a:pPr marL="0" lvl="0" indent="0" algn="ctr" defTabSz="311150">
            <a:lnSpc>
              <a:spcPct val="90000"/>
            </a:lnSpc>
            <a:spcBef>
              <a:spcPct val="0"/>
            </a:spcBef>
            <a:spcAft>
              <a:spcPct val="35000"/>
            </a:spcAft>
            <a:buNone/>
          </a:pPr>
          <a:r>
            <a:rPr lang="en-GB" sz="700" kern="1200"/>
            <a:t>Services Tickets</a:t>
          </a:r>
        </a:p>
      </dsp:txBody>
      <dsp:txXfrm>
        <a:off x="164950" y="1261655"/>
        <a:ext cx="1156015" cy="320976"/>
      </dsp:txXfrm>
    </dsp:sp>
    <dsp:sp modelId="{9944EA47-B199-1542-AE3B-0D77578EAA95}">
      <dsp:nvSpPr>
        <dsp:cNvPr id="0" name=""/>
        <dsp:cNvSpPr/>
      </dsp:nvSpPr>
      <dsp:spPr>
        <a:xfrm>
          <a:off x="154964" y="1645071"/>
          <a:ext cx="1175987" cy="34094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3335" rIns="17780" bIns="13335" numCol="1" spcCol="1270" anchor="ctr" anchorCtr="0">
          <a:noAutofit/>
        </a:bodyPr>
        <a:lstStyle/>
        <a:p>
          <a:pPr marL="0" lvl="0" indent="0" algn="ctr" defTabSz="311150">
            <a:lnSpc>
              <a:spcPct val="90000"/>
            </a:lnSpc>
            <a:spcBef>
              <a:spcPct val="0"/>
            </a:spcBef>
            <a:spcAft>
              <a:spcPct val="35000"/>
            </a:spcAft>
            <a:buNone/>
          </a:pPr>
          <a:r>
            <a:rPr lang="en-GB" sz="700" kern="1200"/>
            <a:t>Asset Manager</a:t>
          </a:r>
        </a:p>
      </dsp:txBody>
      <dsp:txXfrm>
        <a:off x="164950" y="1655057"/>
        <a:ext cx="1156015" cy="320976"/>
      </dsp:txXfrm>
    </dsp:sp>
    <dsp:sp modelId="{439305CA-12AB-CE4A-ACBC-68AF77B79983}">
      <dsp:nvSpPr>
        <dsp:cNvPr id="0" name=""/>
        <dsp:cNvSpPr/>
      </dsp:nvSpPr>
      <dsp:spPr>
        <a:xfrm>
          <a:off x="154964" y="2038473"/>
          <a:ext cx="1175987" cy="34094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3335" rIns="17780" bIns="13335" numCol="1" spcCol="1270" anchor="ctr" anchorCtr="0">
          <a:noAutofit/>
        </a:bodyPr>
        <a:lstStyle/>
        <a:p>
          <a:pPr marL="0" lvl="0" indent="0" algn="ctr" defTabSz="311150">
            <a:lnSpc>
              <a:spcPct val="90000"/>
            </a:lnSpc>
            <a:spcBef>
              <a:spcPct val="0"/>
            </a:spcBef>
            <a:spcAft>
              <a:spcPct val="35000"/>
            </a:spcAft>
            <a:buNone/>
          </a:pPr>
          <a:r>
            <a:rPr lang="en-GB" sz="700" kern="1200"/>
            <a:t>Engineer Master</a:t>
          </a:r>
        </a:p>
      </dsp:txBody>
      <dsp:txXfrm>
        <a:off x="164950" y="2048459"/>
        <a:ext cx="1156015" cy="320976"/>
      </dsp:txXfrm>
    </dsp:sp>
    <dsp:sp modelId="{5C7A16F3-FEB5-824C-B341-388E7B1168AA}">
      <dsp:nvSpPr>
        <dsp:cNvPr id="0" name=""/>
        <dsp:cNvSpPr/>
      </dsp:nvSpPr>
      <dsp:spPr>
        <a:xfrm>
          <a:off x="154964" y="2431875"/>
          <a:ext cx="1175987" cy="34094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3335" rIns="17780" bIns="13335" numCol="1" spcCol="1270" anchor="ctr" anchorCtr="0">
          <a:noAutofit/>
        </a:bodyPr>
        <a:lstStyle/>
        <a:p>
          <a:pPr marL="0" lvl="0" indent="0" algn="ctr" defTabSz="311150">
            <a:lnSpc>
              <a:spcPct val="90000"/>
            </a:lnSpc>
            <a:spcBef>
              <a:spcPct val="0"/>
            </a:spcBef>
            <a:spcAft>
              <a:spcPct val="35000"/>
            </a:spcAft>
            <a:buNone/>
          </a:pPr>
          <a:r>
            <a:rPr lang="en-GB" sz="700" kern="1200"/>
            <a:t>Hardware Telemetry</a:t>
          </a:r>
        </a:p>
      </dsp:txBody>
      <dsp:txXfrm>
        <a:off x="164950" y="2441861"/>
        <a:ext cx="1156015" cy="320976"/>
      </dsp:txXfrm>
    </dsp:sp>
    <dsp:sp modelId="{3ACBFAD9-9CBE-AD4D-8CF5-5927F6AA4C61}">
      <dsp:nvSpPr>
        <dsp:cNvPr id="0" name=""/>
        <dsp:cNvSpPr/>
      </dsp:nvSpPr>
      <dsp:spPr>
        <a:xfrm>
          <a:off x="154964" y="2825277"/>
          <a:ext cx="1175987" cy="34094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3335" rIns="17780" bIns="13335" numCol="1" spcCol="1270" anchor="ctr" anchorCtr="0">
          <a:noAutofit/>
        </a:bodyPr>
        <a:lstStyle/>
        <a:p>
          <a:pPr marL="0" lvl="0" indent="0" algn="ctr" defTabSz="311150">
            <a:lnSpc>
              <a:spcPct val="90000"/>
            </a:lnSpc>
            <a:spcBef>
              <a:spcPct val="0"/>
            </a:spcBef>
            <a:spcAft>
              <a:spcPct val="35000"/>
            </a:spcAft>
            <a:buNone/>
          </a:pPr>
          <a:r>
            <a:rPr lang="en-GB" sz="700" kern="1200"/>
            <a:t>Maintenance History</a:t>
          </a:r>
        </a:p>
      </dsp:txBody>
      <dsp:txXfrm>
        <a:off x="164950" y="2835263"/>
        <a:ext cx="1156015" cy="320976"/>
      </dsp:txXfrm>
    </dsp:sp>
    <dsp:sp modelId="{D4AF50BA-2F7D-954E-A09A-05EF1CF9E50D}">
      <dsp:nvSpPr>
        <dsp:cNvPr id="0" name=""/>
        <dsp:cNvSpPr/>
      </dsp:nvSpPr>
      <dsp:spPr>
        <a:xfrm>
          <a:off x="154964" y="3218679"/>
          <a:ext cx="1175987" cy="34094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3335" rIns="17780" bIns="13335" numCol="1" spcCol="1270" anchor="ctr" anchorCtr="0">
          <a:noAutofit/>
        </a:bodyPr>
        <a:lstStyle/>
        <a:p>
          <a:pPr marL="0" lvl="0" indent="0" algn="ctr" defTabSz="311150">
            <a:lnSpc>
              <a:spcPct val="90000"/>
            </a:lnSpc>
            <a:spcBef>
              <a:spcPct val="0"/>
            </a:spcBef>
            <a:spcAft>
              <a:spcPct val="35000"/>
            </a:spcAft>
            <a:buNone/>
          </a:pPr>
          <a:r>
            <a:rPr lang="en-GB" sz="700" kern="1200"/>
            <a:t>Client Master</a:t>
          </a:r>
        </a:p>
      </dsp:txBody>
      <dsp:txXfrm>
        <a:off x="164950" y="3228665"/>
        <a:ext cx="1156015" cy="320976"/>
      </dsp:txXfrm>
    </dsp:sp>
    <dsp:sp modelId="{A2F9DB0E-BEE6-C341-8409-013F83163756}">
      <dsp:nvSpPr>
        <dsp:cNvPr id="0" name=""/>
        <dsp:cNvSpPr/>
      </dsp:nvSpPr>
      <dsp:spPr>
        <a:xfrm>
          <a:off x="154964" y="3612081"/>
          <a:ext cx="1175987" cy="34094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3335" rIns="17780" bIns="13335" numCol="1" spcCol="1270" anchor="ctr" anchorCtr="0">
          <a:noAutofit/>
        </a:bodyPr>
        <a:lstStyle/>
        <a:p>
          <a:pPr marL="0" lvl="0" indent="0" algn="ctr" defTabSz="311150">
            <a:lnSpc>
              <a:spcPct val="90000"/>
            </a:lnSpc>
            <a:spcBef>
              <a:spcPct val="0"/>
            </a:spcBef>
            <a:spcAft>
              <a:spcPct val="35000"/>
            </a:spcAft>
            <a:buNone/>
          </a:pPr>
          <a:r>
            <a:rPr lang="en-GB" sz="700" kern="1200"/>
            <a:t>Inventory History</a:t>
          </a:r>
        </a:p>
      </dsp:txBody>
      <dsp:txXfrm>
        <a:off x="164950" y="3622067"/>
        <a:ext cx="1156015" cy="320976"/>
      </dsp:txXfrm>
    </dsp:sp>
    <dsp:sp modelId="{407FA46C-5433-9345-A88F-536430ED5CB5}">
      <dsp:nvSpPr>
        <dsp:cNvPr id="0" name=""/>
        <dsp:cNvSpPr/>
      </dsp:nvSpPr>
      <dsp:spPr>
        <a:xfrm>
          <a:off x="1588198" y="0"/>
          <a:ext cx="1469984" cy="416375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a:latin typeface="Franklin Gothic Book" panose="020B0503020102020204"/>
            </a:rPr>
            <a:t>PROCESS</a:t>
          </a:r>
          <a:endParaRPr lang="en-GB" sz="1600" kern="1200"/>
        </a:p>
        <a:p>
          <a:pPr marL="0" lvl="0" indent="0" algn="ctr" defTabSz="711200" rtl="0">
            <a:lnSpc>
              <a:spcPct val="90000"/>
            </a:lnSpc>
            <a:spcBef>
              <a:spcPct val="0"/>
            </a:spcBef>
            <a:spcAft>
              <a:spcPct val="35000"/>
            </a:spcAft>
            <a:buNone/>
          </a:pPr>
          <a:r>
            <a:rPr lang="en-GB" sz="1000" kern="1200"/>
            <a:t>( Data </a:t>
          </a:r>
          <a:r>
            <a:rPr lang="en-GB" sz="1000" kern="1200">
              <a:latin typeface="Franklin Gothic Book" panose="020B0503020102020204"/>
            </a:rPr>
            <a:t>Processing and</a:t>
          </a:r>
          <a:r>
            <a:rPr lang="en-GB" sz="1000" kern="1200"/>
            <a:t> Feature Layer )</a:t>
          </a:r>
        </a:p>
      </dsp:txBody>
      <dsp:txXfrm>
        <a:off x="1588198" y="0"/>
        <a:ext cx="1469984" cy="1249127"/>
      </dsp:txXfrm>
    </dsp:sp>
    <dsp:sp modelId="{86480DEC-B2B8-4A48-AE7F-0803FF15111D}">
      <dsp:nvSpPr>
        <dsp:cNvPr id="0" name=""/>
        <dsp:cNvSpPr/>
      </dsp:nvSpPr>
      <dsp:spPr>
        <a:xfrm>
          <a:off x="1735197" y="1249229"/>
          <a:ext cx="1175987" cy="60657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3335" rIns="17780" bIns="13335" numCol="1" spcCol="1270" anchor="ctr" anchorCtr="0">
          <a:noAutofit/>
        </a:bodyPr>
        <a:lstStyle/>
        <a:p>
          <a:pPr marL="0" lvl="0" indent="0" algn="ctr" defTabSz="311150">
            <a:lnSpc>
              <a:spcPct val="90000"/>
            </a:lnSpc>
            <a:spcBef>
              <a:spcPct val="0"/>
            </a:spcBef>
            <a:spcAft>
              <a:spcPct val="35000"/>
            </a:spcAft>
            <a:buNone/>
          </a:pPr>
          <a:r>
            <a:rPr lang="en-GB" sz="700" kern="1200"/>
            <a:t>Data Cleaning</a:t>
          </a:r>
        </a:p>
      </dsp:txBody>
      <dsp:txXfrm>
        <a:off x="1752963" y="1266995"/>
        <a:ext cx="1140455" cy="571039"/>
      </dsp:txXfrm>
    </dsp:sp>
    <dsp:sp modelId="{5EA8250C-FD11-B940-9430-DA94674329CA}">
      <dsp:nvSpPr>
        <dsp:cNvPr id="0" name=""/>
        <dsp:cNvSpPr/>
      </dsp:nvSpPr>
      <dsp:spPr>
        <a:xfrm>
          <a:off x="1735197" y="1949119"/>
          <a:ext cx="1175987" cy="60657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3335" rIns="17780" bIns="13335" numCol="1" spcCol="1270" anchor="ctr" anchorCtr="0">
          <a:noAutofit/>
        </a:bodyPr>
        <a:lstStyle/>
        <a:p>
          <a:pPr marL="0" lvl="0" indent="0" algn="ctr" defTabSz="311150">
            <a:lnSpc>
              <a:spcPct val="90000"/>
            </a:lnSpc>
            <a:spcBef>
              <a:spcPct val="0"/>
            </a:spcBef>
            <a:spcAft>
              <a:spcPct val="35000"/>
            </a:spcAft>
            <a:buNone/>
          </a:pPr>
          <a:r>
            <a:rPr lang="en-GB" sz="700" kern="1200"/>
            <a:t>Data </a:t>
          </a:r>
          <a:r>
            <a:rPr lang="en-GB" sz="700" kern="1200">
              <a:latin typeface="Franklin Gothic Book" panose="020B0503020102020204"/>
            </a:rPr>
            <a:t>Processing</a:t>
          </a:r>
          <a:endParaRPr lang="en-GB" sz="700" kern="1200"/>
        </a:p>
      </dsp:txBody>
      <dsp:txXfrm>
        <a:off x="1752963" y="1966885"/>
        <a:ext cx="1140455" cy="571039"/>
      </dsp:txXfrm>
    </dsp:sp>
    <dsp:sp modelId="{C563279C-3BD3-5A46-B7EA-9BA2832B92D4}">
      <dsp:nvSpPr>
        <dsp:cNvPr id="0" name=""/>
        <dsp:cNvSpPr/>
      </dsp:nvSpPr>
      <dsp:spPr>
        <a:xfrm>
          <a:off x="1735197" y="2649008"/>
          <a:ext cx="1175987" cy="60657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3335" rIns="17780" bIns="13335" numCol="1" spcCol="1270" anchor="ctr" anchorCtr="0">
          <a:noAutofit/>
        </a:bodyPr>
        <a:lstStyle/>
        <a:p>
          <a:pPr marL="0" lvl="0" indent="0" algn="ctr" defTabSz="311150">
            <a:lnSpc>
              <a:spcPct val="90000"/>
            </a:lnSpc>
            <a:spcBef>
              <a:spcPct val="0"/>
            </a:spcBef>
            <a:spcAft>
              <a:spcPct val="35000"/>
            </a:spcAft>
            <a:buNone/>
          </a:pPr>
          <a:r>
            <a:rPr lang="en-GB" sz="700" kern="1200"/>
            <a:t>Feature Engineering</a:t>
          </a:r>
        </a:p>
      </dsp:txBody>
      <dsp:txXfrm>
        <a:off x="1752963" y="2666774"/>
        <a:ext cx="1140455" cy="571039"/>
      </dsp:txXfrm>
    </dsp:sp>
    <dsp:sp modelId="{B2F38DB6-5DC4-FB45-B301-B2D5BC803A65}">
      <dsp:nvSpPr>
        <dsp:cNvPr id="0" name=""/>
        <dsp:cNvSpPr/>
      </dsp:nvSpPr>
      <dsp:spPr>
        <a:xfrm>
          <a:off x="1735197" y="3348898"/>
          <a:ext cx="1175987" cy="60657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3335" rIns="17780" bIns="13335" numCol="1" spcCol="1270" anchor="t" anchorCtr="0">
          <a:noAutofit/>
        </a:bodyPr>
        <a:lstStyle/>
        <a:p>
          <a:pPr marL="0" lvl="0" indent="0" algn="l" defTabSz="311150">
            <a:lnSpc>
              <a:spcPct val="90000"/>
            </a:lnSpc>
            <a:spcBef>
              <a:spcPct val="0"/>
            </a:spcBef>
            <a:spcAft>
              <a:spcPct val="35000"/>
            </a:spcAft>
            <a:buFont typeface="Arial" panose="020B0604020202020204" pitchFamily="34" charset="0"/>
            <a:buNone/>
          </a:pPr>
          <a:r>
            <a:rPr lang="en-US" sz="700" b="0" kern="1200"/>
            <a:t>Ticket Knowledge Base / Historical Ticket Repository</a:t>
          </a:r>
          <a:endParaRPr lang="en-GB" sz="700" b="0" kern="1200"/>
        </a:p>
        <a:p>
          <a:pPr marL="57150" lvl="1" indent="-57150" algn="l" defTabSz="222250">
            <a:lnSpc>
              <a:spcPct val="90000"/>
            </a:lnSpc>
            <a:spcBef>
              <a:spcPct val="0"/>
            </a:spcBef>
            <a:spcAft>
              <a:spcPct val="15000"/>
            </a:spcAft>
            <a:buFont typeface="Arial" panose="020B0604020202020204" pitchFamily="34" charset="0"/>
            <a:buChar char="•"/>
          </a:pPr>
          <a:r>
            <a:rPr lang="en-SG" sz="500" kern="1200"/>
            <a:t>Service tickets</a:t>
          </a:r>
          <a:endParaRPr lang="en-GB" sz="500" kern="1200"/>
        </a:p>
        <a:p>
          <a:pPr marL="57150" lvl="1" indent="-57150" algn="l" defTabSz="222250">
            <a:lnSpc>
              <a:spcPct val="90000"/>
            </a:lnSpc>
            <a:spcBef>
              <a:spcPct val="0"/>
            </a:spcBef>
            <a:spcAft>
              <a:spcPct val="15000"/>
            </a:spcAft>
            <a:buFont typeface="Arial" panose="020B0604020202020204" pitchFamily="34" charset="0"/>
            <a:buChar char="•"/>
          </a:pPr>
          <a:r>
            <a:rPr lang="en-SG" sz="500" kern="1200"/>
            <a:t>Resolution notes</a:t>
          </a:r>
          <a:endParaRPr lang="en-GB" sz="500" kern="1200"/>
        </a:p>
        <a:p>
          <a:pPr marL="57150" lvl="1" indent="-57150" algn="l" defTabSz="222250">
            <a:lnSpc>
              <a:spcPct val="90000"/>
            </a:lnSpc>
            <a:spcBef>
              <a:spcPct val="0"/>
            </a:spcBef>
            <a:spcAft>
              <a:spcPct val="15000"/>
            </a:spcAft>
            <a:buFont typeface="Arial" panose="020B0604020202020204" pitchFamily="34" charset="0"/>
            <a:buChar char="•"/>
          </a:pPr>
          <a:r>
            <a:rPr lang="en-SG" sz="500" kern="1200"/>
            <a:t>Asset / issue metadata</a:t>
          </a:r>
          <a:endParaRPr lang="en-GB" sz="500" kern="1200"/>
        </a:p>
      </dsp:txBody>
      <dsp:txXfrm>
        <a:off x="1752963" y="3366664"/>
        <a:ext cx="1140455" cy="571039"/>
      </dsp:txXfrm>
    </dsp:sp>
    <dsp:sp modelId="{7668852D-2BC1-5D43-A053-9A92DAC94835}">
      <dsp:nvSpPr>
        <dsp:cNvPr id="0" name=""/>
        <dsp:cNvSpPr/>
      </dsp:nvSpPr>
      <dsp:spPr>
        <a:xfrm>
          <a:off x="3168431" y="0"/>
          <a:ext cx="1469984" cy="416375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a:t>PREDICT</a:t>
          </a:r>
          <a:endParaRPr lang="en-GB" sz="1700" kern="1200"/>
        </a:p>
        <a:p>
          <a:pPr marL="0" lvl="0" indent="0" algn="ctr" defTabSz="711200">
            <a:lnSpc>
              <a:spcPct val="90000"/>
            </a:lnSpc>
            <a:spcBef>
              <a:spcPct val="0"/>
            </a:spcBef>
            <a:spcAft>
              <a:spcPct val="35000"/>
            </a:spcAft>
            <a:buNone/>
          </a:pPr>
          <a:r>
            <a:rPr lang="en-GB" sz="1000" kern="1200"/>
            <a:t>( AI and ML Modules )</a:t>
          </a:r>
        </a:p>
      </dsp:txBody>
      <dsp:txXfrm>
        <a:off x="3168431" y="0"/>
        <a:ext cx="1469984" cy="1249127"/>
      </dsp:txXfrm>
    </dsp:sp>
    <dsp:sp modelId="{C19C75FB-02BB-E240-B029-C4451B1AF53B}">
      <dsp:nvSpPr>
        <dsp:cNvPr id="0" name=""/>
        <dsp:cNvSpPr/>
      </dsp:nvSpPr>
      <dsp:spPr>
        <a:xfrm>
          <a:off x="3315430" y="1249483"/>
          <a:ext cx="1175987" cy="81801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3335" rIns="17780" bIns="13335" numCol="1" spcCol="1270" anchor="ctr" anchorCtr="0">
          <a:noAutofit/>
        </a:bodyPr>
        <a:lstStyle/>
        <a:p>
          <a:pPr marL="0" lvl="0" indent="0" algn="l" defTabSz="311150">
            <a:lnSpc>
              <a:spcPct val="90000"/>
            </a:lnSpc>
            <a:spcBef>
              <a:spcPct val="0"/>
            </a:spcBef>
            <a:spcAft>
              <a:spcPct val="35000"/>
            </a:spcAft>
            <a:buNone/>
          </a:pPr>
          <a:r>
            <a:rPr lang="en-GB" sz="700" kern="1200"/>
            <a:t>Hardware maintenance</a:t>
          </a:r>
        </a:p>
        <a:p>
          <a:pPr marL="57150" lvl="1" indent="-57150" algn="l" defTabSz="222250">
            <a:lnSpc>
              <a:spcPct val="90000"/>
            </a:lnSpc>
            <a:spcBef>
              <a:spcPct val="0"/>
            </a:spcBef>
            <a:spcAft>
              <a:spcPct val="15000"/>
            </a:spcAft>
            <a:buChar char="•"/>
          </a:pPr>
          <a:r>
            <a:rPr lang="en-GB" sz="500" kern="1200"/>
            <a:t>Failure Prediction - Time series Ensemble Model</a:t>
          </a:r>
        </a:p>
        <a:p>
          <a:pPr marL="57150" lvl="1" indent="-57150" algn="l" defTabSz="222250">
            <a:lnSpc>
              <a:spcPct val="90000"/>
            </a:lnSpc>
            <a:spcBef>
              <a:spcPct val="0"/>
            </a:spcBef>
            <a:spcAft>
              <a:spcPct val="15000"/>
            </a:spcAft>
            <a:buChar char="•"/>
          </a:pPr>
          <a:r>
            <a:rPr lang="en-GB" sz="500" kern="1200"/>
            <a:t>Spare Part and Assets Demand Forecast</a:t>
          </a:r>
        </a:p>
      </dsp:txBody>
      <dsp:txXfrm>
        <a:off x="3339389" y="1273442"/>
        <a:ext cx="1128069" cy="770093"/>
      </dsp:txXfrm>
    </dsp:sp>
    <dsp:sp modelId="{5B2E0B64-5774-E74B-BB0F-5439968E1560}">
      <dsp:nvSpPr>
        <dsp:cNvPr id="0" name=""/>
        <dsp:cNvSpPr/>
      </dsp:nvSpPr>
      <dsp:spPr>
        <a:xfrm>
          <a:off x="3315430" y="2193343"/>
          <a:ext cx="1175987" cy="81801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3335" rIns="17780" bIns="13335" numCol="1" spcCol="1270" anchor="ctr" anchorCtr="0">
          <a:noAutofit/>
        </a:bodyPr>
        <a:lstStyle/>
        <a:p>
          <a:pPr marL="0" lvl="0" indent="0" algn="l" defTabSz="311150">
            <a:lnSpc>
              <a:spcPct val="90000"/>
            </a:lnSpc>
            <a:spcBef>
              <a:spcPct val="0"/>
            </a:spcBef>
            <a:spcAft>
              <a:spcPct val="35000"/>
            </a:spcAft>
            <a:buNone/>
          </a:pPr>
          <a:r>
            <a:rPr lang="en-GB" sz="700" kern="1200"/>
            <a:t>SLA breach</a:t>
          </a:r>
        </a:p>
        <a:p>
          <a:pPr marL="57150" lvl="1" indent="-57150" algn="l" defTabSz="222250">
            <a:lnSpc>
              <a:spcPct val="90000"/>
            </a:lnSpc>
            <a:spcBef>
              <a:spcPct val="0"/>
            </a:spcBef>
            <a:spcAft>
              <a:spcPct val="15000"/>
            </a:spcAft>
            <a:buChar char="•"/>
          </a:pPr>
          <a:r>
            <a:rPr lang="en-GB" sz="500" kern="1200"/>
            <a:t>Classification Model</a:t>
          </a:r>
        </a:p>
        <a:p>
          <a:pPr marL="57150" lvl="1" indent="-57150" algn="l" defTabSz="222250">
            <a:lnSpc>
              <a:spcPct val="90000"/>
            </a:lnSpc>
            <a:spcBef>
              <a:spcPct val="0"/>
            </a:spcBef>
            <a:spcAft>
              <a:spcPct val="15000"/>
            </a:spcAft>
            <a:buChar char="•"/>
          </a:pPr>
          <a:r>
            <a:rPr lang="en-GB" sz="500" kern="1200"/>
            <a:t>Breach Time Prediction</a:t>
          </a:r>
        </a:p>
      </dsp:txBody>
      <dsp:txXfrm>
        <a:off x="3339389" y="2217302"/>
        <a:ext cx="1128069" cy="770093"/>
      </dsp:txXfrm>
    </dsp:sp>
    <dsp:sp modelId="{E1169713-2DA9-F04F-AC54-B9CC46F63B51}">
      <dsp:nvSpPr>
        <dsp:cNvPr id="0" name=""/>
        <dsp:cNvSpPr/>
      </dsp:nvSpPr>
      <dsp:spPr>
        <a:xfrm>
          <a:off x="3315430" y="3137203"/>
          <a:ext cx="1175987" cy="81801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3335" rIns="17780" bIns="13335" numCol="1" spcCol="1270" anchor="ctr" anchorCtr="0">
          <a:noAutofit/>
        </a:bodyPr>
        <a:lstStyle/>
        <a:p>
          <a:pPr marL="0" lvl="0" indent="0" algn="l" defTabSz="311150">
            <a:lnSpc>
              <a:spcPct val="90000"/>
            </a:lnSpc>
            <a:spcBef>
              <a:spcPct val="0"/>
            </a:spcBef>
            <a:spcAft>
              <a:spcPct val="35000"/>
            </a:spcAft>
            <a:buNone/>
          </a:pPr>
          <a:r>
            <a:rPr lang="en-SG" sz="700" b="0" kern="1200"/>
            <a:t>NLP Ticket Classification</a:t>
          </a:r>
          <a:endParaRPr lang="en-GB" sz="700" b="0" kern="1200"/>
        </a:p>
        <a:p>
          <a:pPr marL="57150" lvl="1" indent="-57150" algn="l" defTabSz="222250">
            <a:lnSpc>
              <a:spcPct val="90000"/>
            </a:lnSpc>
            <a:spcBef>
              <a:spcPct val="0"/>
            </a:spcBef>
            <a:spcAft>
              <a:spcPct val="15000"/>
            </a:spcAft>
            <a:buFont typeface="Arial" panose="020B0604020202020204" pitchFamily="34" charset="0"/>
            <a:buChar char="•"/>
          </a:pPr>
          <a:r>
            <a:rPr lang="en-SG" sz="500" kern="1200"/>
            <a:t>Category Classification </a:t>
          </a:r>
        </a:p>
        <a:p>
          <a:pPr marL="57150" lvl="1" indent="-57150" algn="l" defTabSz="222250">
            <a:lnSpc>
              <a:spcPct val="90000"/>
            </a:lnSpc>
            <a:spcBef>
              <a:spcPct val="0"/>
            </a:spcBef>
            <a:spcAft>
              <a:spcPct val="15000"/>
            </a:spcAft>
            <a:buFont typeface="Arial" panose="020B0604020202020204" pitchFamily="34" charset="0"/>
            <a:buChar char="•"/>
          </a:pPr>
          <a:r>
            <a:rPr lang="en-SG" sz="500" kern="1200"/>
            <a:t>Priority Classification </a:t>
          </a:r>
        </a:p>
        <a:p>
          <a:pPr marL="57150" lvl="1" indent="-57150" algn="l" defTabSz="222250">
            <a:lnSpc>
              <a:spcPct val="90000"/>
            </a:lnSpc>
            <a:spcBef>
              <a:spcPct val="0"/>
            </a:spcBef>
            <a:spcAft>
              <a:spcPct val="15000"/>
            </a:spcAft>
            <a:buFont typeface="Arial" panose="020B0604020202020204" pitchFamily="34" charset="0"/>
            <a:buChar char="•"/>
          </a:pPr>
          <a:r>
            <a:rPr lang="en-SG" sz="500" kern="1200"/>
            <a:t>Ticket Understanding</a:t>
          </a:r>
        </a:p>
      </dsp:txBody>
      <dsp:txXfrm>
        <a:off x="3339389" y="3161162"/>
        <a:ext cx="1128069" cy="770093"/>
      </dsp:txXfrm>
    </dsp:sp>
    <dsp:sp modelId="{15960519-F868-2942-A175-0B4B197DBB7D}">
      <dsp:nvSpPr>
        <dsp:cNvPr id="0" name=""/>
        <dsp:cNvSpPr/>
      </dsp:nvSpPr>
      <dsp:spPr>
        <a:xfrm>
          <a:off x="4748664" y="0"/>
          <a:ext cx="1469984" cy="416375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a:t>COORDINATE</a:t>
          </a:r>
          <a:endParaRPr lang="en-GB" sz="1700" kern="1200"/>
        </a:p>
        <a:p>
          <a:pPr marL="0" lvl="0" indent="0" algn="ctr" defTabSz="711200">
            <a:lnSpc>
              <a:spcPct val="90000"/>
            </a:lnSpc>
            <a:spcBef>
              <a:spcPct val="0"/>
            </a:spcBef>
            <a:spcAft>
              <a:spcPct val="35000"/>
            </a:spcAft>
            <a:buNone/>
          </a:pPr>
          <a:r>
            <a:rPr lang="en-GB" sz="1000" kern="1200"/>
            <a:t>( Optimization Algorithm )</a:t>
          </a:r>
        </a:p>
      </dsp:txBody>
      <dsp:txXfrm>
        <a:off x="4748664" y="0"/>
        <a:ext cx="1469984" cy="1249127"/>
      </dsp:txXfrm>
    </dsp:sp>
    <dsp:sp modelId="{A3FCB19C-CF71-2447-8256-F898160424C3}">
      <dsp:nvSpPr>
        <dsp:cNvPr id="0" name=""/>
        <dsp:cNvSpPr/>
      </dsp:nvSpPr>
      <dsp:spPr>
        <a:xfrm>
          <a:off x="4895663" y="1249483"/>
          <a:ext cx="1175987" cy="81801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3335" rIns="17780" bIns="13335" numCol="1" spcCol="1270" anchor="ctr" anchorCtr="0">
          <a:noAutofit/>
        </a:bodyPr>
        <a:lstStyle/>
        <a:p>
          <a:pPr marL="0" lvl="0" indent="0" algn="l" defTabSz="311150">
            <a:lnSpc>
              <a:spcPct val="90000"/>
            </a:lnSpc>
            <a:spcBef>
              <a:spcPct val="0"/>
            </a:spcBef>
            <a:spcAft>
              <a:spcPct val="35000"/>
            </a:spcAft>
            <a:buNone/>
          </a:pPr>
          <a:r>
            <a:rPr lang="en-GB" sz="700" kern="1200"/>
            <a:t>Hardware Optimization</a:t>
          </a:r>
        </a:p>
        <a:p>
          <a:pPr marL="57150" lvl="1" indent="-57150" algn="l" defTabSz="222250">
            <a:lnSpc>
              <a:spcPct val="90000"/>
            </a:lnSpc>
            <a:spcBef>
              <a:spcPct val="0"/>
            </a:spcBef>
            <a:spcAft>
              <a:spcPct val="15000"/>
            </a:spcAft>
            <a:buChar char="•"/>
          </a:pPr>
          <a:r>
            <a:rPr lang="en-GB" sz="500" kern="1200"/>
            <a:t>Unconstraint Procurement Recommendations</a:t>
          </a:r>
        </a:p>
        <a:p>
          <a:pPr marL="57150" lvl="1" indent="-57150" algn="l" defTabSz="222250">
            <a:lnSpc>
              <a:spcPct val="90000"/>
            </a:lnSpc>
            <a:spcBef>
              <a:spcPct val="0"/>
            </a:spcBef>
            <a:spcAft>
              <a:spcPct val="15000"/>
            </a:spcAft>
            <a:buChar char="•"/>
          </a:pPr>
          <a:r>
            <a:rPr lang="en-GB" sz="500" kern="1200"/>
            <a:t>Failure Prediction based Maintenance schedule</a:t>
          </a:r>
        </a:p>
      </dsp:txBody>
      <dsp:txXfrm>
        <a:off x="4919622" y="1273442"/>
        <a:ext cx="1128069" cy="770093"/>
      </dsp:txXfrm>
    </dsp:sp>
    <dsp:sp modelId="{A2CF386A-0813-9F4E-8934-83D35A04F3A6}">
      <dsp:nvSpPr>
        <dsp:cNvPr id="0" name=""/>
        <dsp:cNvSpPr/>
      </dsp:nvSpPr>
      <dsp:spPr>
        <a:xfrm>
          <a:off x="4895663" y="2193343"/>
          <a:ext cx="1175987" cy="81801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3335" rIns="17780" bIns="13335" numCol="1" spcCol="1270" anchor="ctr" anchorCtr="0">
          <a:noAutofit/>
        </a:bodyPr>
        <a:lstStyle/>
        <a:p>
          <a:pPr marL="0" lvl="0" indent="0" algn="l" defTabSz="311150">
            <a:lnSpc>
              <a:spcPct val="90000"/>
            </a:lnSpc>
            <a:spcBef>
              <a:spcPct val="0"/>
            </a:spcBef>
            <a:spcAft>
              <a:spcPct val="35000"/>
            </a:spcAft>
            <a:buNone/>
          </a:pPr>
          <a:r>
            <a:rPr lang="en-GB" sz="700" kern="1200"/>
            <a:t>SLA Breach</a:t>
          </a:r>
        </a:p>
        <a:p>
          <a:pPr marL="57150" lvl="1" indent="-57150" algn="l" defTabSz="222250">
            <a:lnSpc>
              <a:spcPct val="90000"/>
            </a:lnSpc>
            <a:spcBef>
              <a:spcPct val="0"/>
            </a:spcBef>
            <a:spcAft>
              <a:spcPct val="15000"/>
            </a:spcAft>
            <a:buChar char="•"/>
          </a:pPr>
          <a:r>
            <a:rPr lang="en-GB" sz="500" kern="1200"/>
            <a:t>Resolution Time Analysis</a:t>
          </a:r>
        </a:p>
        <a:p>
          <a:pPr marL="57150" lvl="1" indent="-57150" algn="l" defTabSz="222250">
            <a:lnSpc>
              <a:spcPct val="90000"/>
            </a:lnSpc>
            <a:spcBef>
              <a:spcPct val="0"/>
            </a:spcBef>
            <a:spcAft>
              <a:spcPct val="15000"/>
            </a:spcAft>
            <a:buChar char="•"/>
          </a:pPr>
          <a:r>
            <a:rPr lang="en-GB" sz="500" kern="1200"/>
            <a:t>Service Tier Impact</a:t>
          </a:r>
        </a:p>
        <a:p>
          <a:pPr marL="57150" lvl="1" indent="-57150" algn="l" defTabSz="222250">
            <a:lnSpc>
              <a:spcPct val="90000"/>
            </a:lnSpc>
            <a:spcBef>
              <a:spcPct val="0"/>
            </a:spcBef>
            <a:spcAft>
              <a:spcPct val="15000"/>
            </a:spcAft>
            <a:buChar char="•"/>
          </a:pPr>
          <a:r>
            <a:rPr lang="en-GB" sz="500" kern="1200"/>
            <a:t>Allocation optimization</a:t>
          </a:r>
        </a:p>
      </dsp:txBody>
      <dsp:txXfrm>
        <a:off x="4919622" y="2217302"/>
        <a:ext cx="1128069" cy="770093"/>
      </dsp:txXfrm>
    </dsp:sp>
    <dsp:sp modelId="{F8ABA68E-DDAC-9548-95F1-472135ECA6AF}">
      <dsp:nvSpPr>
        <dsp:cNvPr id="0" name=""/>
        <dsp:cNvSpPr/>
      </dsp:nvSpPr>
      <dsp:spPr>
        <a:xfrm>
          <a:off x="4895663" y="3137203"/>
          <a:ext cx="1175987" cy="81801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3335" rIns="17780" bIns="13335" numCol="1" spcCol="1270" anchor="ctr" anchorCtr="0">
          <a:noAutofit/>
        </a:bodyPr>
        <a:lstStyle/>
        <a:p>
          <a:pPr marL="0" lvl="0" indent="0" algn="l" defTabSz="311150">
            <a:lnSpc>
              <a:spcPct val="90000"/>
            </a:lnSpc>
            <a:spcBef>
              <a:spcPct val="0"/>
            </a:spcBef>
            <a:spcAft>
              <a:spcPct val="35000"/>
            </a:spcAft>
            <a:buNone/>
          </a:pPr>
          <a:r>
            <a:rPr lang="en-SG" sz="700" b="0" kern="1200"/>
            <a:t>Recommendation Engine</a:t>
          </a:r>
          <a:endParaRPr lang="en-GB" sz="700" b="0" kern="1200"/>
        </a:p>
        <a:p>
          <a:pPr marL="57150" lvl="1" indent="-57150" algn="l" defTabSz="222250">
            <a:lnSpc>
              <a:spcPct val="90000"/>
            </a:lnSpc>
            <a:spcBef>
              <a:spcPct val="0"/>
            </a:spcBef>
            <a:spcAft>
              <a:spcPct val="15000"/>
            </a:spcAft>
            <a:buFont typeface="Arial" panose="020B0604020202020204" pitchFamily="34" charset="0"/>
            <a:buChar char="•"/>
          </a:pPr>
          <a:r>
            <a:rPr lang="en-SG" sz="500" kern="1200"/>
            <a:t>TF-IDF Vectorization </a:t>
          </a:r>
        </a:p>
        <a:p>
          <a:pPr marL="57150" lvl="1" indent="-57150" algn="l" defTabSz="222250">
            <a:lnSpc>
              <a:spcPct val="90000"/>
            </a:lnSpc>
            <a:spcBef>
              <a:spcPct val="0"/>
            </a:spcBef>
            <a:spcAft>
              <a:spcPct val="15000"/>
            </a:spcAft>
            <a:buFont typeface="Arial" panose="020B0604020202020204" pitchFamily="34" charset="0"/>
            <a:buChar char="•"/>
          </a:pPr>
          <a:r>
            <a:rPr lang="en-SG" sz="500" kern="1200"/>
            <a:t>Cosine Similarity Retrieval </a:t>
          </a:r>
        </a:p>
        <a:p>
          <a:pPr marL="57150" lvl="1" indent="-57150" algn="l" defTabSz="222250">
            <a:lnSpc>
              <a:spcPct val="90000"/>
            </a:lnSpc>
            <a:spcBef>
              <a:spcPct val="0"/>
            </a:spcBef>
            <a:spcAft>
              <a:spcPct val="15000"/>
            </a:spcAft>
            <a:buFont typeface="Arial" panose="020B0604020202020204" pitchFamily="34" charset="0"/>
            <a:buChar char="•"/>
          </a:pPr>
          <a:r>
            <a:rPr lang="en-SG" sz="500" kern="1200"/>
            <a:t>Rule-Based Ranking</a:t>
          </a:r>
        </a:p>
      </dsp:txBody>
      <dsp:txXfrm>
        <a:off x="4919622" y="3161162"/>
        <a:ext cx="1128069" cy="770093"/>
      </dsp:txXfrm>
    </dsp:sp>
    <dsp:sp modelId="{291D62C6-CEAA-6E48-A152-01E7D4260C45}">
      <dsp:nvSpPr>
        <dsp:cNvPr id="0" name=""/>
        <dsp:cNvSpPr/>
      </dsp:nvSpPr>
      <dsp:spPr>
        <a:xfrm>
          <a:off x="6328897" y="0"/>
          <a:ext cx="1469984" cy="416375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a:t>DECIDE</a:t>
          </a:r>
          <a:endParaRPr lang="en-GB" sz="2800" kern="1200"/>
        </a:p>
        <a:p>
          <a:pPr marL="0" lvl="0" indent="0" algn="ctr" defTabSz="711200">
            <a:lnSpc>
              <a:spcPct val="90000"/>
            </a:lnSpc>
            <a:spcBef>
              <a:spcPct val="0"/>
            </a:spcBef>
            <a:spcAft>
              <a:spcPct val="35000"/>
            </a:spcAft>
            <a:buNone/>
          </a:pPr>
          <a:r>
            <a:rPr lang="en-GB" sz="1000" kern="1200"/>
            <a:t>( Decision Engine )</a:t>
          </a:r>
        </a:p>
      </dsp:txBody>
      <dsp:txXfrm>
        <a:off x="6328897" y="0"/>
        <a:ext cx="1469984" cy="1249127"/>
      </dsp:txXfrm>
    </dsp:sp>
    <dsp:sp modelId="{6E64806D-5F85-4C44-B759-46F3F7DE500A}">
      <dsp:nvSpPr>
        <dsp:cNvPr id="0" name=""/>
        <dsp:cNvSpPr/>
      </dsp:nvSpPr>
      <dsp:spPr>
        <a:xfrm>
          <a:off x="6475896" y="1250347"/>
          <a:ext cx="1175987" cy="125543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l" defTabSz="444500">
            <a:lnSpc>
              <a:spcPct val="90000"/>
            </a:lnSpc>
            <a:spcBef>
              <a:spcPct val="0"/>
            </a:spcBef>
            <a:spcAft>
              <a:spcPct val="35000"/>
            </a:spcAft>
            <a:buNone/>
          </a:pPr>
          <a:r>
            <a:rPr lang="en-GB" sz="1000" kern="1200"/>
            <a:t>Decision Thresholds</a:t>
          </a:r>
        </a:p>
        <a:p>
          <a:pPr marL="57150" lvl="1" indent="-57150" algn="l" defTabSz="311150">
            <a:lnSpc>
              <a:spcPct val="90000"/>
            </a:lnSpc>
            <a:spcBef>
              <a:spcPct val="0"/>
            </a:spcBef>
            <a:spcAft>
              <a:spcPct val="15000"/>
            </a:spcAft>
            <a:buChar char="•"/>
          </a:pPr>
          <a:r>
            <a:rPr lang="en-GB" sz="700" kern="1200"/>
            <a:t>Business Policy</a:t>
          </a:r>
        </a:p>
        <a:p>
          <a:pPr marL="57150" lvl="1" indent="-57150" algn="l" defTabSz="311150">
            <a:lnSpc>
              <a:spcPct val="90000"/>
            </a:lnSpc>
            <a:spcBef>
              <a:spcPct val="0"/>
            </a:spcBef>
            <a:spcAft>
              <a:spcPct val="15000"/>
            </a:spcAft>
            <a:buChar char="•"/>
          </a:pPr>
          <a:r>
            <a:rPr lang="en-GB" sz="700" kern="1200"/>
            <a:t>Operational Governance</a:t>
          </a:r>
        </a:p>
        <a:p>
          <a:pPr marL="57150" lvl="1" indent="-57150" algn="l" defTabSz="311150">
            <a:lnSpc>
              <a:spcPct val="90000"/>
            </a:lnSpc>
            <a:spcBef>
              <a:spcPct val="0"/>
            </a:spcBef>
            <a:spcAft>
              <a:spcPct val="15000"/>
            </a:spcAft>
            <a:buChar char="•"/>
          </a:pPr>
          <a:r>
            <a:rPr lang="en-GB" sz="700" kern="1200"/>
            <a:t>SLA Breach Thresholds</a:t>
          </a:r>
        </a:p>
        <a:p>
          <a:pPr marL="57150" lvl="1" indent="-57150" algn="l" defTabSz="311150">
            <a:lnSpc>
              <a:spcPct val="90000"/>
            </a:lnSpc>
            <a:spcBef>
              <a:spcPct val="0"/>
            </a:spcBef>
            <a:spcAft>
              <a:spcPct val="15000"/>
            </a:spcAft>
            <a:buChar char="•"/>
          </a:pPr>
          <a:r>
            <a:rPr lang="en-GB" sz="700" kern="1200"/>
            <a:t>Employee Specialization</a:t>
          </a:r>
        </a:p>
      </dsp:txBody>
      <dsp:txXfrm>
        <a:off x="6510339" y="1284790"/>
        <a:ext cx="1107101" cy="1186544"/>
      </dsp:txXfrm>
    </dsp:sp>
    <dsp:sp modelId="{B16B47BA-18CD-A84D-AD0C-997BA13CA7BF}">
      <dsp:nvSpPr>
        <dsp:cNvPr id="0" name=""/>
        <dsp:cNvSpPr/>
      </dsp:nvSpPr>
      <dsp:spPr>
        <a:xfrm>
          <a:off x="6475896" y="2698920"/>
          <a:ext cx="1175987" cy="125543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l" defTabSz="444500">
            <a:lnSpc>
              <a:spcPct val="90000"/>
            </a:lnSpc>
            <a:spcBef>
              <a:spcPct val="0"/>
            </a:spcBef>
            <a:spcAft>
              <a:spcPct val="35000"/>
            </a:spcAft>
            <a:buNone/>
          </a:pPr>
          <a:r>
            <a:rPr lang="en-GB" sz="1000" kern="1200"/>
            <a:t>Final Decision</a:t>
          </a:r>
        </a:p>
        <a:p>
          <a:pPr marL="57150" lvl="1" indent="-57150" algn="l" defTabSz="311150">
            <a:lnSpc>
              <a:spcPct val="90000"/>
            </a:lnSpc>
            <a:spcBef>
              <a:spcPct val="0"/>
            </a:spcBef>
            <a:spcAft>
              <a:spcPct val="15000"/>
            </a:spcAft>
            <a:buChar char="•"/>
          </a:pPr>
          <a:r>
            <a:rPr lang="en-GB" sz="700" kern="1200"/>
            <a:t>Ticket Routing</a:t>
          </a:r>
        </a:p>
        <a:p>
          <a:pPr marL="57150" lvl="1" indent="-57150" algn="l" defTabSz="311150">
            <a:lnSpc>
              <a:spcPct val="90000"/>
            </a:lnSpc>
            <a:spcBef>
              <a:spcPct val="0"/>
            </a:spcBef>
            <a:spcAft>
              <a:spcPct val="15000"/>
            </a:spcAft>
            <a:buChar char="•"/>
          </a:pPr>
          <a:r>
            <a:rPr lang="en-US" sz="700" b="0" kern="1200"/>
            <a:t>Suggested Engineer Group</a:t>
          </a:r>
          <a:endParaRPr lang="en-GB" sz="700" b="0" kern="1200"/>
        </a:p>
        <a:p>
          <a:pPr marL="57150" lvl="1" indent="-57150" algn="l" defTabSz="311150">
            <a:lnSpc>
              <a:spcPct val="90000"/>
            </a:lnSpc>
            <a:spcBef>
              <a:spcPct val="0"/>
            </a:spcBef>
            <a:spcAft>
              <a:spcPct val="15000"/>
            </a:spcAft>
            <a:buChar char="•"/>
          </a:pPr>
          <a:r>
            <a:rPr lang="en-US" sz="700" b="0" kern="1200"/>
            <a:t>Recommended Resolution</a:t>
          </a:r>
          <a:endParaRPr lang="en-GB" sz="700" b="0" kern="1200"/>
        </a:p>
        <a:p>
          <a:pPr marL="57150" lvl="1" indent="-57150" algn="l" defTabSz="311150">
            <a:lnSpc>
              <a:spcPct val="90000"/>
            </a:lnSpc>
            <a:spcBef>
              <a:spcPct val="0"/>
            </a:spcBef>
            <a:spcAft>
              <a:spcPct val="15000"/>
            </a:spcAft>
            <a:buChar char="•"/>
          </a:pPr>
          <a:r>
            <a:rPr lang="en-GB" sz="700" kern="1200"/>
            <a:t>Constraint Procurement Recommendations</a:t>
          </a:r>
        </a:p>
        <a:p>
          <a:pPr marL="57150" lvl="1" indent="-57150" algn="l" defTabSz="311150">
            <a:lnSpc>
              <a:spcPct val="90000"/>
            </a:lnSpc>
            <a:spcBef>
              <a:spcPct val="0"/>
            </a:spcBef>
            <a:spcAft>
              <a:spcPct val="15000"/>
            </a:spcAft>
            <a:buChar char="•"/>
          </a:pPr>
          <a:r>
            <a:rPr lang="en-GB" sz="700" kern="1200"/>
            <a:t>Preventive Maintenance schedule</a:t>
          </a:r>
        </a:p>
      </dsp:txBody>
      <dsp:txXfrm>
        <a:off x="6510339" y="2733363"/>
        <a:ext cx="1107101" cy="1186544"/>
      </dsp:txXfrm>
    </dsp:sp>
    <dsp:sp modelId="{1C561C77-FD69-9C49-85F8-25CA2783B0E9}">
      <dsp:nvSpPr>
        <dsp:cNvPr id="0" name=""/>
        <dsp:cNvSpPr/>
      </dsp:nvSpPr>
      <dsp:spPr>
        <a:xfrm>
          <a:off x="7909130" y="0"/>
          <a:ext cx="1469984" cy="416375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a:t>ACT</a:t>
          </a:r>
          <a:endParaRPr lang="en-GB" sz="3100" kern="1200"/>
        </a:p>
        <a:p>
          <a:pPr marL="0" lvl="0" indent="0" algn="ctr" defTabSz="711200">
            <a:lnSpc>
              <a:spcPct val="90000"/>
            </a:lnSpc>
            <a:spcBef>
              <a:spcPct val="0"/>
            </a:spcBef>
            <a:spcAft>
              <a:spcPct val="35000"/>
            </a:spcAft>
            <a:buNone/>
          </a:pPr>
          <a:r>
            <a:rPr lang="en-GB" sz="1000" kern="1200"/>
            <a:t>( Actions taken )</a:t>
          </a:r>
        </a:p>
      </dsp:txBody>
      <dsp:txXfrm>
        <a:off x="7909130" y="0"/>
        <a:ext cx="1469984" cy="1249127"/>
      </dsp:txXfrm>
    </dsp:sp>
    <dsp:sp modelId="{429F17A2-F7AE-F74D-9772-247C8A0065D7}">
      <dsp:nvSpPr>
        <dsp:cNvPr id="0" name=""/>
        <dsp:cNvSpPr/>
      </dsp:nvSpPr>
      <dsp:spPr>
        <a:xfrm>
          <a:off x="8056129" y="1249483"/>
          <a:ext cx="1175987" cy="81801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a:lnSpc>
              <a:spcPct val="90000"/>
            </a:lnSpc>
            <a:spcBef>
              <a:spcPct val="0"/>
            </a:spcBef>
            <a:spcAft>
              <a:spcPct val="35000"/>
            </a:spcAft>
            <a:buNone/>
          </a:pPr>
          <a:r>
            <a:rPr lang="en-GB" sz="1000" kern="1200"/>
            <a:t>Preventive Maintenance</a:t>
          </a:r>
        </a:p>
      </dsp:txBody>
      <dsp:txXfrm>
        <a:off x="8080088" y="1273442"/>
        <a:ext cx="1128069" cy="770093"/>
      </dsp:txXfrm>
    </dsp:sp>
    <dsp:sp modelId="{73EE8F82-9862-184B-9EF6-386C054EE803}">
      <dsp:nvSpPr>
        <dsp:cNvPr id="0" name=""/>
        <dsp:cNvSpPr/>
      </dsp:nvSpPr>
      <dsp:spPr>
        <a:xfrm>
          <a:off x="8056129" y="2193343"/>
          <a:ext cx="1175987" cy="81801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a:lnSpc>
              <a:spcPct val="90000"/>
            </a:lnSpc>
            <a:spcBef>
              <a:spcPct val="0"/>
            </a:spcBef>
            <a:spcAft>
              <a:spcPct val="35000"/>
            </a:spcAft>
            <a:buNone/>
          </a:pPr>
          <a:r>
            <a:rPr lang="en-GB" sz="1000" kern="1200"/>
            <a:t>Spare Parts and Assets Procurement Ordering</a:t>
          </a:r>
        </a:p>
      </dsp:txBody>
      <dsp:txXfrm>
        <a:off x="8080088" y="2217302"/>
        <a:ext cx="1128069" cy="770093"/>
      </dsp:txXfrm>
    </dsp:sp>
    <dsp:sp modelId="{79AB209A-281C-7B43-9059-18F77B42F906}">
      <dsp:nvSpPr>
        <dsp:cNvPr id="0" name=""/>
        <dsp:cNvSpPr/>
      </dsp:nvSpPr>
      <dsp:spPr>
        <a:xfrm>
          <a:off x="8056129" y="3137203"/>
          <a:ext cx="1175987" cy="81801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15240" rIns="20320" bIns="15240" numCol="1" spcCol="1270" anchor="t" anchorCtr="0">
          <a:noAutofit/>
        </a:bodyPr>
        <a:lstStyle/>
        <a:p>
          <a:pPr marL="0" lvl="0" indent="0" algn="l" defTabSz="355600">
            <a:lnSpc>
              <a:spcPct val="90000"/>
            </a:lnSpc>
            <a:spcBef>
              <a:spcPct val="0"/>
            </a:spcBef>
            <a:spcAft>
              <a:spcPct val="35000"/>
            </a:spcAft>
            <a:buNone/>
          </a:pPr>
          <a:r>
            <a:rPr lang="en-US" sz="800" b="0" kern="1200"/>
            <a:t>Engineer Assignment and Ticket Solutioning</a:t>
          </a:r>
          <a:endParaRPr lang="en-GB" sz="800" b="0" kern="1200"/>
        </a:p>
        <a:p>
          <a:pPr marL="57150" lvl="1" indent="-57150" algn="l" defTabSz="266700">
            <a:lnSpc>
              <a:spcPct val="90000"/>
            </a:lnSpc>
            <a:spcBef>
              <a:spcPct val="0"/>
            </a:spcBef>
            <a:spcAft>
              <a:spcPct val="15000"/>
            </a:spcAft>
            <a:buFont typeface="Arial" panose="020B0604020202020204" pitchFamily="34" charset="0"/>
            <a:buChar char="•"/>
          </a:pPr>
          <a:r>
            <a:rPr lang="en-SG" sz="600" kern="1200"/>
            <a:t>Assign Recommended Engineer / Group </a:t>
          </a:r>
        </a:p>
        <a:p>
          <a:pPr marL="57150" lvl="1" indent="-57150" algn="l" defTabSz="266700">
            <a:lnSpc>
              <a:spcPct val="90000"/>
            </a:lnSpc>
            <a:spcBef>
              <a:spcPct val="0"/>
            </a:spcBef>
            <a:spcAft>
              <a:spcPct val="15000"/>
            </a:spcAft>
            <a:buFont typeface="Arial" panose="020B0604020202020204" pitchFamily="34" charset="0"/>
            <a:buChar char="•"/>
          </a:pPr>
          <a:r>
            <a:rPr lang="en-SG" sz="600" kern="1200"/>
            <a:t>Apply Suggested Resolution </a:t>
          </a:r>
        </a:p>
        <a:p>
          <a:pPr marL="57150" lvl="1" indent="-57150" algn="l" defTabSz="266700">
            <a:lnSpc>
              <a:spcPct val="90000"/>
            </a:lnSpc>
            <a:spcBef>
              <a:spcPct val="0"/>
            </a:spcBef>
            <a:spcAft>
              <a:spcPct val="15000"/>
            </a:spcAft>
            <a:buFont typeface="Arial" panose="020B0604020202020204" pitchFamily="34" charset="0"/>
            <a:buChar char="•"/>
          </a:pPr>
          <a:r>
            <a:rPr lang="en-SG" sz="600" kern="1200"/>
            <a:t>Update Ticket Workflow</a:t>
          </a:r>
        </a:p>
      </dsp:txBody>
      <dsp:txXfrm>
        <a:off x="8080088" y="3161162"/>
        <a:ext cx="1128069" cy="770093"/>
      </dsp:txXfrm>
    </dsp:sp>
    <dsp:sp modelId="{8516D76A-4173-134F-A060-E4088441E35A}">
      <dsp:nvSpPr>
        <dsp:cNvPr id="0" name=""/>
        <dsp:cNvSpPr/>
      </dsp:nvSpPr>
      <dsp:spPr>
        <a:xfrm>
          <a:off x="9489364" y="0"/>
          <a:ext cx="1469984" cy="416375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a:t>LEARN</a:t>
          </a:r>
          <a:endParaRPr lang="en-GB" sz="3100" kern="1200"/>
        </a:p>
        <a:p>
          <a:pPr marL="0" lvl="0" indent="0" algn="ctr" defTabSz="711200" rtl="0">
            <a:lnSpc>
              <a:spcPct val="90000"/>
            </a:lnSpc>
            <a:spcBef>
              <a:spcPct val="0"/>
            </a:spcBef>
            <a:spcAft>
              <a:spcPct val="35000"/>
            </a:spcAft>
            <a:buNone/>
          </a:pPr>
          <a:r>
            <a:rPr lang="en-GB" sz="1000" kern="1200"/>
            <a:t>( Monitoring and Reinforced Learning </a:t>
          </a:r>
          <a:r>
            <a:rPr lang="en-GB" sz="1000" kern="1200">
              <a:latin typeface="Franklin Gothic Book" panose="020B0503020102020204"/>
            </a:rPr>
            <a:t>: Human in Loop </a:t>
          </a:r>
          <a:r>
            <a:rPr lang="en-GB" sz="1000" kern="1200"/>
            <a:t>)</a:t>
          </a:r>
        </a:p>
      </dsp:txBody>
      <dsp:txXfrm>
        <a:off x="9489364" y="0"/>
        <a:ext cx="1469984" cy="1249127"/>
      </dsp:txXfrm>
    </dsp:sp>
    <dsp:sp modelId="{FA0B817B-AFE3-3F4F-8A05-4F98D9571DAD}">
      <dsp:nvSpPr>
        <dsp:cNvPr id="0" name=""/>
        <dsp:cNvSpPr/>
      </dsp:nvSpPr>
      <dsp:spPr>
        <a:xfrm>
          <a:off x="9636362" y="1249483"/>
          <a:ext cx="1175987" cy="81801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l" defTabSz="444500">
            <a:lnSpc>
              <a:spcPct val="90000"/>
            </a:lnSpc>
            <a:spcBef>
              <a:spcPct val="0"/>
            </a:spcBef>
            <a:spcAft>
              <a:spcPct val="35000"/>
            </a:spcAft>
            <a:buNone/>
          </a:pPr>
          <a:r>
            <a:rPr lang="en-GB" sz="1000" kern="1200"/>
            <a:t>KPI Reporting</a:t>
          </a:r>
        </a:p>
        <a:p>
          <a:pPr marL="57150" lvl="1" indent="-57150" algn="l" defTabSz="311150">
            <a:lnSpc>
              <a:spcPct val="90000"/>
            </a:lnSpc>
            <a:spcBef>
              <a:spcPct val="0"/>
            </a:spcBef>
            <a:spcAft>
              <a:spcPct val="15000"/>
            </a:spcAft>
            <a:buChar char="•"/>
          </a:pPr>
          <a:r>
            <a:rPr lang="en-IN" sz="700" kern="1200"/>
            <a:t>Ticket Resolution Time</a:t>
          </a:r>
          <a:endParaRPr lang="en-GB" sz="700" kern="1200"/>
        </a:p>
        <a:p>
          <a:pPr marL="57150" lvl="1" indent="-57150" algn="l" defTabSz="311150">
            <a:lnSpc>
              <a:spcPct val="90000"/>
            </a:lnSpc>
            <a:spcBef>
              <a:spcPct val="0"/>
            </a:spcBef>
            <a:spcAft>
              <a:spcPct val="15000"/>
            </a:spcAft>
            <a:buChar char="•"/>
          </a:pPr>
          <a:r>
            <a:rPr lang="en-IN" sz="700" kern="1200"/>
            <a:t>SLA Compliance Rate</a:t>
          </a:r>
          <a:endParaRPr lang="en-GB" sz="700" kern="1200"/>
        </a:p>
        <a:p>
          <a:pPr marL="57150" lvl="1" indent="-57150" algn="l" defTabSz="311150">
            <a:lnSpc>
              <a:spcPct val="90000"/>
            </a:lnSpc>
            <a:spcBef>
              <a:spcPct val="0"/>
            </a:spcBef>
            <a:spcAft>
              <a:spcPct val="15000"/>
            </a:spcAft>
            <a:buChar char="•"/>
          </a:pPr>
          <a:r>
            <a:rPr lang="en-IN" sz="700" kern="1200"/>
            <a:t>Infrastructure Downtime</a:t>
          </a:r>
          <a:endParaRPr lang="en-GB" sz="700" kern="1200"/>
        </a:p>
      </dsp:txBody>
      <dsp:txXfrm>
        <a:off x="9660321" y="1273442"/>
        <a:ext cx="1128069" cy="770093"/>
      </dsp:txXfrm>
    </dsp:sp>
    <dsp:sp modelId="{1CAAE67D-9FAC-EC4A-9228-46C26CC586F7}">
      <dsp:nvSpPr>
        <dsp:cNvPr id="0" name=""/>
        <dsp:cNvSpPr/>
      </dsp:nvSpPr>
      <dsp:spPr>
        <a:xfrm>
          <a:off x="9636362" y="2193343"/>
          <a:ext cx="1175987" cy="81801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l" defTabSz="444500">
            <a:lnSpc>
              <a:spcPct val="90000"/>
            </a:lnSpc>
            <a:spcBef>
              <a:spcPct val="0"/>
            </a:spcBef>
            <a:spcAft>
              <a:spcPct val="35000"/>
            </a:spcAft>
            <a:buNone/>
          </a:pPr>
          <a:r>
            <a:rPr lang="en-GB" sz="1000" kern="1200"/>
            <a:t>Model Performance Monitoring</a:t>
          </a:r>
        </a:p>
        <a:p>
          <a:pPr marL="57150" lvl="1" indent="-57150" algn="l" defTabSz="311150">
            <a:lnSpc>
              <a:spcPct val="90000"/>
            </a:lnSpc>
            <a:spcBef>
              <a:spcPct val="0"/>
            </a:spcBef>
            <a:spcAft>
              <a:spcPct val="15000"/>
            </a:spcAft>
            <a:buChar char="•"/>
          </a:pPr>
          <a:r>
            <a:rPr lang="en-IN" sz="700" kern="1200"/>
            <a:t>Prediction Accuracy</a:t>
          </a:r>
          <a:endParaRPr lang="en-GB" sz="700" kern="1200"/>
        </a:p>
        <a:p>
          <a:pPr marL="57150" lvl="1" indent="-57150" algn="l" defTabSz="311150">
            <a:lnSpc>
              <a:spcPct val="90000"/>
            </a:lnSpc>
            <a:spcBef>
              <a:spcPct val="0"/>
            </a:spcBef>
            <a:spcAft>
              <a:spcPct val="15000"/>
            </a:spcAft>
            <a:buChar char="•"/>
          </a:pPr>
          <a:r>
            <a:rPr lang="en-IN" sz="700" kern="1200"/>
            <a:t>Failure Prediction Accuracy</a:t>
          </a:r>
          <a:endParaRPr lang="en-GB" sz="700" kern="1200"/>
        </a:p>
      </dsp:txBody>
      <dsp:txXfrm>
        <a:off x="9660321" y="2217302"/>
        <a:ext cx="1128069" cy="770093"/>
      </dsp:txXfrm>
    </dsp:sp>
    <dsp:sp modelId="{4D0F52EB-DC93-1047-83DC-F54187C237CD}">
      <dsp:nvSpPr>
        <dsp:cNvPr id="0" name=""/>
        <dsp:cNvSpPr/>
      </dsp:nvSpPr>
      <dsp:spPr>
        <a:xfrm>
          <a:off x="9636362" y="3137203"/>
          <a:ext cx="1175987" cy="81801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l" defTabSz="444500">
            <a:lnSpc>
              <a:spcPct val="90000"/>
            </a:lnSpc>
            <a:spcBef>
              <a:spcPct val="0"/>
            </a:spcBef>
            <a:spcAft>
              <a:spcPct val="35000"/>
            </a:spcAft>
            <a:buNone/>
          </a:pPr>
          <a:r>
            <a:rPr lang="en-GB" sz="1000" kern="1200"/>
            <a:t>Procurement Analytics</a:t>
          </a:r>
        </a:p>
        <a:p>
          <a:pPr marL="57150" lvl="1" indent="-57150" algn="l" defTabSz="311150">
            <a:lnSpc>
              <a:spcPct val="90000"/>
            </a:lnSpc>
            <a:spcBef>
              <a:spcPct val="0"/>
            </a:spcBef>
            <a:spcAft>
              <a:spcPct val="15000"/>
            </a:spcAft>
            <a:buChar char="•"/>
          </a:pPr>
          <a:r>
            <a:rPr lang="en-GB" sz="700" kern="1200"/>
            <a:t>Ordering Size</a:t>
          </a:r>
        </a:p>
        <a:p>
          <a:pPr marL="57150" lvl="1" indent="-57150" algn="l" defTabSz="311150">
            <a:lnSpc>
              <a:spcPct val="90000"/>
            </a:lnSpc>
            <a:spcBef>
              <a:spcPct val="0"/>
            </a:spcBef>
            <a:spcAft>
              <a:spcPct val="15000"/>
            </a:spcAft>
            <a:buChar char="•"/>
          </a:pPr>
          <a:r>
            <a:rPr lang="en-GB" sz="700" kern="1200"/>
            <a:t>Current Inventory Levels</a:t>
          </a:r>
        </a:p>
      </dsp:txBody>
      <dsp:txXfrm>
        <a:off x="9660321" y="3161162"/>
        <a:ext cx="1128069" cy="770093"/>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206600CF-E735-EF4A-ADDC-4EF4E9937BBA}" type="datetimeFigureOut">
              <a:rPr lang="en-US" smtClean="0"/>
              <a:t>5/30/2026</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A3D4F48C-0A99-9146-AFF8-ED354D26F11A}" type="slidenum">
              <a:rPr lang="en-US" smtClean="0"/>
              <a:t>‹#›</a:t>
            </a:fld>
            <a:endParaRPr lang="en-US"/>
          </a:p>
        </p:txBody>
      </p:sp>
    </p:spTree>
    <p:extLst>
      <p:ext uri="{BB962C8B-B14F-4D97-AF65-F5344CB8AC3E}">
        <p14:creationId xmlns:p14="http://schemas.microsoft.com/office/powerpoint/2010/main" val="23101404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78318-088C-2A73-1043-0868850BD0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0761B9-0BC0-F4A7-4941-47AA6B9812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B542AD-E38E-023E-8B14-CF8924AA097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916DD31-8AFA-5F87-333D-3747DC3F6661}"/>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82494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71468-C3CB-01F6-0433-3F981ACBFA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830A5B-0A99-C9D9-3D0D-EC00120778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79E293-C7EC-50B9-A7B0-E688758ABA2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882EC00-4094-E866-316D-E5C9C84E87B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478157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69045-08BE-BE9E-0547-BB9AB0D7BA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953471-458A-D818-7A25-B5D3B2ECC2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1BF6B1-8E83-5D76-247B-FC581AE46CE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34FD3B0-D8A7-3033-C058-720EB37251D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866134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C98DF-5E30-0A65-7098-7180B4D90A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1005F9-D135-8460-109C-8F6AF04131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EFD10D-EA07-3F83-A1DA-B3DA9458C7F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4D786E5-A16A-A612-637D-B570ADFB2A52}"/>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314250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70767-8D8E-7E08-78E6-EC754B1B29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5AA611-B18A-B754-6327-1CFF1FE312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995A4A-9DC7-0167-D429-230413DAEA1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23E7765-D9FA-5443-FD9F-1BF905BF7C0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030081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37FAC-64FE-F2C0-C9C4-0B06547995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E9B298-84A9-A5CD-FBFD-02CDD28310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8AEC6E-4689-5F55-83E1-FF77653785D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513700C-A4D3-2E81-E969-2FD322FF36BA}"/>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357574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007AF-1536-40AE-ABD8-E2930AF881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76114C-011C-A228-3AAA-BB8F149029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CA83D8-A195-8E2F-F449-67C05F45059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F9DDE0A-6F9E-810D-F0CF-AABA1F03D992}"/>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73622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37042158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5E5EE-9E39-D9E0-AAD1-DD44EF5E67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D1FDF1-0407-2C23-46F4-D95F3A52BD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98A311-08BE-69B8-9F2A-43A48ADCC70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E85ABEB-14DE-6542-5C4A-E8227D7B2F3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858230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51F31-D758-819C-2243-6B7199BC74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A2FE5-EA4C-97A6-5A6A-6724180CEC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55DD89-3134-A0E3-E7EB-78087485787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0676AF9-21C0-E2EB-31CC-02BA5BA3DD4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471965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1800" b="0" i="0">
                <a:solidFill>
                  <a:schemeClr val="tx1"/>
                </a:solidFill>
                <a:latin typeface="Trebuchet MS"/>
                <a:cs typeface="Trebuchet MS"/>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5/30/2026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0" i="0">
                <a:solidFill>
                  <a:schemeClr val="tx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5/30/2026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790575"/>
          </a:xfrm>
          <a:custGeom>
            <a:avLst/>
            <a:gdLst/>
            <a:ahLst/>
            <a:cxnLst/>
            <a:rect l="l" t="t" r="r" b="b"/>
            <a:pathLst>
              <a:path w="12192000" h="790575">
                <a:moveTo>
                  <a:pt x="12192000" y="0"/>
                </a:moveTo>
                <a:lnTo>
                  <a:pt x="0" y="0"/>
                </a:lnTo>
                <a:lnTo>
                  <a:pt x="0" y="790575"/>
                </a:lnTo>
                <a:lnTo>
                  <a:pt x="12192000" y="790575"/>
                </a:lnTo>
                <a:lnTo>
                  <a:pt x="12192000" y="0"/>
                </a:lnTo>
                <a:close/>
              </a:path>
            </a:pathLst>
          </a:custGeom>
          <a:solidFill>
            <a:srgbClr val="1E2760"/>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800" b="0" i="0">
                <a:solidFill>
                  <a:schemeClr val="tx1"/>
                </a:solidFill>
                <a:latin typeface="Trebuchet MS"/>
                <a:cs typeface="Trebuchet MS"/>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5/30/2026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0" i="0">
                <a:solidFill>
                  <a:schemeClr val="tx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5/30/2026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5/30/2026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25454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02359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61289C-683E-79D9-930C-F024F79214A8}"/>
              </a:ext>
            </a:extLst>
          </p:cNvPr>
          <p:cNvSpPr>
            <a:spLocks noGrp="1"/>
          </p:cNvSpPr>
          <p:nvPr>
            <p:ph type="dt" sz="half" idx="10"/>
          </p:nvPr>
        </p:nvSpPr>
        <p:spPr/>
        <p:txBody>
          <a:bodyPr/>
          <a:lstStyle/>
          <a:p>
            <a:fld id="{4C64E0E6-A975-984D-8350-E7B64642D408}" type="datetimeFigureOut">
              <a:rPr lang="en-US" smtClean="0"/>
              <a:t>5/30/2026</a:t>
            </a:fld>
            <a:endParaRPr lang="en-US"/>
          </a:p>
        </p:txBody>
      </p:sp>
      <p:sp>
        <p:nvSpPr>
          <p:cNvPr id="3" name="Footer Placeholder 2">
            <a:extLst>
              <a:ext uri="{FF2B5EF4-FFF2-40B4-BE49-F238E27FC236}">
                <a16:creationId xmlns:a16="http://schemas.microsoft.com/office/drawing/2014/main" id="{AE8CAD78-9AA9-366E-030F-76BD29A713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D979E8F-1502-BD25-1EE1-DBF48B70278E}"/>
              </a:ext>
            </a:extLst>
          </p:cNvPr>
          <p:cNvSpPr>
            <a:spLocks noGrp="1"/>
          </p:cNvSpPr>
          <p:nvPr>
            <p:ph type="sldNum" sz="quarter" idx="12"/>
          </p:nvPr>
        </p:nvSpPr>
        <p:spPr/>
        <p:txBody>
          <a:bodyPr/>
          <a:lstStyle/>
          <a:p>
            <a:fld id="{9391949D-1CB0-7042-B092-C06CDEE4A031}" type="slidenum">
              <a:rPr lang="en-US" smtClean="0"/>
              <a:t>‹#›</a:t>
            </a:fld>
            <a:endParaRPr lang="en-US"/>
          </a:p>
        </p:txBody>
      </p:sp>
    </p:spTree>
    <p:extLst>
      <p:ext uri="{BB962C8B-B14F-4D97-AF65-F5344CB8AC3E}">
        <p14:creationId xmlns:p14="http://schemas.microsoft.com/office/powerpoint/2010/main" val="34997015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2819E-2704-DE6D-1C32-FE427D93BB3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70830946-3BE2-15A6-3B80-1A3B273D7F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9B857686-3A2B-7938-D404-1AE22C68C6FE}"/>
              </a:ext>
            </a:extLst>
          </p:cNvPr>
          <p:cNvSpPr>
            <a:spLocks noGrp="1"/>
          </p:cNvSpPr>
          <p:nvPr>
            <p:ph type="dt" sz="half" idx="10"/>
          </p:nvPr>
        </p:nvSpPr>
        <p:spPr/>
        <p:txBody>
          <a:bodyPr/>
          <a:lstStyle/>
          <a:p>
            <a:fld id="{4C64E0E6-A975-984D-8350-E7B64642D408}" type="datetimeFigureOut">
              <a:rPr lang="en-US" smtClean="0"/>
              <a:t>5/30/2026</a:t>
            </a:fld>
            <a:endParaRPr lang="en-US"/>
          </a:p>
        </p:txBody>
      </p:sp>
      <p:sp>
        <p:nvSpPr>
          <p:cNvPr id="5" name="Footer Placeholder 4">
            <a:extLst>
              <a:ext uri="{FF2B5EF4-FFF2-40B4-BE49-F238E27FC236}">
                <a16:creationId xmlns:a16="http://schemas.microsoft.com/office/drawing/2014/main" id="{CE4098C0-5E8A-A5F7-6341-A702D99B36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9CBEAD-CF5E-E50A-D962-F92A3FBE1DBE}"/>
              </a:ext>
            </a:extLst>
          </p:cNvPr>
          <p:cNvSpPr>
            <a:spLocks noGrp="1"/>
          </p:cNvSpPr>
          <p:nvPr>
            <p:ph type="sldNum" sz="quarter" idx="12"/>
          </p:nvPr>
        </p:nvSpPr>
        <p:spPr/>
        <p:txBody>
          <a:bodyPr/>
          <a:lstStyle/>
          <a:p>
            <a:fld id="{9391949D-1CB0-7042-B092-C06CDEE4A031}" type="slidenum">
              <a:rPr lang="en-US" smtClean="0"/>
              <a:t>‹#›</a:t>
            </a:fld>
            <a:endParaRPr lang="en-US"/>
          </a:p>
        </p:txBody>
      </p:sp>
    </p:spTree>
    <p:extLst>
      <p:ext uri="{BB962C8B-B14F-4D97-AF65-F5344CB8AC3E}">
        <p14:creationId xmlns:p14="http://schemas.microsoft.com/office/powerpoint/2010/main" val="465840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1C26A-2B31-9230-B6BE-9BDCF87C561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02D9EB5-55D4-F5F4-AD6E-E335470316E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2CC2402-9B8C-6368-9A26-5515BE1EE451}"/>
              </a:ext>
            </a:extLst>
          </p:cNvPr>
          <p:cNvSpPr>
            <a:spLocks noGrp="1"/>
          </p:cNvSpPr>
          <p:nvPr>
            <p:ph type="dt" sz="half" idx="10"/>
          </p:nvPr>
        </p:nvSpPr>
        <p:spPr/>
        <p:txBody>
          <a:bodyPr/>
          <a:lstStyle/>
          <a:p>
            <a:fld id="{4C64E0E6-A975-984D-8350-E7B64642D408}" type="datetimeFigureOut">
              <a:rPr lang="en-US" smtClean="0"/>
              <a:t>5/30/2026</a:t>
            </a:fld>
            <a:endParaRPr lang="en-US"/>
          </a:p>
        </p:txBody>
      </p:sp>
      <p:sp>
        <p:nvSpPr>
          <p:cNvPr id="5" name="Footer Placeholder 4">
            <a:extLst>
              <a:ext uri="{FF2B5EF4-FFF2-40B4-BE49-F238E27FC236}">
                <a16:creationId xmlns:a16="http://schemas.microsoft.com/office/drawing/2014/main" id="{A3778ABD-D14F-833C-9FDB-512DD5075E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471E70-2F97-CE87-BE2E-A4762465841E}"/>
              </a:ext>
            </a:extLst>
          </p:cNvPr>
          <p:cNvSpPr>
            <a:spLocks noGrp="1"/>
          </p:cNvSpPr>
          <p:nvPr>
            <p:ph type="sldNum" sz="quarter" idx="12"/>
          </p:nvPr>
        </p:nvSpPr>
        <p:spPr/>
        <p:txBody>
          <a:bodyPr/>
          <a:lstStyle/>
          <a:p>
            <a:fld id="{9391949D-1CB0-7042-B092-C06CDEE4A031}" type="slidenum">
              <a:rPr lang="en-US" smtClean="0"/>
              <a:t>‹#›</a:t>
            </a:fld>
            <a:endParaRPr lang="en-US"/>
          </a:p>
        </p:txBody>
      </p:sp>
    </p:spTree>
    <p:extLst>
      <p:ext uri="{BB962C8B-B14F-4D97-AF65-F5344CB8AC3E}">
        <p14:creationId xmlns:p14="http://schemas.microsoft.com/office/powerpoint/2010/main" val="41791236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E6429-6B52-CB5C-7271-0ADC6BF5C5F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06EB6163-122F-61A5-F4A5-04DBAAFAF07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632959-1650-8A10-4AF7-C7167BA29920}"/>
              </a:ext>
            </a:extLst>
          </p:cNvPr>
          <p:cNvSpPr>
            <a:spLocks noGrp="1"/>
          </p:cNvSpPr>
          <p:nvPr>
            <p:ph type="dt" sz="half" idx="10"/>
          </p:nvPr>
        </p:nvSpPr>
        <p:spPr/>
        <p:txBody>
          <a:bodyPr/>
          <a:lstStyle/>
          <a:p>
            <a:fld id="{4C64E0E6-A975-984D-8350-E7B64642D408}" type="datetimeFigureOut">
              <a:rPr lang="en-US" smtClean="0"/>
              <a:t>5/30/2026</a:t>
            </a:fld>
            <a:endParaRPr lang="en-US"/>
          </a:p>
        </p:txBody>
      </p:sp>
      <p:sp>
        <p:nvSpPr>
          <p:cNvPr id="5" name="Footer Placeholder 4">
            <a:extLst>
              <a:ext uri="{FF2B5EF4-FFF2-40B4-BE49-F238E27FC236}">
                <a16:creationId xmlns:a16="http://schemas.microsoft.com/office/drawing/2014/main" id="{2898A1EC-183A-7FE8-32C0-2EEF37EEE3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8A9E5B-A681-53C8-4EB3-CCD4E4404913}"/>
              </a:ext>
            </a:extLst>
          </p:cNvPr>
          <p:cNvSpPr>
            <a:spLocks noGrp="1"/>
          </p:cNvSpPr>
          <p:nvPr>
            <p:ph type="sldNum" sz="quarter" idx="12"/>
          </p:nvPr>
        </p:nvSpPr>
        <p:spPr/>
        <p:txBody>
          <a:bodyPr/>
          <a:lstStyle/>
          <a:p>
            <a:fld id="{9391949D-1CB0-7042-B092-C06CDEE4A031}" type="slidenum">
              <a:rPr lang="en-US" smtClean="0"/>
              <a:t>‹#›</a:t>
            </a:fld>
            <a:endParaRPr lang="en-US"/>
          </a:p>
        </p:txBody>
      </p:sp>
    </p:spTree>
    <p:extLst>
      <p:ext uri="{BB962C8B-B14F-4D97-AF65-F5344CB8AC3E}">
        <p14:creationId xmlns:p14="http://schemas.microsoft.com/office/powerpoint/2010/main" val="35080732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5828C-7660-6A22-0CBC-475A7901EA1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9A46832-870C-8415-D9F3-3668FE5DE07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E38FB418-F146-7D4F-3D9D-30E19D1303D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D240277D-B7A5-FE27-1E45-80ADF8DC69D4}"/>
              </a:ext>
            </a:extLst>
          </p:cNvPr>
          <p:cNvSpPr>
            <a:spLocks noGrp="1"/>
          </p:cNvSpPr>
          <p:nvPr>
            <p:ph type="dt" sz="half" idx="10"/>
          </p:nvPr>
        </p:nvSpPr>
        <p:spPr/>
        <p:txBody>
          <a:bodyPr/>
          <a:lstStyle/>
          <a:p>
            <a:fld id="{4C64E0E6-A975-984D-8350-E7B64642D408}" type="datetimeFigureOut">
              <a:rPr lang="en-US" smtClean="0"/>
              <a:t>5/30/2026</a:t>
            </a:fld>
            <a:endParaRPr lang="en-US"/>
          </a:p>
        </p:txBody>
      </p:sp>
      <p:sp>
        <p:nvSpPr>
          <p:cNvPr id="6" name="Footer Placeholder 5">
            <a:extLst>
              <a:ext uri="{FF2B5EF4-FFF2-40B4-BE49-F238E27FC236}">
                <a16:creationId xmlns:a16="http://schemas.microsoft.com/office/drawing/2014/main" id="{81CABCEC-87F9-A4D4-AC2D-EFEA356F8C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514CF4-9EEE-7580-3814-ECE6750511C7}"/>
              </a:ext>
            </a:extLst>
          </p:cNvPr>
          <p:cNvSpPr>
            <a:spLocks noGrp="1"/>
          </p:cNvSpPr>
          <p:nvPr>
            <p:ph type="sldNum" sz="quarter" idx="12"/>
          </p:nvPr>
        </p:nvSpPr>
        <p:spPr/>
        <p:txBody>
          <a:bodyPr/>
          <a:lstStyle/>
          <a:p>
            <a:fld id="{9391949D-1CB0-7042-B092-C06CDEE4A031}" type="slidenum">
              <a:rPr lang="en-US" smtClean="0"/>
              <a:t>‹#›</a:t>
            </a:fld>
            <a:endParaRPr lang="en-US"/>
          </a:p>
        </p:txBody>
      </p:sp>
    </p:spTree>
    <p:extLst>
      <p:ext uri="{BB962C8B-B14F-4D97-AF65-F5344CB8AC3E}">
        <p14:creationId xmlns:p14="http://schemas.microsoft.com/office/powerpoint/2010/main" val="27675076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20AB5-93E3-F3E9-9202-4591E34EDCF7}"/>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968529C-0137-DDF0-0AD2-A6E8CC8F2A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D3FB8AC-204A-D247-6A7C-5EE58FC2C74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AC50CBD9-BEE9-FA56-F1DC-DBAF84E37E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2F3D813-EFAF-FF61-5FF9-FFFF813C785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37EF59D-C300-A2AC-857A-2601D5FE99BA}"/>
              </a:ext>
            </a:extLst>
          </p:cNvPr>
          <p:cNvSpPr>
            <a:spLocks noGrp="1"/>
          </p:cNvSpPr>
          <p:nvPr>
            <p:ph type="dt" sz="half" idx="10"/>
          </p:nvPr>
        </p:nvSpPr>
        <p:spPr/>
        <p:txBody>
          <a:bodyPr/>
          <a:lstStyle/>
          <a:p>
            <a:fld id="{4C64E0E6-A975-984D-8350-E7B64642D408}" type="datetimeFigureOut">
              <a:rPr lang="en-US" smtClean="0"/>
              <a:t>5/30/2026</a:t>
            </a:fld>
            <a:endParaRPr lang="en-US"/>
          </a:p>
        </p:txBody>
      </p:sp>
      <p:sp>
        <p:nvSpPr>
          <p:cNvPr id="8" name="Footer Placeholder 7">
            <a:extLst>
              <a:ext uri="{FF2B5EF4-FFF2-40B4-BE49-F238E27FC236}">
                <a16:creationId xmlns:a16="http://schemas.microsoft.com/office/drawing/2014/main" id="{C32D9038-AAD6-E110-AC12-1A807786819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BD7B989-D07F-342B-E753-A0C543E56A82}"/>
              </a:ext>
            </a:extLst>
          </p:cNvPr>
          <p:cNvSpPr>
            <a:spLocks noGrp="1"/>
          </p:cNvSpPr>
          <p:nvPr>
            <p:ph type="sldNum" sz="quarter" idx="12"/>
          </p:nvPr>
        </p:nvSpPr>
        <p:spPr/>
        <p:txBody>
          <a:bodyPr/>
          <a:lstStyle/>
          <a:p>
            <a:fld id="{9391949D-1CB0-7042-B092-C06CDEE4A031}" type="slidenum">
              <a:rPr lang="en-US" smtClean="0"/>
              <a:t>‹#›</a:t>
            </a:fld>
            <a:endParaRPr lang="en-US"/>
          </a:p>
        </p:txBody>
      </p:sp>
    </p:spTree>
    <p:extLst>
      <p:ext uri="{BB962C8B-B14F-4D97-AF65-F5344CB8AC3E}">
        <p14:creationId xmlns:p14="http://schemas.microsoft.com/office/powerpoint/2010/main" val="24991426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DC9C0-E386-996B-4F06-693CAE8FF2A7}"/>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37586198-045B-6574-0B49-AED481CDA626}"/>
              </a:ext>
            </a:extLst>
          </p:cNvPr>
          <p:cNvSpPr>
            <a:spLocks noGrp="1"/>
          </p:cNvSpPr>
          <p:nvPr>
            <p:ph type="dt" sz="half" idx="10"/>
          </p:nvPr>
        </p:nvSpPr>
        <p:spPr/>
        <p:txBody>
          <a:bodyPr/>
          <a:lstStyle/>
          <a:p>
            <a:fld id="{4C64E0E6-A975-984D-8350-E7B64642D408}" type="datetimeFigureOut">
              <a:rPr lang="en-US" smtClean="0"/>
              <a:t>5/30/2026</a:t>
            </a:fld>
            <a:endParaRPr lang="en-US"/>
          </a:p>
        </p:txBody>
      </p:sp>
      <p:sp>
        <p:nvSpPr>
          <p:cNvPr id="4" name="Footer Placeholder 3">
            <a:extLst>
              <a:ext uri="{FF2B5EF4-FFF2-40B4-BE49-F238E27FC236}">
                <a16:creationId xmlns:a16="http://schemas.microsoft.com/office/drawing/2014/main" id="{EFD9FFAE-BAB4-8CFC-5938-4E47674D73C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A04034E-0ECF-476B-0ED3-A810DE809CA0}"/>
              </a:ext>
            </a:extLst>
          </p:cNvPr>
          <p:cNvSpPr>
            <a:spLocks noGrp="1"/>
          </p:cNvSpPr>
          <p:nvPr>
            <p:ph type="sldNum" sz="quarter" idx="12"/>
          </p:nvPr>
        </p:nvSpPr>
        <p:spPr/>
        <p:txBody>
          <a:bodyPr/>
          <a:lstStyle/>
          <a:p>
            <a:fld id="{9391949D-1CB0-7042-B092-C06CDEE4A031}" type="slidenum">
              <a:rPr lang="en-US" smtClean="0"/>
              <a:t>‹#›</a:t>
            </a:fld>
            <a:endParaRPr lang="en-US"/>
          </a:p>
        </p:txBody>
      </p:sp>
    </p:spTree>
    <p:extLst>
      <p:ext uri="{BB962C8B-B14F-4D97-AF65-F5344CB8AC3E}">
        <p14:creationId xmlns:p14="http://schemas.microsoft.com/office/powerpoint/2010/main" val="26687585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61289C-683E-79D9-930C-F024F79214A8}"/>
              </a:ext>
            </a:extLst>
          </p:cNvPr>
          <p:cNvSpPr>
            <a:spLocks noGrp="1"/>
          </p:cNvSpPr>
          <p:nvPr>
            <p:ph type="dt" sz="half" idx="10"/>
          </p:nvPr>
        </p:nvSpPr>
        <p:spPr/>
        <p:txBody>
          <a:bodyPr/>
          <a:lstStyle/>
          <a:p>
            <a:fld id="{4C64E0E6-A975-984D-8350-E7B64642D408}" type="datetimeFigureOut">
              <a:rPr lang="en-US" smtClean="0"/>
              <a:t>5/30/2026</a:t>
            </a:fld>
            <a:endParaRPr lang="en-US"/>
          </a:p>
        </p:txBody>
      </p:sp>
      <p:sp>
        <p:nvSpPr>
          <p:cNvPr id="3" name="Footer Placeholder 2">
            <a:extLst>
              <a:ext uri="{FF2B5EF4-FFF2-40B4-BE49-F238E27FC236}">
                <a16:creationId xmlns:a16="http://schemas.microsoft.com/office/drawing/2014/main" id="{AE8CAD78-9AA9-366E-030F-76BD29A713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D979E8F-1502-BD25-1EE1-DBF48B70278E}"/>
              </a:ext>
            </a:extLst>
          </p:cNvPr>
          <p:cNvSpPr>
            <a:spLocks noGrp="1"/>
          </p:cNvSpPr>
          <p:nvPr>
            <p:ph type="sldNum" sz="quarter" idx="12"/>
          </p:nvPr>
        </p:nvSpPr>
        <p:spPr/>
        <p:txBody>
          <a:bodyPr/>
          <a:lstStyle/>
          <a:p>
            <a:fld id="{9391949D-1CB0-7042-B092-C06CDEE4A031}" type="slidenum">
              <a:rPr lang="en-US" smtClean="0"/>
              <a:t>‹#›</a:t>
            </a:fld>
            <a:endParaRPr lang="en-US"/>
          </a:p>
        </p:txBody>
      </p:sp>
    </p:spTree>
    <p:extLst>
      <p:ext uri="{BB962C8B-B14F-4D97-AF65-F5344CB8AC3E}">
        <p14:creationId xmlns:p14="http://schemas.microsoft.com/office/powerpoint/2010/main" val="17532752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24E6E-3F5E-E019-0767-79267B01411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1841A79-E1E6-B7B3-A82A-22BFFB7F19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3118529D-4968-BF5E-281A-E84883DD34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BD96610-B191-9808-EDAA-BB9D13C121F0}"/>
              </a:ext>
            </a:extLst>
          </p:cNvPr>
          <p:cNvSpPr>
            <a:spLocks noGrp="1"/>
          </p:cNvSpPr>
          <p:nvPr>
            <p:ph type="dt" sz="half" idx="10"/>
          </p:nvPr>
        </p:nvSpPr>
        <p:spPr/>
        <p:txBody>
          <a:bodyPr/>
          <a:lstStyle/>
          <a:p>
            <a:fld id="{4C64E0E6-A975-984D-8350-E7B64642D408}" type="datetimeFigureOut">
              <a:rPr lang="en-US" smtClean="0"/>
              <a:t>5/30/2026</a:t>
            </a:fld>
            <a:endParaRPr lang="en-US"/>
          </a:p>
        </p:txBody>
      </p:sp>
      <p:sp>
        <p:nvSpPr>
          <p:cNvPr id="6" name="Footer Placeholder 5">
            <a:extLst>
              <a:ext uri="{FF2B5EF4-FFF2-40B4-BE49-F238E27FC236}">
                <a16:creationId xmlns:a16="http://schemas.microsoft.com/office/drawing/2014/main" id="{BE0975B9-9DF0-995D-4214-1923CF9796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AD1A927-4BC4-07B7-57F6-897EC5812AD7}"/>
              </a:ext>
            </a:extLst>
          </p:cNvPr>
          <p:cNvSpPr>
            <a:spLocks noGrp="1"/>
          </p:cNvSpPr>
          <p:nvPr>
            <p:ph type="sldNum" sz="quarter" idx="12"/>
          </p:nvPr>
        </p:nvSpPr>
        <p:spPr/>
        <p:txBody>
          <a:bodyPr/>
          <a:lstStyle/>
          <a:p>
            <a:fld id="{9391949D-1CB0-7042-B092-C06CDEE4A031}" type="slidenum">
              <a:rPr lang="en-US" smtClean="0"/>
              <a:t>‹#›</a:t>
            </a:fld>
            <a:endParaRPr lang="en-US"/>
          </a:p>
        </p:txBody>
      </p:sp>
    </p:spTree>
    <p:extLst>
      <p:ext uri="{BB962C8B-B14F-4D97-AF65-F5344CB8AC3E}">
        <p14:creationId xmlns:p14="http://schemas.microsoft.com/office/powerpoint/2010/main" val="10540263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775FA-8D89-9389-D061-46DDC90379D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88D70861-92FE-2380-E9BE-984280EBC4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180934D-6F95-696D-E4CF-EA766C80BD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7EA7021-C11A-C658-A54C-35B49DA8E18B}"/>
              </a:ext>
            </a:extLst>
          </p:cNvPr>
          <p:cNvSpPr>
            <a:spLocks noGrp="1"/>
          </p:cNvSpPr>
          <p:nvPr>
            <p:ph type="dt" sz="half" idx="10"/>
          </p:nvPr>
        </p:nvSpPr>
        <p:spPr/>
        <p:txBody>
          <a:bodyPr/>
          <a:lstStyle/>
          <a:p>
            <a:fld id="{4C64E0E6-A975-984D-8350-E7B64642D408}" type="datetimeFigureOut">
              <a:rPr lang="en-US" smtClean="0"/>
              <a:t>5/30/2026</a:t>
            </a:fld>
            <a:endParaRPr lang="en-US"/>
          </a:p>
        </p:txBody>
      </p:sp>
      <p:sp>
        <p:nvSpPr>
          <p:cNvPr id="6" name="Footer Placeholder 5">
            <a:extLst>
              <a:ext uri="{FF2B5EF4-FFF2-40B4-BE49-F238E27FC236}">
                <a16:creationId xmlns:a16="http://schemas.microsoft.com/office/drawing/2014/main" id="{74072A4D-AA64-FD03-0C83-128131466F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BA27CC-F966-89FE-74AA-1732CE832280}"/>
              </a:ext>
            </a:extLst>
          </p:cNvPr>
          <p:cNvSpPr>
            <a:spLocks noGrp="1"/>
          </p:cNvSpPr>
          <p:nvPr>
            <p:ph type="sldNum" sz="quarter" idx="12"/>
          </p:nvPr>
        </p:nvSpPr>
        <p:spPr/>
        <p:txBody>
          <a:bodyPr/>
          <a:lstStyle/>
          <a:p>
            <a:fld id="{9391949D-1CB0-7042-B092-C06CDEE4A031}" type="slidenum">
              <a:rPr lang="en-US" smtClean="0"/>
              <a:t>‹#›</a:t>
            </a:fld>
            <a:endParaRPr lang="en-US"/>
          </a:p>
        </p:txBody>
      </p:sp>
    </p:spTree>
    <p:extLst>
      <p:ext uri="{BB962C8B-B14F-4D97-AF65-F5344CB8AC3E}">
        <p14:creationId xmlns:p14="http://schemas.microsoft.com/office/powerpoint/2010/main" val="22719119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978A9-363C-D431-6767-684A6014524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F5B3FCE-A457-A949-9E56-7EF991146F9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6A3657C-DEC9-D17C-8B52-64609747A97A}"/>
              </a:ext>
            </a:extLst>
          </p:cNvPr>
          <p:cNvSpPr>
            <a:spLocks noGrp="1"/>
          </p:cNvSpPr>
          <p:nvPr>
            <p:ph type="dt" sz="half" idx="10"/>
          </p:nvPr>
        </p:nvSpPr>
        <p:spPr/>
        <p:txBody>
          <a:bodyPr/>
          <a:lstStyle/>
          <a:p>
            <a:fld id="{4C64E0E6-A975-984D-8350-E7B64642D408}" type="datetimeFigureOut">
              <a:rPr lang="en-US" smtClean="0"/>
              <a:t>5/30/2026</a:t>
            </a:fld>
            <a:endParaRPr lang="en-US"/>
          </a:p>
        </p:txBody>
      </p:sp>
      <p:sp>
        <p:nvSpPr>
          <p:cNvPr id="5" name="Footer Placeholder 4">
            <a:extLst>
              <a:ext uri="{FF2B5EF4-FFF2-40B4-BE49-F238E27FC236}">
                <a16:creationId xmlns:a16="http://schemas.microsoft.com/office/drawing/2014/main" id="{8DBEE6D0-D661-44C4-FC63-859CDE7028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0C1EA0-796C-A9B1-6D44-696C12BEACF4}"/>
              </a:ext>
            </a:extLst>
          </p:cNvPr>
          <p:cNvSpPr>
            <a:spLocks noGrp="1"/>
          </p:cNvSpPr>
          <p:nvPr>
            <p:ph type="sldNum" sz="quarter" idx="12"/>
          </p:nvPr>
        </p:nvSpPr>
        <p:spPr/>
        <p:txBody>
          <a:bodyPr/>
          <a:lstStyle/>
          <a:p>
            <a:fld id="{9391949D-1CB0-7042-B092-C06CDEE4A031}" type="slidenum">
              <a:rPr lang="en-US" smtClean="0"/>
              <a:t>‹#›</a:t>
            </a:fld>
            <a:endParaRPr lang="en-US"/>
          </a:p>
        </p:txBody>
      </p:sp>
    </p:spTree>
    <p:extLst>
      <p:ext uri="{BB962C8B-B14F-4D97-AF65-F5344CB8AC3E}">
        <p14:creationId xmlns:p14="http://schemas.microsoft.com/office/powerpoint/2010/main" val="18065484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8BD2EF-7B53-6E25-3AE4-D43116FD08D6}"/>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9CFFA45-C5E4-3321-CC3F-D9EB49B9B02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6DFC901-0E5A-C825-0B87-E4B9FB662D0D}"/>
              </a:ext>
            </a:extLst>
          </p:cNvPr>
          <p:cNvSpPr>
            <a:spLocks noGrp="1"/>
          </p:cNvSpPr>
          <p:nvPr>
            <p:ph type="dt" sz="half" idx="10"/>
          </p:nvPr>
        </p:nvSpPr>
        <p:spPr/>
        <p:txBody>
          <a:bodyPr/>
          <a:lstStyle/>
          <a:p>
            <a:fld id="{4C64E0E6-A975-984D-8350-E7B64642D408}" type="datetimeFigureOut">
              <a:rPr lang="en-US" smtClean="0"/>
              <a:t>5/30/2026</a:t>
            </a:fld>
            <a:endParaRPr lang="en-US"/>
          </a:p>
        </p:txBody>
      </p:sp>
      <p:sp>
        <p:nvSpPr>
          <p:cNvPr id="5" name="Footer Placeholder 4">
            <a:extLst>
              <a:ext uri="{FF2B5EF4-FFF2-40B4-BE49-F238E27FC236}">
                <a16:creationId xmlns:a16="http://schemas.microsoft.com/office/drawing/2014/main" id="{FF791C3A-7DE0-7AFD-5701-A8DC82DE98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B1DE5B-2795-2F9E-4E88-97B868C45337}"/>
              </a:ext>
            </a:extLst>
          </p:cNvPr>
          <p:cNvSpPr>
            <a:spLocks noGrp="1"/>
          </p:cNvSpPr>
          <p:nvPr>
            <p:ph type="sldNum" sz="quarter" idx="12"/>
          </p:nvPr>
        </p:nvSpPr>
        <p:spPr/>
        <p:txBody>
          <a:bodyPr/>
          <a:lstStyle/>
          <a:p>
            <a:fld id="{9391949D-1CB0-7042-B092-C06CDEE4A031}" type="slidenum">
              <a:rPr lang="en-US" smtClean="0"/>
              <a:t>‹#›</a:t>
            </a:fld>
            <a:endParaRPr lang="en-US"/>
          </a:p>
        </p:txBody>
      </p:sp>
    </p:spTree>
    <p:extLst>
      <p:ext uri="{BB962C8B-B14F-4D97-AF65-F5344CB8AC3E}">
        <p14:creationId xmlns:p14="http://schemas.microsoft.com/office/powerpoint/2010/main" val="38592828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885835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theme" Target="../theme/theme3.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40359" y="156781"/>
            <a:ext cx="6701790" cy="300355"/>
          </a:xfrm>
          <a:prstGeom prst="rect">
            <a:avLst/>
          </a:prstGeom>
        </p:spPr>
        <p:txBody>
          <a:bodyPr wrap="square" lIns="0" tIns="0" rIns="0" bIns="0">
            <a:spAutoFit/>
          </a:bodyPr>
          <a:lstStyle>
            <a:lvl1pPr>
              <a:defRPr sz="1800" b="0" i="0">
                <a:solidFill>
                  <a:schemeClr val="tx1"/>
                </a:solidFill>
                <a:latin typeface="Trebuchet MS"/>
                <a:cs typeface="Trebuchet MS"/>
              </a:defRPr>
            </a:lvl1pPr>
          </a:lstStyle>
          <a:p>
            <a:endParaRPr/>
          </a:p>
        </p:txBody>
      </p:sp>
      <p:sp>
        <p:nvSpPr>
          <p:cNvPr id="3" name="Holder 3"/>
          <p:cNvSpPr>
            <a:spLocks noGrp="1"/>
          </p:cNvSpPr>
          <p:nvPr>
            <p:ph type="body" idx="1"/>
          </p:nvPr>
        </p:nvSpPr>
        <p:spPr>
          <a:xfrm>
            <a:off x="334962" y="1145603"/>
            <a:ext cx="11567795" cy="3970654"/>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5/30/2026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7"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3826129"/>
      </p:ext>
    </p:extLst>
  </p:cSld>
  <p:clrMap bg1="lt1" tx1="dk1" bg2="lt2" tx2="dk2" accent1="accent1" accent2="accent2" accent3="accent3" accent4="accent4" accent5="accent5" accent6="accent6" hlink="hlink" folHlink="folHlink"/>
  <p:sldLayoutIdLst>
    <p:sldLayoutId id="2147483669" r:id="rId1"/>
    <p:sldLayoutId id="2147483683" r:id="rId2"/>
  </p:sldLayoutIdLst>
  <p:hf sldNum="0"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C19E52-9A3B-079B-76A0-97DB9C8C27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06C6A5B-E1FA-6116-1CE0-1F4C6AA135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41A0BC7-B3B6-2D72-7710-C80D12250F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C64E0E6-A975-984D-8350-E7B64642D408}" type="datetimeFigureOut">
              <a:rPr lang="en-US" smtClean="0"/>
              <a:t>5/30/2026</a:t>
            </a:fld>
            <a:endParaRPr lang="en-US"/>
          </a:p>
        </p:txBody>
      </p:sp>
      <p:sp>
        <p:nvSpPr>
          <p:cNvPr id="5" name="Footer Placeholder 4">
            <a:extLst>
              <a:ext uri="{FF2B5EF4-FFF2-40B4-BE49-F238E27FC236}">
                <a16:creationId xmlns:a16="http://schemas.microsoft.com/office/drawing/2014/main" id="{CF5E0BA3-E818-732E-689F-EEFEF593A1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BE7F0C8-6756-013C-0BD2-B8A6A5271F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391949D-1CB0-7042-B092-C06CDEE4A031}" type="slidenum">
              <a:rPr lang="en-US" smtClean="0"/>
              <a:t>‹#›</a:t>
            </a:fld>
            <a:endParaRPr lang="en-US"/>
          </a:p>
        </p:txBody>
      </p:sp>
    </p:spTree>
    <p:extLst>
      <p:ext uri="{BB962C8B-B14F-4D97-AF65-F5344CB8AC3E}">
        <p14:creationId xmlns:p14="http://schemas.microsoft.com/office/powerpoint/2010/main" val="2790159142"/>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0.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0.xml"/><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0.xml"/><Relationship Id="rId5" Type="http://schemas.openxmlformats.org/officeDocument/2006/relationships/image" Target="../media/image25.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0.xml"/><Relationship Id="rId5" Type="http://schemas.openxmlformats.org/officeDocument/2006/relationships/image" Target="../media/image32.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29.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71524"/>
          </a:solidFill>
          <a:ln w="12700">
            <a:solidFill>
              <a:srgbClr val="07152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0" y="360947"/>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0" y="721895"/>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0" y="1082842"/>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0" y="1443789"/>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0" y="1804737"/>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0" y="2808621"/>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0" y="2526632"/>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0" y="2887579"/>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0" y="3248526"/>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0" y="3609474"/>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p:cNvSpPr/>
          <p:nvPr/>
        </p:nvSpPr>
        <p:spPr>
          <a:xfrm>
            <a:off x="0" y="3970421"/>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p:cNvSpPr/>
          <p:nvPr/>
        </p:nvSpPr>
        <p:spPr>
          <a:xfrm>
            <a:off x="0" y="4331368"/>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0" y="4692316"/>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0" y="5053263"/>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0" y="5414211"/>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p:cNvSpPr/>
          <p:nvPr/>
        </p:nvSpPr>
        <p:spPr>
          <a:xfrm>
            <a:off x="0" y="5775158"/>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p:cNvSpPr/>
          <p:nvPr/>
        </p:nvSpPr>
        <p:spPr>
          <a:xfrm>
            <a:off x="0" y="6136105"/>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p:cNvSpPr/>
          <p:nvPr/>
        </p:nvSpPr>
        <p:spPr>
          <a:xfrm>
            <a:off x="0" y="6497053"/>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p:cNvSpPr/>
          <p:nvPr/>
        </p:nvSpPr>
        <p:spPr>
          <a:xfrm>
            <a:off x="487558"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p:cNvSpPr/>
          <p:nvPr/>
        </p:nvSpPr>
        <p:spPr>
          <a:xfrm>
            <a:off x="975116"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p:cNvSpPr/>
          <p:nvPr/>
        </p:nvSpPr>
        <p:spPr>
          <a:xfrm>
            <a:off x="1462674"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p:cNvSpPr/>
          <p:nvPr/>
        </p:nvSpPr>
        <p:spPr>
          <a:xfrm>
            <a:off x="1950232"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p:cNvSpPr/>
          <p:nvPr/>
        </p:nvSpPr>
        <p:spPr>
          <a:xfrm>
            <a:off x="2437790"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4"/>
          <p:cNvSpPr/>
          <p:nvPr/>
        </p:nvSpPr>
        <p:spPr>
          <a:xfrm>
            <a:off x="2925348"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5"/>
          <p:cNvSpPr/>
          <p:nvPr/>
        </p:nvSpPr>
        <p:spPr>
          <a:xfrm>
            <a:off x="3412907"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6"/>
          <p:cNvSpPr/>
          <p:nvPr/>
        </p:nvSpPr>
        <p:spPr>
          <a:xfrm>
            <a:off x="3900465"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7"/>
          <p:cNvSpPr/>
          <p:nvPr/>
        </p:nvSpPr>
        <p:spPr>
          <a:xfrm>
            <a:off x="4388023"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p:cNvSpPr/>
          <p:nvPr/>
        </p:nvSpPr>
        <p:spPr>
          <a:xfrm>
            <a:off x="4875581"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9"/>
          <p:cNvSpPr/>
          <p:nvPr/>
        </p:nvSpPr>
        <p:spPr>
          <a:xfrm>
            <a:off x="5363139"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30"/>
          <p:cNvSpPr/>
          <p:nvPr/>
        </p:nvSpPr>
        <p:spPr>
          <a:xfrm>
            <a:off x="5850697"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31"/>
          <p:cNvSpPr/>
          <p:nvPr/>
        </p:nvSpPr>
        <p:spPr>
          <a:xfrm>
            <a:off x="6338255"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Shape 32"/>
          <p:cNvSpPr/>
          <p:nvPr/>
        </p:nvSpPr>
        <p:spPr>
          <a:xfrm>
            <a:off x="6825813"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Shape 33"/>
          <p:cNvSpPr/>
          <p:nvPr/>
        </p:nvSpPr>
        <p:spPr>
          <a:xfrm>
            <a:off x="7313371"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34"/>
          <p:cNvSpPr/>
          <p:nvPr/>
        </p:nvSpPr>
        <p:spPr>
          <a:xfrm>
            <a:off x="7800929"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5"/>
          <p:cNvSpPr/>
          <p:nvPr/>
        </p:nvSpPr>
        <p:spPr>
          <a:xfrm>
            <a:off x="8288487"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6"/>
          <p:cNvSpPr/>
          <p:nvPr/>
        </p:nvSpPr>
        <p:spPr>
          <a:xfrm>
            <a:off x="8776045"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Shape 37"/>
          <p:cNvSpPr/>
          <p:nvPr/>
        </p:nvSpPr>
        <p:spPr>
          <a:xfrm>
            <a:off x="9263604"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Shape 38"/>
          <p:cNvSpPr/>
          <p:nvPr/>
        </p:nvSpPr>
        <p:spPr>
          <a:xfrm>
            <a:off x="9751162"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Shape 39"/>
          <p:cNvSpPr/>
          <p:nvPr/>
        </p:nvSpPr>
        <p:spPr>
          <a:xfrm>
            <a:off x="10238720"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Shape 40"/>
          <p:cNvSpPr/>
          <p:nvPr/>
        </p:nvSpPr>
        <p:spPr>
          <a:xfrm>
            <a:off x="10726278"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Shape 41"/>
          <p:cNvSpPr/>
          <p:nvPr/>
        </p:nvSpPr>
        <p:spPr>
          <a:xfrm>
            <a:off x="11213836"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Shape 42"/>
          <p:cNvSpPr/>
          <p:nvPr/>
        </p:nvSpPr>
        <p:spPr>
          <a:xfrm>
            <a:off x="11701394"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43"/>
          <p:cNvSpPr/>
          <p:nvPr/>
        </p:nvSpPr>
        <p:spPr>
          <a:xfrm>
            <a:off x="0" y="0"/>
            <a:ext cx="475488" cy="6858000"/>
          </a:xfrm>
          <a:prstGeom prst="rect">
            <a:avLst/>
          </a:prstGeom>
          <a:solidFill>
            <a:srgbClr val="156082"/>
          </a:solidFill>
          <a:ln w="12700">
            <a:solidFill>
              <a:srgbClr val="15608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Shape 44"/>
          <p:cNvSpPr/>
          <p:nvPr/>
        </p:nvSpPr>
        <p:spPr>
          <a:xfrm>
            <a:off x="475488" y="0"/>
            <a:ext cx="0" cy="6858000"/>
          </a:xfrm>
          <a:prstGeom prst="line">
            <a:avLst/>
          </a:prstGeom>
          <a:noFill/>
          <a:ln w="1905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Shape 45"/>
          <p:cNvSpPr/>
          <p:nvPr/>
        </p:nvSpPr>
        <p:spPr>
          <a:xfrm>
            <a:off x="8412480" y="-1371600"/>
            <a:ext cx="6035040" cy="6035040"/>
          </a:xfrm>
          <a:prstGeom prst="ellipse">
            <a:avLst/>
          </a:prstGeom>
          <a:solidFill>
            <a:srgbClr val="071524">
              <a:alpha val="0"/>
            </a:srgbClr>
          </a:solidFill>
          <a:ln w="12700">
            <a:solidFill>
              <a:srgbClr val="0F9ED5">
                <a:alpha val="12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Shape 46"/>
          <p:cNvSpPr/>
          <p:nvPr/>
        </p:nvSpPr>
        <p:spPr>
          <a:xfrm>
            <a:off x="9235440" y="-548640"/>
            <a:ext cx="4389120" cy="4389120"/>
          </a:xfrm>
          <a:prstGeom prst="ellipse">
            <a:avLst/>
          </a:prstGeom>
          <a:solidFill>
            <a:srgbClr val="071524">
              <a:alpha val="0"/>
            </a:srgbClr>
          </a:solidFill>
          <a:ln w="12700">
            <a:solidFill>
              <a:srgbClr val="0F9ED5">
                <a:alpha val="22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Shape 47"/>
          <p:cNvSpPr/>
          <p:nvPr/>
        </p:nvSpPr>
        <p:spPr>
          <a:xfrm>
            <a:off x="10058400" y="274320"/>
            <a:ext cx="2743200" cy="2743200"/>
          </a:xfrm>
          <a:prstGeom prst="ellipse">
            <a:avLst/>
          </a:prstGeom>
          <a:solidFill>
            <a:srgbClr val="071524">
              <a:alpha val="0"/>
            </a:srgbClr>
          </a:solidFill>
          <a:ln w="12700">
            <a:solidFill>
              <a:srgbClr val="0F9ED5">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48"/>
          <p:cNvSpPr/>
          <p:nvPr/>
        </p:nvSpPr>
        <p:spPr>
          <a:xfrm>
            <a:off x="10881360" y="1097280"/>
            <a:ext cx="1097280" cy="1097280"/>
          </a:xfrm>
          <a:prstGeom prst="ellipse">
            <a:avLst/>
          </a:prstGeom>
          <a:solidFill>
            <a:srgbClr val="071524">
              <a:alpha val="0"/>
            </a:srgbClr>
          </a:solidFill>
          <a:ln w="12700">
            <a:solidFill>
              <a:srgbClr val="0F9ED5">
                <a:alpha val="5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9"/>
          <p:cNvSpPr/>
          <p:nvPr/>
        </p:nvSpPr>
        <p:spPr>
          <a:xfrm>
            <a:off x="11292840" y="1508760"/>
            <a:ext cx="274320" cy="274320"/>
          </a:xfrm>
          <a:prstGeom prst="ellipse">
            <a:avLst/>
          </a:prstGeom>
          <a:solidFill>
            <a:srgbClr val="0F9ED5">
              <a:alpha val="60000"/>
            </a:srgbClr>
          </a:solidFill>
          <a:ln w="1270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Shape 50"/>
          <p:cNvSpPr/>
          <p:nvPr/>
        </p:nvSpPr>
        <p:spPr>
          <a:xfrm>
            <a:off x="155448" y="1179576"/>
            <a:ext cx="201168" cy="201168"/>
          </a:xfrm>
          <a:prstGeom prst="ellipse">
            <a:avLst/>
          </a:prstGeom>
          <a:solidFill>
            <a:srgbClr val="E97132"/>
          </a:solidFill>
          <a:ln w="1270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Shape 51"/>
          <p:cNvSpPr/>
          <p:nvPr/>
        </p:nvSpPr>
        <p:spPr>
          <a:xfrm>
            <a:off x="155448" y="2002536"/>
            <a:ext cx="201168" cy="201168"/>
          </a:xfrm>
          <a:prstGeom prst="ellipse">
            <a:avLst/>
          </a:prstGeom>
          <a:solidFill>
            <a:srgbClr val="0F9ED5"/>
          </a:solidFill>
          <a:ln w="1270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Shape 52"/>
          <p:cNvSpPr/>
          <p:nvPr/>
        </p:nvSpPr>
        <p:spPr>
          <a:xfrm>
            <a:off x="155448" y="2825496"/>
            <a:ext cx="201168" cy="201168"/>
          </a:xfrm>
          <a:prstGeom prst="ellipse">
            <a:avLst/>
          </a:prstGeom>
          <a:solidFill>
            <a:srgbClr val="196B24"/>
          </a:solidFill>
          <a:ln w="12700">
            <a:solidFill>
              <a:srgbClr val="196B2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Shape 53"/>
          <p:cNvSpPr/>
          <p:nvPr/>
        </p:nvSpPr>
        <p:spPr>
          <a:xfrm>
            <a:off x="155448" y="3648456"/>
            <a:ext cx="201168" cy="201168"/>
          </a:xfrm>
          <a:prstGeom prst="ellipse">
            <a:avLst/>
          </a:prstGeom>
          <a:solidFill>
            <a:srgbClr val="0F9ED5"/>
          </a:solidFill>
          <a:ln w="1270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Shape 54"/>
          <p:cNvSpPr/>
          <p:nvPr/>
        </p:nvSpPr>
        <p:spPr>
          <a:xfrm>
            <a:off x="155448" y="4471416"/>
            <a:ext cx="201168" cy="201168"/>
          </a:xfrm>
          <a:prstGeom prst="ellipse">
            <a:avLst/>
          </a:prstGeom>
          <a:solidFill>
            <a:srgbClr val="E97132"/>
          </a:solidFill>
          <a:ln w="1270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Text 55"/>
          <p:cNvSpPr/>
          <p:nvPr/>
        </p:nvSpPr>
        <p:spPr>
          <a:xfrm>
            <a:off x="670274" y="2780157"/>
            <a:ext cx="9144000" cy="256032"/>
          </a:xfrm>
          <a:prstGeom prst="rect">
            <a:avLst/>
          </a:prstGeom>
          <a:noFill/>
          <a:ln/>
        </p:spPr>
        <p:txBody>
          <a:bodyPr wrap="square" lIns="91440" tIns="45720" rIns="91440" bIns="45720" rtlCol="0" anchor="ctr"/>
          <a:lstStyle/>
          <a:p>
            <a:pPr algn="l" rtl="0">
              <a:defRPr/>
            </a:pPr>
            <a:r>
              <a:rPr kumimoji="0" lang="en-US" sz="1200" b="0" i="0" u="none" strike="noStrike" kern="0" cap="none" spc="300" normalizeH="0" baseline="0" noProof="0">
                <a:ln>
                  <a:noFill/>
                </a:ln>
                <a:solidFill>
                  <a:srgbClr val="8BAFC4"/>
                </a:solidFill>
                <a:effectLst/>
                <a:uLnTx/>
                <a:uFillTx/>
                <a:latin typeface="Calibri"/>
                <a:ea typeface="Calibri"/>
                <a:cs typeface="Calibri"/>
              </a:rPr>
              <a:t>CAPSTONE PROJECT</a:t>
            </a:r>
            <a:r>
              <a:rPr lang="en-US" sz="1200" spc="300">
                <a:solidFill>
                  <a:srgbClr val="8BAFC4"/>
                </a:solidFill>
                <a:latin typeface="Calibri"/>
                <a:ea typeface="Calibri"/>
                <a:cs typeface="Calibri"/>
              </a:rPr>
              <a:t> · ISB AMPBA B23W</a:t>
            </a:r>
            <a:endParaRPr kumimoji="0" lang="en-US" sz="1200" b="0" i="0" u="none" strike="noStrike" kern="1200" cap="none" spc="0" normalizeH="0" baseline="0" noProof="0">
              <a:ln>
                <a:noFill/>
              </a:ln>
              <a:solidFill>
                <a:prstClr val="black"/>
              </a:solidFill>
              <a:effectLst/>
              <a:uLnTx/>
              <a:uFillTx/>
              <a:latin typeface="Calibri"/>
              <a:ea typeface="Calibri"/>
              <a:cs typeface="Calibri"/>
            </a:endParaRPr>
          </a:p>
        </p:txBody>
      </p:sp>
      <p:sp>
        <p:nvSpPr>
          <p:cNvPr id="58" name="Text 56"/>
          <p:cNvSpPr/>
          <p:nvPr/>
        </p:nvSpPr>
        <p:spPr>
          <a:xfrm>
            <a:off x="658368" y="1264729"/>
            <a:ext cx="8778240" cy="7315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600" b="1" i="0" u="none" strike="noStrike" kern="0" cap="none" spc="-50" normalizeH="0" baseline="0" noProof="0">
                <a:ln>
                  <a:noFill/>
                </a:ln>
                <a:solidFill>
                  <a:srgbClr val="FFFFFF"/>
                </a:solidFill>
                <a:effectLst/>
                <a:uLnTx/>
                <a:uFillTx/>
                <a:latin typeface="Aptos Display" pitchFamily="34" charset="0"/>
                <a:ea typeface="Aptos Display" pitchFamily="34" charset="-122"/>
                <a:cs typeface="Aptos Display" pitchFamily="34" charset="-120"/>
              </a:rPr>
              <a:t>Innodatatics</a:t>
            </a:r>
            <a:endParaRPr kumimoji="0" lang="en-US" sz="5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Text 57"/>
          <p:cNvSpPr/>
          <p:nvPr/>
        </p:nvSpPr>
        <p:spPr>
          <a:xfrm>
            <a:off x="658368" y="2051113"/>
            <a:ext cx="8961120" cy="51206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F9ED5"/>
                </a:solidFill>
                <a:effectLst/>
                <a:uLnTx/>
                <a:uFillTx/>
                <a:latin typeface="Calibri" pitchFamily="34" charset="0"/>
                <a:ea typeface="Calibri" pitchFamily="34" charset="-122"/>
                <a:cs typeface="Calibri" pitchFamily="34" charset="-120"/>
              </a:rPr>
              <a:t>AI-Driven Intelligent IT Operations Platform</a:t>
            </a:r>
            <a:endParaRPr kumimoji="0" lang="en-US" sz="2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Shape 58"/>
          <p:cNvSpPr/>
          <p:nvPr/>
        </p:nvSpPr>
        <p:spPr>
          <a:xfrm>
            <a:off x="658368" y="2029968"/>
            <a:ext cx="8229600" cy="0"/>
          </a:xfrm>
          <a:prstGeom prst="line">
            <a:avLst/>
          </a:prstGeom>
          <a:noFill/>
          <a:ln w="3175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62"/>
          <p:cNvSpPr/>
          <p:nvPr/>
        </p:nvSpPr>
        <p:spPr>
          <a:xfrm>
            <a:off x="658368" y="2724912"/>
            <a:ext cx="10515600" cy="0"/>
          </a:xfrm>
          <a:prstGeom prst="line">
            <a:avLst/>
          </a:prstGeom>
          <a:noFill/>
          <a:ln w="1016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Shape 66"/>
          <p:cNvSpPr/>
          <p:nvPr/>
        </p:nvSpPr>
        <p:spPr>
          <a:xfrm>
            <a:off x="658368" y="3383280"/>
            <a:ext cx="10515600" cy="0"/>
          </a:xfrm>
          <a:prstGeom prst="line">
            <a:avLst/>
          </a:prstGeom>
          <a:noFill/>
          <a:ln w="1016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Shape 70"/>
          <p:cNvSpPr/>
          <p:nvPr/>
        </p:nvSpPr>
        <p:spPr>
          <a:xfrm>
            <a:off x="658368" y="4041648"/>
            <a:ext cx="10515600" cy="0"/>
          </a:xfrm>
          <a:prstGeom prst="line">
            <a:avLst/>
          </a:prstGeom>
          <a:noFill/>
          <a:ln w="1016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Shape 74"/>
          <p:cNvSpPr/>
          <p:nvPr/>
        </p:nvSpPr>
        <p:spPr>
          <a:xfrm>
            <a:off x="475488" y="4956048"/>
            <a:ext cx="11713464" cy="0"/>
          </a:xfrm>
          <a:prstGeom prst="line">
            <a:avLst/>
          </a:prstGeom>
          <a:noFill/>
          <a:ln w="2540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Shape 75"/>
          <p:cNvSpPr/>
          <p:nvPr/>
        </p:nvSpPr>
        <p:spPr>
          <a:xfrm>
            <a:off x="475488" y="4956048"/>
            <a:ext cx="2928366" cy="1773936"/>
          </a:xfrm>
          <a:prstGeom prst="rect">
            <a:avLst/>
          </a:prstGeom>
          <a:solidFill>
            <a:srgbClr val="0E2841"/>
          </a:solidFill>
          <a:ln w="12700">
            <a:solidFill>
              <a:srgbClr val="0E28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Shape 76"/>
          <p:cNvSpPr/>
          <p:nvPr/>
        </p:nvSpPr>
        <p:spPr>
          <a:xfrm>
            <a:off x="475488" y="4956048"/>
            <a:ext cx="2928366" cy="50292"/>
          </a:xfrm>
          <a:prstGeom prst="rect">
            <a:avLst/>
          </a:prstGeom>
          <a:solidFill>
            <a:srgbClr val="E97132"/>
          </a:solidFill>
          <a:ln w="1270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Shape 77"/>
          <p:cNvSpPr/>
          <p:nvPr/>
        </p:nvSpPr>
        <p:spPr>
          <a:xfrm>
            <a:off x="3403854" y="4956048"/>
            <a:ext cx="0" cy="1773936"/>
          </a:xfrm>
          <a:prstGeom prst="line">
            <a:avLst/>
          </a:prstGeom>
          <a:noFill/>
          <a:ln w="1270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 name="Text 78"/>
          <p:cNvSpPr/>
          <p:nvPr/>
        </p:nvSpPr>
        <p:spPr>
          <a:xfrm>
            <a:off x="621792" y="5084063"/>
            <a:ext cx="1538754" cy="365757"/>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Team Members: </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Shape 81"/>
          <p:cNvSpPr/>
          <p:nvPr/>
        </p:nvSpPr>
        <p:spPr>
          <a:xfrm>
            <a:off x="3403854" y="4956048"/>
            <a:ext cx="2928366" cy="1773936"/>
          </a:xfrm>
          <a:prstGeom prst="rect">
            <a:avLst/>
          </a:prstGeom>
          <a:solidFill>
            <a:srgbClr val="0E2841"/>
          </a:solidFill>
          <a:ln w="12700">
            <a:solidFill>
              <a:srgbClr val="0E28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Shape 82"/>
          <p:cNvSpPr/>
          <p:nvPr/>
        </p:nvSpPr>
        <p:spPr>
          <a:xfrm>
            <a:off x="3403854" y="4956048"/>
            <a:ext cx="2928366" cy="50292"/>
          </a:xfrm>
          <a:prstGeom prst="rect">
            <a:avLst/>
          </a:prstGeom>
          <a:solidFill>
            <a:srgbClr val="0F9ED5"/>
          </a:solidFill>
          <a:ln w="1270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Shape 83"/>
          <p:cNvSpPr/>
          <p:nvPr/>
        </p:nvSpPr>
        <p:spPr>
          <a:xfrm>
            <a:off x="6332220" y="4956048"/>
            <a:ext cx="0" cy="1773936"/>
          </a:xfrm>
          <a:prstGeom prst="line">
            <a:avLst/>
          </a:prstGeom>
          <a:noFill/>
          <a:ln w="1270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Shape 87"/>
          <p:cNvSpPr/>
          <p:nvPr/>
        </p:nvSpPr>
        <p:spPr>
          <a:xfrm>
            <a:off x="6332220" y="4956048"/>
            <a:ext cx="2928366" cy="1773936"/>
          </a:xfrm>
          <a:prstGeom prst="rect">
            <a:avLst/>
          </a:prstGeom>
          <a:solidFill>
            <a:srgbClr val="0E2841"/>
          </a:solidFill>
          <a:ln w="12700">
            <a:solidFill>
              <a:srgbClr val="0E28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Shape 88"/>
          <p:cNvSpPr/>
          <p:nvPr/>
        </p:nvSpPr>
        <p:spPr>
          <a:xfrm>
            <a:off x="6332220" y="4956048"/>
            <a:ext cx="2928366" cy="50292"/>
          </a:xfrm>
          <a:prstGeom prst="rect">
            <a:avLst/>
          </a:prstGeom>
          <a:solidFill>
            <a:srgbClr val="196B24"/>
          </a:solidFill>
          <a:ln w="12700">
            <a:solidFill>
              <a:srgbClr val="196B2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Shape 89"/>
          <p:cNvSpPr/>
          <p:nvPr/>
        </p:nvSpPr>
        <p:spPr>
          <a:xfrm>
            <a:off x="9260586" y="4956048"/>
            <a:ext cx="0" cy="1773936"/>
          </a:xfrm>
          <a:prstGeom prst="line">
            <a:avLst/>
          </a:prstGeom>
          <a:noFill/>
          <a:ln w="1270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Shape 93"/>
          <p:cNvSpPr/>
          <p:nvPr/>
        </p:nvSpPr>
        <p:spPr>
          <a:xfrm>
            <a:off x="9260586" y="4956048"/>
            <a:ext cx="2928366" cy="1773936"/>
          </a:xfrm>
          <a:prstGeom prst="rect">
            <a:avLst/>
          </a:prstGeom>
          <a:solidFill>
            <a:srgbClr val="0E2841"/>
          </a:solidFill>
          <a:ln w="12700">
            <a:solidFill>
              <a:srgbClr val="0E28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Shape 94"/>
          <p:cNvSpPr/>
          <p:nvPr/>
        </p:nvSpPr>
        <p:spPr>
          <a:xfrm>
            <a:off x="9260586" y="4956048"/>
            <a:ext cx="2928366" cy="50292"/>
          </a:xfrm>
          <a:prstGeom prst="rect">
            <a:avLst/>
          </a:prstGeom>
          <a:solidFill>
            <a:srgbClr val="8BAFC4"/>
          </a:solidFill>
          <a:ln w="12700">
            <a:solidFill>
              <a:srgbClr val="8BAFC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 name="Text 78">
            <a:extLst>
              <a:ext uri="{FF2B5EF4-FFF2-40B4-BE49-F238E27FC236}">
                <a16:creationId xmlns:a16="http://schemas.microsoft.com/office/drawing/2014/main" id="{C0F9E526-61F4-5FE1-CBC0-8E720A858B74}"/>
              </a:ext>
            </a:extLst>
          </p:cNvPr>
          <p:cNvSpPr/>
          <p:nvPr/>
        </p:nvSpPr>
        <p:spPr>
          <a:xfrm>
            <a:off x="690984" y="5429390"/>
            <a:ext cx="1538754" cy="365757"/>
          </a:xfrm>
          <a:prstGeom prst="rect">
            <a:avLst/>
          </a:prstGeom>
          <a:noFill/>
          <a:ln/>
        </p:spPr>
        <p:txBody>
          <a:bodyPr wrap="square"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Abhinav Paul</a:t>
            </a:r>
          </a:p>
          <a:p>
            <a:pPr algn="l">
              <a:defRPr/>
            </a:pPr>
            <a:r>
              <a:rPr lang="en-US" sz="1300" b="1" kern="1200">
                <a:solidFill>
                  <a:srgbClr val="FFFFFF"/>
                </a:solidFill>
                <a:latin typeface="Calibri" panose="020F0502020204030204"/>
                <a:ea typeface="Calibri"/>
                <a:cs typeface="Calibri"/>
              </a:rPr>
              <a:t>12420055</a:t>
            </a:r>
          </a:p>
        </p:txBody>
      </p:sp>
      <p:sp>
        <p:nvSpPr>
          <p:cNvPr id="102" name="Text 78">
            <a:extLst>
              <a:ext uri="{FF2B5EF4-FFF2-40B4-BE49-F238E27FC236}">
                <a16:creationId xmlns:a16="http://schemas.microsoft.com/office/drawing/2014/main" id="{1A88165D-0C34-2FD3-76F2-E0D0D3377C77}"/>
              </a:ext>
            </a:extLst>
          </p:cNvPr>
          <p:cNvSpPr/>
          <p:nvPr/>
        </p:nvSpPr>
        <p:spPr>
          <a:xfrm>
            <a:off x="2937115" y="5440936"/>
            <a:ext cx="1538754" cy="365757"/>
          </a:xfrm>
          <a:prstGeom prst="rect">
            <a:avLst/>
          </a:prstGeom>
          <a:noFill/>
          <a:ln/>
        </p:spPr>
        <p:txBody>
          <a:bodyPr wrap="square"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Abhishek Sampath</a:t>
            </a:r>
          </a:p>
          <a:p>
            <a:pPr algn="l">
              <a:defRPr/>
            </a:pPr>
            <a:r>
              <a:rPr lang="en-US" sz="1300" b="1" kern="1200">
                <a:solidFill>
                  <a:srgbClr val="FFFFFF"/>
                </a:solidFill>
                <a:latin typeface="Calibri" panose="020F0502020204030204"/>
                <a:ea typeface="Calibri"/>
                <a:cs typeface="Calibri"/>
              </a:rPr>
              <a:t>12420011</a:t>
            </a:r>
          </a:p>
        </p:txBody>
      </p:sp>
      <p:sp>
        <p:nvSpPr>
          <p:cNvPr id="103" name="Text 78">
            <a:extLst>
              <a:ext uri="{FF2B5EF4-FFF2-40B4-BE49-F238E27FC236}">
                <a16:creationId xmlns:a16="http://schemas.microsoft.com/office/drawing/2014/main" id="{2C8F6640-D767-BF68-21BC-E84B17C482F9}"/>
              </a:ext>
            </a:extLst>
          </p:cNvPr>
          <p:cNvSpPr/>
          <p:nvPr/>
        </p:nvSpPr>
        <p:spPr>
          <a:xfrm>
            <a:off x="5387342" y="5456278"/>
            <a:ext cx="1538754" cy="365757"/>
          </a:xfrm>
          <a:prstGeom prst="rect">
            <a:avLst/>
          </a:prstGeom>
          <a:noFill/>
          <a:ln/>
        </p:spPr>
        <p:txBody>
          <a:bodyPr wrap="square"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Anjali Mishra</a:t>
            </a:r>
          </a:p>
          <a:p>
            <a:pPr algn="l">
              <a:defRPr/>
            </a:pPr>
            <a:r>
              <a:rPr lang="en-US" sz="1300" b="1" kern="1200">
                <a:solidFill>
                  <a:srgbClr val="FFFFFF"/>
                </a:solidFill>
                <a:latin typeface="Calibri" panose="020F0502020204030204"/>
                <a:ea typeface="Calibri"/>
                <a:cs typeface="Calibri"/>
              </a:rPr>
              <a:t>12420016</a:t>
            </a:r>
          </a:p>
        </p:txBody>
      </p:sp>
      <p:sp>
        <p:nvSpPr>
          <p:cNvPr id="104" name="Text 78">
            <a:extLst>
              <a:ext uri="{FF2B5EF4-FFF2-40B4-BE49-F238E27FC236}">
                <a16:creationId xmlns:a16="http://schemas.microsoft.com/office/drawing/2014/main" id="{7BC6E630-673B-DFE8-8D42-3F4606AB5593}"/>
              </a:ext>
            </a:extLst>
          </p:cNvPr>
          <p:cNvSpPr/>
          <p:nvPr/>
        </p:nvSpPr>
        <p:spPr>
          <a:xfrm>
            <a:off x="7922664" y="5449106"/>
            <a:ext cx="1538754" cy="365757"/>
          </a:xfrm>
          <a:prstGeom prst="rect">
            <a:avLst/>
          </a:prstGeom>
          <a:noFill/>
          <a:ln/>
        </p:spPr>
        <p:txBody>
          <a:bodyPr wrap="square"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Deepankar Garg</a:t>
            </a:r>
          </a:p>
          <a:p>
            <a:pPr algn="l">
              <a:defRPr/>
            </a:pPr>
            <a:r>
              <a:rPr lang="en-US" sz="1300" b="1" kern="1200">
                <a:solidFill>
                  <a:srgbClr val="FFFFFF"/>
                </a:solidFill>
                <a:latin typeface="Calibri" panose="020F0502020204030204"/>
                <a:ea typeface="Calibri"/>
                <a:cs typeface="Calibri"/>
              </a:rPr>
              <a:t>12420012</a:t>
            </a:r>
          </a:p>
        </p:txBody>
      </p:sp>
      <p:sp>
        <p:nvSpPr>
          <p:cNvPr id="105" name="Text 78">
            <a:extLst>
              <a:ext uri="{FF2B5EF4-FFF2-40B4-BE49-F238E27FC236}">
                <a16:creationId xmlns:a16="http://schemas.microsoft.com/office/drawing/2014/main" id="{744E8D3D-20F4-60EA-A51A-10A94FD8166B}"/>
              </a:ext>
            </a:extLst>
          </p:cNvPr>
          <p:cNvSpPr/>
          <p:nvPr/>
        </p:nvSpPr>
        <p:spPr>
          <a:xfrm>
            <a:off x="10269506" y="5449106"/>
            <a:ext cx="1538754" cy="365757"/>
          </a:xfrm>
          <a:prstGeom prst="rect">
            <a:avLst/>
          </a:prstGeom>
          <a:noFill/>
          <a:ln/>
        </p:spPr>
        <p:txBody>
          <a:bodyPr wrap="square"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Krishna Ranjan</a:t>
            </a:r>
          </a:p>
          <a:p>
            <a:pPr algn="l">
              <a:defRPr/>
            </a:pPr>
            <a:r>
              <a:rPr lang="en-US" sz="1300" b="1" kern="1200">
                <a:solidFill>
                  <a:srgbClr val="FFFFFF"/>
                </a:solidFill>
                <a:latin typeface="Calibri" panose="020F0502020204030204"/>
                <a:ea typeface="Calibri"/>
                <a:cs typeface="Calibri"/>
              </a:rPr>
              <a:t>12420014</a:t>
            </a:r>
          </a:p>
        </p:txBody>
      </p:sp>
      <p:sp>
        <p:nvSpPr>
          <p:cNvPr id="61" name="TextBox 60">
            <a:extLst>
              <a:ext uri="{FF2B5EF4-FFF2-40B4-BE49-F238E27FC236}">
                <a16:creationId xmlns:a16="http://schemas.microsoft.com/office/drawing/2014/main" id="{481DA9C5-F466-8F15-4440-C82BA197B975}"/>
              </a:ext>
            </a:extLst>
          </p:cNvPr>
          <p:cNvSpPr txBox="1"/>
          <p:nvPr/>
        </p:nvSpPr>
        <p:spPr>
          <a:xfrm>
            <a:off x="621861" y="5993805"/>
            <a:ext cx="274319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300" b="1" kern="1200">
                <a:solidFill>
                  <a:srgbClr val="FFFFFF"/>
                </a:solidFill>
                <a:latin typeface="Calibri"/>
                <a:ea typeface="Calibri"/>
                <a:cs typeface="Calibri"/>
              </a:rPr>
              <a:t>Faculty Mentor:</a:t>
            </a:r>
            <a:br>
              <a:rPr lang="en-US" sz="1000" b="1">
                <a:solidFill>
                  <a:srgbClr val="64748B"/>
                </a:solidFill>
                <a:latin typeface="Calibri"/>
                <a:ea typeface="Calibri"/>
                <a:cs typeface="Calibri"/>
              </a:rPr>
            </a:br>
            <a:endParaRPr lang="en-US" sz="1000">
              <a:solidFill>
                <a:srgbClr val="000000"/>
              </a:solidFill>
              <a:latin typeface="Calibri"/>
              <a:ea typeface="Calibri"/>
              <a:cs typeface="Calibri"/>
            </a:endParaRPr>
          </a:p>
          <a:p>
            <a:pPr algn="l"/>
            <a:r>
              <a:rPr lang="en-US" sz="1300" b="1">
                <a:solidFill>
                  <a:srgbClr val="FFFFFF"/>
                </a:solidFill>
                <a:latin typeface="Calibri"/>
                <a:ea typeface="Calibri"/>
                <a:cs typeface="Calibri"/>
              </a:rPr>
              <a:t>  Prof. Sumanta Singha</a:t>
            </a:r>
            <a:endParaRPr lang="en-US"/>
          </a:p>
        </p:txBody>
      </p:sp>
    </p:spTree>
    <p:extLst>
      <p:ext uri="{BB962C8B-B14F-4D97-AF65-F5344CB8AC3E}">
        <p14:creationId xmlns:p14="http://schemas.microsoft.com/office/powerpoint/2010/main" val="259140790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2000" cy="67056"/>
          </a:xfrm>
          <a:prstGeom prst="rect">
            <a:avLst/>
          </a:prstGeom>
          <a:solidFill>
            <a:srgbClr val="0E2841"/>
          </a:solidFill>
          <a:ln w="12700">
            <a:solidFill>
              <a:srgbClr val="0E2841"/>
            </a:solidFill>
            <a:prstDash val="solid"/>
          </a:ln>
        </p:spPr>
        <p:txBody>
          <a:bodyPr/>
          <a:lstStyle/>
          <a:p>
            <a:endParaRPr lang="en-SG"/>
          </a:p>
        </p:txBody>
      </p:sp>
      <p:sp>
        <p:nvSpPr>
          <p:cNvPr id="4" name="Text 2"/>
          <p:cNvSpPr/>
          <p:nvPr/>
        </p:nvSpPr>
        <p:spPr>
          <a:xfrm>
            <a:off x="365760" y="258995"/>
            <a:ext cx="11460480" cy="7315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800" b="1">
                <a:solidFill>
                  <a:srgbClr val="0F172A"/>
                </a:solidFill>
              </a:rPr>
              <a:t>Agenda</a:t>
            </a:r>
            <a:endParaRPr lang="en-US" sz="2800"/>
          </a:p>
        </p:txBody>
      </p:sp>
      <p:sp>
        <p:nvSpPr>
          <p:cNvPr id="5" name="Shape 3"/>
          <p:cNvSpPr/>
          <p:nvPr/>
        </p:nvSpPr>
        <p:spPr>
          <a:xfrm>
            <a:off x="365760" y="893657"/>
            <a:ext cx="11460480" cy="24384"/>
          </a:xfrm>
          <a:prstGeom prst="rect">
            <a:avLst/>
          </a:prstGeom>
          <a:solidFill>
            <a:srgbClr val="D0D0D0"/>
          </a:solidFill>
          <a:ln w="12700">
            <a:solidFill>
              <a:srgbClr val="D0D0D0"/>
            </a:solidFill>
            <a:prstDash val="solid"/>
          </a:ln>
        </p:spPr>
        <p:txBody>
          <a:bodyPr/>
          <a:lstStyle/>
          <a:p>
            <a:endParaRPr lang="en-SG"/>
          </a:p>
        </p:txBody>
      </p:sp>
      <p:grpSp>
        <p:nvGrpSpPr>
          <p:cNvPr id="58" name="Group 57">
            <a:extLst>
              <a:ext uri="{FF2B5EF4-FFF2-40B4-BE49-F238E27FC236}">
                <a16:creationId xmlns:a16="http://schemas.microsoft.com/office/drawing/2014/main" id="{4C30F399-B2AE-7B99-B8C3-76479DBD0394}"/>
              </a:ext>
            </a:extLst>
          </p:cNvPr>
          <p:cNvGrpSpPr/>
          <p:nvPr/>
        </p:nvGrpSpPr>
        <p:grpSpPr>
          <a:xfrm>
            <a:off x="341376" y="1009819"/>
            <a:ext cx="11497056" cy="5754624"/>
            <a:chOff x="341376" y="1316736"/>
            <a:chExt cx="11497056" cy="5754624"/>
          </a:xfrm>
        </p:grpSpPr>
        <p:sp>
          <p:nvSpPr>
            <p:cNvPr id="7" name="Text 5"/>
            <p:cNvSpPr/>
            <p:nvPr/>
          </p:nvSpPr>
          <p:spPr>
            <a:xfrm>
              <a:off x="365760" y="6644640"/>
              <a:ext cx="7315200" cy="20726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00">
                  <a:solidFill>
                    <a:srgbClr val="94A3B8"/>
                  </a:solidFill>
                </a:rPr>
                <a:t>OpsIntel · ISB AMPBA 2025W · Innodatatics</a:t>
              </a:r>
              <a:endParaRPr lang="en-US" sz="1000"/>
            </a:p>
          </p:txBody>
        </p:sp>
        <p:sp>
          <p:nvSpPr>
            <p:cNvPr id="8" name="Shape 6"/>
            <p:cNvSpPr/>
            <p:nvPr/>
          </p:nvSpPr>
          <p:spPr>
            <a:xfrm>
              <a:off x="341376" y="1316736"/>
              <a:ext cx="5608320" cy="1024128"/>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SG"/>
            </a:p>
          </p:txBody>
        </p:sp>
        <p:sp>
          <p:nvSpPr>
            <p:cNvPr id="9" name="Shape 7"/>
            <p:cNvSpPr/>
            <p:nvPr/>
          </p:nvSpPr>
          <p:spPr>
            <a:xfrm>
              <a:off x="341376" y="1316736"/>
              <a:ext cx="609600" cy="1024128"/>
            </a:xfrm>
            <a:prstGeom prst="rect">
              <a:avLst/>
            </a:prstGeom>
            <a:solidFill>
              <a:schemeClr val="accent1">
                <a:lumMod val="50000"/>
              </a:schemeClr>
            </a:solidFill>
            <a:ln w="12700">
              <a:solidFill>
                <a:srgbClr val="E97132"/>
              </a:solidFill>
              <a:prstDash val="solid"/>
            </a:ln>
          </p:spPr>
          <p:txBody>
            <a:bodyPr/>
            <a:lstStyle/>
            <a:p>
              <a:endParaRPr lang="en-SG"/>
            </a:p>
          </p:txBody>
        </p:sp>
        <p:sp>
          <p:nvSpPr>
            <p:cNvPr id="10" name="Text 8"/>
            <p:cNvSpPr/>
            <p:nvPr/>
          </p:nvSpPr>
          <p:spPr>
            <a:xfrm>
              <a:off x="353568" y="1633728"/>
              <a:ext cx="585216" cy="43891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867" b="1">
                  <a:solidFill>
                    <a:srgbClr val="FFFFFF"/>
                  </a:solidFill>
                </a:rPr>
                <a:t>01</a:t>
              </a:r>
              <a:endParaRPr lang="en-US" sz="1867"/>
            </a:p>
          </p:txBody>
        </p:sp>
        <p:sp>
          <p:nvSpPr>
            <p:cNvPr id="11" name="Text 9"/>
            <p:cNvSpPr/>
            <p:nvPr/>
          </p:nvSpPr>
          <p:spPr>
            <a:xfrm>
              <a:off x="1072896" y="1438656"/>
              <a:ext cx="4730496"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450" b="1">
                  <a:solidFill>
                    <a:srgbClr val="0F172A"/>
                  </a:solidFill>
                </a:rPr>
                <a:t>Project Overview</a:t>
              </a:r>
              <a:endParaRPr lang="en-US" sz="1467"/>
            </a:p>
          </p:txBody>
        </p:sp>
        <p:sp>
          <p:nvSpPr>
            <p:cNvPr id="12" name="Text 10"/>
            <p:cNvSpPr/>
            <p:nvPr/>
          </p:nvSpPr>
          <p:spPr>
            <a:xfrm>
              <a:off x="1072896" y="1840992"/>
              <a:ext cx="4730496" cy="39014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133">
                  <a:solidFill>
                    <a:srgbClr val="64748B"/>
                  </a:solidFill>
                </a:rPr>
                <a:t>Reactive IT ops — 4 failure modes driving business risk</a:t>
              </a:r>
              <a:endParaRPr lang="en-US" sz="1133"/>
            </a:p>
          </p:txBody>
        </p:sp>
        <p:sp>
          <p:nvSpPr>
            <p:cNvPr id="13" name="Shape 11"/>
            <p:cNvSpPr/>
            <p:nvPr/>
          </p:nvSpPr>
          <p:spPr>
            <a:xfrm>
              <a:off x="6230112" y="1316736"/>
              <a:ext cx="5608320" cy="1024128"/>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SG"/>
            </a:p>
          </p:txBody>
        </p:sp>
        <p:sp>
          <p:nvSpPr>
            <p:cNvPr id="14" name="Shape 12"/>
            <p:cNvSpPr/>
            <p:nvPr/>
          </p:nvSpPr>
          <p:spPr>
            <a:xfrm>
              <a:off x="6230112" y="1316736"/>
              <a:ext cx="609600" cy="1024128"/>
            </a:xfrm>
            <a:prstGeom prst="rect">
              <a:avLst/>
            </a:prstGeom>
            <a:solidFill>
              <a:schemeClr val="accent1">
                <a:lumMod val="50000"/>
              </a:schemeClr>
            </a:solidFill>
            <a:ln w="12700">
              <a:solidFill>
                <a:srgbClr val="156082"/>
              </a:solidFill>
              <a:prstDash val="solid"/>
            </a:ln>
          </p:spPr>
          <p:txBody>
            <a:bodyPr/>
            <a:lstStyle/>
            <a:p>
              <a:endParaRPr lang="en-SG"/>
            </a:p>
          </p:txBody>
        </p:sp>
        <p:sp>
          <p:nvSpPr>
            <p:cNvPr id="15" name="Text 13"/>
            <p:cNvSpPr/>
            <p:nvPr/>
          </p:nvSpPr>
          <p:spPr>
            <a:xfrm>
              <a:off x="6242304" y="1633728"/>
              <a:ext cx="585216" cy="43891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867" b="1">
                  <a:solidFill>
                    <a:srgbClr val="FFFFFF"/>
                  </a:solidFill>
                </a:rPr>
                <a:t>02</a:t>
              </a:r>
              <a:endParaRPr lang="en-US" sz="1867"/>
            </a:p>
          </p:txBody>
        </p:sp>
        <p:sp>
          <p:nvSpPr>
            <p:cNvPr id="16" name="Text 14"/>
            <p:cNvSpPr/>
            <p:nvPr/>
          </p:nvSpPr>
          <p:spPr>
            <a:xfrm>
              <a:off x="6961632" y="1438656"/>
              <a:ext cx="4730496"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b="1">
                  <a:solidFill>
                    <a:srgbClr val="0F172A"/>
                  </a:solidFill>
                </a:rPr>
                <a:t>Architecture</a:t>
              </a:r>
              <a:endParaRPr lang="en-US" sz="1467"/>
            </a:p>
          </p:txBody>
        </p:sp>
        <p:sp>
          <p:nvSpPr>
            <p:cNvPr id="17" name="Text 15"/>
            <p:cNvSpPr/>
            <p:nvPr/>
          </p:nvSpPr>
          <p:spPr>
            <a:xfrm>
              <a:off x="6961632" y="1840992"/>
              <a:ext cx="4730496" cy="39014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133">
                  <a:solidFill>
                    <a:srgbClr val="64748B"/>
                  </a:solidFill>
                </a:rPr>
                <a:t>Seven-stage AI pipeline · 4 integrated ML modules</a:t>
              </a:r>
              <a:endParaRPr lang="en-US" sz="1133"/>
            </a:p>
          </p:txBody>
        </p:sp>
        <p:sp>
          <p:nvSpPr>
            <p:cNvPr id="18" name="Shape 16"/>
            <p:cNvSpPr/>
            <p:nvPr/>
          </p:nvSpPr>
          <p:spPr>
            <a:xfrm>
              <a:off x="341376" y="2499360"/>
              <a:ext cx="5608320" cy="1024128"/>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SG"/>
            </a:p>
          </p:txBody>
        </p:sp>
        <p:sp>
          <p:nvSpPr>
            <p:cNvPr id="19" name="Shape 17"/>
            <p:cNvSpPr/>
            <p:nvPr/>
          </p:nvSpPr>
          <p:spPr>
            <a:xfrm>
              <a:off x="341376" y="2499360"/>
              <a:ext cx="609600" cy="1024128"/>
            </a:xfrm>
            <a:prstGeom prst="rect">
              <a:avLst/>
            </a:prstGeom>
            <a:solidFill>
              <a:schemeClr val="accent1">
                <a:lumMod val="50000"/>
              </a:schemeClr>
            </a:solidFill>
            <a:ln w="12700">
              <a:solidFill>
                <a:srgbClr val="0E2841"/>
              </a:solidFill>
              <a:prstDash val="solid"/>
            </a:ln>
          </p:spPr>
          <p:txBody>
            <a:bodyPr/>
            <a:lstStyle/>
            <a:p>
              <a:endParaRPr lang="en-SG"/>
            </a:p>
          </p:txBody>
        </p:sp>
        <p:sp>
          <p:nvSpPr>
            <p:cNvPr id="20" name="Text 18"/>
            <p:cNvSpPr/>
            <p:nvPr/>
          </p:nvSpPr>
          <p:spPr>
            <a:xfrm>
              <a:off x="353568" y="2816352"/>
              <a:ext cx="585216" cy="43891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867" b="1">
                  <a:solidFill>
                    <a:srgbClr val="FFFFFF"/>
                  </a:solidFill>
                </a:rPr>
                <a:t>03</a:t>
              </a:r>
              <a:endParaRPr lang="en-US" sz="1867"/>
            </a:p>
          </p:txBody>
        </p:sp>
        <p:sp>
          <p:nvSpPr>
            <p:cNvPr id="21" name="Text 19"/>
            <p:cNvSpPr/>
            <p:nvPr/>
          </p:nvSpPr>
          <p:spPr>
            <a:xfrm>
              <a:off x="1072896" y="2621280"/>
              <a:ext cx="4730496"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450" b="1">
                  <a:solidFill>
                    <a:srgbClr val="0F172A"/>
                  </a:solidFill>
                </a:rPr>
                <a:t>Exploratory Data Analysis</a:t>
              </a:r>
              <a:endParaRPr lang="en-US" sz="1467"/>
            </a:p>
          </p:txBody>
        </p:sp>
        <p:sp>
          <p:nvSpPr>
            <p:cNvPr id="22" name="Text 20"/>
            <p:cNvSpPr/>
            <p:nvPr/>
          </p:nvSpPr>
          <p:spPr>
            <a:xfrm>
              <a:off x="1072896" y="3023616"/>
              <a:ext cx="4730496" cy="39014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133">
                  <a:solidFill>
                    <a:srgbClr val="64748B"/>
                  </a:solidFill>
                </a:rPr>
                <a:t>9 datasets · 135K+ records · 4 key insights</a:t>
              </a:r>
              <a:endParaRPr lang="en-US" sz="1133"/>
            </a:p>
          </p:txBody>
        </p:sp>
        <p:sp>
          <p:nvSpPr>
            <p:cNvPr id="23" name="Shape 21"/>
            <p:cNvSpPr/>
            <p:nvPr/>
          </p:nvSpPr>
          <p:spPr>
            <a:xfrm>
              <a:off x="6230112" y="2499360"/>
              <a:ext cx="5608320" cy="1024128"/>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SG"/>
            </a:p>
          </p:txBody>
        </p:sp>
        <p:sp>
          <p:nvSpPr>
            <p:cNvPr id="24" name="Shape 22"/>
            <p:cNvSpPr/>
            <p:nvPr/>
          </p:nvSpPr>
          <p:spPr>
            <a:xfrm>
              <a:off x="6230112" y="2499360"/>
              <a:ext cx="609600" cy="1024128"/>
            </a:xfrm>
            <a:prstGeom prst="rect">
              <a:avLst/>
            </a:prstGeom>
            <a:solidFill>
              <a:schemeClr val="accent1">
                <a:lumMod val="50000"/>
              </a:schemeClr>
            </a:solidFill>
            <a:ln w="12700">
              <a:solidFill>
                <a:srgbClr val="E97132"/>
              </a:solidFill>
              <a:prstDash val="solid"/>
            </a:ln>
          </p:spPr>
          <p:txBody>
            <a:bodyPr/>
            <a:lstStyle/>
            <a:p>
              <a:endParaRPr lang="en-SG"/>
            </a:p>
          </p:txBody>
        </p:sp>
        <p:sp>
          <p:nvSpPr>
            <p:cNvPr id="25" name="Text 23"/>
            <p:cNvSpPr/>
            <p:nvPr/>
          </p:nvSpPr>
          <p:spPr>
            <a:xfrm>
              <a:off x="6242304" y="2816352"/>
              <a:ext cx="585216" cy="43891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867" b="1">
                  <a:solidFill>
                    <a:srgbClr val="FFFFFF"/>
                  </a:solidFill>
                </a:rPr>
                <a:t>04</a:t>
              </a:r>
              <a:endParaRPr lang="en-US" sz="1867"/>
            </a:p>
          </p:txBody>
        </p:sp>
        <p:sp>
          <p:nvSpPr>
            <p:cNvPr id="26" name="Text 24"/>
            <p:cNvSpPr/>
            <p:nvPr/>
          </p:nvSpPr>
          <p:spPr>
            <a:xfrm>
              <a:off x="6961632" y="2621280"/>
              <a:ext cx="4730496"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b="1">
                  <a:solidFill>
                    <a:srgbClr val="0F172A"/>
                  </a:solidFill>
                </a:rPr>
                <a:t>Ticket Intelligence Engine</a:t>
              </a:r>
              <a:endParaRPr lang="en-US" sz="1467"/>
            </a:p>
          </p:txBody>
        </p:sp>
        <p:sp>
          <p:nvSpPr>
            <p:cNvPr id="27" name="Text 25"/>
            <p:cNvSpPr/>
            <p:nvPr/>
          </p:nvSpPr>
          <p:spPr>
            <a:xfrm>
              <a:off x="6961632" y="3023616"/>
              <a:ext cx="4730496" cy="39014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133">
                  <a:solidFill>
                    <a:srgbClr val="64748B"/>
                  </a:solidFill>
                </a:rPr>
                <a:t>NLP classification · Retrieval · AHP routing</a:t>
              </a:r>
              <a:endParaRPr lang="en-US" sz="1133"/>
            </a:p>
          </p:txBody>
        </p:sp>
        <p:sp>
          <p:nvSpPr>
            <p:cNvPr id="28" name="Shape 26"/>
            <p:cNvSpPr/>
            <p:nvPr/>
          </p:nvSpPr>
          <p:spPr>
            <a:xfrm>
              <a:off x="341376" y="3681984"/>
              <a:ext cx="5608320" cy="1024128"/>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SG"/>
            </a:p>
          </p:txBody>
        </p:sp>
        <p:sp>
          <p:nvSpPr>
            <p:cNvPr id="29" name="Shape 27"/>
            <p:cNvSpPr/>
            <p:nvPr/>
          </p:nvSpPr>
          <p:spPr>
            <a:xfrm>
              <a:off x="341376" y="3681984"/>
              <a:ext cx="609600" cy="1024128"/>
            </a:xfrm>
            <a:prstGeom prst="rect">
              <a:avLst/>
            </a:prstGeom>
            <a:solidFill>
              <a:schemeClr val="accent1">
                <a:lumMod val="50000"/>
              </a:schemeClr>
            </a:solidFill>
            <a:ln w="12700">
              <a:solidFill>
                <a:srgbClr val="156082"/>
              </a:solidFill>
              <a:prstDash val="solid"/>
            </a:ln>
          </p:spPr>
          <p:txBody>
            <a:bodyPr/>
            <a:lstStyle/>
            <a:p>
              <a:endParaRPr lang="en-SG"/>
            </a:p>
          </p:txBody>
        </p:sp>
        <p:sp>
          <p:nvSpPr>
            <p:cNvPr id="30" name="Text 28"/>
            <p:cNvSpPr/>
            <p:nvPr/>
          </p:nvSpPr>
          <p:spPr>
            <a:xfrm>
              <a:off x="353568" y="3998976"/>
              <a:ext cx="585216" cy="43891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867" b="1">
                  <a:solidFill>
                    <a:srgbClr val="FFFFFF"/>
                  </a:solidFill>
                </a:rPr>
                <a:t>05</a:t>
              </a:r>
              <a:endParaRPr lang="en-US" sz="1867"/>
            </a:p>
          </p:txBody>
        </p:sp>
        <p:sp>
          <p:nvSpPr>
            <p:cNvPr id="31" name="Text 29"/>
            <p:cNvSpPr/>
            <p:nvPr/>
          </p:nvSpPr>
          <p:spPr>
            <a:xfrm>
              <a:off x="1072896" y="3803904"/>
              <a:ext cx="4730496"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b="1">
                  <a:solidFill>
                    <a:srgbClr val="0F172A"/>
                  </a:solidFill>
                </a:rPr>
                <a:t>SLA Breach Governance</a:t>
              </a:r>
              <a:endParaRPr lang="en-US" sz="1467"/>
            </a:p>
          </p:txBody>
        </p:sp>
        <p:sp>
          <p:nvSpPr>
            <p:cNvPr id="32" name="Text 30"/>
            <p:cNvSpPr/>
            <p:nvPr/>
          </p:nvSpPr>
          <p:spPr>
            <a:xfrm>
              <a:off x="1072896" y="4206240"/>
              <a:ext cx="4730496" cy="39014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133">
                  <a:solidFill>
                    <a:srgbClr val="64748B"/>
                  </a:solidFill>
                </a:rPr>
                <a:t>CatBoost · 94.7% recall · 4-tier escalation</a:t>
              </a:r>
              <a:endParaRPr lang="en-US" sz="1133"/>
            </a:p>
          </p:txBody>
        </p:sp>
        <p:sp>
          <p:nvSpPr>
            <p:cNvPr id="33" name="Shape 31"/>
            <p:cNvSpPr/>
            <p:nvPr/>
          </p:nvSpPr>
          <p:spPr>
            <a:xfrm>
              <a:off x="6230112" y="3681984"/>
              <a:ext cx="5608320" cy="1024128"/>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SG"/>
            </a:p>
          </p:txBody>
        </p:sp>
        <p:sp>
          <p:nvSpPr>
            <p:cNvPr id="34" name="Shape 32"/>
            <p:cNvSpPr/>
            <p:nvPr/>
          </p:nvSpPr>
          <p:spPr>
            <a:xfrm>
              <a:off x="6230112" y="3681984"/>
              <a:ext cx="609600" cy="1024128"/>
            </a:xfrm>
            <a:prstGeom prst="rect">
              <a:avLst/>
            </a:prstGeom>
            <a:solidFill>
              <a:schemeClr val="accent1">
                <a:lumMod val="50000"/>
              </a:schemeClr>
            </a:solidFill>
            <a:ln w="12700">
              <a:solidFill>
                <a:srgbClr val="22C55E"/>
              </a:solidFill>
              <a:prstDash val="solid"/>
            </a:ln>
          </p:spPr>
          <p:txBody>
            <a:bodyPr/>
            <a:lstStyle/>
            <a:p>
              <a:endParaRPr lang="en-SG"/>
            </a:p>
          </p:txBody>
        </p:sp>
        <p:sp>
          <p:nvSpPr>
            <p:cNvPr id="35" name="Text 33"/>
            <p:cNvSpPr/>
            <p:nvPr/>
          </p:nvSpPr>
          <p:spPr>
            <a:xfrm>
              <a:off x="6242304" y="3998976"/>
              <a:ext cx="585216" cy="43891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867" b="1">
                  <a:solidFill>
                    <a:srgbClr val="FFFFFF"/>
                  </a:solidFill>
                </a:rPr>
                <a:t>06</a:t>
              </a:r>
              <a:endParaRPr lang="en-US" sz="1867"/>
            </a:p>
          </p:txBody>
        </p:sp>
        <p:sp>
          <p:nvSpPr>
            <p:cNvPr id="36" name="Text 34"/>
            <p:cNvSpPr/>
            <p:nvPr/>
          </p:nvSpPr>
          <p:spPr>
            <a:xfrm>
              <a:off x="6961632" y="3803904"/>
              <a:ext cx="4730496"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b="1">
                  <a:solidFill>
                    <a:srgbClr val="0F172A"/>
                  </a:solidFill>
                </a:rPr>
                <a:t>Predictive Maintenance</a:t>
              </a:r>
              <a:endParaRPr lang="en-US" sz="1467"/>
            </a:p>
          </p:txBody>
        </p:sp>
        <p:sp>
          <p:nvSpPr>
            <p:cNvPr id="37" name="Text 35"/>
            <p:cNvSpPr/>
            <p:nvPr/>
          </p:nvSpPr>
          <p:spPr>
            <a:xfrm>
              <a:off x="6961632" y="4206240"/>
              <a:ext cx="4730496" cy="39014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133">
                  <a:solidFill>
                    <a:srgbClr val="64748B"/>
                  </a:solidFill>
                </a:rPr>
                <a:t>RSF · C-Index 98.90% · 5-stage feature cascade</a:t>
              </a:r>
              <a:endParaRPr lang="en-US" sz="1133"/>
            </a:p>
          </p:txBody>
        </p:sp>
        <p:sp>
          <p:nvSpPr>
            <p:cNvPr id="38" name="Shape 36"/>
            <p:cNvSpPr/>
            <p:nvPr/>
          </p:nvSpPr>
          <p:spPr>
            <a:xfrm>
              <a:off x="341376" y="4864608"/>
              <a:ext cx="5608320" cy="1024128"/>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SG"/>
            </a:p>
          </p:txBody>
        </p:sp>
        <p:sp>
          <p:nvSpPr>
            <p:cNvPr id="39" name="Shape 37"/>
            <p:cNvSpPr/>
            <p:nvPr/>
          </p:nvSpPr>
          <p:spPr>
            <a:xfrm>
              <a:off x="341376" y="4864608"/>
              <a:ext cx="609600" cy="1024128"/>
            </a:xfrm>
            <a:prstGeom prst="rect">
              <a:avLst/>
            </a:prstGeom>
            <a:solidFill>
              <a:schemeClr val="accent1">
                <a:lumMod val="50000"/>
              </a:schemeClr>
            </a:solidFill>
            <a:ln w="12700">
              <a:solidFill>
                <a:srgbClr val="F59E0B"/>
              </a:solidFill>
              <a:prstDash val="solid"/>
            </a:ln>
          </p:spPr>
          <p:txBody>
            <a:bodyPr/>
            <a:lstStyle/>
            <a:p>
              <a:endParaRPr lang="en-SG"/>
            </a:p>
          </p:txBody>
        </p:sp>
        <p:sp>
          <p:nvSpPr>
            <p:cNvPr id="40" name="Text 38"/>
            <p:cNvSpPr/>
            <p:nvPr/>
          </p:nvSpPr>
          <p:spPr>
            <a:xfrm>
              <a:off x="353568" y="5181600"/>
              <a:ext cx="585216" cy="43891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867" b="1">
                  <a:solidFill>
                    <a:srgbClr val="FFFFFF"/>
                  </a:solidFill>
                </a:rPr>
                <a:t>07</a:t>
              </a:r>
              <a:endParaRPr lang="en-US" sz="1867"/>
            </a:p>
          </p:txBody>
        </p:sp>
        <p:sp>
          <p:nvSpPr>
            <p:cNvPr id="41" name="Text 39"/>
            <p:cNvSpPr/>
            <p:nvPr/>
          </p:nvSpPr>
          <p:spPr>
            <a:xfrm>
              <a:off x="1072896" y="4986528"/>
              <a:ext cx="4730496"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50" b="1">
                  <a:solidFill>
                    <a:srgbClr val="0F172A"/>
                  </a:solidFill>
                </a:rPr>
                <a:t>Procurement Optimization</a:t>
              </a:r>
              <a:endParaRPr lang="en-US" sz="1467"/>
            </a:p>
          </p:txBody>
        </p:sp>
        <p:sp>
          <p:nvSpPr>
            <p:cNvPr id="42" name="Text 40"/>
            <p:cNvSpPr/>
            <p:nvPr/>
          </p:nvSpPr>
          <p:spPr>
            <a:xfrm>
              <a:off x="1072896" y="5388864"/>
              <a:ext cx="4730496" cy="39014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133">
                  <a:solidFill>
                    <a:srgbClr val="64748B"/>
                  </a:solidFill>
                </a:rPr>
                <a:t>Demand-driven reorder algorithm</a:t>
              </a:r>
              <a:endParaRPr lang="en-US" sz="1133"/>
            </a:p>
          </p:txBody>
        </p:sp>
        <p:sp>
          <p:nvSpPr>
            <p:cNvPr id="43" name="Shape 41"/>
            <p:cNvSpPr/>
            <p:nvPr/>
          </p:nvSpPr>
          <p:spPr>
            <a:xfrm>
              <a:off x="6230112" y="4864608"/>
              <a:ext cx="5608320" cy="1024128"/>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SG"/>
            </a:p>
          </p:txBody>
        </p:sp>
        <p:sp>
          <p:nvSpPr>
            <p:cNvPr id="44" name="Shape 42"/>
            <p:cNvSpPr/>
            <p:nvPr/>
          </p:nvSpPr>
          <p:spPr>
            <a:xfrm>
              <a:off x="6230112" y="4864608"/>
              <a:ext cx="609600" cy="1024128"/>
            </a:xfrm>
            <a:prstGeom prst="rect">
              <a:avLst/>
            </a:prstGeom>
            <a:solidFill>
              <a:schemeClr val="accent1">
                <a:lumMod val="50000"/>
              </a:schemeClr>
            </a:solidFill>
            <a:ln w="12700">
              <a:solidFill>
                <a:srgbClr val="0E2841"/>
              </a:solidFill>
              <a:prstDash val="solid"/>
            </a:ln>
          </p:spPr>
          <p:txBody>
            <a:bodyPr/>
            <a:lstStyle/>
            <a:p>
              <a:endParaRPr lang="en-SG"/>
            </a:p>
          </p:txBody>
        </p:sp>
        <p:sp>
          <p:nvSpPr>
            <p:cNvPr id="45" name="Text 43"/>
            <p:cNvSpPr/>
            <p:nvPr/>
          </p:nvSpPr>
          <p:spPr>
            <a:xfrm>
              <a:off x="6242304" y="5181600"/>
              <a:ext cx="585216" cy="43891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867" b="1">
                  <a:solidFill>
                    <a:srgbClr val="FFFFFF"/>
                  </a:solidFill>
                </a:rPr>
                <a:t>08</a:t>
              </a:r>
              <a:endParaRPr lang="en-US" sz="1867"/>
            </a:p>
          </p:txBody>
        </p:sp>
        <p:sp>
          <p:nvSpPr>
            <p:cNvPr id="46" name="Text 44"/>
            <p:cNvSpPr/>
            <p:nvPr/>
          </p:nvSpPr>
          <p:spPr>
            <a:xfrm>
              <a:off x="6961632" y="4986528"/>
              <a:ext cx="4730496"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b="1">
                  <a:solidFill>
                    <a:srgbClr val="0F172A"/>
                  </a:solidFill>
                </a:rPr>
                <a:t>Dashboard</a:t>
              </a:r>
              <a:endParaRPr lang="en-US" sz="1467"/>
            </a:p>
          </p:txBody>
        </p:sp>
        <p:sp>
          <p:nvSpPr>
            <p:cNvPr id="47" name="Text 45"/>
            <p:cNvSpPr/>
            <p:nvPr/>
          </p:nvSpPr>
          <p:spPr>
            <a:xfrm>
              <a:off x="6961632" y="5388864"/>
              <a:ext cx="4730496" cy="39014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133">
                  <a:solidFill>
                    <a:srgbClr val="64748B"/>
                  </a:solidFill>
                </a:rPr>
                <a:t>Login · 5 modules · Role-based · Live screenshots</a:t>
              </a:r>
              <a:endParaRPr lang="en-US" sz="1133"/>
            </a:p>
          </p:txBody>
        </p:sp>
        <p:sp>
          <p:nvSpPr>
            <p:cNvPr id="48" name="Shape 46"/>
            <p:cNvSpPr/>
            <p:nvPr/>
          </p:nvSpPr>
          <p:spPr>
            <a:xfrm>
              <a:off x="341376" y="6047232"/>
              <a:ext cx="5608320" cy="1024128"/>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SG"/>
            </a:p>
          </p:txBody>
        </p:sp>
        <p:sp>
          <p:nvSpPr>
            <p:cNvPr id="49" name="Shape 47"/>
            <p:cNvSpPr/>
            <p:nvPr/>
          </p:nvSpPr>
          <p:spPr>
            <a:xfrm>
              <a:off x="341376" y="6047232"/>
              <a:ext cx="609600" cy="1024128"/>
            </a:xfrm>
            <a:prstGeom prst="rect">
              <a:avLst/>
            </a:prstGeom>
            <a:solidFill>
              <a:schemeClr val="accent1">
                <a:lumMod val="50000"/>
              </a:schemeClr>
            </a:solidFill>
            <a:ln w="12700">
              <a:solidFill>
                <a:srgbClr val="156082"/>
              </a:solidFill>
              <a:prstDash val="solid"/>
            </a:ln>
          </p:spPr>
          <p:txBody>
            <a:bodyPr/>
            <a:lstStyle/>
            <a:p>
              <a:endParaRPr lang="en-SG"/>
            </a:p>
          </p:txBody>
        </p:sp>
        <p:sp>
          <p:nvSpPr>
            <p:cNvPr id="50" name="Text 48"/>
            <p:cNvSpPr/>
            <p:nvPr/>
          </p:nvSpPr>
          <p:spPr>
            <a:xfrm>
              <a:off x="353568" y="6364224"/>
              <a:ext cx="585216" cy="43891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867" b="1">
                  <a:solidFill>
                    <a:srgbClr val="FFFFFF"/>
                  </a:solidFill>
                </a:rPr>
                <a:t>09</a:t>
              </a:r>
              <a:endParaRPr lang="en-US" sz="1867"/>
            </a:p>
          </p:txBody>
        </p:sp>
        <p:sp>
          <p:nvSpPr>
            <p:cNvPr id="51" name="Text 49"/>
            <p:cNvSpPr/>
            <p:nvPr/>
          </p:nvSpPr>
          <p:spPr>
            <a:xfrm>
              <a:off x="1072896" y="6169152"/>
              <a:ext cx="4730496"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b="1">
                  <a:solidFill>
                    <a:srgbClr val="0F172A"/>
                  </a:solidFill>
                </a:rPr>
                <a:t>Results &amp; Future Scope</a:t>
              </a:r>
              <a:endParaRPr lang="en-US" sz="1467"/>
            </a:p>
          </p:txBody>
        </p:sp>
        <p:sp>
          <p:nvSpPr>
            <p:cNvPr id="52" name="Text 50"/>
            <p:cNvSpPr/>
            <p:nvPr/>
          </p:nvSpPr>
          <p:spPr>
            <a:xfrm>
              <a:off x="1072896" y="6571488"/>
              <a:ext cx="4730496" cy="39014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133">
                  <a:solidFill>
                    <a:srgbClr val="64748B"/>
                  </a:solidFill>
                </a:rPr>
                <a:t>Business impact · Scalability roadmap</a:t>
              </a:r>
              <a:endParaRPr lang="en-US" sz="1133"/>
            </a:p>
          </p:txBody>
        </p:sp>
        <p:sp>
          <p:nvSpPr>
            <p:cNvPr id="53" name="Shape 51"/>
            <p:cNvSpPr/>
            <p:nvPr/>
          </p:nvSpPr>
          <p:spPr>
            <a:xfrm>
              <a:off x="6230112" y="6047232"/>
              <a:ext cx="5608320" cy="1024128"/>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SG"/>
            </a:p>
          </p:txBody>
        </p:sp>
        <p:sp>
          <p:nvSpPr>
            <p:cNvPr id="54" name="Shape 52"/>
            <p:cNvSpPr/>
            <p:nvPr/>
          </p:nvSpPr>
          <p:spPr>
            <a:xfrm>
              <a:off x="6230112" y="6047232"/>
              <a:ext cx="609600" cy="1024128"/>
            </a:xfrm>
            <a:prstGeom prst="rect">
              <a:avLst/>
            </a:prstGeom>
            <a:solidFill>
              <a:schemeClr val="accent1">
                <a:lumMod val="50000"/>
              </a:schemeClr>
            </a:solidFill>
            <a:ln w="12700">
              <a:solidFill>
                <a:srgbClr val="22C55E"/>
              </a:solidFill>
              <a:prstDash val="solid"/>
            </a:ln>
          </p:spPr>
          <p:txBody>
            <a:bodyPr/>
            <a:lstStyle/>
            <a:p>
              <a:endParaRPr lang="en-SG"/>
            </a:p>
          </p:txBody>
        </p:sp>
        <p:sp>
          <p:nvSpPr>
            <p:cNvPr id="55" name="Text 53"/>
            <p:cNvSpPr/>
            <p:nvPr/>
          </p:nvSpPr>
          <p:spPr>
            <a:xfrm>
              <a:off x="6242304" y="6364224"/>
              <a:ext cx="585216" cy="43891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867" b="1">
                  <a:solidFill>
                    <a:srgbClr val="FFFFFF"/>
                  </a:solidFill>
                </a:rPr>
                <a:t>10</a:t>
              </a:r>
              <a:endParaRPr lang="en-US" sz="1867"/>
            </a:p>
          </p:txBody>
        </p:sp>
        <p:sp>
          <p:nvSpPr>
            <p:cNvPr id="56" name="Text 54"/>
            <p:cNvSpPr/>
            <p:nvPr/>
          </p:nvSpPr>
          <p:spPr>
            <a:xfrm>
              <a:off x="6961632" y="6169152"/>
              <a:ext cx="4730496"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b="1">
                  <a:solidFill>
                    <a:srgbClr val="0F172A"/>
                  </a:solidFill>
                </a:rPr>
                <a:t>Key Takeaways</a:t>
              </a:r>
              <a:endParaRPr lang="en-US" sz="1467"/>
            </a:p>
          </p:txBody>
        </p:sp>
        <p:sp>
          <p:nvSpPr>
            <p:cNvPr id="57" name="Text 55"/>
            <p:cNvSpPr/>
            <p:nvPr/>
          </p:nvSpPr>
          <p:spPr>
            <a:xfrm>
              <a:off x="6961632" y="6571488"/>
              <a:ext cx="4730496" cy="39014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133">
                  <a:solidFill>
                    <a:srgbClr val="64748B"/>
                  </a:solidFill>
                </a:rPr>
                <a:t>6 lessons from building end-to-end AI ops</a:t>
              </a:r>
              <a:endParaRPr lang="en-US" sz="1133"/>
            </a:p>
          </p:txBody>
        </p:sp>
      </p:grpSp>
    </p:spTree>
    <p:extLst>
      <p:ext uri="{BB962C8B-B14F-4D97-AF65-F5344CB8AC3E}">
        <p14:creationId xmlns:p14="http://schemas.microsoft.com/office/powerpoint/2010/main" val="955969799"/>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853440"/>
          </a:xfrm>
          <a:prstGeom prst="rect">
            <a:avLst/>
          </a:prstGeom>
          <a:solidFill>
            <a:srgbClr val="1E2761"/>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26720" y="73152"/>
            <a:ext cx="10972800" cy="670560"/>
          </a:xfrm>
          <a:prstGeom prst="rect">
            <a:avLst/>
          </a:prstGeom>
          <a:noFill/>
          <a:ln/>
        </p:spPr>
        <p:txBody>
          <a:bodyPr wrap="square" lIns="0" tIns="0" rIns="0" bIns="0" rtlCol="0" anchor="ctr"/>
          <a:lstStyle/>
          <a:p>
            <a:pPr algn="l" defTabSz="1219170" rtl="0">
              <a:defRPr/>
            </a:pPr>
            <a:r>
              <a:rPr lang="en-US" sz="2900" b="1" kern="1200">
                <a:solidFill>
                  <a:srgbClr val="FFFFFF"/>
                </a:solidFill>
                <a:latin typeface="Georgia"/>
                <a:ea typeface="Georgia" pitchFamily="34" charset="-122"/>
                <a:cs typeface="Georgia" pitchFamily="34" charset="-120"/>
              </a:rPr>
              <a:t>Project Overview</a:t>
            </a:r>
            <a:endParaRPr lang="en-US" sz="2900" b="0" i="0" u="none" strike="noStrike" kern="1200" cap="none" spc="0" normalizeH="0" baseline="0" noProof="0">
              <a:ln>
                <a:noFill/>
              </a:ln>
              <a:solidFill>
                <a:prstClr val="black"/>
              </a:solidFill>
              <a:effectLst/>
              <a:uLnTx/>
              <a:uFillTx/>
              <a:latin typeface="Georgia"/>
              <a:ea typeface="Calibri"/>
              <a:cs typeface="Calibri"/>
            </a:endParaRPr>
          </a:p>
        </p:txBody>
      </p:sp>
      <p:sp>
        <p:nvSpPr>
          <p:cNvPr id="4" name="Text 2"/>
          <p:cNvSpPr/>
          <p:nvPr/>
        </p:nvSpPr>
        <p:spPr>
          <a:xfrm>
            <a:off x="405554" y="1096616"/>
            <a:ext cx="3428999" cy="418676"/>
          </a:xfrm>
          <a:prstGeom prst="rect">
            <a:avLst/>
          </a:prstGeom>
          <a:noFill/>
          <a:ln/>
        </p:spPr>
        <p:txBody>
          <a:bodyPr wrap="square" lIns="0" tIns="0" rIns="0" bIns="0" rtlCol="0" anchor="ctr"/>
          <a:lstStyle/>
          <a:p>
            <a:pPr algn="l" defTabSz="1219170" rtl="0">
              <a:defRPr/>
            </a:pPr>
            <a:r>
              <a:rPr lang="en-US" b="1" spc="533">
                <a:solidFill>
                  <a:srgbClr val="3B82F6"/>
                </a:solidFill>
                <a:latin typeface="Calibri"/>
                <a:ea typeface="Calibri"/>
                <a:cs typeface="Calibri"/>
              </a:rPr>
              <a:t>PROBLEM STATEMENT</a:t>
            </a:r>
            <a:endParaRPr lang="en-US" sz="1800" b="1" i="0" u="none" strike="noStrike" cap="none" spc="533" normalizeH="0" baseline="0" noProof="0">
              <a:ln>
                <a:noFill/>
              </a:ln>
              <a:solidFill>
                <a:srgbClr val="3B82F6"/>
              </a:solidFill>
              <a:effectLst/>
              <a:uLnTx/>
              <a:uFillTx/>
              <a:latin typeface="Calibri"/>
              <a:ea typeface="Calibri"/>
              <a:cs typeface="Calibri"/>
            </a:endParaRPr>
          </a:p>
        </p:txBody>
      </p:sp>
      <p:sp>
        <p:nvSpPr>
          <p:cNvPr id="5" name="Shape 3"/>
          <p:cNvSpPr/>
          <p:nvPr/>
        </p:nvSpPr>
        <p:spPr>
          <a:xfrm>
            <a:off x="402907" y="1523336"/>
            <a:ext cx="7047548" cy="801528"/>
          </a:xfrm>
          <a:prstGeom prst="rect">
            <a:avLst/>
          </a:prstGeom>
          <a:solidFill>
            <a:srgbClr val="F1F5F9"/>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0" descr="preencoded.png"/>
          <p:cNvPicPr>
            <a:picLocks noChangeAspect="1"/>
          </p:cNvPicPr>
          <p:nvPr/>
        </p:nvPicPr>
        <p:blipFill>
          <a:blip r:embed="rId3"/>
          <a:stretch>
            <a:fillRect/>
          </a:stretch>
        </p:blipFill>
        <p:spPr>
          <a:xfrm>
            <a:off x="573024" y="1667640"/>
            <a:ext cx="426720" cy="426720"/>
          </a:xfrm>
          <a:prstGeom prst="rect">
            <a:avLst/>
          </a:prstGeom>
        </p:spPr>
      </p:pic>
      <p:sp>
        <p:nvSpPr>
          <p:cNvPr id="7" name="Text 4"/>
          <p:cNvSpPr/>
          <p:nvPr/>
        </p:nvSpPr>
        <p:spPr>
          <a:xfrm>
            <a:off x="1158240" y="1606680"/>
            <a:ext cx="6217920" cy="67056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1E293B"/>
                </a:solidFill>
                <a:effectLst/>
                <a:uLnTx/>
                <a:uFillTx/>
                <a:latin typeface="Calibri"/>
                <a:ea typeface="Calibri"/>
                <a:cs typeface="Calibri"/>
              </a:rPr>
              <a:t>IT ops are critical across BFSI, healthcare, manufacturing &amp; IT services — but managed through fragmented, siloed systems.</a:t>
            </a:r>
            <a:endParaRPr kumimoji="0" lang="en-US" sz="1400" b="0" i="0" u="none" strike="noStrike" kern="1200" cap="none" spc="0" normalizeH="0" baseline="0" noProof="0">
              <a:ln>
                <a:noFill/>
              </a:ln>
              <a:solidFill>
                <a:prstClr val="black"/>
              </a:solidFill>
              <a:effectLst/>
              <a:uLnTx/>
              <a:uFillTx/>
              <a:latin typeface="Calibri"/>
              <a:ea typeface="Calibri"/>
              <a:cs typeface="Calibri"/>
            </a:endParaRPr>
          </a:p>
        </p:txBody>
      </p:sp>
      <p:sp>
        <p:nvSpPr>
          <p:cNvPr id="8" name="Shape 5"/>
          <p:cNvSpPr/>
          <p:nvPr/>
        </p:nvSpPr>
        <p:spPr>
          <a:xfrm>
            <a:off x="426720" y="2700912"/>
            <a:ext cx="3413760" cy="999744"/>
          </a:xfrm>
          <a:prstGeom prst="rect">
            <a:avLst/>
          </a:prstGeom>
          <a:solidFill>
            <a:srgbClr val="F8FAFC"/>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6"/>
          <p:cNvSpPr/>
          <p:nvPr/>
        </p:nvSpPr>
        <p:spPr>
          <a:xfrm>
            <a:off x="426720" y="2700912"/>
            <a:ext cx="60960" cy="999744"/>
          </a:xfrm>
          <a:prstGeom prst="rect">
            <a:avLst/>
          </a:prstGeom>
          <a:solidFill>
            <a:srgbClr val="DC2626"/>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 name="Image 1" descr="preencoded.png"/>
          <p:cNvPicPr>
            <a:picLocks noChangeAspect="1"/>
          </p:cNvPicPr>
          <p:nvPr/>
        </p:nvPicPr>
        <p:blipFill>
          <a:blip r:embed="rId4"/>
          <a:stretch>
            <a:fillRect/>
          </a:stretch>
        </p:blipFill>
        <p:spPr>
          <a:xfrm>
            <a:off x="646176" y="2883792"/>
            <a:ext cx="365760" cy="365760"/>
          </a:xfrm>
          <a:prstGeom prst="rect">
            <a:avLst/>
          </a:prstGeom>
        </p:spPr>
      </p:pic>
      <p:sp>
        <p:nvSpPr>
          <p:cNvPr id="11" name="Text 7"/>
          <p:cNvSpPr/>
          <p:nvPr/>
        </p:nvSpPr>
        <p:spPr>
          <a:xfrm>
            <a:off x="1158240" y="2798448"/>
            <a:ext cx="2560320" cy="36576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E293B"/>
                </a:solidFill>
                <a:effectLst/>
                <a:uLnTx/>
                <a:uFillTx/>
                <a:latin typeface="Calibri"/>
                <a:ea typeface="Calibri"/>
                <a:cs typeface="Calibri"/>
              </a:rPr>
              <a:t>Reactive Service </a:t>
            </a:r>
            <a:r>
              <a:rPr lang="en-US" sz="1300" b="1" kern="1200">
                <a:solidFill>
                  <a:srgbClr val="1E293B"/>
                </a:solidFill>
                <a:latin typeface="Calibri"/>
                <a:ea typeface="Calibri"/>
                <a:cs typeface="Calibri"/>
              </a:rPr>
              <a:t>Management</a:t>
            </a:r>
            <a:endParaRPr kumimoji="0" lang="en-US" sz="1333" b="0" i="0" u="none" strike="noStrike" kern="1200" cap="none" spc="0" normalizeH="0" baseline="0" noProof="0" err="1">
              <a:ln>
                <a:noFill/>
              </a:ln>
              <a:solidFill>
                <a:prstClr val="black"/>
              </a:solidFill>
              <a:effectLst/>
              <a:uLnTx/>
              <a:uFillTx/>
              <a:latin typeface="Calibri" panose="020F0502020204030204"/>
              <a:ea typeface="+mn-ea"/>
              <a:cs typeface="+mn-cs"/>
            </a:endParaRPr>
          </a:p>
        </p:txBody>
      </p:sp>
      <p:sp>
        <p:nvSpPr>
          <p:cNvPr id="12" name="Text 8"/>
          <p:cNvSpPr/>
          <p:nvPr/>
        </p:nvSpPr>
        <p:spPr>
          <a:xfrm>
            <a:off x="1158240" y="3188592"/>
            <a:ext cx="2560320" cy="58521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a:ea typeface="Calibri"/>
                <a:cs typeface="Calibri"/>
              </a:rPr>
              <a:t>Responding only after incidents occur — no early warning capability</a:t>
            </a:r>
          </a:p>
        </p:txBody>
      </p:sp>
      <p:sp>
        <p:nvSpPr>
          <p:cNvPr id="13" name="Shape 9"/>
          <p:cNvSpPr/>
          <p:nvPr/>
        </p:nvSpPr>
        <p:spPr>
          <a:xfrm>
            <a:off x="4084320" y="2700912"/>
            <a:ext cx="3413760" cy="999744"/>
          </a:xfrm>
          <a:prstGeom prst="rect">
            <a:avLst/>
          </a:prstGeom>
          <a:solidFill>
            <a:srgbClr val="F8FAFC"/>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0"/>
          <p:cNvSpPr/>
          <p:nvPr/>
        </p:nvSpPr>
        <p:spPr>
          <a:xfrm>
            <a:off x="4084320" y="2700912"/>
            <a:ext cx="60960" cy="999744"/>
          </a:xfrm>
          <a:prstGeom prst="rect">
            <a:avLst/>
          </a:prstGeom>
          <a:solidFill>
            <a:srgbClr val="D97706"/>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5" name="Image 2" descr="preencoded.png"/>
          <p:cNvPicPr>
            <a:picLocks noChangeAspect="1"/>
          </p:cNvPicPr>
          <p:nvPr/>
        </p:nvPicPr>
        <p:blipFill>
          <a:blip r:embed="rId5"/>
          <a:stretch>
            <a:fillRect/>
          </a:stretch>
        </p:blipFill>
        <p:spPr>
          <a:xfrm>
            <a:off x="4303776" y="2883792"/>
            <a:ext cx="365760" cy="365760"/>
          </a:xfrm>
          <a:prstGeom prst="rect">
            <a:avLst/>
          </a:prstGeom>
        </p:spPr>
      </p:pic>
      <p:sp>
        <p:nvSpPr>
          <p:cNvPr id="16" name="Text 11"/>
          <p:cNvSpPr/>
          <p:nvPr/>
        </p:nvSpPr>
        <p:spPr>
          <a:xfrm>
            <a:off x="4815840" y="2798448"/>
            <a:ext cx="2560320" cy="36576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Retrospective SLA</a:t>
            </a:r>
            <a:endParaRPr kumimoji="0" lang="en-US" sz="133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2"/>
          <p:cNvSpPr/>
          <p:nvPr/>
        </p:nvSpPr>
        <p:spPr>
          <a:xfrm>
            <a:off x="4815840" y="3188592"/>
            <a:ext cx="2560320" cy="58521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a:ea typeface="Calibri"/>
                <a:cs typeface="Calibri"/>
              </a:rPr>
              <a:t>SLA monitoring is backward-looking with limited breach prevention</a:t>
            </a:r>
          </a:p>
        </p:txBody>
      </p:sp>
      <p:sp>
        <p:nvSpPr>
          <p:cNvPr id="18" name="Shape 13"/>
          <p:cNvSpPr/>
          <p:nvPr/>
        </p:nvSpPr>
        <p:spPr>
          <a:xfrm>
            <a:off x="426720" y="3822576"/>
            <a:ext cx="3413760" cy="999744"/>
          </a:xfrm>
          <a:prstGeom prst="rect">
            <a:avLst/>
          </a:prstGeom>
          <a:solidFill>
            <a:srgbClr val="F8FAFC"/>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4"/>
          <p:cNvSpPr/>
          <p:nvPr/>
        </p:nvSpPr>
        <p:spPr>
          <a:xfrm>
            <a:off x="426720" y="3822576"/>
            <a:ext cx="60960" cy="999744"/>
          </a:xfrm>
          <a:prstGeom prst="rect">
            <a:avLst/>
          </a:prstGeom>
          <a:solidFill>
            <a:srgbClr val="0891B2"/>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0" name="Image 3" descr="preencoded.png"/>
          <p:cNvPicPr>
            <a:picLocks noChangeAspect="1"/>
          </p:cNvPicPr>
          <p:nvPr/>
        </p:nvPicPr>
        <p:blipFill>
          <a:blip r:embed="rId6"/>
          <a:stretch>
            <a:fillRect/>
          </a:stretch>
        </p:blipFill>
        <p:spPr>
          <a:xfrm>
            <a:off x="646176" y="4005456"/>
            <a:ext cx="365760" cy="365760"/>
          </a:xfrm>
          <a:prstGeom prst="rect">
            <a:avLst/>
          </a:prstGeom>
        </p:spPr>
      </p:pic>
      <p:sp>
        <p:nvSpPr>
          <p:cNvPr id="21" name="Text 15"/>
          <p:cNvSpPr/>
          <p:nvPr/>
        </p:nvSpPr>
        <p:spPr>
          <a:xfrm>
            <a:off x="1158240" y="3920112"/>
            <a:ext cx="2560320" cy="36576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Unpredictable Failures</a:t>
            </a:r>
            <a:endParaRPr kumimoji="0" lang="en-US" sz="133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16"/>
          <p:cNvSpPr/>
          <p:nvPr/>
        </p:nvSpPr>
        <p:spPr>
          <a:xfrm>
            <a:off x="1158240" y="4319400"/>
            <a:ext cx="2560320" cy="58521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a:ea typeface="Calibri"/>
                <a:cs typeface="Calibri"/>
              </a:rPr>
              <a:t>Hardware failures surprise teams due to lack of predictive insights</a:t>
            </a:r>
          </a:p>
        </p:txBody>
      </p:sp>
      <p:sp>
        <p:nvSpPr>
          <p:cNvPr id="23" name="Shape 17"/>
          <p:cNvSpPr/>
          <p:nvPr/>
        </p:nvSpPr>
        <p:spPr>
          <a:xfrm>
            <a:off x="4084320" y="3822576"/>
            <a:ext cx="3413760" cy="999744"/>
          </a:xfrm>
          <a:prstGeom prst="rect">
            <a:avLst/>
          </a:prstGeom>
          <a:solidFill>
            <a:srgbClr val="F8FAFC"/>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18"/>
          <p:cNvSpPr/>
          <p:nvPr/>
        </p:nvSpPr>
        <p:spPr>
          <a:xfrm>
            <a:off x="4084320" y="3822576"/>
            <a:ext cx="60960" cy="999744"/>
          </a:xfrm>
          <a:prstGeom prst="rect">
            <a:avLst/>
          </a:prstGeom>
          <a:solidFill>
            <a:srgbClr val="8B5CF6"/>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5" name="Image 4" descr="preencoded.png"/>
          <p:cNvPicPr>
            <a:picLocks noChangeAspect="1"/>
          </p:cNvPicPr>
          <p:nvPr/>
        </p:nvPicPr>
        <p:blipFill>
          <a:blip r:embed="rId7"/>
          <a:stretch>
            <a:fillRect/>
          </a:stretch>
        </p:blipFill>
        <p:spPr>
          <a:xfrm>
            <a:off x="4303776" y="4005456"/>
            <a:ext cx="365760" cy="365760"/>
          </a:xfrm>
          <a:prstGeom prst="rect">
            <a:avLst/>
          </a:prstGeom>
        </p:spPr>
      </p:pic>
      <p:sp>
        <p:nvSpPr>
          <p:cNvPr id="26" name="Text 19"/>
          <p:cNvSpPr/>
          <p:nvPr/>
        </p:nvSpPr>
        <p:spPr>
          <a:xfrm>
            <a:off x="4815840" y="3920112"/>
            <a:ext cx="2560320" cy="36576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Experience-Based Inventory</a:t>
            </a:r>
            <a:endParaRPr kumimoji="0" lang="en-US" sz="133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0"/>
          <p:cNvSpPr/>
          <p:nvPr/>
        </p:nvSpPr>
        <p:spPr>
          <a:xfrm>
            <a:off x="4815840" y="4319400"/>
            <a:ext cx="2560320" cy="58521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a:ea typeface="Calibri"/>
                <a:cs typeface="Calibri"/>
              </a:rPr>
              <a:t>Procurement decisions driven by gut feel, not data</a:t>
            </a:r>
          </a:p>
        </p:txBody>
      </p:sp>
      <p:sp>
        <p:nvSpPr>
          <p:cNvPr id="28" name="Text 21"/>
          <p:cNvSpPr/>
          <p:nvPr/>
        </p:nvSpPr>
        <p:spPr>
          <a:xfrm>
            <a:off x="426720" y="5182312"/>
            <a:ext cx="3048000" cy="30480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0" cap="none" spc="400" normalizeH="0" baseline="0" noProof="0">
                <a:ln>
                  <a:noFill/>
                </a:ln>
                <a:solidFill>
                  <a:srgbClr val="DC2626"/>
                </a:solidFill>
                <a:effectLst/>
                <a:uLnTx/>
                <a:uFillTx/>
                <a:latin typeface="Calibri"/>
                <a:ea typeface="Calibri"/>
                <a:cs typeface="Calibri"/>
              </a:rPr>
              <a:t>BUSINESS IMPACT</a:t>
            </a:r>
            <a:endParaRPr kumimoji="0" lang="en-US" sz="1800" b="0" i="0" u="none" strike="noStrike" kern="1200" cap="none" spc="0" normalizeH="0" baseline="0" noProof="0">
              <a:ln>
                <a:noFill/>
              </a:ln>
              <a:solidFill>
                <a:prstClr val="black"/>
              </a:solidFill>
              <a:effectLst/>
              <a:uLnTx/>
              <a:uFillTx/>
              <a:latin typeface="Calibri"/>
              <a:ea typeface="Calibri"/>
              <a:cs typeface="Calibri"/>
            </a:endParaRPr>
          </a:p>
        </p:txBody>
      </p:sp>
      <p:sp>
        <p:nvSpPr>
          <p:cNvPr id="29" name="Shape 22"/>
          <p:cNvSpPr/>
          <p:nvPr/>
        </p:nvSpPr>
        <p:spPr>
          <a:xfrm>
            <a:off x="426720" y="5548072"/>
            <a:ext cx="1584960" cy="792480"/>
          </a:xfrm>
          <a:prstGeom prst="rect">
            <a:avLst/>
          </a:prstGeom>
          <a:solidFill>
            <a:srgbClr val="FEF2F2"/>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0" name="Image 5" descr="preencoded.png"/>
          <p:cNvPicPr>
            <a:picLocks noChangeAspect="1"/>
          </p:cNvPicPr>
          <p:nvPr/>
        </p:nvPicPr>
        <p:blipFill>
          <a:blip r:embed="rId8"/>
          <a:stretch>
            <a:fillRect/>
          </a:stretch>
        </p:blipFill>
        <p:spPr>
          <a:xfrm>
            <a:off x="1072896" y="5609032"/>
            <a:ext cx="292608" cy="292608"/>
          </a:xfrm>
          <a:prstGeom prst="rect">
            <a:avLst/>
          </a:prstGeom>
        </p:spPr>
      </p:pic>
      <p:sp>
        <p:nvSpPr>
          <p:cNvPr id="31" name="Text 23"/>
          <p:cNvSpPr/>
          <p:nvPr/>
        </p:nvSpPr>
        <p:spPr>
          <a:xfrm>
            <a:off x="426720" y="5938216"/>
            <a:ext cx="1584960" cy="365760"/>
          </a:xfrm>
          <a:prstGeom prst="rect">
            <a:avLst/>
          </a:prstGeom>
          <a:noFill/>
          <a:ln/>
        </p:spPr>
        <p:txBody>
          <a:bodyPr wrap="square" lIns="0" tIns="0" rIns="0" bIns="0" rtlCol="0" anchor="t"/>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Increased</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Downtime</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24"/>
          <p:cNvSpPr/>
          <p:nvPr/>
        </p:nvSpPr>
        <p:spPr>
          <a:xfrm>
            <a:off x="2133600" y="5548072"/>
            <a:ext cx="1584960" cy="792480"/>
          </a:xfrm>
          <a:prstGeom prst="rect">
            <a:avLst/>
          </a:prstGeom>
          <a:solidFill>
            <a:srgbClr val="FEF2F2"/>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3" name="Image 6" descr="preencoded.png"/>
          <p:cNvPicPr>
            <a:picLocks noChangeAspect="1"/>
          </p:cNvPicPr>
          <p:nvPr/>
        </p:nvPicPr>
        <p:blipFill>
          <a:blip r:embed="rId9"/>
          <a:stretch>
            <a:fillRect/>
          </a:stretch>
        </p:blipFill>
        <p:spPr>
          <a:xfrm>
            <a:off x="2779776" y="5609032"/>
            <a:ext cx="292608" cy="292608"/>
          </a:xfrm>
          <a:prstGeom prst="rect">
            <a:avLst/>
          </a:prstGeom>
        </p:spPr>
      </p:pic>
      <p:sp>
        <p:nvSpPr>
          <p:cNvPr id="34" name="Text 25"/>
          <p:cNvSpPr/>
          <p:nvPr/>
        </p:nvSpPr>
        <p:spPr>
          <a:xfrm>
            <a:off x="2133600" y="5938216"/>
            <a:ext cx="1584960" cy="365760"/>
          </a:xfrm>
          <a:prstGeom prst="rect">
            <a:avLst/>
          </a:prstGeom>
          <a:noFill/>
          <a:ln/>
        </p:spPr>
        <p:txBody>
          <a:bodyPr wrap="square" lIns="0" tIns="0" rIns="0" bIns="0" rtlCol="0" anchor="t"/>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SLA Penalties</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&amp; Cost Overruns</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Shape 26"/>
          <p:cNvSpPr/>
          <p:nvPr/>
        </p:nvSpPr>
        <p:spPr>
          <a:xfrm>
            <a:off x="3840480" y="5548072"/>
            <a:ext cx="1584960" cy="792480"/>
          </a:xfrm>
          <a:prstGeom prst="rect">
            <a:avLst/>
          </a:prstGeom>
          <a:solidFill>
            <a:srgbClr val="FEF2F2"/>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6" name="Image 7" descr="preencoded.png"/>
          <p:cNvPicPr>
            <a:picLocks noChangeAspect="1"/>
          </p:cNvPicPr>
          <p:nvPr/>
        </p:nvPicPr>
        <p:blipFill>
          <a:blip r:embed="rId10"/>
          <a:stretch>
            <a:fillRect/>
          </a:stretch>
        </p:blipFill>
        <p:spPr>
          <a:xfrm>
            <a:off x="4486656" y="5609032"/>
            <a:ext cx="292608" cy="292608"/>
          </a:xfrm>
          <a:prstGeom prst="rect">
            <a:avLst/>
          </a:prstGeom>
        </p:spPr>
      </p:pic>
      <p:sp>
        <p:nvSpPr>
          <p:cNvPr id="37" name="Text 27"/>
          <p:cNvSpPr/>
          <p:nvPr/>
        </p:nvSpPr>
        <p:spPr>
          <a:xfrm>
            <a:off x="3840480" y="5938216"/>
            <a:ext cx="1584960" cy="365760"/>
          </a:xfrm>
          <a:prstGeom prst="rect">
            <a:avLst/>
          </a:prstGeom>
          <a:noFill/>
          <a:ln/>
        </p:spPr>
        <p:txBody>
          <a:bodyPr wrap="square" lIns="0" tIns="0" rIns="0" bIns="0" rtlCol="0" anchor="t"/>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Inefficient</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Resource Use</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28"/>
          <p:cNvSpPr/>
          <p:nvPr/>
        </p:nvSpPr>
        <p:spPr>
          <a:xfrm>
            <a:off x="5547360" y="5548072"/>
            <a:ext cx="1584960" cy="792480"/>
          </a:xfrm>
          <a:prstGeom prst="rect">
            <a:avLst/>
          </a:prstGeom>
          <a:solidFill>
            <a:srgbClr val="FEF2F2"/>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9" name="Image 8" descr="preencoded.png"/>
          <p:cNvPicPr>
            <a:picLocks noChangeAspect="1"/>
          </p:cNvPicPr>
          <p:nvPr/>
        </p:nvPicPr>
        <p:blipFill>
          <a:blip r:embed="rId11"/>
          <a:stretch>
            <a:fillRect/>
          </a:stretch>
        </p:blipFill>
        <p:spPr>
          <a:xfrm>
            <a:off x="6193536" y="5609032"/>
            <a:ext cx="292608" cy="292608"/>
          </a:xfrm>
          <a:prstGeom prst="rect">
            <a:avLst/>
          </a:prstGeom>
        </p:spPr>
      </p:pic>
      <p:sp>
        <p:nvSpPr>
          <p:cNvPr id="40" name="Text 29"/>
          <p:cNvSpPr/>
          <p:nvPr/>
        </p:nvSpPr>
        <p:spPr>
          <a:xfrm>
            <a:off x="5547360" y="5938216"/>
            <a:ext cx="1584960" cy="365760"/>
          </a:xfrm>
          <a:prstGeom prst="rect">
            <a:avLst/>
          </a:prstGeom>
          <a:noFill/>
          <a:ln/>
        </p:spPr>
        <p:txBody>
          <a:bodyPr wrap="square" lIns="0" tIns="0" rIns="0" bIns="0" rtlCol="0" anchor="t"/>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Service</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Disruptions</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68" name="Group 67">
            <a:extLst>
              <a:ext uri="{FF2B5EF4-FFF2-40B4-BE49-F238E27FC236}">
                <a16:creationId xmlns:a16="http://schemas.microsoft.com/office/drawing/2014/main" id="{815104E1-BBBB-C849-9326-D80BF88D2D3B}"/>
              </a:ext>
            </a:extLst>
          </p:cNvPr>
          <p:cNvGrpSpPr/>
          <p:nvPr/>
        </p:nvGrpSpPr>
        <p:grpSpPr>
          <a:xfrm>
            <a:off x="7680960" y="908038"/>
            <a:ext cx="4361816" cy="5740812"/>
            <a:chOff x="7680960" y="908038"/>
            <a:chExt cx="4361816" cy="5740812"/>
          </a:xfrm>
        </p:grpSpPr>
        <p:pic>
          <p:nvPicPr>
            <p:cNvPr id="41" name="Image 9" descr="preencoded.png"/>
            <p:cNvPicPr>
              <a:picLocks noChangeAspect="1"/>
            </p:cNvPicPr>
            <p:nvPr/>
          </p:nvPicPr>
          <p:blipFill>
            <a:blip r:embed="rId12"/>
            <a:stretch>
              <a:fillRect/>
            </a:stretch>
          </p:blipFill>
          <p:spPr>
            <a:xfrm>
              <a:off x="7680960" y="3048000"/>
              <a:ext cx="426720" cy="426720"/>
            </a:xfrm>
            <a:prstGeom prst="rect">
              <a:avLst/>
            </a:prstGeom>
          </p:spPr>
        </p:pic>
        <p:sp>
          <p:nvSpPr>
            <p:cNvPr id="42" name="Text 30"/>
            <p:cNvSpPr/>
            <p:nvPr/>
          </p:nvSpPr>
          <p:spPr>
            <a:xfrm>
              <a:off x="8351520" y="1097280"/>
              <a:ext cx="3535680" cy="36576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0" cap="none" spc="533" normalizeH="0" baseline="0" noProof="0">
                  <a:ln>
                    <a:noFill/>
                  </a:ln>
                  <a:solidFill>
                    <a:srgbClr val="059669"/>
                  </a:solidFill>
                  <a:effectLst/>
                  <a:uLnTx/>
                  <a:uFillTx/>
                  <a:latin typeface="Calibri"/>
                  <a:ea typeface="Calibri"/>
                  <a:cs typeface="Calibri"/>
                </a:rPr>
                <a:t>PROJECT OBJECTIVES</a:t>
              </a:r>
              <a:endParaRPr kumimoji="0" lang="en-US" sz="1800" b="0" i="0" u="none" strike="noStrike" kern="1200" cap="none" spc="0" normalizeH="0" baseline="0" noProof="0">
                <a:ln>
                  <a:noFill/>
                </a:ln>
                <a:solidFill>
                  <a:prstClr val="black"/>
                </a:solidFill>
                <a:effectLst/>
                <a:uLnTx/>
                <a:uFillTx/>
                <a:latin typeface="Calibri"/>
                <a:ea typeface="Calibri"/>
                <a:cs typeface="Calibri"/>
              </a:endParaRPr>
            </a:p>
          </p:txBody>
        </p:sp>
        <p:sp>
          <p:nvSpPr>
            <p:cNvPr id="43" name="Shape 31"/>
            <p:cNvSpPr/>
            <p:nvPr/>
          </p:nvSpPr>
          <p:spPr>
            <a:xfrm>
              <a:off x="8351520" y="1524000"/>
              <a:ext cx="3535680" cy="792480"/>
            </a:xfrm>
            <a:prstGeom prst="rect">
              <a:avLst/>
            </a:prstGeom>
            <a:solidFill>
              <a:srgbClr val="F1F5F9"/>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4" name="Image 10" descr="preencoded.png"/>
            <p:cNvPicPr>
              <a:picLocks noChangeAspect="1"/>
            </p:cNvPicPr>
            <p:nvPr/>
          </p:nvPicPr>
          <p:blipFill>
            <a:blip r:embed="rId13"/>
            <a:stretch>
              <a:fillRect/>
            </a:stretch>
          </p:blipFill>
          <p:spPr>
            <a:xfrm>
              <a:off x="8473440" y="1621536"/>
              <a:ext cx="487680" cy="487680"/>
            </a:xfrm>
            <a:prstGeom prst="rect">
              <a:avLst/>
            </a:prstGeom>
          </p:spPr>
        </p:pic>
        <p:sp>
          <p:nvSpPr>
            <p:cNvPr id="45" name="Text 32"/>
            <p:cNvSpPr/>
            <p:nvPr/>
          </p:nvSpPr>
          <p:spPr>
            <a:xfrm>
              <a:off x="9083040" y="1560576"/>
              <a:ext cx="2682240" cy="67056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a:ln>
                    <a:noFill/>
                  </a:ln>
                  <a:solidFill>
                    <a:prstClr val="black"/>
                  </a:solidFill>
                  <a:effectLst/>
                  <a:uLnTx/>
                  <a:uFillTx/>
                  <a:latin typeface="Calibri"/>
                  <a:ea typeface="Calibri"/>
                  <a:cs typeface="Calibri"/>
                </a:rPr>
                <a:t>AI-Driven IT Operations Platform</a:t>
              </a:r>
              <a:endParaRPr kumimoji="0" lang="en-US" sz="1450" b="0" i="0" u="none" strike="noStrike" kern="1200" cap="none" spc="0" normalizeH="0" baseline="0" noProof="0">
                <a:ln>
                  <a:noFill/>
                </a:ln>
                <a:solidFill>
                  <a:prstClr val="black"/>
                </a:solidFill>
                <a:effectLst/>
                <a:uLnTx/>
                <a:uFillTx/>
                <a:latin typeface="Calibri"/>
                <a:ea typeface="Calibri"/>
                <a:cs typeface="Calibri"/>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0891B2"/>
                  </a:solidFill>
                  <a:effectLst/>
                  <a:uLnTx/>
                  <a:uFillTx/>
                  <a:latin typeface="Calibri" pitchFamily="34" charset="0"/>
                  <a:ea typeface="Calibri" pitchFamily="34" charset="-122"/>
                  <a:cs typeface="Calibri" pitchFamily="34" charset="-120"/>
                </a:rPr>
                <a:t>Predictive. Automated. Intelligent.</a:t>
              </a:r>
              <a:endParaRPr kumimoji="0" lang="en-US" sz="1467"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Shape 33"/>
            <p:cNvSpPr/>
            <p:nvPr/>
          </p:nvSpPr>
          <p:spPr>
            <a:xfrm>
              <a:off x="8351520" y="2438400"/>
              <a:ext cx="3535680" cy="914400"/>
            </a:xfrm>
            <a:prstGeom prst="rect">
              <a:avLst/>
            </a:prstGeom>
            <a:solidFill>
              <a:srgbClr val="F8FAFC"/>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Shape 34"/>
            <p:cNvSpPr/>
            <p:nvPr/>
          </p:nvSpPr>
          <p:spPr>
            <a:xfrm>
              <a:off x="8351520" y="2438400"/>
              <a:ext cx="512064" cy="914400"/>
            </a:xfrm>
            <a:prstGeom prst="rect">
              <a:avLst/>
            </a:prstGeom>
            <a:solidFill>
              <a:srgbClr val="3B82F6">
                <a:alpha val="20000"/>
              </a:srgbClr>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Text 35"/>
            <p:cNvSpPr/>
            <p:nvPr/>
          </p:nvSpPr>
          <p:spPr>
            <a:xfrm>
              <a:off x="8351520" y="2438400"/>
              <a:ext cx="512064" cy="91440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rgbClr val="3B82F6"/>
                  </a:solidFill>
                  <a:effectLst/>
                  <a:uLnTx/>
                  <a:uFillTx/>
                  <a:latin typeface="Georgia" pitchFamily="34" charset="0"/>
                  <a:ea typeface="Georgia" pitchFamily="34" charset="-122"/>
                  <a:cs typeface="Georgia" pitchFamily="34" charset="-120"/>
                </a:rPr>
                <a:t>01</a:t>
              </a:r>
              <a:endParaRPr kumimoji="0" lang="en-US" sz="1867"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Text 36"/>
            <p:cNvSpPr/>
            <p:nvPr/>
          </p:nvSpPr>
          <p:spPr>
            <a:xfrm>
              <a:off x="8985504" y="2511552"/>
              <a:ext cx="2804160" cy="34137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Automate Service Ops</a:t>
              </a:r>
              <a:endParaRPr kumimoji="0" lang="en-US" sz="133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Text 37"/>
            <p:cNvSpPr/>
            <p:nvPr/>
          </p:nvSpPr>
          <p:spPr>
            <a:xfrm>
              <a:off x="8985504" y="2865120"/>
              <a:ext cx="2804160" cy="42672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a:ea typeface="Calibri"/>
                  <a:cs typeface="Calibri"/>
                </a:rPr>
                <a:t>Reduce manual ticket handling, improve response time</a:t>
              </a:r>
            </a:p>
          </p:txBody>
        </p:sp>
        <p:sp>
          <p:nvSpPr>
            <p:cNvPr id="51" name="Shape 38"/>
            <p:cNvSpPr/>
            <p:nvPr/>
          </p:nvSpPr>
          <p:spPr>
            <a:xfrm>
              <a:off x="8351520" y="3438144"/>
              <a:ext cx="3535680" cy="914400"/>
            </a:xfrm>
            <a:prstGeom prst="rect">
              <a:avLst/>
            </a:prstGeom>
            <a:solidFill>
              <a:srgbClr val="F8FAFC"/>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Shape 39"/>
            <p:cNvSpPr/>
            <p:nvPr/>
          </p:nvSpPr>
          <p:spPr>
            <a:xfrm>
              <a:off x="8351520" y="3438144"/>
              <a:ext cx="512064" cy="914400"/>
            </a:xfrm>
            <a:prstGeom prst="rect">
              <a:avLst/>
            </a:prstGeom>
            <a:solidFill>
              <a:srgbClr val="0891B2">
                <a:alpha val="20000"/>
              </a:srgbClr>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Text 40"/>
            <p:cNvSpPr/>
            <p:nvPr/>
          </p:nvSpPr>
          <p:spPr>
            <a:xfrm>
              <a:off x="8351520" y="3438144"/>
              <a:ext cx="512064" cy="91440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rgbClr val="0891B2"/>
                  </a:solidFill>
                  <a:effectLst/>
                  <a:uLnTx/>
                  <a:uFillTx/>
                  <a:latin typeface="Georgia" pitchFamily="34" charset="0"/>
                  <a:ea typeface="Georgia" pitchFamily="34" charset="-122"/>
                  <a:cs typeface="Georgia" pitchFamily="34" charset="-120"/>
                </a:rPr>
                <a:t>02</a:t>
              </a:r>
              <a:endParaRPr kumimoji="0" lang="en-US" sz="1867"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Text 41"/>
            <p:cNvSpPr/>
            <p:nvPr/>
          </p:nvSpPr>
          <p:spPr>
            <a:xfrm>
              <a:off x="8985504" y="3511296"/>
              <a:ext cx="2804160" cy="34137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Proactive SLA Governance</a:t>
              </a:r>
              <a:endParaRPr kumimoji="0" lang="en-US" sz="133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Text 42"/>
            <p:cNvSpPr/>
            <p:nvPr/>
          </p:nvSpPr>
          <p:spPr>
            <a:xfrm>
              <a:off x="8985504" y="3864864"/>
              <a:ext cx="2804160" cy="42672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a:ea typeface="Calibri"/>
                  <a:cs typeface="Calibri"/>
                </a:rPr>
                <a:t>Predict breach risks, take preventive action</a:t>
              </a:r>
            </a:p>
          </p:txBody>
        </p:sp>
        <p:sp>
          <p:nvSpPr>
            <p:cNvPr id="56" name="Shape 43"/>
            <p:cNvSpPr/>
            <p:nvPr/>
          </p:nvSpPr>
          <p:spPr>
            <a:xfrm>
              <a:off x="8351520" y="4437888"/>
              <a:ext cx="3535680" cy="914400"/>
            </a:xfrm>
            <a:prstGeom prst="rect">
              <a:avLst/>
            </a:prstGeom>
            <a:solidFill>
              <a:srgbClr val="F8FAFC"/>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Shape 44"/>
            <p:cNvSpPr/>
            <p:nvPr/>
          </p:nvSpPr>
          <p:spPr>
            <a:xfrm>
              <a:off x="8351520" y="4437888"/>
              <a:ext cx="512064" cy="914400"/>
            </a:xfrm>
            <a:prstGeom prst="rect">
              <a:avLst/>
            </a:prstGeom>
            <a:solidFill>
              <a:srgbClr val="059669">
                <a:alpha val="20000"/>
              </a:srgbClr>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Text 45"/>
            <p:cNvSpPr/>
            <p:nvPr/>
          </p:nvSpPr>
          <p:spPr>
            <a:xfrm>
              <a:off x="8351520" y="4437888"/>
              <a:ext cx="512064" cy="91440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rgbClr val="059669"/>
                  </a:solidFill>
                  <a:effectLst/>
                  <a:uLnTx/>
                  <a:uFillTx/>
                  <a:latin typeface="Georgia" pitchFamily="34" charset="0"/>
                  <a:ea typeface="Georgia" pitchFamily="34" charset="-122"/>
                  <a:cs typeface="Georgia" pitchFamily="34" charset="-120"/>
                </a:rPr>
                <a:t>03</a:t>
              </a:r>
              <a:endParaRPr kumimoji="0" lang="en-US" sz="1867"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Text 46"/>
            <p:cNvSpPr/>
            <p:nvPr/>
          </p:nvSpPr>
          <p:spPr>
            <a:xfrm>
              <a:off x="8985504" y="4511040"/>
              <a:ext cx="2804160" cy="34137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Predictive Maintenance</a:t>
              </a:r>
              <a:endParaRPr kumimoji="0" lang="en-US" sz="133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Text 47"/>
            <p:cNvSpPr/>
            <p:nvPr/>
          </p:nvSpPr>
          <p:spPr>
            <a:xfrm>
              <a:off x="8985504" y="4864608"/>
              <a:ext cx="2804160" cy="42672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a:ea typeface="Calibri"/>
                  <a:cs typeface="Calibri"/>
                </a:rPr>
                <a:t>Anticipate hardware failures, cut unplanned downtime</a:t>
              </a:r>
            </a:p>
          </p:txBody>
        </p:sp>
        <p:sp>
          <p:nvSpPr>
            <p:cNvPr id="61" name="Shape 48"/>
            <p:cNvSpPr/>
            <p:nvPr/>
          </p:nvSpPr>
          <p:spPr>
            <a:xfrm>
              <a:off x="8351520" y="5437632"/>
              <a:ext cx="3535680" cy="914400"/>
            </a:xfrm>
            <a:prstGeom prst="rect">
              <a:avLst/>
            </a:prstGeom>
            <a:solidFill>
              <a:srgbClr val="F8FAFC"/>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Shape 49"/>
            <p:cNvSpPr/>
            <p:nvPr/>
          </p:nvSpPr>
          <p:spPr>
            <a:xfrm>
              <a:off x="8351520" y="5437632"/>
              <a:ext cx="512064" cy="914400"/>
            </a:xfrm>
            <a:prstGeom prst="rect">
              <a:avLst/>
            </a:prstGeom>
            <a:solidFill>
              <a:srgbClr val="8B5CF6">
                <a:alpha val="20000"/>
              </a:srgbClr>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Text 50"/>
            <p:cNvSpPr/>
            <p:nvPr/>
          </p:nvSpPr>
          <p:spPr>
            <a:xfrm>
              <a:off x="8351520" y="5437632"/>
              <a:ext cx="512064" cy="91440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rgbClr val="8B5CF6"/>
                  </a:solidFill>
                  <a:effectLst/>
                  <a:uLnTx/>
                  <a:uFillTx/>
                  <a:latin typeface="Georgia" pitchFamily="34" charset="0"/>
                  <a:ea typeface="Georgia" pitchFamily="34" charset="-122"/>
                  <a:cs typeface="Georgia" pitchFamily="34" charset="-120"/>
                </a:rPr>
                <a:t>04</a:t>
              </a:r>
              <a:endParaRPr kumimoji="0" lang="en-US" sz="1867"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Text 51"/>
            <p:cNvSpPr/>
            <p:nvPr/>
          </p:nvSpPr>
          <p:spPr>
            <a:xfrm>
              <a:off x="8985504" y="5510784"/>
              <a:ext cx="2804160" cy="34137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Optimize Inventory</a:t>
              </a:r>
              <a:endParaRPr kumimoji="0" lang="en-US" sz="133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Text 52"/>
            <p:cNvSpPr/>
            <p:nvPr/>
          </p:nvSpPr>
          <p:spPr>
            <a:xfrm>
              <a:off x="8985504" y="5864352"/>
              <a:ext cx="2804160" cy="42672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a:ea typeface="Calibri"/>
                  <a:cs typeface="Calibri"/>
                </a:rPr>
                <a:t>Align stock with demand, reduce costs and stockout risk</a:t>
              </a:r>
            </a:p>
          </p:txBody>
        </p:sp>
        <p:sp>
          <p:nvSpPr>
            <p:cNvPr id="66" name="Rectangle: Rounded Corners 65">
              <a:extLst>
                <a:ext uri="{FF2B5EF4-FFF2-40B4-BE49-F238E27FC236}">
                  <a16:creationId xmlns:a16="http://schemas.microsoft.com/office/drawing/2014/main" id="{3B204C18-289E-BD34-09BC-717BD267D9FB}"/>
                </a:ext>
              </a:extLst>
            </p:cNvPr>
            <p:cNvSpPr/>
            <p:nvPr/>
          </p:nvSpPr>
          <p:spPr>
            <a:xfrm>
              <a:off x="8084065" y="908038"/>
              <a:ext cx="3958711" cy="5740812"/>
            </a:xfrm>
            <a:prstGeom prst="round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fade">
                                      <p:cBhvr>
                                        <p:cTn id="7" dur="75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814ED-5936-E88B-DAC6-504E79CF74E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3A4D1CA-B71E-163E-772A-11CBD73294FF}"/>
              </a:ext>
            </a:extLst>
          </p:cNvPr>
          <p:cNvSpPr/>
          <p:nvPr/>
        </p:nvSpPr>
        <p:spPr>
          <a:xfrm>
            <a:off x="0" y="0"/>
            <a:ext cx="12188952" cy="6858000"/>
          </a:xfrm>
          <a:prstGeom prst="rect">
            <a:avLst/>
          </a:prstGeom>
          <a:solidFill>
            <a:srgbClr val="071524"/>
          </a:solidFill>
          <a:ln w="12700">
            <a:solidFill>
              <a:srgbClr val="07152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a:extLst>
              <a:ext uri="{FF2B5EF4-FFF2-40B4-BE49-F238E27FC236}">
                <a16:creationId xmlns:a16="http://schemas.microsoft.com/office/drawing/2014/main" id="{68A04A09-054E-85DE-398C-40126360D99E}"/>
              </a:ext>
            </a:extLst>
          </p:cNvPr>
          <p:cNvSpPr/>
          <p:nvPr/>
        </p:nvSpPr>
        <p:spPr>
          <a:xfrm>
            <a:off x="0" y="360947"/>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47BA00E8-FF8F-1C59-8CAE-F7E4DB85481C}"/>
              </a:ext>
            </a:extLst>
          </p:cNvPr>
          <p:cNvSpPr/>
          <p:nvPr/>
        </p:nvSpPr>
        <p:spPr>
          <a:xfrm>
            <a:off x="0" y="721895"/>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5384679F-0A46-2239-9099-B8FA616A4C2D}"/>
              </a:ext>
            </a:extLst>
          </p:cNvPr>
          <p:cNvSpPr/>
          <p:nvPr/>
        </p:nvSpPr>
        <p:spPr>
          <a:xfrm>
            <a:off x="0" y="1082842"/>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a:extLst>
              <a:ext uri="{FF2B5EF4-FFF2-40B4-BE49-F238E27FC236}">
                <a16:creationId xmlns:a16="http://schemas.microsoft.com/office/drawing/2014/main" id="{8D5BFF37-7898-892E-0738-2715664CFD5D}"/>
              </a:ext>
            </a:extLst>
          </p:cNvPr>
          <p:cNvSpPr/>
          <p:nvPr/>
        </p:nvSpPr>
        <p:spPr>
          <a:xfrm>
            <a:off x="0" y="1443789"/>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a:extLst>
              <a:ext uri="{FF2B5EF4-FFF2-40B4-BE49-F238E27FC236}">
                <a16:creationId xmlns:a16="http://schemas.microsoft.com/office/drawing/2014/main" id="{8238BC0E-397B-FFFA-D46E-7B2AF1334D43}"/>
              </a:ext>
            </a:extLst>
          </p:cNvPr>
          <p:cNvSpPr/>
          <p:nvPr/>
        </p:nvSpPr>
        <p:spPr>
          <a:xfrm>
            <a:off x="0" y="1804737"/>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a:extLst>
              <a:ext uri="{FF2B5EF4-FFF2-40B4-BE49-F238E27FC236}">
                <a16:creationId xmlns:a16="http://schemas.microsoft.com/office/drawing/2014/main" id="{B1AC0537-51EB-2A2E-5CF7-F261D95223DD}"/>
              </a:ext>
            </a:extLst>
          </p:cNvPr>
          <p:cNvSpPr/>
          <p:nvPr/>
        </p:nvSpPr>
        <p:spPr>
          <a:xfrm>
            <a:off x="0" y="2808621"/>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a:extLst>
              <a:ext uri="{FF2B5EF4-FFF2-40B4-BE49-F238E27FC236}">
                <a16:creationId xmlns:a16="http://schemas.microsoft.com/office/drawing/2014/main" id="{87AC89B3-AAF6-5DC0-9417-3327531587A8}"/>
              </a:ext>
            </a:extLst>
          </p:cNvPr>
          <p:cNvSpPr/>
          <p:nvPr/>
        </p:nvSpPr>
        <p:spPr>
          <a:xfrm>
            <a:off x="0" y="2526632"/>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a:extLst>
              <a:ext uri="{FF2B5EF4-FFF2-40B4-BE49-F238E27FC236}">
                <a16:creationId xmlns:a16="http://schemas.microsoft.com/office/drawing/2014/main" id="{FD3809C2-5B02-C598-5DD9-27C7F782754A}"/>
              </a:ext>
            </a:extLst>
          </p:cNvPr>
          <p:cNvSpPr/>
          <p:nvPr/>
        </p:nvSpPr>
        <p:spPr>
          <a:xfrm>
            <a:off x="0" y="2887579"/>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a:extLst>
              <a:ext uri="{FF2B5EF4-FFF2-40B4-BE49-F238E27FC236}">
                <a16:creationId xmlns:a16="http://schemas.microsoft.com/office/drawing/2014/main" id="{46C329A3-0ED3-D771-172C-2F38743377A9}"/>
              </a:ext>
            </a:extLst>
          </p:cNvPr>
          <p:cNvSpPr/>
          <p:nvPr/>
        </p:nvSpPr>
        <p:spPr>
          <a:xfrm>
            <a:off x="0" y="3248526"/>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a:extLst>
              <a:ext uri="{FF2B5EF4-FFF2-40B4-BE49-F238E27FC236}">
                <a16:creationId xmlns:a16="http://schemas.microsoft.com/office/drawing/2014/main" id="{792CFA3F-1319-799F-5F4A-75E517F06BAE}"/>
              </a:ext>
            </a:extLst>
          </p:cNvPr>
          <p:cNvSpPr/>
          <p:nvPr/>
        </p:nvSpPr>
        <p:spPr>
          <a:xfrm>
            <a:off x="0" y="3609474"/>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a:extLst>
              <a:ext uri="{FF2B5EF4-FFF2-40B4-BE49-F238E27FC236}">
                <a16:creationId xmlns:a16="http://schemas.microsoft.com/office/drawing/2014/main" id="{393AA748-8034-18C1-7451-5778F21056D3}"/>
              </a:ext>
            </a:extLst>
          </p:cNvPr>
          <p:cNvSpPr/>
          <p:nvPr/>
        </p:nvSpPr>
        <p:spPr>
          <a:xfrm>
            <a:off x="0" y="3970421"/>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a:extLst>
              <a:ext uri="{FF2B5EF4-FFF2-40B4-BE49-F238E27FC236}">
                <a16:creationId xmlns:a16="http://schemas.microsoft.com/office/drawing/2014/main" id="{452B1294-408F-780D-D20D-6C66188CB468}"/>
              </a:ext>
            </a:extLst>
          </p:cNvPr>
          <p:cNvSpPr/>
          <p:nvPr/>
        </p:nvSpPr>
        <p:spPr>
          <a:xfrm>
            <a:off x="0" y="4331368"/>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a:extLst>
              <a:ext uri="{FF2B5EF4-FFF2-40B4-BE49-F238E27FC236}">
                <a16:creationId xmlns:a16="http://schemas.microsoft.com/office/drawing/2014/main" id="{02C0FB4D-DDE9-16D1-32B7-BDC0EF9FA2B9}"/>
              </a:ext>
            </a:extLst>
          </p:cNvPr>
          <p:cNvSpPr/>
          <p:nvPr/>
        </p:nvSpPr>
        <p:spPr>
          <a:xfrm>
            <a:off x="0" y="4692316"/>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a:extLst>
              <a:ext uri="{FF2B5EF4-FFF2-40B4-BE49-F238E27FC236}">
                <a16:creationId xmlns:a16="http://schemas.microsoft.com/office/drawing/2014/main" id="{71A02FDE-C4C0-11E8-C409-18908B3742FD}"/>
              </a:ext>
            </a:extLst>
          </p:cNvPr>
          <p:cNvSpPr/>
          <p:nvPr/>
        </p:nvSpPr>
        <p:spPr>
          <a:xfrm>
            <a:off x="0" y="5053263"/>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a:extLst>
              <a:ext uri="{FF2B5EF4-FFF2-40B4-BE49-F238E27FC236}">
                <a16:creationId xmlns:a16="http://schemas.microsoft.com/office/drawing/2014/main" id="{8B6FBCE3-5C59-2A69-3DE6-40251156A051}"/>
              </a:ext>
            </a:extLst>
          </p:cNvPr>
          <p:cNvSpPr/>
          <p:nvPr/>
        </p:nvSpPr>
        <p:spPr>
          <a:xfrm>
            <a:off x="0" y="5414211"/>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a:extLst>
              <a:ext uri="{FF2B5EF4-FFF2-40B4-BE49-F238E27FC236}">
                <a16:creationId xmlns:a16="http://schemas.microsoft.com/office/drawing/2014/main" id="{3D0A89BF-90C7-B830-3FD7-8D5B56C57BEF}"/>
              </a:ext>
            </a:extLst>
          </p:cNvPr>
          <p:cNvSpPr/>
          <p:nvPr/>
        </p:nvSpPr>
        <p:spPr>
          <a:xfrm>
            <a:off x="0" y="5775158"/>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a:extLst>
              <a:ext uri="{FF2B5EF4-FFF2-40B4-BE49-F238E27FC236}">
                <a16:creationId xmlns:a16="http://schemas.microsoft.com/office/drawing/2014/main" id="{12CA396C-7340-D6DA-8B01-A1868AE1A0B3}"/>
              </a:ext>
            </a:extLst>
          </p:cNvPr>
          <p:cNvSpPr/>
          <p:nvPr/>
        </p:nvSpPr>
        <p:spPr>
          <a:xfrm>
            <a:off x="0" y="6136105"/>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a:extLst>
              <a:ext uri="{FF2B5EF4-FFF2-40B4-BE49-F238E27FC236}">
                <a16:creationId xmlns:a16="http://schemas.microsoft.com/office/drawing/2014/main" id="{78993EAE-4125-91BE-ED58-C73E26825F8D}"/>
              </a:ext>
            </a:extLst>
          </p:cNvPr>
          <p:cNvSpPr/>
          <p:nvPr/>
        </p:nvSpPr>
        <p:spPr>
          <a:xfrm>
            <a:off x="0" y="6497053"/>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a:extLst>
              <a:ext uri="{FF2B5EF4-FFF2-40B4-BE49-F238E27FC236}">
                <a16:creationId xmlns:a16="http://schemas.microsoft.com/office/drawing/2014/main" id="{5B2467A3-0685-3227-0249-6F35FE420011}"/>
              </a:ext>
            </a:extLst>
          </p:cNvPr>
          <p:cNvSpPr/>
          <p:nvPr/>
        </p:nvSpPr>
        <p:spPr>
          <a:xfrm>
            <a:off x="487558"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a:extLst>
              <a:ext uri="{FF2B5EF4-FFF2-40B4-BE49-F238E27FC236}">
                <a16:creationId xmlns:a16="http://schemas.microsoft.com/office/drawing/2014/main" id="{6A0AA00F-2D05-B72E-B18B-CC08DF61AB37}"/>
              </a:ext>
            </a:extLst>
          </p:cNvPr>
          <p:cNvSpPr/>
          <p:nvPr/>
        </p:nvSpPr>
        <p:spPr>
          <a:xfrm>
            <a:off x="975116"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a:extLst>
              <a:ext uri="{FF2B5EF4-FFF2-40B4-BE49-F238E27FC236}">
                <a16:creationId xmlns:a16="http://schemas.microsoft.com/office/drawing/2014/main" id="{23EFD1D1-34B3-166F-7EEE-48A006868243}"/>
              </a:ext>
            </a:extLst>
          </p:cNvPr>
          <p:cNvSpPr/>
          <p:nvPr/>
        </p:nvSpPr>
        <p:spPr>
          <a:xfrm>
            <a:off x="1462674"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a:extLst>
              <a:ext uri="{FF2B5EF4-FFF2-40B4-BE49-F238E27FC236}">
                <a16:creationId xmlns:a16="http://schemas.microsoft.com/office/drawing/2014/main" id="{EA21517B-1640-73D3-FF00-915EBDC8F5DB}"/>
              </a:ext>
            </a:extLst>
          </p:cNvPr>
          <p:cNvSpPr/>
          <p:nvPr/>
        </p:nvSpPr>
        <p:spPr>
          <a:xfrm>
            <a:off x="1950232"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a:extLst>
              <a:ext uri="{FF2B5EF4-FFF2-40B4-BE49-F238E27FC236}">
                <a16:creationId xmlns:a16="http://schemas.microsoft.com/office/drawing/2014/main" id="{A90ADF04-5CFC-ECCA-CFF8-CF725EF3F3A9}"/>
              </a:ext>
            </a:extLst>
          </p:cNvPr>
          <p:cNvSpPr/>
          <p:nvPr/>
        </p:nvSpPr>
        <p:spPr>
          <a:xfrm>
            <a:off x="2437790"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4">
            <a:extLst>
              <a:ext uri="{FF2B5EF4-FFF2-40B4-BE49-F238E27FC236}">
                <a16:creationId xmlns:a16="http://schemas.microsoft.com/office/drawing/2014/main" id="{0DA1367F-E24F-CC6E-25D7-F8839BD51A11}"/>
              </a:ext>
            </a:extLst>
          </p:cNvPr>
          <p:cNvSpPr/>
          <p:nvPr/>
        </p:nvSpPr>
        <p:spPr>
          <a:xfrm>
            <a:off x="2925348"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5">
            <a:extLst>
              <a:ext uri="{FF2B5EF4-FFF2-40B4-BE49-F238E27FC236}">
                <a16:creationId xmlns:a16="http://schemas.microsoft.com/office/drawing/2014/main" id="{78760D70-7720-5705-65CD-CBBDA6560679}"/>
              </a:ext>
            </a:extLst>
          </p:cNvPr>
          <p:cNvSpPr/>
          <p:nvPr/>
        </p:nvSpPr>
        <p:spPr>
          <a:xfrm>
            <a:off x="3412907"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6">
            <a:extLst>
              <a:ext uri="{FF2B5EF4-FFF2-40B4-BE49-F238E27FC236}">
                <a16:creationId xmlns:a16="http://schemas.microsoft.com/office/drawing/2014/main" id="{0006D4CB-4EF5-EF88-3CBB-BF3463BF66F4}"/>
              </a:ext>
            </a:extLst>
          </p:cNvPr>
          <p:cNvSpPr/>
          <p:nvPr/>
        </p:nvSpPr>
        <p:spPr>
          <a:xfrm>
            <a:off x="3900465"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7">
            <a:extLst>
              <a:ext uri="{FF2B5EF4-FFF2-40B4-BE49-F238E27FC236}">
                <a16:creationId xmlns:a16="http://schemas.microsoft.com/office/drawing/2014/main" id="{96F8EE1D-E746-7FF2-C378-76187AD52746}"/>
              </a:ext>
            </a:extLst>
          </p:cNvPr>
          <p:cNvSpPr/>
          <p:nvPr/>
        </p:nvSpPr>
        <p:spPr>
          <a:xfrm>
            <a:off x="4388023"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a:extLst>
              <a:ext uri="{FF2B5EF4-FFF2-40B4-BE49-F238E27FC236}">
                <a16:creationId xmlns:a16="http://schemas.microsoft.com/office/drawing/2014/main" id="{5DA54A96-AE0A-DFBC-4C93-A554A62D1C3D}"/>
              </a:ext>
            </a:extLst>
          </p:cNvPr>
          <p:cNvSpPr/>
          <p:nvPr/>
        </p:nvSpPr>
        <p:spPr>
          <a:xfrm>
            <a:off x="4875581"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9">
            <a:extLst>
              <a:ext uri="{FF2B5EF4-FFF2-40B4-BE49-F238E27FC236}">
                <a16:creationId xmlns:a16="http://schemas.microsoft.com/office/drawing/2014/main" id="{1F53DBCD-FE92-7949-7041-BD292DE4F4C6}"/>
              </a:ext>
            </a:extLst>
          </p:cNvPr>
          <p:cNvSpPr/>
          <p:nvPr/>
        </p:nvSpPr>
        <p:spPr>
          <a:xfrm>
            <a:off x="5363139"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30">
            <a:extLst>
              <a:ext uri="{FF2B5EF4-FFF2-40B4-BE49-F238E27FC236}">
                <a16:creationId xmlns:a16="http://schemas.microsoft.com/office/drawing/2014/main" id="{0DBCC6EE-4D1D-9FA8-71FC-8F6A07F665D7}"/>
              </a:ext>
            </a:extLst>
          </p:cNvPr>
          <p:cNvSpPr/>
          <p:nvPr/>
        </p:nvSpPr>
        <p:spPr>
          <a:xfrm>
            <a:off x="5850697"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31">
            <a:extLst>
              <a:ext uri="{FF2B5EF4-FFF2-40B4-BE49-F238E27FC236}">
                <a16:creationId xmlns:a16="http://schemas.microsoft.com/office/drawing/2014/main" id="{6C5BADEE-B6F1-4AAB-4C19-A0C2986499C7}"/>
              </a:ext>
            </a:extLst>
          </p:cNvPr>
          <p:cNvSpPr/>
          <p:nvPr/>
        </p:nvSpPr>
        <p:spPr>
          <a:xfrm>
            <a:off x="6338255"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Shape 32">
            <a:extLst>
              <a:ext uri="{FF2B5EF4-FFF2-40B4-BE49-F238E27FC236}">
                <a16:creationId xmlns:a16="http://schemas.microsoft.com/office/drawing/2014/main" id="{1E877D14-D166-7542-2E28-7ECC98549429}"/>
              </a:ext>
            </a:extLst>
          </p:cNvPr>
          <p:cNvSpPr/>
          <p:nvPr/>
        </p:nvSpPr>
        <p:spPr>
          <a:xfrm>
            <a:off x="6825813"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Shape 33">
            <a:extLst>
              <a:ext uri="{FF2B5EF4-FFF2-40B4-BE49-F238E27FC236}">
                <a16:creationId xmlns:a16="http://schemas.microsoft.com/office/drawing/2014/main" id="{C02F334D-2C0E-349F-B540-3F81AEC14C71}"/>
              </a:ext>
            </a:extLst>
          </p:cNvPr>
          <p:cNvSpPr/>
          <p:nvPr/>
        </p:nvSpPr>
        <p:spPr>
          <a:xfrm>
            <a:off x="7313371"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34">
            <a:extLst>
              <a:ext uri="{FF2B5EF4-FFF2-40B4-BE49-F238E27FC236}">
                <a16:creationId xmlns:a16="http://schemas.microsoft.com/office/drawing/2014/main" id="{62146C10-15C1-B458-78CA-7E4E8ADA9D30}"/>
              </a:ext>
            </a:extLst>
          </p:cNvPr>
          <p:cNvSpPr/>
          <p:nvPr/>
        </p:nvSpPr>
        <p:spPr>
          <a:xfrm>
            <a:off x="7800929"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5">
            <a:extLst>
              <a:ext uri="{FF2B5EF4-FFF2-40B4-BE49-F238E27FC236}">
                <a16:creationId xmlns:a16="http://schemas.microsoft.com/office/drawing/2014/main" id="{FFC11DE7-50AE-511E-9CA5-F18D6174FB5A}"/>
              </a:ext>
            </a:extLst>
          </p:cNvPr>
          <p:cNvSpPr/>
          <p:nvPr/>
        </p:nvSpPr>
        <p:spPr>
          <a:xfrm>
            <a:off x="8288487"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6">
            <a:extLst>
              <a:ext uri="{FF2B5EF4-FFF2-40B4-BE49-F238E27FC236}">
                <a16:creationId xmlns:a16="http://schemas.microsoft.com/office/drawing/2014/main" id="{62268A13-CC96-B022-79E4-4F9AE5075027}"/>
              </a:ext>
            </a:extLst>
          </p:cNvPr>
          <p:cNvSpPr/>
          <p:nvPr/>
        </p:nvSpPr>
        <p:spPr>
          <a:xfrm>
            <a:off x="8776045"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Shape 37">
            <a:extLst>
              <a:ext uri="{FF2B5EF4-FFF2-40B4-BE49-F238E27FC236}">
                <a16:creationId xmlns:a16="http://schemas.microsoft.com/office/drawing/2014/main" id="{5ACC7950-9687-C909-5BA9-4D371308EFB1}"/>
              </a:ext>
            </a:extLst>
          </p:cNvPr>
          <p:cNvSpPr/>
          <p:nvPr/>
        </p:nvSpPr>
        <p:spPr>
          <a:xfrm>
            <a:off x="9263604"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Shape 38">
            <a:extLst>
              <a:ext uri="{FF2B5EF4-FFF2-40B4-BE49-F238E27FC236}">
                <a16:creationId xmlns:a16="http://schemas.microsoft.com/office/drawing/2014/main" id="{476F8933-0847-329B-F279-8BA70F97F00E}"/>
              </a:ext>
            </a:extLst>
          </p:cNvPr>
          <p:cNvSpPr/>
          <p:nvPr/>
        </p:nvSpPr>
        <p:spPr>
          <a:xfrm>
            <a:off x="9751162"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Shape 39">
            <a:extLst>
              <a:ext uri="{FF2B5EF4-FFF2-40B4-BE49-F238E27FC236}">
                <a16:creationId xmlns:a16="http://schemas.microsoft.com/office/drawing/2014/main" id="{DA4D29F5-5610-0A1D-2674-8DEF428DBAE4}"/>
              </a:ext>
            </a:extLst>
          </p:cNvPr>
          <p:cNvSpPr/>
          <p:nvPr/>
        </p:nvSpPr>
        <p:spPr>
          <a:xfrm>
            <a:off x="10238720"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Shape 40">
            <a:extLst>
              <a:ext uri="{FF2B5EF4-FFF2-40B4-BE49-F238E27FC236}">
                <a16:creationId xmlns:a16="http://schemas.microsoft.com/office/drawing/2014/main" id="{321FCBE6-B3B7-B552-F2AE-215DCF247929}"/>
              </a:ext>
            </a:extLst>
          </p:cNvPr>
          <p:cNvSpPr/>
          <p:nvPr/>
        </p:nvSpPr>
        <p:spPr>
          <a:xfrm>
            <a:off x="10726278"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Shape 41">
            <a:extLst>
              <a:ext uri="{FF2B5EF4-FFF2-40B4-BE49-F238E27FC236}">
                <a16:creationId xmlns:a16="http://schemas.microsoft.com/office/drawing/2014/main" id="{EA009A55-34B2-D199-1649-14B5E31144BA}"/>
              </a:ext>
            </a:extLst>
          </p:cNvPr>
          <p:cNvSpPr/>
          <p:nvPr/>
        </p:nvSpPr>
        <p:spPr>
          <a:xfrm>
            <a:off x="11213836"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Shape 42">
            <a:extLst>
              <a:ext uri="{FF2B5EF4-FFF2-40B4-BE49-F238E27FC236}">
                <a16:creationId xmlns:a16="http://schemas.microsoft.com/office/drawing/2014/main" id="{AEE3D047-F766-E37A-A22A-5F54E8EE02A6}"/>
              </a:ext>
            </a:extLst>
          </p:cNvPr>
          <p:cNvSpPr/>
          <p:nvPr/>
        </p:nvSpPr>
        <p:spPr>
          <a:xfrm>
            <a:off x="11701394"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43">
            <a:extLst>
              <a:ext uri="{FF2B5EF4-FFF2-40B4-BE49-F238E27FC236}">
                <a16:creationId xmlns:a16="http://schemas.microsoft.com/office/drawing/2014/main" id="{F43EED79-5AD5-DBF4-D198-A35C7FEF8337}"/>
              </a:ext>
            </a:extLst>
          </p:cNvPr>
          <p:cNvSpPr/>
          <p:nvPr/>
        </p:nvSpPr>
        <p:spPr>
          <a:xfrm>
            <a:off x="0" y="0"/>
            <a:ext cx="475488" cy="6858000"/>
          </a:xfrm>
          <a:prstGeom prst="rect">
            <a:avLst/>
          </a:prstGeom>
          <a:solidFill>
            <a:srgbClr val="156082"/>
          </a:solidFill>
          <a:ln w="12700">
            <a:solidFill>
              <a:srgbClr val="15608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Shape 44">
            <a:extLst>
              <a:ext uri="{FF2B5EF4-FFF2-40B4-BE49-F238E27FC236}">
                <a16:creationId xmlns:a16="http://schemas.microsoft.com/office/drawing/2014/main" id="{B03A54A3-67A5-9D19-68E0-D65FC1EC25FB}"/>
              </a:ext>
            </a:extLst>
          </p:cNvPr>
          <p:cNvSpPr/>
          <p:nvPr/>
        </p:nvSpPr>
        <p:spPr>
          <a:xfrm>
            <a:off x="475488" y="0"/>
            <a:ext cx="0" cy="6858000"/>
          </a:xfrm>
          <a:prstGeom prst="line">
            <a:avLst/>
          </a:prstGeom>
          <a:noFill/>
          <a:ln w="1905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Shape 45">
            <a:extLst>
              <a:ext uri="{FF2B5EF4-FFF2-40B4-BE49-F238E27FC236}">
                <a16:creationId xmlns:a16="http://schemas.microsoft.com/office/drawing/2014/main" id="{63AD45A5-C181-3CA2-1CFB-890479E09DE5}"/>
              </a:ext>
            </a:extLst>
          </p:cNvPr>
          <p:cNvSpPr/>
          <p:nvPr/>
        </p:nvSpPr>
        <p:spPr>
          <a:xfrm>
            <a:off x="8412480" y="-1371600"/>
            <a:ext cx="6035040" cy="6035040"/>
          </a:xfrm>
          <a:prstGeom prst="ellipse">
            <a:avLst/>
          </a:prstGeom>
          <a:solidFill>
            <a:srgbClr val="071524">
              <a:alpha val="0"/>
            </a:srgbClr>
          </a:solidFill>
          <a:ln w="12700">
            <a:solidFill>
              <a:srgbClr val="0F9ED5">
                <a:alpha val="12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Shape 46">
            <a:extLst>
              <a:ext uri="{FF2B5EF4-FFF2-40B4-BE49-F238E27FC236}">
                <a16:creationId xmlns:a16="http://schemas.microsoft.com/office/drawing/2014/main" id="{22AEE4ED-A94B-4AC5-AEDC-4B0FBB36817F}"/>
              </a:ext>
            </a:extLst>
          </p:cNvPr>
          <p:cNvSpPr/>
          <p:nvPr/>
        </p:nvSpPr>
        <p:spPr>
          <a:xfrm>
            <a:off x="9235440" y="-548640"/>
            <a:ext cx="4389120" cy="4389120"/>
          </a:xfrm>
          <a:prstGeom prst="ellipse">
            <a:avLst/>
          </a:prstGeom>
          <a:solidFill>
            <a:srgbClr val="071524">
              <a:alpha val="0"/>
            </a:srgbClr>
          </a:solidFill>
          <a:ln w="12700">
            <a:solidFill>
              <a:srgbClr val="0F9ED5">
                <a:alpha val="22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Shape 47">
            <a:extLst>
              <a:ext uri="{FF2B5EF4-FFF2-40B4-BE49-F238E27FC236}">
                <a16:creationId xmlns:a16="http://schemas.microsoft.com/office/drawing/2014/main" id="{BE9BA35A-F39C-11F6-20BE-F81391E4C6BF}"/>
              </a:ext>
            </a:extLst>
          </p:cNvPr>
          <p:cNvSpPr/>
          <p:nvPr/>
        </p:nvSpPr>
        <p:spPr>
          <a:xfrm>
            <a:off x="10058400" y="274320"/>
            <a:ext cx="2743200" cy="2743200"/>
          </a:xfrm>
          <a:prstGeom prst="ellipse">
            <a:avLst/>
          </a:prstGeom>
          <a:solidFill>
            <a:srgbClr val="071524">
              <a:alpha val="0"/>
            </a:srgbClr>
          </a:solidFill>
          <a:ln w="12700">
            <a:solidFill>
              <a:srgbClr val="0F9ED5">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48">
            <a:extLst>
              <a:ext uri="{FF2B5EF4-FFF2-40B4-BE49-F238E27FC236}">
                <a16:creationId xmlns:a16="http://schemas.microsoft.com/office/drawing/2014/main" id="{C683A3F6-B5AC-B054-6CB1-7AB35F1602D9}"/>
              </a:ext>
            </a:extLst>
          </p:cNvPr>
          <p:cNvSpPr/>
          <p:nvPr/>
        </p:nvSpPr>
        <p:spPr>
          <a:xfrm>
            <a:off x="10881360" y="1097280"/>
            <a:ext cx="1097280" cy="1097280"/>
          </a:xfrm>
          <a:prstGeom prst="ellipse">
            <a:avLst/>
          </a:prstGeom>
          <a:solidFill>
            <a:srgbClr val="071524">
              <a:alpha val="0"/>
            </a:srgbClr>
          </a:solidFill>
          <a:ln w="12700">
            <a:solidFill>
              <a:srgbClr val="0F9ED5">
                <a:alpha val="5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9">
            <a:extLst>
              <a:ext uri="{FF2B5EF4-FFF2-40B4-BE49-F238E27FC236}">
                <a16:creationId xmlns:a16="http://schemas.microsoft.com/office/drawing/2014/main" id="{E5E87A2F-9F84-0100-8C69-0DA158E0367A}"/>
              </a:ext>
            </a:extLst>
          </p:cNvPr>
          <p:cNvSpPr/>
          <p:nvPr/>
        </p:nvSpPr>
        <p:spPr>
          <a:xfrm>
            <a:off x="11292840" y="1508760"/>
            <a:ext cx="274320" cy="274320"/>
          </a:xfrm>
          <a:prstGeom prst="ellipse">
            <a:avLst/>
          </a:prstGeom>
          <a:solidFill>
            <a:srgbClr val="0F9ED5">
              <a:alpha val="60000"/>
            </a:srgbClr>
          </a:solidFill>
          <a:ln w="1270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Shape 50">
            <a:extLst>
              <a:ext uri="{FF2B5EF4-FFF2-40B4-BE49-F238E27FC236}">
                <a16:creationId xmlns:a16="http://schemas.microsoft.com/office/drawing/2014/main" id="{08E1088E-152A-BC96-EDF4-CAF5FC3F06E4}"/>
              </a:ext>
            </a:extLst>
          </p:cNvPr>
          <p:cNvSpPr/>
          <p:nvPr/>
        </p:nvSpPr>
        <p:spPr>
          <a:xfrm>
            <a:off x="155448" y="1179576"/>
            <a:ext cx="201168" cy="201168"/>
          </a:xfrm>
          <a:prstGeom prst="ellipse">
            <a:avLst/>
          </a:prstGeom>
          <a:solidFill>
            <a:srgbClr val="E97132"/>
          </a:solidFill>
          <a:ln w="1270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Shape 51">
            <a:extLst>
              <a:ext uri="{FF2B5EF4-FFF2-40B4-BE49-F238E27FC236}">
                <a16:creationId xmlns:a16="http://schemas.microsoft.com/office/drawing/2014/main" id="{404470EE-9495-E1C4-A929-8FDB2A6871DC}"/>
              </a:ext>
            </a:extLst>
          </p:cNvPr>
          <p:cNvSpPr/>
          <p:nvPr/>
        </p:nvSpPr>
        <p:spPr>
          <a:xfrm>
            <a:off x="155448" y="2002536"/>
            <a:ext cx="201168" cy="201168"/>
          </a:xfrm>
          <a:prstGeom prst="ellipse">
            <a:avLst/>
          </a:prstGeom>
          <a:solidFill>
            <a:srgbClr val="0F9ED5"/>
          </a:solidFill>
          <a:ln w="1270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Shape 52">
            <a:extLst>
              <a:ext uri="{FF2B5EF4-FFF2-40B4-BE49-F238E27FC236}">
                <a16:creationId xmlns:a16="http://schemas.microsoft.com/office/drawing/2014/main" id="{CD31FA7A-8865-7935-0706-31DB92C59AA3}"/>
              </a:ext>
            </a:extLst>
          </p:cNvPr>
          <p:cNvSpPr/>
          <p:nvPr/>
        </p:nvSpPr>
        <p:spPr>
          <a:xfrm>
            <a:off x="155448" y="2825496"/>
            <a:ext cx="201168" cy="201168"/>
          </a:xfrm>
          <a:prstGeom prst="ellipse">
            <a:avLst/>
          </a:prstGeom>
          <a:solidFill>
            <a:srgbClr val="196B24"/>
          </a:solidFill>
          <a:ln w="12700">
            <a:solidFill>
              <a:srgbClr val="196B2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Shape 53">
            <a:extLst>
              <a:ext uri="{FF2B5EF4-FFF2-40B4-BE49-F238E27FC236}">
                <a16:creationId xmlns:a16="http://schemas.microsoft.com/office/drawing/2014/main" id="{9C67A8F9-3C3D-8294-A7A1-F1480962DB1F}"/>
              </a:ext>
            </a:extLst>
          </p:cNvPr>
          <p:cNvSpPr/>
          <p:nvPr/>
        </p:nvSpPr>
        <p:spPr>
          <a:xfrm>
            <a:off x="155448" y="3648456"/>
            <a:ext cx="201168" cy="201168"/>
          </a:xfrm>
          <a:prstGeom prst="ellipse">
            <a:avLst/>
          </a:prstGeom>
          <a:solidFill>
            <a:srgbClr val="0F9ED5"/>
          </a:solidFill>
          <a:ln w="1270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Shape 54">
            <a:extLst>
              <a:ext uri="{FF2B5EF4-FFF2-40B4-BE49-F238E27FC236}">
                <a16:creationId xmlns:a16="http://schemas.microsoft.com/office/drawing/2014/main" id="{5EA5E03C-2E40-9505-50D0-0B93568C04B9}"/>
              </a:ext>
            </a:extLst>
          </p:cNvPr>
          <p:cNvSpPr/>
          <p:nvPr/>
        </p:nvSpPr>
        <p:spPr>
          <a:xfrm>
            <a:off x="155448" y="4471416"/>
            <a:ext cx="201168" cy="201168"/>
          </a:xfrm>
          <a:prstGeom prst="ellipse">
            <a:avLst/>
          </a:prstGeom>
          <a:solidFill>
            <a:srgbClr val="E97132"/>
          </a:solidFill>
          <a:ln w="1270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Text 56">
            <a:extLst>
              <a:ext uri="{FF2B5EF4-FFF2-40B4-BE49-F238E27FC236}">
                <a16:creationId xmlns:a16="http://schemas.microsoft.com/office/drawing/2014/main" id="{E234D140-6637-BE81-0129-27DEF9C808A5}"/>
              </a:ext>
            </a:extLst>
          </p:cNvPr>
          <p:cNvSpPr/>
          <p:nvPr/>
        </p:nvSpPr>
        <p:spPr>
          <a:xfrm>
            <a:off x="658368" y="2038635"/>
            <a:ext cx="8778240" cy="731520"/>
          </a:xfrm>
          <a:prstGeom prst="rect">
            <a:avLst/>
          </a:prstGeom>
          <a:noFill/>
          <a:ln/>
        </p:spPr>
        <p:txBody>
          <a:bodyPr wrap="square"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600" b="1" i="0" u="none" strike="noStrike" kern="0" cap="none" spc="-50" normalizeH="0" baseline="0" noProof="0">
                <a:ln>
                  <a:noFill/>
                </a:ln>
                <a:solidFill>
                  <a:srgbClr val="FFFFFF"/>
                </a:solidFill>
                <a:effectLst/>
                <a:uLnTx/>
                <a:uFillTx/>
                <a:latin typeface="Aptos Display"/>
                <a:ea typeface="+mn-ea"/>
                <a:cs typeface="+mn-cs"/>
              </a:rPr>
              <a:t>Architecture</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Text 57">
            <a:extLst>
              <a:ext uri="{FF2B5EF4-FFF2-40B4-BE49-F238E27FC236}">
                <a16:creationId xmlns:a16="http://schemas.microsoft.com/office/drawing/2014/main" id="{9313C311-3783-F6E0-697E-6DA7D24CCFAA}"/>
              </a:ext>
            </a:extLst>
          </p:cNvPr>
          <p:cNvSpPr/>
          <p:nvPr/>
        </p:nvSpPr>
        <p:spPr>
          <a:xfrm>
            <a:off x="658368" y="2051113"/>
            <a:ext cx="8961120" cy="512064"/>
          </a:xfrm>
          <a:prstGeom prst="rect">
            <a:avLst/>
          </a:prstGeom>
          <a:noFill/>
          <a:ln/>
        </p:spPr>
        <p:txBody>
          <a:bodyPr wrap="square"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srgbClr val="0F9ED5"/>
              </a:solidFill>
              <a:effectLst/>
              <a:uLnTx/>
              <a:uFillTx/>
              <a:latin typeface="Calibri" panose="020F0502020204030204"/>
              <a:ea typeface="Calibri"/>
              <a:cs typeface="Calibri"/>
            </a:endParaRPr>
          </a:p>
        </p:txBody>
      </p:sp>
      <p:sp>
        <p:nvSpPr>
          <p:cNvPr id="60" name="Shape 58">
            <a:extLst>
              <a:ext uri="{FF2B5EF4-FFF2-40B4-BE49-F238E27FC236}">
                <a16:creationId xmlns:a16="http://schemas.microsoft.com/office/drawing/2014/main" id="{72A06CDC-99D7-1592-8308-69D8E881299D}"/>
              </a:ext>
            </a:extLst>
          </p:cNvPr>
          <p:cNvSpPr/>
          <p:nvPr/>
        </p:nvSpPr>
        <p:spPr>
          <a:xfrm>
            <a:off x="658368" y="2768155"/>
            <a:ext cx="8229600" cy="0"/>
          </a:xfrm>
          <a:prstGeom prst="line">
            <a:avLst/>
          </a:prstGeom>
          <a:noFill/>
          <a:ln w="3175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62">
            <a:extLst>
              <a:ext uri="{FF2B5EF4-FFF2-40B4-BE49-F238E27FC236}">
                <a16:creationId xmlns:a16="http://schemas.microsoft.com/office/drawing/2014/main" id="{F048E51F-CC2B-06D1-7D32-2DB9AB37232E}"/>
              </a:ext>
            </a:extLst>
          </p:cNvPr>
          <p:cNvSpPr/>
          <p:nvPr/>
        </p:nvSpPr>
        <p:spPr>
          <a:xfrm>
            <a:off x="658368" y="2724912"/>
            <a:ext cx="10515600" cy="0"/>
          </a:xfrm>
          <a:prstGeom prst="line">
            <a:avLst/>
          </a:prstGeom>
          <a:noFill/>
          <a:ln w="1016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Shape 66">
            <a:extLst>
              <a:ext uri="{FF2B5EF4-FFF2-40B4-BE49-F238E27FC236}">
                <a16:creationId xmlns:a16="http://schemas.microsoft.com/office/drawing/2014/main" id="{FF25A83F-2CA9-B836-BC45-0BE1DD3E3C7E}"/>
              </a:ext>
            </a:extLst>
          </p:cNvPr>
          <p:cNvSpPr/>
          <p:nvPr/>
        </p:nvSpPr>
        <p:spPr>
          <a:xfrm>
            <a:off x="658368" y="3383280"/>
            <a:ext cx="10515600" cy="0"/>
          </a:xfrm>
          <a:prstGeom prst="line">
            <a:avLst/>
          </a:prstGeom>
          <a:noFill/>
          <a:ln w="1016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Shape 70">
            <a:extLst>
              <a:ext uri="{FF2B5EF4-FFF2-40B4-BE49-F238E27FC236}">
                <a16:creationId xmlns:a16="http://schemas.microsoft.com/office/drawing/2014/main" id="{F8A91414-C5D7-6998-1570-DB3951C67760}"/>
              </a:ext>
            </a:extLst>
          </p:cNvPr>
          <p:cNvSpPr/>
          <p:nvPr/>
        </p:nvSpPr>
        <p:spPr>
          <a:xfrm>
            <a:off x="658368" y="4041648"/>
            <a:ext cx="10515600" cy="0"/>
          </a:xfrm>
          <a:prstGeom prst="line">
            <a:avLst/>
          </a:prstGeom>
          <a:noFill/>
          <a:ln w="1016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Shape 74">
            <a:extLst>
              <a:ext uri="{FF2B5EF4-FFF2-40B4-BE49-F238E27FC236}">
                <a16:creationId xmlns:a16="http://schemas.microsoft.com/office/drawing/2014/main" id="{61F0E6CE-776B-FA9A-53BF-C7E8F8879C64}"/>
              </a:ext>
            </a:extLst>
          </p:cNvPr>
          <p:cNvSpPr/>
          <p:nvPr/>
        </p:nvSpPr>
        <p:spPr>
          <a:xfrm>
            <a:off x="475488" y="4956048"/>
            <a:ext cx="11713464" cy="0"/>
          </a:xfrm>
          <a:prstGeom prst="line">
            <a:avLst/>
          </a:prstGeom>
          <a:noFill/>
          <a:ln w="2540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Shape 75">
            <a:extLst>
              <a:ext uri="{FF2B5EF4-FFF2-40B4-BE49-F238E27FC236}">
                <a16:creationId xmlns:a16="http://schemas.microsoft.com/office/drawing/2014/main" id="{A8C83570-A8A5-71CC-D586-7A1744EE71F5}"/>
              </a:ext>
            </a:extLst>
          </p:cNvPr>
          <p:cNvSpPr/>
          <p:nvPr/>
        </p:nvSpPr>
        <p:spPr>
          <a:xfrm>
            <a:off x="475488" y="4956048"/>
            <a:ext cx="2928366" cy="1773936"/>
          </a:xfrm>
          <a:prstGeom prst="rect">
            <a:avLst/>
          </a:prstGeom>
          <a:solidFill>
            <a:srgbClr val="0E2841"/>
          </a:solidFill>
          <a:ln w="12700">
            <a:solidFill>
              <a:srgbClr val="0E28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Shape 76">
            <a:extLst>
              <a:ext uri="{FF2B5EF4-FFF2-40B4-BE49-F238E27FC236}">
                <a16:creationId xmlns:a16="http://schemas.microsoft.com/office/drawing/2014/main" id="{A792D80E-18AB-E426-714F-E5299D83671A}"/>
              </a:ext>
            </a:extLst>
          </p:cNvPr>
          <p:cNvSpPr/>
          <p:nvPr/>
        </p:nvSpPr>
        <p:spPr>
          <a:xfrm>
            <a:off x="475488" y="4956048"/>
            <a:ext cx="2928366" cy="50292"/>
          </a:xfrm>
          <a:prstGeom prst="rect">
            <a:avLst/>
          </a:prstGeom>
          <a:solidFill>
            <a:srgbClr val="E97132"/>
          </a:solidFill>
          <a:ln w="1270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Shape 77">
            <a:extLst>
              <a:ext uri="{FF2B5EF4-FFF2-40B4-BE49-F238E27FC236}">
                <a16:creationId xmlns:a16="http://schemas.microsoft.com/office/drawing/2014/main" id="{CCAEEDEA-05CF-CE8C-38FC-9DF43F645C2A}"/>
              </a:ext>
            </a:extLst>
          </p:cNvPr>
          <p:cNvSpPr/>
          <p:nvPr/>
        </p:nvSpPr>
        <p:spPr>
          <a:xfrm>
            <a:off x="3403854" y="4956048"/>
            <a:ext cx="0" cy="1773936"/>
          </a:xfrm>
          <a:prstGeom prst="line">
            <a:avLst/>
          </a:prstGeom>
          <a:noFill/>
          <a:ln w="1270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Shape 81">
            <a:extLst>
              <a:ext uri="{FF2B5EF4-FFF2-40B4-BE49-F238E27FC236}">
                <a16:creationId xmlns:a16="http://schemas.microsoft.com/office/drawing/2014/main" id="{6789B34D-E65E-4EEA-1C93-4C859DF6DE03}"/>
              </a:ext>
            </a:extLst>
          </p:cNvPr>
          <p:cNvSpPr/>
          <p:nvPr/>
        </p:nvSpPr>
        <p:spPr>
          <a:xfrm>
            <a:off x="3403854" y="4956048"/>
            <a:ext cx="2928366" cy="1773936"/>
          </a:xfrm>
          <a:prstGeom prst="rect">
            <a:avLst/>
          </a:prstGeom>
          <a:solidFill>
            <a:srgbClr val="0E2841"/>
          </a:solidFill>
          <a:ln w="12700">
            <a:solidFill>
              <a:srgbClr val="0E28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Shape 82">
            <a:extLst>
              <a:ext uri="{FF2B5EF4-FFF2-40B4-BE49-F238E27FC236}">
                <a16:creationId xmlns:a16="http://schemas.microsoft.com/office/drawing/2014/main" id="{FE187BFD-0DD7-8734-44E4-407B4A912ED9}"/>
              </a:ext>
            </a:extLst>
          </p:cNvPr>
          <p:cNvSpPr/>
          <p:nvPr/>
        </p:nvSpPr>
        <p:spPr>
          <a:xfrm>
            <a:off x="3403854" y="4956048"/>
            <a:ext cx="2928366" cy="50292"/>
          </a:xfrm>
          <a:prstGeom prst="rect">
            <a:avLst/>
          </a:prstGeom>
          <a:solidFill>
            <a:srgbClr val="0F9ED5"/>
          </a:solidFill>
          <a:ln w="1270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Shape 83">
            <a:extLst>
              <a:ext uri="{FF2B5EF4-FFF2-40B4-BE49-F238E27FC236}">
                <a16:creationId xmlns:a16="http://schemas.microsoft.com/office/drawing/2014/main" id="{CEACBAE5-44F3-ED40-00C7-056ED1E4E221}"/>
              </a:ext>
            </a:extLst>
          </p:cNvPr>
          <p:cNvSpPr/>
          <p:nvPr/>
        </p:nvSpPr>
        <p:spPr>
          <a:xfrm>
            <a:off x="6332220" y="4956048"/>
            <a:ext cx="0" cy="1773936"/>
          </a:xfrm>
          <a:prstGeom prst="line">
            <a:avLst/>
          </a:prstGeom>
          <a:noFill/>
          <a:ln w="1270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Shape 87">
            <a:extLst>
              <a:ext uri="{FF2B5EF4-FFF2-40B4-BE49-F238E27FC236}">
                <a16:creationId xmlns:a16="http://schemas.microsoft.com/office/drawing/2014/main" id="{86F297C1-1602-DF9B-3F2E-B0D3512937D2}"/>
              </a:ext>
            </a:extLst>
          </p:cNvPr>
          <p:cNvSpPr/>
          <p:nvPr/>
        </p:nvSpPr>
        <p:spPr>
          <a:xfrm>
            <a:off x="6332220" y="4956048"/>
            <a:ext cx="2928366" cy="1773936"/>
          </a:xfrm>
          <a:prstGeom prst="rect">
            <a:avLst/>
          </a:prstGeom>
          <a:solidFill>
            <a:srgbClr val="0E2841"/>
          </a:solidFill>
          <a:ln w="12700">
            <a:solidFill>
              <a:srgbClr val="0E28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Shape 88">
            <a:extLst>
              <a:ext uri="{FF2B5EF4-FFF2-40B4-BE49-F238E27FC236}">
                <a16:creationId xmlns:a16="http://schemas.microsoft.com/office/drawing/2014/main" id="{4E403EE0-48EA-7FEC-C534-D6641C8C036F}"/>
              </a:ext>
            </a:extLst>
          </p:cNvPr>
          <p:cNvSpPr/>
          <p:nvPr/>
        </p:nvSpPr>
        <p:spPr>
          <a:xfrm>
            <a:off x="6332220" y="4956048"/>
            <a:ext cx="2928366" cy="50292"/>
          </a:xfrm>
          <a:prstGeom prst="rect">
            <a:avLst/>
          </a:prstGeom>
          <a:solidFill>
            <a:srgbClr val="196B24"/>
          </a:solidFill>
          <a:ln w="12700">
            <a:solidFill>
              <a:srgbClr val="196B2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Shape 89">
            <a:extLst>
              <a:ext uri="{FF2B5EF4-FFF2-40B4-BE49-F238E27FC236}">
                <a16:creationId xmlns:a16="http://schemas.microsoft.com/office/drawing/2014/main" id="{865E9628-A626-1B8E-7B11-296D1B8C2822}"/>
              </a:ext>
            </a:extLst>
          </p:cNvPr>
          <p:cNvSpPr/>
          <p:nvPr/>
        </p:nvSpPr>
        <p:spPr>
          <a:xfrm>
            <a:off x="9260586" y="4956048"/>
            <a:ext cx="0" cy="1773936"/>
          </a:xfrm>
          <a:prstGeom prst="line">
            <a:avLst/>
          </a:prstGeom>
          <a:noFill/>
          <a:ln w="1270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Shape 93">
            <a:extLst>
              <a:ext uri="{FF2B5EF4-FFF2-40B4-BE49-F238E27FC236}">
                <a16:creationId xmlns:a16="http://schemas.microsoft.com/office/drawing/2014/main" id="{EE5B700E-D6A3-3553-DF57-C0C879323DEA}"/>
              </a:ext>
            </a:extLst>
          </p:cNvPr>
          <p:cNvSpPr/>
          <p:nvPr/>
        </p:nvSpPr>
        <p:spPr>
          <a:xfrm>
            <a:off x="9260586" y="4956048"/>
            <a:ext cx="2928366" cy="1773936"/>
          </a:xfrm>
          <a:prstGeom prst="rect">
            <a:avLst/>
          </a:prstGeom>
          <a:solidFill>
            <a:srgbClr val="0E2841"/>
          </a:solidFill>
          <a:ln w="12700">
            <a:solidFill>
              <a:srgbClr val="0E28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Shape 94">
            <a:extLst>
              <a:ext uri="{FF2B5EF4-FFF2-40B4-BE49-F238E27FC236}">
                <a16:creationId xmlns:a16="http://schemas.microsoft.com/office/drawing/2014/main" id="{8310BA97-6950-1DBA-B69F-D4A012FA7C03}"/>
              </a:ext>
            </a:extLst>
          </p:cNvPr>
          <p:cNvSpPr/>
          <p:nvPr/>
        </p:nvSpPr>
        <p:spPr>
          <a:xfrm>
            <a:off x="9260586" y="4956048"/>
            <a:ext cx="2928366" cy="50292"/>
          </a:xfrm>
          <a:prstGeom prst="rect">
            <a:avLst/>
          </a:prstGeom>
          <a:solidFill>
            <a:srgbClr val="8BAFC4"/>
          </a:solidFill>
          <a:ln w="12700">
            <a:solidFill>
              <a:srgbClr val="8BAFC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58803532"/>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ight Arrow 4">
            <a:extLst>
              <a:ext uri="{FF2B5EF4-FFF2-40B4-BE49-F238E27FC236}">
                <a16:creationId xmlns:a16="http://schemas.microsoft.com/office/drawing/2014/main" id="{DF8FB02B-FD4A-0D60-A865-160212048C01}"/>
              </a:ext>
            </a:extLst>
          </p:cNvPr>
          <p:cNvSpPr/>
          <p:nvPr/>
        </p:nvSpPr>
        <p:spPr>
          <a:xfrm>
            <a:off x="1059439" y="6099037"/>
            <a:ext cx="10067636" cy="66571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a:ln>
                  <a:noFill/>
                </a:ln>
                <a:solidFill>
                  <a:prstClr val="white"/>
                </a:solidFill>
                <a:effectLst/>
                <a:uLnTx/>
                <a:uFillTx/>
                <a:latin typeface="Times New Roman"/>
                <a:ea typeface="Times New Roman" panose="02020603050405020304" pitchFamily="18" charset="0"/>
                <a:cs typeface="Times New Roman"/>
              </a:rPr>
              <a:t>Operational Data → Data Processing → AI Models → Decision Engine → Execution Layer → Monitoring and Learning</a:t>
            </a:r>
          </a:p>
        </p:txBody>
      </p:sp>
      <p:grpSp>
        <p:nvGrpSpPr>
          <p:cNvPr id="926" name="Group 925">
            <a:extLst>
              <a:ext uri="{FF2B5EF4-FFF2-40B4-BE49-F238E27FC236}">
                <a16:creationId xmlns:a16="http://schemas.microsoft.com/office/drawing/2014/main" id="{9AA91465-89E4-605A-3778-C6D39FC0E7F8}"/>
              </a:ext>
            </a:extLst>
          </p:cNvPr>
          <p:cNvGrpSpPr/>
          <p:nvPr/>
        </p:nvGrpSpPr>
        <p:grpSpPr>
          <a:xfrm>
            <a:off x="570523" y="1827379"/>
            <a:ext cx="10967314" cy="4337514"/>
            <a:chOff x="1371600" y="1514764"/>
            <a:chExt cx="10263930" cy="4464514"/>
          </a:xfrm>
        </p:grpSpPr>
        <p:graphicFrame>
          <p:nvGraphicFramePr>
            <p:cNvPr id="4" name="Diagram 3">
              <a:extLst>
                <a:ext uri="{FF2B5EF4-FFF2-40B4-BE49-F238E27FC236}">
                  <a16:creationId xmlns:a16="http://schemas.microsoft.com/office/drawing/2014/main" id="{3A4E9161-046A-A3C1-2811-BF9A517422FB}"/>
                </a:ext>
              </a:extLst>
            </p:cNvPr>
            <p:cNvGraphicFramePr/>
            <p:nvPr/>
          </p:nvGraphicFramePr>
          <p:xfrm>
            <a:off x="1371600" y="1514764"/>
            <a:ext cx="10263930" cy="42856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32" name="Straight Connector 31">
              <a:extLst>
                <a:ext uri="{FF2B5EF4-FFF2-40B4-BE49-F238E27FC236}">
                  <a16:creationId xmlns:a16="http://schemas.microsoft.com/office/drawing/2014/main" id="{18137EEC-F70B-C22C-CF0E-651B31ACA5A0}"/>
                </a:ext>
              </a:extLst>
            </p:cNvPr>
            <p:cNvCxnSpPr/>
            <p:nvPr/>
          </p:nvCxnSpPr>
          <p:spPr>
            <a:xfrm>
              <a:off x="2586182" y="2946400"/>
              <a:ext cx="4156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A1F8EE7-8849-3455-0E7A-60F79F79D3E5}"/>
                </a:ext>
              </a:extLst>
            </p:cNvPr>
            <p:cNvCxnSpPr>
              <a:cxnSpLocks/>
            </p:cNvCxnSpPr>
            <p:nvPr/>
          </p:nvCxnSpPr>
          <p:spPr>
            <a:xfrm flipV="1">
              <a:off x="2586182" y="2972653"/>
              <a:ext cx="415636" cy="428336"/>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A805480-35D2-9E2B-B1B1-6182CFF1117A}"/>
                </a:ext>
              </a:extLst>
            </p:cNvPr>
            <p:cNvCxnSpPr>
              <a:cxnSpLocks/>
            </p:cNvCxnSpPr>
            <p:nvPr/>
          </p:nvCxnSpPr>
          <p:spPr>
            <a:xfrm flipV="1">
              <a:off x="2586182" y="3030079"/>
              <a:ext cx="415636" cy="741821"/>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E2C7F7F3-1F27-164B-D9E2-57E8BA79B54E}"/>
                </a:ext>
              </a:extLst>
            </p:cNvPr>
            <p:cNvCxnSpPr>
              <a:cxnSpLocks/>
            </p:cNvCxnSpPr>
            <p:nvPr/>
          </p:nvCxnSpPr>
          <p:spPr>
            <a:xfrm flipV="1">
              <a:off x="2586182" y="3071918"/>
              <a:ext cx="415636" cy="1121417"/>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A2C440D-C639-297D-3FD2-8D4A9BFB09EA}"/>
                </a:ext>
              </a:extLst>
            </p:cNvPr>
            <p:cNvCxnSpPr>
              <a:cxnSpLocks/>
            </p:cNvCxnSpPr>
            <p:nvPr/>
          </p:nvCxnSpPr>
          <p:spPr>
            <a:xfrm flipV="1">
              <a:off x="2586182" y="3186821"/>
              <a:ext cx="415636" cy="1419263"/>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F4B0885-9CD7-52DA-2D7C-1B2D4593F9FC}"/>
                </a:ext>
              </a:extLst>
            </p:cNvPr>
            <p:cNvCxnSpPr>
              <a:cxnSpLocks/>
            </p:cNvCxnSpPr>
            <p:nvPr/>
          </p:nvCxnSpPr>
          <p:spPr>
            <a:xfrm flipV="1">
              <a:off x="2586182" y="3288534"/>
              <a:ext cx="415636" cy="1733765"/>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090D686E-2CF5-188A-5A8D-E875F69DD97E}"/>
                </a:ext>
              </a:extLst>
            </p:cNvPr>
            <p:cNvCxnSpPr>
              <a:cxnSpLocks/>
            </p:cNvCxnSpPr>
            <p:nvPr/>
          </p:nvCxnSpPr>
          <p:spPr>
            <a:xfrm flipV="1">
              <a:off x="2586182" y="3288534"/>
              <a:ext cx="415636" cy="214137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9A0077C5-FC2B-2C2A-7704-2FD915774E9A}"/>
                </a:ext>
              </a:extLst>
            </p:cNvPr>
            <p:cNvCxnSpPr/>
            <p:nvPr/>
          </p:nvCxnSpPr>
          <p:spPr>
            <a:xfrm>
              <a:off x="3482109" y="3400989"/>
              <a:ext cx="0" cy="1550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9161A6E9-4F67-A8DC-5375-21081B575C6F}"/>
                </a:ext>
              </a:extLst>
            </p:cNvPr>
            <p:cNvCxnSpPr>
              <a:cxnSpLocks/>
            </p:cNvCxnSpPr>
            <p:nvPr/>
          </p:nvCxnSpPr>
          <p:spPr>
            <a:xfrm>
              <a:off x="3486727" y="4116833"/>
              <a:ext cx="0" cy="1550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2C52A0C4-C92D-7405-04A2-29E143A7C885}"/>
                </a:ext>
              </a:extLst>
            </p:cNvPr>
            <p:cNvCxnSpPr>
              <a:cxnSpLocks/>
            </p:cNvCxnSpPr>
            <p:nvPr/>
          </p:nvCxnSpPr>
          <p:spPr>
            <a:xfrm>
              <a:off x="3472872" y="4867288"/>
              <a:ext cx="0" cy="1550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1938B97C-9C0D-0608-8993-2B06A6CEB972}"/>
                </a:ext>
              </a:extLst>
            </p:cNvPr>
            <p:cNvCxnSpPr>
              <a:cxnSpLocks/>
            </p:cNvCxnSpPr>
            <p:nvPr/>
          </p:nvCxnSpPr>
          <p:spPr>
            <a:xfrm flipV="1">
              <a:off x="4114800" y="3186821"/>
              <a:ext cx="355600" cy="20732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D6DD9756-CAD4-BFD6-9D85-C3BB85C7AE56}"/>
                </a:ext>
              </a:extLst>
            </p:cNvPr>
            <p:cNvCxnSpPr>
              <a:cxnSpLocks/>
            </p:cNvCxnSpPr>
            <p:nvPr/>
          </p:nvCxnSpPr>
          <p:spPr>
            <a:xfrm flipV="1">
              <a:off x="4119418" y="4193335"/>
              <a:ext cx="350982" cy="1066774"/>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2A89BB03-4E8D-B4A1-E85D-043410D66CCD}"/>
                </a:ext>
              </a:extLst>
            </p:cNvPr>
            <p:cNvCxnSpPr>
              <a:cxnSpLocks/>
            </p:cNvCxnSpPr>
            <p:nvPr/>
          </p:nvCxnSpPr>
          <p:spPr>
            <a:xfrm>
              <a:off x="4100945" y="5260109"/>
              <a:ext cx="36945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B01263A3-095C-72A8-9175-656D90B9046C}"/>
                </a:ext>
              </a:extLst>
            </p:cNvPr>
            <p:cNvCxnSpPr/>
            <p:nvPr/>
          </p:nvCxnSpPr>
          <p:spPr>
            <a:xfrm>
              <a:off x="5555673" y="3186821"/>
              <a:ext cx="4156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E81CFCC2-5C30-58AD-4AED-EBED55D60CA7}"/>
                </a:ext>
              </a:extLst>
            </p:cNvPr>
            <p:cNvCxnSpPr/>
            <p:nvPr/>
          </p:nvCxnSpPr>
          <p:spPr>
            <a:xfrm>
              <a:off x="5555673" y="4155416"/>
              <a:ext cx="4156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C011D866-890A-16AA-EF9A-51EA6766D087}"/>
                </a:ext>
              </a:extLst>
            </p:cNvPr>
            <p:cNvCxnSpPr/>
            <p:nvPr/>
          </p:nvCxnSpPr>
          <p:spPr>
            <a:xfrm>
              <a:off x="5555673" y="5148325"/>
              <a:ext cx="4156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9BA53E8C-7B0B-56A9-F1E0-EF3FDA56753A}"/>
                </a:ext>
              </a:extLst>
            </p:cNvPr>
            <p:cNvCxnSpPr/>
            <p:nvPr/>
          </p:nvCxnSpPr>
          <p:spPr>
            <a:xfrm>
              <a:off x="7038110" y="5148325"/>
              <a:ext cx="4156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67AA04F-F576-C0AB-BB43-37FEA2394735}"/>
                </a:ext>
              </a:extLst>
            </p:cNvPr>
            <p:cNvCxnSpPr>
              <a:cxnSpLocks/>
            </p:cNvCxnSpPr>
            <p:nvPr/>
          </p:nvCxnSpPr>
          <p:spPr>
            <a:xfrm>
              <a:off x="7038110" y="4155416"/>
              <a:ext cx="415636" cy="789377"/>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7A46AC0A-602B-CFAE-B807-855EE476D2D0}"/>
                </a:ext>
              </a:extLst>
            </p:cNvPr>
            <p:cNvCxnSpPr>
              <a:cxnSpLocks/>
            </p:cNvCxnSpPr>
            <p:nvPr/>
          </p:nvCxnSpPr>
          <p:spPr>
            <a:xfrm>
              <a:off x="7038110" y="3186821"/>
              <a:ext cx="415636" cy="1680467"/>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D01A57A3-96B5-82B3-22FA-194094CBF71E}"/>
                </a:ext>
              </a:extLst>
            </p:cNvPr>
            <p:cNvCxnSpPr/>
            <p:nvPr/>
          </p:nvCxnSpPr>
          <p:spPr>
            <a:xfrm>
              <a:off x="7970981" y="3989333"/>
              <a:ext cx="0" cy="3321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E0482D5-9B45-81EF-E148-FEF94F30F5AC}"/>
                </a:ext>
              </a:extLst>
            </p:cNvPr>
            <p:cNvCxnSpPr/>
            <p:nvPr/>
          </p:nvCxnSpPr>
          <p:spPr>
            <a:xfrm>
              <a:off x="8520546" y="5145095"/>
              <a:ext cx="4156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78BBA144-39FB-182F-0C88-7DE106025A4A}"/>
                </a:ext>
              </a:extLst>
            </p:cNvPr>
            <p:cNvCxnSpPr>
              <a:cxnSpLocks/>
            </p:cNvCxnSpPr>
            <p:nvPr/>
          </p:nvCxnSpPr>
          <p:spPr>
            <a:xfrm flipV="1">
              <a:off x="8520546" y="4116833"/>
              <a:ext cx="415636" cy="910525"/>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2202078-CE06-1E6F-A921-FCF08F9860EE}"/>
                </a:ext>
              </a:extLst>
            </p:cNvPr>
            <p:cNvCxnSpPr>
              <a:cxnSpLocks/>
            </p:cNvCxnSpPr>
            <p:nvPr/>
          </p:nvCxnSpPr>
          <p:spPr>
            <a:xfrm flipV="1">
              <a:off x="8520546" y="3247089"/>
              <a:ext cx="415636" cy="1684578"/>
            </a:xfrm>
            <a:prstGeom prst="line">
              <a:avLst/>
            </a:prstGeom>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22F1A1E0-9028-293A-70F9-347423909B01}"/>
                </a:ext>
              </a:extLst>
            </p:cNvPr>
            <p:cNvCxnSpPr/>
            <p:nvPr/>
          </p:nvCxnSpPr>
          <p:spPr>
            <a:xfrm>
              <a:off x="9984509" y="3186821"/>
              <a:ext cx="4156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FFC22DCE-741E-A86C-3F14-7AFD25ABD704}"/>
                </a:ext>
              </a:extLst>
            </p:cNvPr>
            <p:cNvCxnSpPr/>
            <p:nvPr/>
          </p:nvCxnSpPr>
          <p:spPr>
            <a:xfrm>
              <a:off x="9984509" y="4121727"/>
              <a:ext cx="4156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6581EDEB-05B5-4371-7C7D-1BE8CA71ACF3}"/>
                </a:ext>
              </a:extLst>
            </p:cNvPr>
            <p:cNvCxnSpPr>
              <a:cxnSpLocks/>
            </p:cNvCxnSpPr>
            <p:nvPr/>
          </p:nvCxnSpPr>
          <p:spPr>
            <a:xfrm>
              <a:off x="9984509" y="4223465"/>
              <a:ext cx="415636" cy="921630"/>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EDAC5D39-93AD-74FD-CC3F-D59B9E1CF0D7}"/>
                </a:ext>
              </a:extLst>
            </p:cNvPr>
            <p:cNvCxnSpPr>
              <a:cxnSpLocks/>
            </p:cNvCxnSpPr>
            <p:nvPr/>
          </p:nvCxnSpPr>
          <p:spPr>
            <a:xfrm flipV="1">
              <a:off x="9984509" y="3268217"/>
              <a:ext cx="415636" cy="1874595"/>
            </a:xfrm>
            <a:prstGeom prst="line">
              <a:avLst/>
            </a:prstGeom>
          </p:spPr>
          <p:style>
            <a:lnRef idx="1">
              <a:schemeClr val="accent1"/>
            </a:lnRef>
            <a:fillRef idx="0">
              <a:schemeClr val="accent1"/>
            </a:fillRef>
            <a:effectRef idx="0">
              <a:schemeClr val="accent1"/>
            </a:effectRef>
            <a:fontRef idx="minor">
              <a:schemeClr val="tx1"/>
            </a:fontRef>
          </p:style>
        </p:cxnSp>
        <p:sp>
          <p:nvSpPr>
            <p:cNvPr id="108" name="Arc 107">
              <a:extLst>
                <a:ext uri="{FF2B5EF4-FFF2-40B4-BE49-F238E27FC236}">
                  <a16:creationId xmlns:a16="http://schemas.microsoft.com/office/drawing/2014/main" id="{DFF2817F-83E0-3745-428F-07509929CBFA}"/>
                </a:ext>
              </a:extLst>
            </p:cNvPr>
            <p:cNvSpPr/>
            <p:nvPr/>
          </p:nvSpPr>
          <p:spPr>
            <a:xfrm>
              <a:off x="7232083" y="2559858"/>
              <a:ext cx="3763808" cy="512060"/>
            </a:xfrm>
            <a:prstGeom prst="arc">
              <a:avLst>
                <a:gd name="adj1" fmla="val 15979283"/>
                <a:gd name="adj2" fmla="val 0"/>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09" name="Arc 108">
              <a:extLst>
                <a:ext uri="{FF2B5EF4-FFF2-40B4-BE49-F238E27FC236}">
                  <a16:creationId xmlns:a16="http://schemas.microsoft.com/office/drawing/2014/main" id="{D462EBD2-2941-8292-AA18-999E4A86FC79}"/>
                </a:ext>
              </a:extLst>
            </p:cNvPr>
            <p:cNvSpPr/>
            <p:nvPr/>
          </p:nvSpPr>
          <p:spPr>
            <a:xfrm flipH="1">
              <a:off x="7970981" y="2556187"/>
              <a:ext cx="2238652" cy="512060"/>
            </a:xfrm>
            <a:prstGeom prst="arc">
              <a:avLst>
                <a:gd name="adj1" fmla="val 15979283"/>
                <a:gd name="adj2" fmla="val 0"/>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10" name="Arc 109">
              <a:extLst>
                <a:ext uri="{FF2B5EF4-FFF2-40B4-BE49-F238E27FC236}">
                  <a16:creationId xmlns:a16="http://schemas.microsoft.com/office/drawing/2014/main" id="{28ADC4D0-14FB-A302-7540-3EBA87BEDCDD}"/>
                </a:ext>
              </a:extLst>
            </p:cNvPr>
            <p:cNvSpPr/>
            <p:nvPr/>
          </p:nvSpPr>
          <p:spPr>
            <a:xfrm flipV="1">
              <a:off x="1760302" y="5263781"/>
              <a:ext cx="9076197" cy="715497"/>
            </a:xfrm>
            <a:prstGeom prst="arc">
              <a:avLst>
                <a:gd name="adj1" fmla="val 15979283"/>
                <a:gd name="adj2" fmla="val 0"/>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11" name="Arc 110">
              <a:extLst>
                <a:ext uri="{FF2B5EF4-FFF2-40B4-BE49-F238E27FC236}">
                  <a16:creationId xmlns:a16="http://schemas.microsoft.com/office/drawing/2014/main" id="{A047C2DD-328E-3AEF-AB8F-DD31113C965A}"/>
                </a:ext>
              </a:extLst>
            </p:cNvPr>
            <p:cNvSpPr/>
            <p:nvPr/>
          </p:nvSpPr>
          <p:spPr>
            <a:xfrm flipH="1" flipV="1">
              <a:off x="3537807" y="5260110"/>
              <a:ext cx="5398375" cy="715497"/>
            </a:xfrm>
            <a:prstGeom prst="arc">
              <a:avLst>
                <a:gd name="adj1" fmla="val 15979283"/>
                <a:gd name="adj2" fmla="val 0"/>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366" name="Straight Arrow Connector 365">
              <a:extLst>
                <a:ext uri="{FF2B5EF4-FFF2-40B4-BE49-F238E27FC236}">
                  <a16:creationId xmlns:a16="http://schemas.microsoft.com/office/drawing/2014/main" id="{E99DC90E-DE39-1A8F-1ADB-649D509187F3}"/>
                </a:ext>
              </a:extLst>
            </p:cNvPr>
            <p:cNvCxnSpPr/>
            <p:nvPr/>
          </p:nvCxnSpPr>
          <p:spPr>
            <a:xfrm flipV="1">
              <a:off x="4108364" y="3210489"/>
              <a:ext cx="370372" cy="1247885"/>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367" name="Straight Arrow Connector 366">
              <a:extLst>
                <a:ext uri="{FF2B5EF4-FFF2-40B4-BE49-F238E27FC236}">
                  <a16:creationId xmlns:a16="http://schemas.microsoft.com/office/drawing/2014/main" id="{B79EF4F6-4E7A-5AD9-D354-608FCF967FBC}"/>
                </a:ext>
              </a:extLst>
            </p:cNvPr>
            <p:cNvCxnSpPr/>
            <p:nvPr/>
          </p:nvCxnSpPr>
          <p:spPr>
            <a:xfrm flipV="1">
              <a:off x="4090905" y="4237767"/>
              <a:ext cx="397528" cy="250037"/>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368" name="Straight Connector 367">
              <a:extLst>
                <a:ext uri="{FF2B5EF4-FFF2-40B4-BE49-F238E27FC236}">
                  <a16:creationId xmlns:a16="http://schemas.microsoft.com/office/drawing/2014/main" id="{5A113CC0-3A1D-FBC4-EEF1-A54FE3B6C62B}"/>
                </a:ext>
              </a:extLst>
            </p:cNvPr>
            <p:cNvCxnSpPr>
              <a:cxnSpLocks/>
            </p:cNvCxnSpPr>
            <p:nvPr/>
          </p:nvCxnSpPr>
          <p:spPr>
            <a:xfrm>
              <a:off x="5555672" y="4156681"/>
              <a:ext cx="4156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9" name="Straight Connector 368">
              <a:extLst>
                <a:ext uri="{FF2B5EF4-FFF2-40B4-BE49-F238E27FC236}">
                  <a16:creationId xmlns:a16="http://schemas.microsoft.com/office/drawing/2014/main" id="{BF9F0A85-00DF-1C32-61E8-3B6809428D7C}"/>
                </a:ext>
              </a:extLst>
            </p:cNvPr>
            <p:cNvCxnSpPr>
              <a:cxnSpLocks/>
            </p:cNvCxnSpPr>
            <p:nvPr/>
          </p:nvCxnSpPr>
          <p:spPr>
            <a:xfrm>
              <a:off x="5555671" y="3175475"/>
              <a:ext cx="415636" cy="0"/>
            </a:xfrm>
            <a:prstGeom prst="line">
              <a:avLst/>
            </a:prstGeom>
          </p:spPr>
          <p:style>
            <a:lnRef idx="1">
              <a:schemeClr val="accent1"/>
            </a:lnRef>
            <a:fillRef idx="0">
              <a:schemeClr val="accent1"/>
            </a:fillRef>
            <a:effectRef idx="0">
              <a:schemeClr val="accent1"/>
            </a:effectRef>
            <a:fontRef idx="minor">
              <a:schemeClr val="tx1"/>
            </a:fontRef>
          </p:style>
        </p:cxnSp>
        <p:sp>
          <p:nvSpPr>
            <p:cNvPr id="595" name="TextBox 594">
              <a:extLst>
                <a:ext uri="{FF2B5EF4-FFF2-40B4-BE49-F238E27FC236}">
                  <a16:creationId xmlns:a16="http://schemas.microsoft.com/office/drawing/2014/main" id="{5BE13590-B015-1CCF-209E-993FE66FF01C}"/>
                </a:ext>
              </a:extLst>
            </p:cNvPr>
            <p:cNvSpPr txBox="1"/>
            <p:nvPr/>
          </p:nvSpPr>
          <p:spPr>
            <a:xfrm>
              <a:off x="8471355" y="4575288"/>
              <a:ext cx="810766"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Aptos" panose="02110004020202020204"/>
                  <a:ea typeface="+mn-ea"/>
                  <a:cs typeface="+mn-cs"/>
                </a:rPr>
                <a:t>2L Approval</a:t>
              </a:r>
            </a:p>
          </p:txBody>
        </p:sp>
        <p:sp>
          <p:nvSpPr>
            <p:cNvPr id="630" name="TextBox 629">
              <a:extLst>
                <a:ext uri="{FF2B5EF4-FFF2-40B4-BE49-F238E27FC236}">
                  <a16:creationId xmlns:a16="http://schemas.microsoft.com/office/drawing/2014/main" id="{21DD53E1-0080-0F1E-0902-1E62DBEF5786}"/>
                </a:ext>
              </a:extLst>
            </p:cNvPr>
            <p:cNvSpPr txBox="1"/>
            <p:nvPr/>
          </p:nvSpPr>
          <p:spPr>
            <a:xfrm>
              <a:off x="9046230" y="2532947"/>
              <a:ext cx="810766"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Aptos" panose="02110004020202020204"/>
                  <a:ea typeface="+mn-ea"/>
                  <a:cs typeface="+mn-cs"/>
                </a:rPr>
                <a:t>2L Approval</a:t>
              </a:r>
            </a:p>
          </p:txBody>
        </p:sp>
      </p:grpSp>
      <p:sp>
        <p:nvSpPr>
          <p:cNvPr id="631" name="TextBox 630">
            <a:extLst>
              <a:ext uri="{FF2B5EF4-FFF2-40B4-BE49-F238E27FC236}">
                <a16:creationId xmlns:a16="http://schemas.microsoft.com/office/drawing/2014/main" id="{F8605C29-0843-2A6B-DDDA-4ECA7BC35D04}"/>
              </a:ext>
            </a:extLst>
          </p:cNvPr>
          <p:cNvSpPr txBox="1"/>
          <p:nvPr/>
        </p:nvSpPr>
        <p:spPr>
          <a:xfrm>
            <a:off x="6058353" y="5991825"/>
            <a:ext cx="810766"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Aptos" panose="02110004020202020204"/>
                <a:ea typeface="+mn-ea"/>
                <a:cs typeface="+mn-cs"/>
              </a:rPr>
              <a:t>2L Approval</a:t>
            </a:r>
          </a:p>
        </p:txBody>
      </p:sp>
      <p:sp>
        <p:nvSpPr>
          <p:cNvPr id="932" name="Rectangle 931">
            <a:extLst>
              <a:ext uri="{FF2B5EF4-FFF2-40B4-BE49-F238E27FC236}">
                <a16:creationId xmlns:a16="http://schemas.microsoft.com/office/drawing/2014/main" id="{F6A6C300-C402-BF6C-4890-DC1199E86173}"/>
              </a:ext>
            </a:extLst>
          </p:cNvPr>
          <p:cNvSpPr/>
          <p:nvPr/>
        </p:nvSpPr>
        <p:spPr>
          <a:xfrm>
            <a:off x="0" y="0"/>
            <a:ext cx="12191969" cy="859536"/>
          </a:xfrm>
          <a:prstGeom prst="rect">
            <a:avLst/>
          </a:prstGeom>
          <a:solidFill>
            <a:srgbClr val="1E27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34" name="TextBox 933">
            <a:extLst>
              <a:ext uri="{FF2B5EF4-FFF2-40B4-BE49-F238E27FC236}">
                <a16:creationId xmlns:a16="http://schemas.microsoft.com/office/drawing/2014/main" id="{EC61297D-8C63-02E5-72EA-EE8213CF33FB}"/>
              </a:ext>
            </a:extLst>
          </p:cNvPr>
          <p:cNvSpPr txBox="1"/>
          <p:nvPr/>
        </p:nvSpPr>
        <p:spPr>
          <a:xfrm>
            <a:off x="328559" y="275805"/>
            <a:ext cx="11734769" cy="658368"/>
          </a:xfrm>
          <a:prstGeom prst="rect">
            <a:avLst/>
          </a:prstGeom>
          <a:noFill/>
        </p:spPr>
        <p:txBody>
          <a:bodyPr wrap="square" lIns="91440" tIns="45720" rIns="91440" bIns="45720" anchor="t"/>
          <a:lstStyle/>
          <a:p>
            <a:pPr algn="l">
              <a:defRPr/>
            </a:pPr>
            <a:r>
              <a:rPr lang="en-US" sz="2800" b="1" kern="1200">
                <a:solidFill>
                  <a:srgbClr val="FFFFFF"/>
                </a:solidFill>
                <a:latin typeface="Georgia"/>
                <a:ea typeface="+mn-ea"/>
                <a:cs typeface="+mn-cs"/>
              </a:rPr>
              <a:t>High Level System Architecture</a:t>
            </a:r>
            <a:endParaRPr lang="en-US">
              <a:ea typeface="+mn-ea"/>
              <a:cs typeface="+mn-cs"/>
            </a:endParaRPr>
          </a:p>
        </p:txBody>
      </p:sp>
      <p:sp>
        <p:nvSpPr>
          <p:cNvPr id="936" name="TextBox 935">
            <a:extLst>
              <a:ext uri="{FF2B5EF4-FFF2-40B4-BE49-F238E27FC236}">
                <a16:creationId xmlns:a16="http://schemas.microsoft.com/office/drawing/2014/main" id="{E14359AE-9F62-80A5-66E0-F30F810A86E1}"/>
              </a:ext>
            </a:extLst>
          </p:cNvPr>
          <p:cNvSpPr txBox="1"/>
          <p:nvPr/>
        </p:nvSpPr>
        <p:spPr>
          <a:xfrm>
            <a:off x="328559" y="48221"/>
            <a:ext cx="8229600" cy="230832"/>
          </a:xfrm>
          <a:prstGeom prst="rect">
            <a:avLst/>
          </a:prstGeom>
          <a:noFill/>
        </p:spPr>
        <p:txBody>
          <a:bodyPr wrap="square" lIns="91440" tIns="45720" rIns="91440" bIns="45720" anchor="t">
            <a:spAutoFit/>
          </a:bodyPr>
          <a:lstStyle/>
          <a:p>
            <a:pPr marL="0" marR="0" lvl="0" indent="0" algn="l" defTabSz="914400">
              <a:lnSpc>
                <a:spcPct val="100000"/>
              </a:lnSpc>
              <a:spcBef>
                <a:spcPts val="0"/>
              </a:spcBef>
              <a:spcAft>
                <a:spcPts val="0"/>
              </a:spcAft>
              <a:buNone/>
              <a:tabLst/>
              <a:defRPr/>
            </a:pPr>
            <a:r>
              <a:rPr lang="en-SG" sz="900" kern="1200">
                <a:solidFill>
                  <a:srgbClr val="8AAEC4"/>
                </a:solidFill>
                <a:latin typeface="Trebuchet MS"/>
                <a:ea typeface="+mn-ea"/>
                <a:cs typeface="+mn-cs"/>
              </a:rPr>
              <a:t>Architecture</a:t>
            </a:r>
            <a:endParaRPr lang="en-US">
              <a:ea typeface="+mn-ea"/>
              <a:cs typeface="+mn-cs"/>
            </a:endParaRPr>
          </a:p>
        </p:txBody>
      </p:sp>
      <p:sp>
        <p:nvSpPr>
          <p:cNvPr id="938" name="TextBox 937">
            <a:extLst>
              <a:ext uri="{FF2B5EF4-FFF2-40B4-BE49-F238E27FC236}">
                <a16:creationId xmlns:a16="http://schemas.microsoft.com/office/drawing/2014/main" id="{F02A9443-72C6-A6F3-BBF5-EC9EDF89BD48}"/>
              </a:ext>
            </a:extLst>
          </p:cNvPr>
          <p:cNvSpPr txBox="1"/>
          <p:nvPr/>
        </p:nvSpPr>
        <p:spPr>
          <a:xfrm>
            <a:off x="10363169" y="45720"/>
            <a:ext cx="1737360" cy="475488"/>
          </a:xfrm>
          <a:prstGeom prst="rect">
            <a:avLst/>
          </a:prstGeom>
          <a:noFill/>
        </p:spPr>
        <p:txBody>
          <a:bodyPr wrap="square" lIns="91440" tIns="45720" rIns="91440" bIns="4572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chemeClr val="bg1"/>
                </a:solidFill>
                <a:effectLst/>
                <a:uLnTx/>
                <a:uFillTx/>
                <a:latin typeface="Trebuchet MS"/>
                <a:ea typeface="+mn-ea"/>
                <a:cs typeface="+mn-cs"/>
              </a:rPr>
              <a:t>Expected Time Spent: </a:t>
            </a:r>
            <a:r>
              <a:rPr kumimoji="0" sz="900" b="0" i="0" u="none" strike="noStrike" kern="1200" cap="none" spc="0" normalizeH="0" baseline="0" noProof="0">
                <a:ln>
                  <a:noFill/>
                </a:ln>
                <a:solidFill>
                  <a:schemeClr val="bg1"/>
                </a:solidFill>
                <a:effectLst/>
                <a:uLnTx/>
                <a:uFillTx/>
                <a:latin typeface="Trebuchet MS"/>
                <a:ea typeface="+mn-ea"/>
                <a:cs typeface="+mn-cs"/>
              </a:rPr>
              <a:t>1 w</a:t>
            </a:r>
            <a:endParaRPr lang="en-US" sz="900" b="0" i="0" u="none" strike="noStrike" kern="1200" cap="none" spc="0" normalizeH="0" baseline="0" noProof="0">
              <a:ln>
                <a:noFill/>
              </a:ln>
              <a:solidFill>
                <a:schemeClr val="bg1"/>
              </a:solidFill>
              <a:effectLst/>
              <a:uLnTx/>
              <a:uFillTx/>
              <a:latin typeface="Trebuchet MS"/>
              <a:ea typeface="+mn-ea"/>
              <a:cs typeface="+mn-cs"/>
            </a:endParaRPr>
          </a:p>
          <a:p>
            <a:pPr algn="l" rtl="0">
              <a:defRPr/>
            </a:pPr>
            <a:r>
              <a:rPr kumimoji="0" sz="900" b="1" i="0" u="none" strike="noStrike" kern="1200" cap="none" spc="0" normalizeH="0" baseline="0" noProof="0">
                <a:ln>
                  <a:noFill/>
                </a:ln>
                <a:solidFill>
                  <a:schemeClr val="bg1"/>
                </a:solidFill>
                <a:effectLst/>
                <a:uLnTx/>
                <a:uFillTx/>
                <a:latin typeface="Trebuchet MS"/>
                <a:ea typeface="+mn-ea"/>
                <a:cs typeface="+mn-cs"/>
              </a:rPr>
              <a:t>Actual Time Spent: </a:t>
            </a:r>
            <a:r>
              <a:rPr lang="en-US" sz="900" b="1" kern="1200">
                <a:solidFill>
                  <a:schemeClr val="bg1"/>
                </a:solidFill>
                <a:latin typeface="Trebuchet MS"/>
                <a:ea typeface="+mn-ea"/>
                <a:cs typeface="+mn-cs"/>
              </a:rPr>
              <a:t>1</a:t>
            </a:r>
            <a:r>
              <a:rPr lang="en-US" sz="900" kern="1200">
                <a:solidFill>
                  <a:schemeClr val="bg1"/>
                </a:solidFill>
                <a:latin typeface="Trebuchet MS"/>
                <a:ea typeface="+mn-ea"/>
                <a:cs typeface="+mn-cs"/>
              </a:rPr>
              <a:t> </a:t>
            </a:r>
            <a:r>
              <a:rPr kumimoji="0" sz="900" b="0" i="0" u="none" strike="noStrike" kern="1200" cap="none" spc="0" normalizeH="0" baseline="0" noProof="0">
                <a:ln>
                  <a:noFill/>
                </a:ln>
                <a:solidFill>
                  <a:schemeClr val="bg1"/>
                </a:solidFill>
                <a:effectLst/>
                <a:uLnTx/>
                <a:uFillTx/>
                <a:latin typeface="Trebuchet MS"/>
                <a:ea typeface="+mn-ea"/>
                <a:cs typeface="+mn-cs"/>
              </a:rPr>
              <a:t>w</a:t>
            </a:r>
            <a:endParaRPr lang="en-US" sz="900" b="0" i="0" u="none" strike="noStrike" kern="1200" cap="none" spc="0" normalizeH="0" baseline="0" noProof="0">
              <a:ln>
                <a:noFill/>
              </a:ln>
              <a:solidFill>
                <a:schemeClr val="bg1"/>
              </a:solidFill>
              <a:effectLst/>
              <a:uLnTx/>
              <a:uFillTx/>
              <a:latin typeface="Trebuchet MS"/>
              <a:ea typeface="+mn-ea"/>
              <a:cs typeface="+mn-cs"/>
            </a:endParaRPr>
          </a:p>
        </p:txBody>
      </p:sp>
    </p:spTree>
    <p:extLst>
      <p:ext uri="{BB962C8B-B14F-4D97-AF65-F5344CB8AC3E}">
        <p14:creationId xmlns:p14="http://schemas.microsoft.com/office/powerpoint/2010/main" val="3905146402"/>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11101-2218-0E7A-12D9-FF4B665CF03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E67C895-7E95-A31F-E8CE-351898AEC105}"/>
              </a:ext>
            </a:extLst>
          </p:cNvPr>
          <p:cNvSpPr/>
          <p:nvPr/>
        </p:nvSpPr>
        <p:spPr>
          <a:xfrm>
            <a:off x="0" y="0"/>
            <a:ext cx="12188952" cy="6858000"/>
          </a:xfrm>
          <a:prstGeom prst="rect">
            <a:avLst/>
          </a:prstGeom>
          <a:solidFill>
            <a:srgbClr val="071524"/>
          </a:solidFill>
          <a:ln w="12700">
            <a:solidFill>
              <a:srgbClr val="07152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a:extLst>
              <a:ext uri="{FF2B5EF4-FFF2-40B4-BE49-F238E27FC236}">
                <a16:creationId xmlns:a16="http://schemas.microsoft.com/office/drawing/2014/main" id="{DB12E569-2630-1155-5311-F902ECBD42F3}"/>
              </a:ext>
            </a:extLst>
          </p:cNvPr>
          <p:cNvSpPr/>
          <p:nvPr/>
        </p:nvSpPr>
        <p:spPr>
          <a:xfrm>
            <a:off x="0" y="360947"/>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4A29513C-5049-6798-4F68-0B54C4453A22}"/>
              </a:ext>
            </a:extLst>
          </p:cNvPr>
          <p:cNvSpPr/>
          <p:nvPr/>
        </p:nvSpPr>
        <p:spPr>
          <a:xfrm>
            <a:off x="0" y="721895"/>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DCE0A46E-561B-8A7F-E6B3-CE14BD566502}"/>
              </a:ext>
            </a:extLst>
          </p:cNvPr>
          <p:cNvSpPr/>
          <p:nvPr/>
        </p:nvSpPr>
        <p:spPr>
          <a:xfrm>
            <a:off x="0" y="1082842"/>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a:extLst>
              <a:ext uri="{FF2B5EF4-FFF2-40B4-BE49-F238E27FC236}">
                <a16:creationId xmlns:a16="http://schemas.microsoft.com/office/drawing/2014/main" id="{74BC79AA-DFD7-F642-BCD8-F8C28AA8A4B5}"/>
              </a:ext>
            </a:extLst>
          </p:cNvPr>
          <p:cNvSpPr/>
          <p:nvPr/>
        </p:nvSpPr>
        <p:spPr>
          <a:xfrm>
            <a:off x="0" y="1443789"/>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a:extLst>
              <a:ext uri="{FF2B5EF4-FFF2-40B4-BE49-F238E27FC236}">
                <a16:creationId xmlns:a16="http://schemas.microsoft.com/office/drawing/2014/main" id="{4F84D6A5-6FA6-F8AC-55F1-F8CA54846236}"/>
              </a:ext>
            </a:extLst>
          </p:cNvPr>
          <p:cNvSpPr/>
          <p:nvPr/>
        </p:nvSpPr>
        <p:spPr>
          <a:xfrm>
            <a:off x="0" y="1804737"/>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a:extLst>
              <a:ext uri="{FF2B5EF4-FFF2-40B4-BE49-F238E27FC236}">
                <a16:creationId xmlns:a16="http://schemas.microsoft.com/office/drawing/2014/main" id="{AEF6B9E9-DCCD-9AC9-7504-210CB7AE94C9}"/>
              </a:ext>
            </a:extLst>
          </p:cNvPr>
          <p:cNvSpPr/>
          <p:nvPr/>
        </p:nvSpPr>
        <p:spPr>
          <a:xfrm>
            <a:off x="0" y="2808621"/>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a:extLst>
              <a:ext uri="{FF2B5EF4-FFF2-40B4-BE49-F238E27FC236}">
                <a16:creationId xmlns:a16="http://schemas.microsoft.com/office/drawing/2014/main" id="{218C6535-7948-E953-B480-0A5A34A69133}"/>
              </a:ext>
            </a:extLst>
          </p:cNvPr>
          <p:cNvSpPr/>
          <p:nvPr/>
        </p:nvSpPr>
        <p:spPr>
          <a:xfrm>
            <a:off x="0" y="2526632"/>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a:extLst>
              <a:ext uri="{FF2B5EF4-FFF2-40B4-BE49-F238E27FC236}">
                <a16:creationId xmlns:a16="http://schemas.microsoft.com/office/drawing/2014/main" id="{C6CC1B9D-35DA-B9E8-195B-5D4660CC5C48}"/>
              </a:ext>
            </a:extLst>
          </p:cNvPr>
          <p:cNvSpPr/>
          <p:nvPr/>
        </p:nvSpPr>
        <p:spPr>
          <a:xfrm>
            <a:off x="0" y="2887579"/>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a:extLst>
              <a:ext uri="{FF2B5EF4-FFF2-40B4-BE49-F238E27FC236}">
                <a16:creationId xmlns:a16="http://schemas.microsoft.com/office/drawing/2014/main" id="{590B7627-F635-CB53-2856-B20328B3112D}"/>
              </a:ext>
            </a:extLst>
          </p:cNvPr>
          <p:cNvSpPr/>
          <p:nvPr/>
        </p:nvSpPr>
        <p:spPr>
          <a:xfrm>
            <a:off x="0" y="3248526"/>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a:extLst>
              <a:ext uri="{FF2B5EF4-FFF2-40B4-BE49-F238E27FC236}">
                <a16:creationId xmlns:a16="http://schemas.microsoft.com/office/drawing/2014/main" id="{7E0117A8-5851-9128-4708-D7261200A992}"/>
              </a:ext>
            </a:extLst>
          </p:cNvPr>
          <p:cNvSpPr/>
          <p:nvPr/>
        </p:nvSpPr>
        <p:spPr>
          <a:xfrm>
            <a:off x="0" y="3609474"/>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a:extLst>
              <a:ext uri="{FF2B5EF4-FFF2-40B4-BE49-F238E27FC236}">
                <a16:creationId xmlns:a16="http://schemas.microsoft.com/office/drawing/2014/main" id="{08AC3DEC-EBF8-D2FB-5782-61C537106F3F}"/>
              </a:ext>
            </a:extLst>
          </p:cNvPr>
          <p:cNvSpPr/>
          <p:nvPr/>
        </p:nvSpPr>
        <p:spPr>
          <a:xfrm>
            <a:off x="0" y="3970421"/>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a:extLst>
              <a:ext uri="{FF2B5EF4-FFF2-40B4-BE49-F238E27FC236}">
                <a16:creationId xmlns:a16="http://schemas.microsoft.com/office/drawing/2014/main" id="{17685757-FCEB-DFBD-1E20-3145E28850D2}"/>
              </a:ext>
            </a:extLst>
          </p:cNvPr>
          <p:cNvSpPr/>
          <p:nvPr/>
        </p:nvSpPr>
        <p:spPr>
          <a:xfrm>
            <a:off x="0" y="4331368"/>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a:extLst>
              <a:ext uri="{FF2B5EF4-FFF2-40B4-BE49-F238E27FC236}">
                <a16:creationId xmlns:a16="http://schemas.microsoft.com/office/drawing/2014/main" id="{18766A31-82D3-425F-29B0-2503DD96CAB5}"/>
              </a:ext>
            </a:extLst>
          </p:cNvPr>
          <p:cNvSpPr/>
          <p:nvPr/>
        </p:nvSpPr>
        <p:spPr>
          <a:xfrm>
            <a:off x="0" y="4692316"/>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a:extLst>
              <a:ext uri="{FF2B5EF4-FFF2-40B4-BE49-F238E27FC236}">
                <a16:creationId xmlns:a16="http://schemas.microsoft.com/office/drawing/2014/main" id="{BC8C047C-541F-4D07-EE60-D4E56E23FE55}"/>
              </a:ext>
            </a:extLst>
          </p:cNvPr>
          <p:cNvSpPr/>
          <p:nvPr/>
        </p:nvSpPr>
        <p:spPr>
          <a:xfrm>
            <a:off x="0" y="5053263"/>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a:extLst>
              <a:ext uri="{FF2B5EF4-FFF2-40B4-BE49-F238E27FC236}">
                <a16:creationId xmlns:a16="http://schemas.microsoft.com/office/drawing/2014/main" id="{6296EED3-41B8-DB27-80DB-E7EC7A17D77B}"/>
              </a:ext>
            </a:extLst>
          </p:cNvPr>
          <p:cNvSpPr/>
          <p:nvPr/>
        </p:nvSpPr>
        <p:spPr>
          <a:xfrm>
            <a:off x="0" y="5414211"/>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a:extLst>
              <a:ext uri="{FF2B5EF4-FFF2-40B4-BE49-F238E27FC236}">
                <a16:creationId xmlns:a16="http://schemas.microsoft.com/office/drawing/2014/main" id="{34B4AAD4-1908-F499-DDDE-F8D812050FC5}"/>
              </a:ext>
            </a:extLst>
          </p:cNvPr>
          <p:cNvSpPr/>
          <p:nvPr/>
        </p:nvSpPr>
        <p:spPr>
          <a:xfrm>
            <a:off x="0" y="5775158"/>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a:extLst>
              <a:ext uri="{FF2B5EF4-FFF2-40B4-BE49-F238E27FC236}">
                <a16:creationId xmlns:a16="http://schemas.microsoft.com/office/drawing/2014/main" id="{D2359DE4-B881-DDFA-A240-E8A3AB64DAAF}"/>
              </a:ext>
            </a:extLst>
          </p:cNvPr>
          <p:cNvSpPr/>
          <p:nvPr/>
        </p:nvSpPr>
        <p:spPr>
          <a:xfrm>
            <a:off x="0" y="6136105"/>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a:extLst>
              <a:ext uri="{FF2B5EF4-FFF2-40B4-BE49-F238E27FC236}">
                <a16:creationId xmlns:a16="http://schemas.microsoft.com/office/drawing/2014/main" id="{595DA077-BD6D-28A7-0E70-D3F41703662F}"/>
              </a:ext>
            </a:extLst>
          </p:cNvPr>
          <p:cNvSpPr/>
          <p:nvPr/>
        </p:nvSpPr>
        <p:spPr>
          <a:xfrm>
            <a:off x="0" y="6497053"/>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a:extLst>
              <a:ext uri="{FF2B5EF4-FFF2-40B4-BE49-F238E27FC236}">
                <a16:creationId xmlns:a16="http://schemas.microsoft.com/office/drawing/2014/main" id="{2448204A-89D6-93D5-F814-CC9608540E63}"/>
              </a:ext>
            </a:extLst>
          </p:cNvPr>
          <p:cNvSpPr/>
          <p:nvPr/>
        </p:nvSpPr>
        <p:spPr>
          <a:xfrm>
            <a:off x="487558"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a:extLst>
              <a:ext uri="{FF2B5EF4-FFF2-40B4-BE49-F238E27FC236}">
                <a16:creationId xmlns:a16="http://schemas.microsoft.com/office/drawing/2014/main" id="{0BFC1C17-2F4B-B870-DBC8-0B5E9E0A0DF3}"/>
              </a:ext>
            </a:extLst>
          </p:cNvPr>
          <p:cNvSpPr/>
          <p:nvPr/>
        </p:nvSpPr>
        <p:spPr>
          <a:xfrm>
            <a:off x="975116"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a:extLst>
              <a:ext uri="{FF2B5EF4-FFF2-40B4-BE49-F238E27FC236}">
                <a16:creationId xmlns:a16="http://schemas.microsoft.com/office/drawing/2014/main" id="{E72ABAE5-9640-E666-09A6-60B73A02B0E1}"/>
              </a:ext>
            </a:extLst>
          </p:cNvPr>
          <p:cNvSpPr/>
          <p:nvPr/>
        </p:nvSpPr>
        <p:spPr>
          <a:xfrm>
            <a:off x="1462674"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a:extLst>
              <a:ext uri="{FF2B5EF4-FFF2-40B4-BE49-F238E27FC236}">
                <a16:creationId xmlns:a16="http://schemas.microsoft.com/office/drawing/2014/main" id="{B7C78FF7-9292-7DA0-068D-1F0B00CB7291}"/>
              </a:ext>
            </a:extLst>
          </p:cNvPr>
          <p:cNvSpPr/>
          <p:nvPr/>
        </p:nvSpPr>
        <p:spPr>
          <a:xfrm>
            <a:off x="1950232"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a:extLst>
              <a:ext uri="{FF2B5EF4-FFF2-40B4-BE49-F238E27FC236}">
                <a16:creationId xmlns:a16="http://schemas.microsoft.com/office/drawing/2014/main" id="{93928715-3F65-24C5-0089-46CAA2F8F24A}"/>
              </a:ext>
            </a:extLst>
          </p:cNvPr>
          <p:cNvSpPr/>
          <p:nvPr/>
        </p:nvSpPr>
        <p:spPr>
          <a:xfrm>
            <a:off x="2437790"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4">
            <a:extLst>
              <a:ext uri="{FF2B5EF4-FFF2-40B4-BE49-F238E27FC236}">
                <a16:creationId xmlns:a16="http://schemas.microsoft.com/office/drawing/2014/main" id="{D54CD7AD-7851-2D5C-C066-A30C995B6273}"/>
              </a:ext>
            </a:extLst>
          </p:cNvPr>
          <p:cNvSpPr/>
          <p:nvPr/>
        </p:nvSpPr>
        <p:spPr>
          <a:xfrm>
            <a:off x="2925348"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5">
            <a:extLst>
              <a:ext uri="{FF2B5EF4-FFF2-40B4-BE49-F238E27FC236}">
                <a16:creationId xmlns:a16="http://schemas.microsoft.com/office/drawing/2014/main" id="{D447B7E2-16B4-1708-8230-55C7191A92AA}"/>
              </a:ext>
            </a:extLst>
          </p:cNvPr>
          <p:cNvSpPr/>
          <p:nvPr/>
        </p:nvSpPr>
        <p:spPr>
          <a:xfrm>
            <a:off x="3412907"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6">
            <a:extLst>
              <a:ext uri="{FF2B5EF4-FFF2-40B4-BE49-F238E27FC236}">
                <a16:creationId xmlns:a16="http://schemas.microsoft.com/office/drawing/2014/main" id="{D7C1591C-08D2-DE99-1D64-D29B27EB1C7A}"/>
              </a:ext>
            </a:extLst>
          </p:cNvPr>
          <p:cNvSpPr/>
          <p:nvPr/>
        </p:nvSpPr>
        <p:spPr>
          <a:xfrm>
            <a:off x="3900465"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7">
            <a:extLst>
              <a:ext uri="{FF2B5EF4-FFF2-40B4-BE49-F238E27FC236}">
                <a16:creationId xmlns:a16="http://schemas.microsoft.com/office/drawing/2014/main" id="{77663D4A-4DCF-EC2B-2BA1-A96E590EA129}"/>
              </a:ext>
            </a:extLst>
          </p:cNvPr>
          <p:cNvSpPr/>
          <p:nvPr/>
        </p:nvSpPr>
        <p:spPr>
          <a:xfrm>
            <a:off x="4388023"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a:extLst>
              <a:ext uri="{FF2B5EF4-FFF2-40B4-BE49-F238E27FC236}">
                <a16:creationId xmlns:a16="http://schemas.microsoft.com/office/drawing/2014/main" id="{8528874B-DB82-8AF5-97C8-490A8F77C14E}"/>
              </a:ext>
            </a:extLst>
          </p:cNvPr>
          <p:cNvSpPr/>
          <p:nvPr/>
        </p:nvSpPr>
        <p:spPr>
          <a:xfrm>
            <a:off x="4875581"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9">
            <a:extLst>
              <a:ext uri="{FF2B5EF4-FFF2-40B4-BE49-F238E27FC236}">
                <a16:creationId xmlns:a16="http://schemas.microsoft.com/office/drawing/2014/main" id="{10766088-0BCC-9CBE-72EC-F8A8D0531895}"/>
              </a:ext>
            </a:extLst>
          </p:cNvPr>
          <p:cNvSpPr/>
          <p:nvPr/>
        </p:nvSpPr>
        <p:spPr>
          <a:xfrm>
            <a:off x="5363139"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30">
            <a:extLst>
              <a:ext uri="{FF2B5EF4-FFF2-40B4-BE49-F238E27FC236}">
                <a16:creationId xmlns:a16="http://schemas.microsoft.com/office/drawing/2014/main" id="{40B84070-64D0-330B-FD4D-CC75EA2E63DC}"/>
              </a:ext>
            </a:extLst>
          </p:cNvPr>
          <p:cNvSpPr/>
          <p:nvPr/>
        </p:nvSpPr>
        <p:spPr>
          <a:xfrm>
            <a:off x="5850697"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31">
            <a:extLst>
              <a:ext uri="{FF2B5EF4-FFF2-40B4-BE49-F238E27FC236}">
                <a16:creationId xmlns:a16="http://schemas.microsoft.com/office/drawing/2014/main" id="{8EDD5840-FC29-692D-A72E-E39194E3F820}"/>
              </a:ext>
            </a:extLst>
          </p:cNvPr>
          <p:cNvSpPr/>
          <p:nvPr/>
        </p:nvSpPr>
        <p:spPr>
          <a:xfrm>
            <a:off x="6338255"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Shape 32">
            <a:extLst>
              <a:ext uri="{FF2B5EF4-FFF2-40B4-BE49-F238E27FC236}">
                <a16:creationId xmlns:a16="http://schemas.microsoft.com/office/drawing/2014/main" id="{8083AC2E-5C1F-0EF1-1F92-7053C4843373}"/>
              </a:ext>
            </a:extLst>
          </p:cNvPr>
          <p:cNvSpPr/>
          <p:nvPr/>
        </p:nvSpPr>
        <p:spPr>
          <a:xfrm>
            <a:off x="6825813"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Shape 33">
            <a:extLst>
              <a:ext uri="{FF2B5EF4-FFF2-40B4-BE49-F238E27FC236}">
                <a16:creationId xmlns:a16="http://schemas.microsoft.com/office/drawing/2014/main" id="{FD539D6F-FBFE-0A3B-CDA2-2B551F8C9E77}"/>
              </a:ext>
            </a:extLst>
          </p:cNvPr>
          <p:cNvSpPr/>
          <p:nvPr/>
        </p:nvSpPr>
        <p:spPr>
          <a:xfrm>
            <a:off x="7313371"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34">
            <a:extLst>
              <a:ext uri="{FF2B5EF4-FFF2-40B4-BE49-F238E27FC236}">
                <a16:creationId xmlns:a16="http://schemas.microsoft.com/office/drawing/2014/main" id="{FA21411C-0A51-C67C-BB38-74CCFEFB916D}"/>
              </a:ext>
            </a:extLst>
          </p:cNvPr>
          <p:cNvSpPr/>
          <p:nvPr/>
        </p:nvSpPr>
        <p:spPr>
          <a:xfrm>
            <a:off x="7800929"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5">
            <a:extLst>
              <a:ext uri="{FF2B5EF4-FFF2-40B4-BE49-F238E27FC236}">
                <a16:creationId xmlns:a16="http://schemas.microsoft.com/office/drawing/2014/main" id="{3D828077-66AB-807B-C81A-D129D6F964AA}"/>
              </a:ext>
            </a:extLst>
          </p:cNvPr>
          <p:cNvSpPr/>
          <p:nvPr/>
        </p:nvSpPr>
        <p:spPr>
          <a:xfrm>
            <a:off x="8288487"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6">
            <a:extLst>
              <a:ext uri="{FF2B5EF4-FFF2-40B4-BE49-F238E27FC236}">
                <a16:creationId xmlns:a16="http://schemas.microsoft.com/office/drawing/2014/main" id="{D241C2EC-1A53-6040-13E5-47F6EE0217E2}"/>
              </a:ext>
            </a:extLst>
          </p:cNvPr>
          <p:cNvSpPr/>
          <p:nvPr/>
        </p:nvSpPr>
        <p:spPr>
          <a:xfrm>
            <a:off x="8776045"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Shape 37">
            <a:extLst>
              <a:ext uri="{FF2B5EF4-FFF2-40B4-BE49-F238E27FC236}">
                <a16:creationId xmlns:a16="http://schemas.microsoft.com/office/drawing/2014/main" id="{934BF153-4BF5-4702-F54A-F4724B41DFE7}"/>
              </a:ext>
            </a:extLst>
          </p:cNvPr>
          <p:cNvSpPr/>
          <p:nvPr/>
        </p:nvSpPr>
        <p:spPr>
          <a:xfrm>
            <a:off x="9263604"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Shape 38">
            <a:extLst>
              <a:ext uri="{FF2B5EF4-FFF2-40B4-BE49-F238E27FC236}">
                <a16:creationId xmlns:a16="http://schemas.microsoft.com/office/drawing/2014/main" id="{D6471752-167F-C66A-5769-D188838CB94B}"/>
              </a:ext>
            </a:extLst>
          </p:cNvPr>
          <p:cNvSpPr/>
          <p:nvPr/>
        </p:nvSpPr>
        <p:spPr>
          <a:xfrm>
            <a:off x="9751162"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Shape 39">
            <a:extLst>
              <a:ext uri="{FF2B5EF4-FFF2-40B4-BE49-F238E27FC236}">
                <a16:creationId xmlns:a16="http://schemas.microsoft.com/office/drawing/2014/main" id="{D8BB79CD-576B-0CAB-770B-88A061B89014}"/>
              </a:ext>
            </a:extLst>
          </p:cNvPr>
          <p:cNvSpPr/>
          <p:nvPr/>
        </p:nvSpPr>
        <p:spPr>
          <a:xfrm>
            <a:off x="10238720"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Shape 40">
            <a:extLst>
              <a:ext uri="{FF2B5EF4-FFF2-40B4-BE49-F238E27FC236}">
                <a16:creationId xmlns:a16="http://schemas.microsoft.com/office/drawing/2014/main" id="{3AC93D3E-1B6A-0A5F-EDB8-1A8D9390D6DF}"/>
              </a:ext>
            </a:extLst>
          </p:cNvPr>
          <p:cNvSpPr/>
          <p:nvPr/>
        </p:nvSpPr>
        <p:spPr>
          <a:xfrm>
            <a:off x="10726278"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Shape 41">
            <a:extLst>
              <a:ext uri="{FF2B5EF4-FFF2-40B4-BE49-F238E27FC236}">
                <a16:creationId xmlns:a16="http://schemas.microsoft.com/office/drawing/2014/main" id="{A2DB62A2-B4CC-8506-D648-4BA17F19CA10}"/>
              </a:ext>
            </a:extLst>
          </p:cNvPr>
          <p:cNvSpPr/>
          <p:nvPr/>
        </p:nvSpPr>
        <p:spPr>
          <a:xfrm>
            <a:off x="11213836"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Shape 42">
            <a:extLst>
              <a:ext uri="{FF2B5EF4-FFF2-40B4-BE49-F238E27FC236}">
                <a16:creationId xmlns:a16="http://schemas.microsoft.com/office/drawing/2014/main" id="{181F4935-6920-C8B1-F67A-19CD585A2EB3}"/>
              </a:ext>
            </a:extLst>
          </p:cNvPr>
          <p:cNvSpPr/>
          <p:nvPr/>
        </p:nvSpPr>
        <p:spPr>
          <a:xfrm>
            <a:off x="11701394"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43">
            <a:extLst>
              <a:ext uri="{FF2B5EF4-FFF2-40B4-BE49-F238E27FC236}">
                <a16:creationId xmlns:a16="http://schemas.microsoft.com/office/drawing/2014/main" id="{9C18E23F-C4A2-3192-2859-234429ED7DAB}"/>
              </a:ext>
            </a:extLst>
          </p:cNvPr>
          <p:cNvSpPr/>
          <p:nvPr/>
        </p:nvSpPr>
        <p:spPr>
          <a:xfrm>
            <a:off x="0" y="0"/>
            <a:ext cx="475488" cy="6858000"/>
          </a:xfrm>
          <a:prstGeom prst="rect">
            <a:avLst/>
          </a:prstGeom>
          <a:solidFill>
            <a:srgbClr val="156082"/>
          </a:solidFill>
          <a:ln w="12700">
            <a:solidFill>
              <a:srgbClr val="15608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Shape 44">
            <a:extLst>
              <a:ext uri="{FF2B5EF4-FFF2-40B4-BE49-F238E27FC236}">
                <a16:creationId xmlns:a16="http://schemas.microsoft.com/office/drawing/2014/main" id="{6B1B8530-C7A1-CC63-6FA1-612F2A04A4E5}"/>
              </a:ext>
            </a:extLst>
          </p:cNvPr>
          <p:cNvSpPr/>
          <p:nvPr/>
        </p:nvSpPr>
        <p:spPr>
          <a:xfrm>
            <a:off x="475488" y="0"/>
            <a:ext cx="0" cy="6858000"/>
          </a:xfrm>
          <a:prstGeom prst="line">
            <a:avLst/>
          </a:prstGeom>
          <a:noFill/>
          <a:ln w="1905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Shape 45">
            <a:extLst>
              <a:ext uri="{FF2B5EF4-FFF2-40B4-BE49-F238E27FC236}">
                <a16:creationId xmlns:a16="http://schemas.microsoft.com/office/drawing/2014/main" id="{07638360-D105-415F-FE19-2FA64EC1BB06}"/>
              </a:ext>
            </a:extLst>
          </p:cNvPr>
          <p:cNvSpPr/>
          <p:nvPr/>
        </p:nvSpPr>
        <p:spPr>
          <a:xfrm>
            <a:off x="8412480" y="-1371600"/>
            <a:ext cx="6035040" cy="6035040"/>
          </a:xfrm>
          <a:prstGeom prst="ellipse">
            <a:avLst/>
          </a:prstGeom>
          <a:solidFill>
            <a:srgbClr val="071524">
              <a:alpha val="0"/>
            </a:srgbClr>
          </a:solidFill>
          <a:ln w="12700">
            <a:solidFill>
              <a:srgbClr val="0F9ED5">
                <a:alpha val="12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Shape 46">
            <a:extLst>
              <a:ext uri="{FF2B5EF4-FFF2-40B4-BE49-F238E27FC236}">
                <a16:creationId xmlns:a16="http://schemas.microsoft.com/office/drawing/2014/main" id="{A064A48D-BDD9-ED73-6C9D-754334A8B7FD}"/>
              </a:ext>
            </a:extLst>
          </p:cNvPr>
          <p:cNvSpPr/>
          <p:nvPr/>
        </p:nvSpPr>
        <p:spPr>
          <a:xfrm>
            <a:off x="9235440" y="-548640"/>
            <a:ext cx="4389120" cy="4389120"/>
          </a:xfrm>
          <a:prstGeom prst="ellipse">
            <a:avLst/>
          </a:prstGeom>
          <a:solidFill>
            <a:srgbClr val="071524">
              <a:alpha val="0"/>
            </a:srgbClr>
          </a:solidFill>
          <a:ln w="12700">
            <a:solidFill>
              <a:srgbClr val="0F9ED5">
                <a:alpha val="22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Shape 47">
            <a:extLst>
              <a:ext uri="{FF2B5EF4-FFF2-40B4-BE49-F238E27FC236}">
                <a16:creationId xmlns:a16="http://schemas.microsoft.com/office/drawing/2014/main" id="{BA47C056-24E1-7153-62A3-792499ABC57D}"/>
              </a:ext>
            </a:extLst>
          </p:cNvPr>
          <p:cNvSpPr/>
          <p:nvPr/>
        </p:nvSpPr>
        <p:spPr>
          <a:xfrm>
            <a:off x="10058400" y="274320"/>
            <a:ext cx="2743200" cy="2743200"/>
          </a:xfrm>
          <a:prstGeom prst="ellipse">
            <a:avLst/>
          </a:prstGeom>
          <a:solidFill>
            <a:srgbClr val="071524">
              <a:alpha val="0"/>
            </a:srgbClr>
          </a:solidFill>
          <a:ln w="12700">
            <a:solidFill>
              <a:srgbClr val="0F9ED5">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48">
            <a:extLst>
              <a:ext uri="{FF2B5EF4-FFF2-40B4-BE49-F238E27FC236}">
                <a16:creationId xmlns:a16="http://schemas.microsoft.com/office/drawing/2014/main" id="{ED6C4CB8-7709-83AE-CCA2-8F2C6A12EBD8}"/>
              </a:ext>
            </a:extLst>
          </p:cNvPr>
          <p:cNvSpPr/>
          <p:nvPr/>
        </p:nvSpPr>
        <p:spPr>
          <a:xfrm>
            <a:off x="10881360" y="1097280"/>
            <a:ext cx="1097280" cy="1097280"/>
          </a:xfrm>
          <a:prstGeom prst="ellipse">
            <a:avLst/>
          </a:prstGeom>
          <a:solidFill>
            <a:srgbClr val="071524">
              <a:alpha val="0"/>
            </a:srgbClr>
          </a:solidFill>
          <a:ln w="12700">
            <a:solidFill>
              <a:srgbClr val="0F9ED5">
                <a:alpha val="5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9">
            <a:extLst>
              <a:ext uri="{FF2B5EF4-FFF2-40B4-BE49-F238E27FC236}">
                <a16:creationId xmlns:a16="http://schemas.microsoft.com/office/drawing/2014/main" id="{F2CA8AC1-3836-FA3B-4D48-EED3F9B948E0}"/>
              </a:ext>
            </a:extLst>
          </p:cNvPr>
          <p:cNvSpPr/>
          <p:nvPr/>
        </p:nvSpPr>
        <p:spPr>
          <a:xfrm>
            <a:off x="11292840" y="1508760"/>
            <a:ext cx="274320" cy="274320"/>
          </a:xfrm>
          <a:prstGeom prst="ellipse">
            <a:avLst/>
          </a:prstGeom>
          <a:solidFill>
            <a:srgbClr val="0F9ED5">
              <a:alpha val="60000"/>
            </a:srgbClr>
          </a:solidFill>
          <a:ln w="1270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Shape 50">
            <a:extLst>
              <a:ext uri="{FF2B5EF4-FFF2-40B4-BE49-F238E27FC236}">
                <a16:creationId xmlns:a16="http://schemas.microsoft.com/office/drawing/2014/main" id="{8A388F0B-B5F2-DFC4-B07F-6C555E647A43}"/>
              </a:ext>
            </a:extLst>
          </p:cNvPr>
          <p:cNvSpPr/>
          <p:nvPr/>
        </p:nvSpPr>
        <p:spPr>
          <a:xfrm>
            <a:off x="155448" y="1179576"/>
            <a:ext cx="201168" cy="201168"/>
          </a:xfrm>
          <a:prstGeom prst="ellipse">
            <a:avLst/>
          </a:prstGeom>
          <a:solidFill>
            <a:srgbClr val="E97132"/>
          </a:solidFill>
          <a:ln w="1270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Shape 51">
            <a:extLst>
              <a:ext uri="{FF2B5EF4-FFF2-40B4-BE49-F238E27FC236}">
                <a16:creationId xmlns:a16="http://schemas.microsoft.com/office/drawing/2014/main" id="{342938B4-EC51-FAC5-F2DE-182BA1B7B467}"/>
              </a:ext>
            </a:extLst>
          </p:cNvPr>
          <p:cNvSpPr/>
          <p:nvPr/>
        </p:nvSpPr>
        <p:spPr>
          <a:xfrm>
            <a:off x="155448" y="2002536"/>
            <a:ext cx="201168" cy="201168"/>
          </a:xfrm>
          <a:prstGeom prst="ellipse">
            <a:avLst/>
          </a:prstGeom>
          <a:solidFill>
            <a:srgbClr val="0F9ED5"/>
          </a:solidFill>
          <a:ln w="1270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Shape 52">
            <a:extLst>
              <a:ext uri="{FF2B5EF4-FFF2-40B4-BE49-F238E27FC236}">
                <a16:creationId xmlns:a16="http://schemas.microsoft.com/office/drawing/2014/main" id="{A7B7EFE7-C88A-AB01-540E-D008D375C50C}"/>
              </a:ext>
            </a:extLst>
          </p:cNvPr>
          <p:cNvSpPr/>
          <p:nvPr/>
        </p:nvSpPr>
        <p:spPr>
          <a:xfrm>
            <a:off x="155448" y="2825496"/>
            <a:ext cx="201168" cy="201168"/>
          </a:xfrm>
          <a:prstGeom prst="ellipse">
            <a:avLst/>
          </a:prstGeom>
          <a:solidFill>
            <a:srgbClr val="196B24"/>
          </a:solidFill>
          <a:ln w="12700">
            <a:solidFill>
              <a:srgbClr val="196B2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Shape 53">
            <a:extLst>
              <a:ext uri="{FF2B5EF4-FFF2-40B4-BE49-F238E27FC236}">
                <a16:creationId xmlns:a16="http://schemas.microsoft.com/office/drawing/2014/main" id="{6A7BA54C-507F-8BCB-5F72-0BAD1C626D33}"/>
              </a:ext>
            </a:extLst>
          </p:cNvPr>
          <p:cNvSpPr/>
          <p:nvPr/>
        </p:nvSpPr>
        <p:spPr>
          <a:xfrm>
            <a:off x="155448" y="3648456"/>
            <a:ext cx="201168" cy="201168"/>
          </a:xfrm>
          <a:prstGeom prst="ellipse">
            <a:avLst/>
          </a:prstGeom>
          <a:solidFill>
            <a:srgbClr val="0F9ED5"/>
          </a:solidFill>
          <a:ln w="1270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Shape 54">
            <a:extLst>
              <a:ext uri="{FF2B5EF4-FFF2-40B4-BE49-F238E27FC236}">
                <a16:creationId xmlns:a16="http://schemas.microsoft.com/office/drawing/2014/main" id="{BD484EF4-C76C-F44A-5922-62DECFDDEDFC}"/>
              </a:ext>
            </a:extLst>
          </p:cNvPr>
          <p:cNvSpPr/>
          <p:nvPr/>
        </p:nvSpPr>
        <p:spPr>
          <a:xfrm>
            <a:off x="155448" y="4471416"/>
            <a:ext cx="201168" cy="201168"/>
          </a:xfrm>
          <a:prstGeom prst="ellipse">
            <a:avLst/>
          </a:prstGeom>
          <a:solidFill>
            <a:srgbClr val="E97132"/>
          </a:solidFill>
          <a:ln w="1270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Text 56">
            <a:extLst>
              <a:ext uri="{FF2B5EF4-FFF2-40B4-BE49-F238E27FC236}">
                <a16:creationId xmlns:a16="http://schemas.microsoft.com/office/drawing/2014/main" id="{ECF76F55-13CA-FCD1-3817-D9439AC3F4BF}"/>
              </a:ext>
            </a:extLst>
          </p:cNvPr>
          <p:cNvSpPr/>
          <p:nvPr/>
        </p:nvSpPr>
        <p:spPr>
          <a:xfrm>
            <a:off x="658368" y="2038635"/>
            <a:ext cx="8778240" cy="731520"/>
          </a:xfrm>
          <a:prstGeom prst="rect">
            <a:avLst/>
          </a:prstGeom>
          <a:noFill/>
          <a:ln/>
        </p:spPr>
        <p:txBody>
          <a:bodyPr wrap="square"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600" b="1" i="0" u="none" strike="noStrike" kern="0" cap="none" spc="-50" normalizeH="0" baseline="0" noProof="0">
                <a:ln>
                  <a:noFill/>
                </a:ln>
                <a:solidFill>
                  <a:srgbClr val="FFFFFF"/>
                </a:solidFill>
                <a:effectLst/>
                <a:uLnTx/>
                <a:uFillTx/>
                <a:latin typeface="Aptos Display"/>
                <a:ea typeface="+mn-ea"/>
                <a:cs typeface="+mn-cs"/>
              </a:rPr>
              <a:t>Exploratory Data Analysis</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Text 57">
            <a:extLst>
              <a:ext uri="{FF2B5EF4-FFF2-40B4-BE49-F238E27FC236}">
                <a16:creationId xmlns:a16="http://schemas.microsoft.com/office/drawing/2014/main" id="{76F66733-F37E-E542-07C7-D3887DECACC6}"/>
              </a:ext>
            </a:extLst>
          </p:cNvPr>
          <p:cNvSpPr/>
          <p:nvPr/>
        </p:nvSpPr>
        <p:spPr>
          <a:xfrm>
            <a:off x="658368" y="2051113"/>
            <a:ext cx="8961120" cy="512064"/>
          </a:xfrm>
          <a:prstGeom prst="rect">
            <a:avLst/>
          </a:prstGeom>
          <a:noFill/>
          <a:ln/>
        </p:spPr>
        <p:txBody>
          <a:bodyPr wrap="square"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srgbClr val="0F9ED5"/>
              </a:solidFill>
              <a:effectLst/>
              <a:uLnTx/>
              <a:uFillTx/>
              <a:latin typeface="Calibri" panose="020F0502020204030204"/>
              <a:ea typeface="Calibri"/>
              <a:cs typeface="Calibri"/>
            </a:endParaRPr>
          </a:p>
        </p:txBody>
      </p:sp>
      <p:sp>
        <p:nvSpPr>
          <p:cNvPr id="60" name="Shape 58">
            <a:extLst>
              <a:ext uri="{FF2B5EF4-FFF2-40B4-BE49-F238E27FC236}">
                <a16:creationId xmlns:a16="http://schemas.microsoft.com/office/drawing/2014/main" id="{99D21696-6D4C-DE27-D23C-46E8DBFAF0A8}"/>
              </a:ext>
            </a:extLst>
          </p:cNvPr>
          <p:cNvSpPr/>
          <p:nvPr/>
        </p:nvSpPr>
        <p:spPr>
          <a:xfrm>
            <a:off x="658368" y="2768155"/>
            <a:ext cx="8229600" cy="0"/>
          </a:xfrm>
          <a:prstGeom prst="line">
            <a:avLst/>
          </a:prstGeom>
          <a:noFill/>
          <a:ln w="3175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62">
            <a:extLst>
              <a:ext uri="{FF2B5EF4-FFF2-40B4-BE49-F238E27FC236}">
                <a16:creationId xmlns:a16="http://schemas.microsoft.com/office/drawing/2014/main" id="{A38B1C17-82F8-CDB3-ADBA-0B660FF8B3EA}"/>
              </a:ext>
            </a:extLst>
          </p:cNvPr>
          <p:cNvSpPr/>
          <p:nvPr/>
        </p:nvSpPr>
        <p:spPr>
          <a:xfrm>
            <a:off x="658368" y="2724912"/>
            <a:ext cx="10515600" cy="0"/>
          </a:xfrm>
          <a:prstGeom prst="line">
            <a:avLst/>
          </a:prstGeom>
          <a:noFill/>
          <a:ln w="1016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Shape 66">
            <a:extLst>
              <a:ext uri="{FF2B5EF4-FFF2-40B4-BE49-F238E27FC236}">
                <a16:creationId xmlns:a16="http://schemas.microsoft.com/office/drawing/2014/main" id="{CDE06872-480C-11F0-8AC7-015592829583}"/>
              </a:ext>
            </a:extLst>
          </p:cNvPr>
          <p:cNvSpPr/>
          <p:nvPr/>
        </p:nvSpPr>
        <p:spPr>
          <a:xfrm>
            <a:off x="658368" y="3383280"/>
            <a:ext cx="10515600" cy="0"/>
          </a:xfrm>
          <a:prstGeom prst="line">
            <a:avLst/>
          </a:prstGeom>
          <a:noFill/>
          <a:ln w="1016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Shape 70">
            <a:extLst>
              <a:ext uri="{FF2B5EF4-FFF2-40B4-BE49-F238E27FC236}">
                <a16:creationId xmlns:a16="http://schemas.microsoft.com/office/drawing/2014/main" id="{8281C377-8EF3-36F2-C936-1EE86F8C3CC4}"/>
              </a:ext>
            </a:extLst>
          </p:cNvPr>
          <p:cNvSpPr/>
          <p:nvPr/>
        </p:nvSpPr>
        <p:spPr>
          <a:xfrm>
            <a:off x="658368" y="4041648"/>
            <a:ext cx="10515600" cy="0"/>
          </a:xfrm>
          <a:prstGeom prst="line">
            <a:avLst/>
          </a:prstGeom>
          <a:noFill/>
          <a:ln w="1016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Shape 74">
            <a:extLst>
              <a:ext uri="{FF2B5EF4-FFF2-40B4-BE49-F238E27FC236}">
                <a16:creationId xmlns:a16="http://schemas.microsoft.com/office/drawing/2014/main" id="{445B5DD6-2F6B-0D5E-7668-EB47762DA271}"/>
              </a:ext>
            </a:extLst>
          </p:cNvPr>
          <p:cNvSpPr/>
          <p:nvPr/>
        </p:nvSpPr>
        <p:spPr>
          <a:xfrm>
            <a:off x="475488" y="4956048"/>
            <a:ext cx="11713464" cy="0"/>
          </a:xfrm>
          <a:prstGeom prst="line">
            <a:avLst/>
          </a:prstGeom>
          <a:noFill/>
          <a:ln w="2540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Shape 75">
            <a:extLst>
              <a:ext uri="{FF2B5EF4-FFF2-40B4-BE49-F238E27FC236}">
                <a16:creationId xmlns:a16="http://schemas.microsoft.com/office/drawing/2014/main" id="{325EC922-2275-1205-878C-8D82F89107B3}"/>
              </a:ext>
            </a:extLst>
          </p:cNvPr>
          <p:cNvSpPr/>
          <p:nvPr/>
        </p:nvSpPr>
        <p:spPr>
          <a:xfrm>
            <a:off x="475488" y="4956048"/>
            <a:ext cx="2928366" cy="1773936"/>
          </a:xfrm>
          <a:prstGeom prst="rect">
            <a:avLst/>
          </a:prstGeom>
          <a:solidFill>
            <a:srgbClr val="0E2841"/>
          </a:solidFill>
          <a:ln w="12700">
            <a:solidFill>
              <a:srgbClr val="0E28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Shape 76">
            <a:extLst>
              <a:ext uri="{FF2B5EF4-FFF2-40B4-BE49-F238E27FC236}">
                <a16:creationId xmlns:a16="http://schemas.microsoft.com/office/drawing/2014/main" id="{8A1B5B06-44B4-727B-B50E-72FAF694FD51}"/>
              </a:ext>
            </a:extLst>
          </p:cNvPr>
          <p:cNvSpPr/>
          <p:nvPr/>
        </p:nvSpPr>
        <p:spPr>
          <a:xfrm>
            <a:off x="475488" y="4956048"/>
            <a:ext cx="2928366" cy="50292"/>
          </a:xfrm>
          <a:prstGeom prst="rect">
            <a:avLst/>
          </a:prstGeom>
          <a:solidFill>
            <a:srgbClr val="E97132"/>
          </a:solidFill>
          <a:ln w="1270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Shape 77">
            <a:extLst>
              <a:ext uri="{FF2B5EF4-FFF2-40B4-BE49-F238E27FC236}">
                <a16:creationId xmlns:a16="http://schemas.microsoft.com/office/drawing/2014/main" id="{DA951C91-CD15-18E1-D39C-DF18DC7D640B}"/>
              </a:ext>
            </a:extLst>
          </p:cNvPr>
          <p:cNvSpPr/>
          <p:nvPr/>
        </p:nvSpPr>
        <p:spPr>
          <a:xfrm>
            <a:off x="3403854" y="4956048"/>
            <a:ext cx="0" cy="1773936"/>
          </a:xfrm>
          <a:prstGeom prst="line">
            <a:avLst/>
          </a:prstGeom>
          <a:noFill/>
          <a:ln w="1270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Shape 81">
            <a:extLst>
              <a:ext uri="{FF2B5EF4-FFF2-40B4-BE49-F238E27FC236}">
                <a16:creationId xmlns:a16="http://schemas.microsoft.com/office/drawing/2014/main" id="{E556FC37-C902-3622-31F0-AC336BCAE890}"/>
              </a:ext>
            </a:extLst>
          </p:cNvPr>
          <p:cNvSpPr/>
          <p:nvPr/>
        </p:nvSpPr>
        <p:spPr>
          <a:xfrm>
            <a:off x="3403854" y="4956048"/>
            <a:ext cx="2928366" cy="1773936"/>
          </a:xfrm>
          <a:prstGeom prst="rect">
            <a:avLst/>
          </a:prstGeom>
          <a:solidFill>
            <a:srgbClr val="0E2841"/>
          </a:solidFill>
          <a:ln w="12700">
            <a:solidFill>
              <a:srgbClr val="0E28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Shape 82">
            <a:extLst>
              <a:ext uri="{FF2B5EF4-FFF2-40B4-BE49-F238E27FC236}">
                <a16:creationId xmlns:a16="http://schemas.microsoft.com/office/drawing/2014/main" id="{C001C193-9FEA-808B-AA6A-9B1B70B3BF6D}"/>
              </a:ext>
            </a:extLst>
          </p:cNvPr>
          <p:cNvSpPr/>
          <p:nvPr/>
        </p:nvSpPr>
        <p:spPr>
          <a:xfrm>
            <a:off x="3403854" y="4956048"/>
            <a:ext cx="2928366" cy="50292"/>
          </a:xfrm>
          <a:prstGeom prst="rect">
            <a:avLst/>
          </a:prstGeom>
          <a:solidFill>
            <a:srgbClr val="0F9ED5"/>
          </a:solidFill>
          <a:ln w="1270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Shape 83">
            <a:extLst>
              <a:ext uri="{FF2B5EF4-FFF2-40B4-BE49-F238E27FC236}">
                <a16:creationId xmlns:a16="http://schemas.microsoft.com/office/drawing/2014/main" id="{B5431E9C-6C8C-5743-E554-6C5047C7CAA8}"/>
              </a:ext>
            </a:extLst>
          </p:cNvPr>
          <p:cNvSpPr/>
          <p:nvPr/>
        </p:nvSpPr>
        <p:spPr>
          <a:xfrm>
            <a:off x="6332220" y="4956048"/>
            <a:ext cx="0" cy="1773936"/>
          </a:xfrm>
          <a:prstGeom prst="line">
            <a:avLst/>
          </a:prstGeom>
          <a:noFill/>
          <a:ln w="1270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Shape 87">
            <a:extLst>
              <a:ext uri="{FF2B5EF4-FFF2-40B4-BE49-F238E27FC236}">
                <a16:creationId xmlns:a16="http://schemas.microsoft.com/office/drawing/2014/main" id="{ED9B7A29-53A1-0D5C-C088-A6FDAC4D5028}"/>
              </a:ext>
            </a:extLst>
          </p:cNvPr>
          <p:cNvSpPr/>
          <p:nvPr/>
        </p:nvSpPr>
        <p:spPr>
          <a:xfrm>
            <a:off x="6332220" y="4956048"/>
            <a:ext cx="2928366" cy="1773936"/>
          </a:xfrm>
          <a:prstGeom prst="rect">
            <a:avLst/>
          </a:prstGeom>
          <a:solidFill>
            <a:srgbClr val="0E2841"/>
          </a:solidFill>
          <a:ln w="12700">
            <a:solidFill>
              <a:srgbClr val="0E28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Shape 88">
            <a:extLst>
              <a:ext uri="{FF2B5EF4-FFF2-40B4-BE49-F238E27FC236}">
                <a16:creationId xmlns:a16="http://schemas.microsoft.com/office/drawing/2014/main" id="{0942EE70-3DFC-D9AA-8E8A-E69CB4567B84}"/>
              </a:ext>
            </a:extLst>
          </p:cNvPr>
          <p:cNvSpPr/>
          <p:nvPr/>
        </p:nvSpPr>
        <p:spPr>
          <a:xfrm>
            <a:off x="6332220" y="4956048"/>
            <a:ext cx="2928366" cy="50292"/>
          </a:xfrm>
          <a:prstGeom prst="rect">
            <a:avLst/>
          </a:prstGeom>
          <a:solidFill>
            <a:srgbClr val="196B24"/>
          </a:solidFill>
          <a:ln w="12700">
            <a:solidFill>
              <a:srgbClr val="196B2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Shape 89">
            <a:extLst>
              <a:ext uri="{FF2B5EF4-FFF2-40B4-BE49-F238E27FC236}">
                <a16:creationId xmlns:a16="http://schemas.microsoft.com/office/drawing/2014/main" id="{8FF554FB-5E03-D43C-CC5C-F4A49B724981}"/>
              </a:ext>
            </a:extLst>
          </p:cNvPr>
          <p:cNvSpPr/>
          <p:nvPr/>
        </p:nvSpPr>
        <p:spPr>
          <a:xfrm>
            <a:off x="9260586" y="4956048"/>
            <a:ext cx="0" cy="1773936"/>
          </a:xfrm>
          <a:prstGeom prst="line">
            <a:avLst/>
          </a:prstGeom>
          <a:noFill/>
          <a:ln w="1270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Shape 93">
            <a:extLst>
              <a:ext uri="{FF2B5EF4-FFF2-40B4-BE49-F238E27FC236}">
                <a16:creationId xmlns:a16="http://schemas.microsoft.com/office/drawing/2014/main" id="{AB1BC403-9A1B-5159-6C5E-6C23F98954A9}"/>
              </a:ext>
            </a:extLst>
          </p:cNvPr>
          <p:cNvSpPr/>
          <p:nvPr/>
        </p:nvSpPr>
        <p:spPr>
          <a:xfrm>
            <a:off x="9260586" y="4956048"/>
            <a:ext cx="2928366" cy="1773936"/>
          </a:xfrm>
          <a:prstGeom prst="rect">
            <a:avLst/>
          </a:prstGeom>
          <a:solidFill>
            <a:srgbClr val="0E2841"/>
          </a:solidFill>
          <a:ln w="12700">
            <a:solidFill>
              <a:srgbClr val="0E28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Shape 94">
            <a:extLst>
              <a:ext uri="{FF2B5EF4-FFF2-40B4-BE49-F238E27FC236}">
                <a16:creationId xmlns:a16="http://schemas.microsoft.com/office/drawing/2014/main" id="{B675170F-A1E5-9A64-2879-64C4F9192B18}"/>
              </a:ext>
            </a:extLst>
          </p:cNvPr>
          <p:cNvSpPr/>
          <p:nvPr/>
        </p:nvSpPr>
        <p:spPr>
          <a:xfrm>
            <a:off x="9260586" y="4956048"/>
            <a:ext cx="2928366" cy="50292"/>
          </a:xfrm>
          <a:prstGeom prst="rect">
            <a:avLst/>
          </a:prstGeom>
          <a:solidFill>
            <a:srgbClr val="8BAFC4"/>
          </a:solidFill>
          <a:ln w="12700">
            <a:solidFill>
              <a:srgbClr val="8BAFC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954499"/>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92480"/>
          </a:xfrm>
          <a:prstGeom prst="rect">
            <a:avLst/>
          </a:prstGeom>
          <a:solidFill>
            <a:srgbClr val="1E2761"/>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87680" y="121920"/>
            <a:ext cx="8534400" cy="54864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a:ln>
                  <a:noFill/>
                </a:ln>
                <a:solidFill>
                  <a:srgbClr val="FFFFFF"/>
                </a:solidFill>
                <a:effectLst/>
                <a:uLnTx/>
                <a:uFillTx/>
                <a:latin typeface="Georgia" pitchFamily="34" charset="0"/>
                <a:ea typeface="Georgia" pitchFamily="34" charset="-122"/>
                <a:cs typeface="Georgia" pitchFamily="34" charset="-120"/>
              </a:rPr>
              <a:t>Exploratory Data Analysis — Key Insights</a:t>
            </a:r>
            <a:endParaRPr kumimoji="0" lang="en-US" sz="2667"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7963712" y="182880"/>
            <a:ext cx="3984449" cy="426720"/>
          </a:xfrm>
          <a:prstGeom prst="rect">
            <a:avLst/>
          </a:prstGeom>
          <a:noFill/>
          <a:ln/>
        </p:spPr>
        <p:txBody>
          <a:bodyPr wrap="square" lIns="0" tIns="0" rIns="0" bIns="0" rtlCol="0" anchor="ct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94A3B8"/>
                </a:solidFill>
                <a:effectLst/>
                <a:uLnTx/>
                <a:uFillTx/>
                <a:latin typeface="Calibri" pitchFamily="34" charset="0"/>
                <a:ea typeface="Calibri" pitchFamily="34" charset="-122"/>
                <a:cs typeface="Calibri" pitchFamily="34" charset="-120"/>
              </a:rPr>
              <a:t>9 Datasets  |  135K+ Records</a:t>
            </a:r>
            <a:endParaRPr kumimoji="0" lang="en-US"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304800" y="975360"/>
            <a:ext cx="5669280" cy="2804160"/>
          </a:xfrm>
          <a:prstGeom prst="rect">
            <a:avLst/>
          </a:prstGeom>
          <a:solidFill>
            <a:srgbClr val="F8FAFC"/>
          </a:solidFill>
          <a:ln/>
          <a:effectLst>
            <a:outerShdw blurRad="50800" dist="12700" dir="8100000" algn="bl" rotWithShape="0">
              <a:srgbClr val="000000">
                <a:alpha val="8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304800" y="975360"/>
            <a:ext cx="5669280" cy="48768"/>
          </a:xfrm>
          <a:prstGeom prst="rect">
            <a:avLst/>
          </a:prstGeom>
          <a:solidFill>
            <a:srgbClr val="3B82F6"/>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426720" y="1121664"/>
            <a:ext cx="341376" cy="341376"/>
          </a:xfrm>
          <a:prstGeom prst="rect">
            <a:avLst/>
          </a:prstGeom>
          <a:solidFill>
            <a:srgbClr val="3B82F6"/>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426720" y="1121664"/>
            <a:ext cx="341376" cy="341376"/>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1</a:t>
            </a:r>
            <a:endParaRPr kumimoji="0" lang="en-US" sz="1467"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853440" y="1097280"/>
            <a:ext cx="4998720" cy="36576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CPU Is the Dominant Failure Signal (r = 0.62)</a:t>
            </a:r>
            <a:endParaRPr kumimoji="0" lang="en-US" sz="1467"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426720" y="1487424"/>
            <a:ext cx="5425440" cy="46329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6B7280"/>
                </a:solidFill>
                <a:effectLst/>
                <a:uLnTx/>
                <a:uFillTx/>
                <a:latin typeface="Calibri"/>
                <a:ea typeface="Calibri"/>
                <a:cs typeface="Calibri"/>
              </a:rPr>
              <a:t>All other sensors show near-zero correlation with failure. CPU alone explains ~38% of failure variance. Memory, disk, temperature, network — all noise in a linear context.</a:t>
            </a:r>
            <a:endParaRPr kumimoji="0" lang="en-US" sz="1200" b="0" i="0" u="none" strike="noStrike" kern="1200" cap="none" spc="0" normalizeH="0" baseline="0" noProof="0">
              <a:ln>
                <a:noFill/>
              </a:ln>
              <a:solidFill>
                <a:prstClr val="black"/>
              </a:solidFill>
              <a:effectLst/>
              <a:uLnTx/>
              <a:uFillTx/>
              <a:latin typeface="Calibri"/>
              <a:ea typeface="Calibri"/>
              <a:cs typeface="Calibri"/>
            </a:endParaRPr>
          </a:p>
        </p:txBody>
      </p:sp>
      <p:pic>
        <p:nvPicPr>
          <p:cNvPr id="11" name="Image 0" descr="/home/claude/unp_charts/word/media/image1.png"/>
          <p:cNvPicPr>
            <a:picLocks noChangeAspect="1"/>
          </p:cNvPicPr>
          <p:nvPr/>
        </p:nvPicPr>
        <p:blipFill>
          <a:blip r:embed="rId3"/>
          <a:stretch>
            <a:fillRect/>
          </a:stretch>
        </p:blipFill>
        <p:spPr>
          <a:xfrm>
            <a:off x="426720" y="1975104"/>
            <a:ext cx="5425440" cy="1682496"/>
          </a:xfrm>
          <a:prstGeom prst="rect">
            <a:avLst/>
          </a:prstGeom>
        </p:spPr>
      </p:pic>
      <p:sp>
        <p:nvSpPr>
          <p:cNvPr id="12" name="Shape 9"/>
          <p:cNvSpPr/>
          <p:nvPr/>
        </p:nvSpPr>
        <p:spPr>
          <a:xfrm>
            <a:off x="6217920" y="975360"/>
            <a:ext cx="5669280" cy="2804160"/>
          </a:xfrm>
          <a:prstGeom prst="rect">
            <a:avLst/>
          </a:prstGeom>
          <a:solidFill>
            <a:srgbClr val="F8FAFC"/>
          </a:solidFill>
          <a:ln/>
          <a:effectLst>
            <a:outerShdw blurRad="50800" dist="12700" dir="8100000" algn="bl" rotWithShape="0">
              <a:srgbClr val="000000">
                <a:alpha val="8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0"/>
          <p:cNvSpPr/>
          <p:nvPr/>
        </p:nvSpPr>
        <p:spPr>
          <a:xfrm>
            <a:off x="6217920" y="975360"/>
            <a:ext cx="5669280" cy="48768"/>
          </a:xfrm>
          <a:prstGeom prst="rect">
            <a:avLst/>
          </a:prstGeom>
          <a:solidFill>
            <a:srgbClr val="DC2626"/>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1"/>
          <p:cNvSpPr/>
          <p:nvPr/>
        </p:nvSpPr>
        <p:spPr>
          <a:xfrm>
            <a:off x="6339840" y="1121664"/>
            <a:ext cx="341376" cy="341376"/>
          </a:xfrm>
          <a:prstGeom prst="rect">
            <a:avLst/>
          </a:prstGeom>
          <a:solidFill>
            <a:srgbClr val="DC2626"/>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2"/>
          <p:cNvSpPr/>
          <p:nvPr/>
        </p:nvSpPr>
        <p:spPr>
          <a:xfrm>
            <a:off x="6339840" y="1121664"/>
            <a:ext cx="341376" cy="341376"/>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2</a:t>
            </a:r>
            <a:endParaRPr kumimoji="0" lang="en-US" sz="1467"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6766560" y="1097280"/>
            <a:ext cx="4998720" cy="36576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Hard Failure Threshold at 82% CPU</a:t>
            </a:r>
            <a:endParaRPr kumimoji="0" lang="en-US" sz="1467"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4"/>
          <p:cNvSpPr/>
          <p:nvPr/>
        </p:nvSpPr>
        <p:spPr>
          <a:xfrm>
            <a:off x="6339840" y="1487424"/>
            <a:ext cx="5425440" cy="46329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6B7280"/>
                </a:solidFill>
                <a:effectLst/>
                <a:uLnTx/>
                <a:uFillTx/>
                <a:latin typeface="Calibri"/>
                <a:ea typeface="Calibri"/>
                <a:cs typeface="Calibri"/>
              </a:rPr>
              <a:t>Normal ops: 61.5% avg (std 12.3). Failure: 89.3% avg (std 5.4). Min CPU at failure = 82.2%. Pattern is uniform across all device types and criticality levels.</a:t>
            </a:r>
            <a:endParaRPr kumimoji="0" lang="en-US" sz="1200" b="0" i="0" u="none" strike="noStrike" kern="1200" cap="none" spc="0" normalizeH="0" baseline="0" noProof="0">
              <a:ln>
                <a:noFill/>
              </a:ln>
              <a:solidFill>
                <a:prstClr val="black"/>
              </a:solidFill>
              <a:effectLst/>
              <a:uLnTx/>
              <a:uFillTx/>
              <a:latin typeface="Calibri"/>
              <a:ea typeface="Calibri"/>
              <a:cs typeface="Calibri"/>
            </a:endParaRPr>
          </a:p>
        </p:txBody>
      </p:sp>
      <p:pic>
        <p:nvPicPr>
          <p:cNvPr id="18" name="Image 1" descr="/home/claude/unp_charts/word/media/image2.png"/>
          <p:cNvPicPr>
            <a:picLocks noChangeAspect="1"/>
          </p:cNvPicPr>
          <p:nvPr/>
        </p:nvPicPr>
        <p:blipFill>
          <a:blip r:embed="rId4"/>
          <a:stretch>
            <a:fillRect/>
          </a:stretch>
        </p:blipFill>
        <p:spPr>
          <a:xfrm>
            <a:off x="6339840" y="1975104"/>
            <a:ext cx="5425440" cy="1682496"/>
          </a:xfrm>
          <a:prstGeom prst="rect">
            <a:avLst/>
          </a:prstGeom>
        </p:spPr>
      </p:pic>
      <p:sp>
        <p:nvSpPr>
          <p:cNvPr id="19" name="Shape 15"/>
          <p:cNvSpPr/>
          <p:nvPr/>
        </p:nvSpPr>
        <p:spPr>
          <a:xfrm>
            <a:off x="304800" y="3962400"/>
            <a:ext cx="5669280" cy="2804160"/>
          </a:xfrm>
          <a:prstGeom prst="rect">
            <a:avLst/>
          </a:prstGeom>
          <a:solidFill>
            <a:srgbClr val="F8FAFC"/>
          </a:solidFill>
          <a:ln/>
          <a:effectLst>
            <a:outerShdw blurRad="50800" dist="12700" dir="8100000" algn="bl" rotWithShape="0">
              <a:srgbClr val="000000">
                <a:alpha val="8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6"/>
          <p:cNvSpPr/>
          <p:nvPr/>
        </p:nvSpPr>
        <p:spPr>
          <a:xfrm>
            <a:off x="304800" y="3962400"/>
            <a:ext cx="5669280" cy="48768"/>
          </a:xfrm>
          <a:prstGeom prst="rect">
            <a:avLst/>
          </a:prstGeom>
          <a:solidFill>
            <a:srgbClr val="0891B2"/>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7"/>
          <p:cNvSpPr/>
          <p:nvPr/>
        </p:nvSpPr>
        <p:spPr>
          <a:xfrm>
            <a:off x="426720" y="4108704"/>
            <a:ext cx="341376" cy="341376"/>
          </a:xfrm>
          <a:prstGeom prst="rect">
            <a:avLst/>
          </a:prstGeom>
          <a:solidFill>
            <a:srgbClr val="0891B2"/>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18"/>
          <p:cNvSpPr/>
          <p:nvPr/>
        </p:nvSpPr>
        <p:spPr>
          <a:xfrm>
            <a:off x="426720" y="4108704"/>
            <a:ext cx="341376" cy="341376"/>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3</a:t>
            </a:r>
            <a:endParaRPr kumimoji="0" lang="en-US" sz="1467"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19"/>
          <p:cNvSpPr/>
          <p:nvPr/>
        </p:nvSpPr>
        <p:spPr>
          <a:xfrm>
            <a:off x="853440" y="4084320"/>
            <a:ext cx="4998720" cy="36576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SLA Breach Rate Systemic at ~40%</a:t>
            </a:r>
            <a:endParaRPr kumimoji="0" lang="en-US" sz="1467"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0"/>
          <p:cNvSpPr/>
          <p:nvPr/>
        </p:nvSpPr>
        <p:spPr>
          <a:xfrm>
            <a:off x="474345" y="4510183"/>
            <a:ext cx="5425440" cy="46329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6B7280"/>
                </a:solidFill>
                <a:effectLst/>
                <a:uLnTx/>
                <a:uFillTx/>
                <a:latin typeface="Calibri"/>
                <a:ea typeface="Calibri"/>
                <a:cs typeface="Calibri"/>
              </a:rPr>
              <a:t>P1: 39.8%, P2: 39.3%, P3: 39.7%, P4: 39.6%. Flat across all years and clients (36–43%). Resolution time scales correctly (P1: 457 min → P4: 3,261 min) — the issue is capacity, not execution.</a:t>
            </a:r>
            <a:endParaRPr kumimoji="0" lang="en-US" sz="1150" b="0" i="0" u="none" strike="noStrike" kern="1200" cap="none" spc="0" normalizeH="0" baseline="0" noProof="0">
              <a:ln>
                <a:noFill/>
              </a:ln>
              <a:solidFill>
                <a:prstClr val="black"/>
              </a:solidFill>
              <a:effectLst/>
              <a:uLnTx/>
              <a:uFillTx/>
              <a:latin typeface="Calibri" panose="020F0502020204030204"/>
              <a:ea typeface="Calibri"/>
              <a:cs typeface="Calibri"/>
            </a:endParaRPr>
          </a:p>
        </p:txBody>
      </p:sp>
      <p:pic>
        <p:nvPicPr>
          <p:cNvPr id="25" name="Image 2" descr="/home/claude/unp_charts/word/media/image3.png"/>
          <p:cNvPicPr>
            <a:picLocks noChangeAspect="1"/>
          </p:cNvPicPr>
          <p:nvPr/>
        </p:nvPicPr>
        <p:blipFill>
          <a:blip r:embed="rId5"/>
          <a:stretch>
            <a:fillRect/>
          </a:stretch>
        </p:blipFill>
        <p:spPr>
          <a:xfrm>
            <a:off x="474344" y="5081206"/>
            <a:ext cx="5377816" cy="1563434"/>
          </a:xfrm>
          <a:prstGeom prst="rect">
            <a:avLst/>
          </a:prstGeom>
        </p:spPr>
      </p:pic>
      <p:sp>
        <p:nvSpPr>
          <p:cNvPr id="26" name="Shape 21"/>
          <p:cNvSpPr/>
          <p:nvPr/>
        </p:nvSpPr>
        <p:spPr>
          <a:xfrm>
            <a:off x="6217920" y="3962400"/>
            <a:ext cx="5669280" cy="2804160"/>
          </a:xfrm>
          <a:prstGeom prst="rect">
            <a:avLst/>
          </a:prstGeom>
          <a:solidFill>
            <a:srgbClr val="F8FAFC"/>
          </a:solidFill>
          <a:ln/>
          <a:effectLst>
            <a:outerShdw blurRad="50800" dist="12700" dir="8100000" algn="bl" rotWithShape="0">
              <a:srgbClr val="000000">
                <a:alpha val="8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2"/>
          <p:cNvSpPr/>
          <p:nvPr/>
        </p:nvSpPr>
        <p:spPr>
          <a:xfrm>
            <a:off x="6217920" y="3962400"/>
            <a:ext cx="5669280" cy="48768"/>
          </a:xfrm>
          <a:prstGeom prst="rect">
            <a:avLst/>
          </a:prstGeom>
          <a:solidFill>
            <a:srgbClr val="059669"/>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3"/>
          <p:cNvSpPr/>
          <p:nvPr/>
        </p:nvSpPr>
        <p:spPr>
          <a:xfrm>
            <a:off x="6339840" y="4108704"/>
            <a:ext cx="341376" cy="341376"/>
          </a:xfrm>
          <a:prstGeom prst="rect">
            <a:avLst/>
          </a:prstGeom>
          <a:solidFill>
            <a:srgbClr val="059669"/>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4"/>
          <p:cNvSpPr/>
          <p:nvPr/>
        </p:nvSpPr>
        <p:spPr>
          <a:xfrm>
            <a:off x="6339840" y="4108704"/>
            <a:ext cx="341376" cy="341376"/>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4</a:t>
            </a:r>
            <a:endParaRPr kumimoji="0" lang="en-US" sz="1467"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5"/>
          <p:cNvSpPr/>
          <p:nvPr/>
        </p:nvSpPr>
        <p:spPr>
          <a:xfrm>
            <a:off x="6766560" y="4084320"/>
            <a:ext cx="4998720" cy="36576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Ticket Volume Growing 15–20% YoY</a:t>
            </a:r>
            <a:endParaRPr kumimoji="0" lang="en-US" sz="1467"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6"/>
          <p:cNvSpPr/>
          <p:nvPr/>
        </p:nvSpPr>
        <p:spPr>
          <a:xfrm>
            <a:off x="6339840" y="4510183"/>
            <a:ext cx="5425440" cy="46329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6B7280"/>
                </a:solidFill>
                <a:effectLst/>
                <a:uLnTx/>
                <a:uFillTx/>
                <a:latin typeface="Calibri"/>
                <a:ea typeface="Calibri"/>
                <a:cs typeface="Calibri"/>
              </a:rPr>
              <a:t>Steady climb 2023→2025 with no seasonal spikes. Failure events follow same trend. System is keeping pace but not improving — flat breach rate despite proportional scaling.</a:t>
            </a:r>
            <a:endParaRPr kumimoji="0" lang="en-US" sz="1200" b="0" i="0" u="none" strike="noStrike" kern="1200" cap="none" spc="0" normalizeH="0" baseline="0" noProof="0">
              <a:ln>
                <a:noFill/>
              </a:ln>
              <a:solidFill>
                <a:prstClr val="black"/>
              </a:solidFill>
              <a:effectLst/>
              <a:uLnTx/>
              <a:uFillTx/>
              <a:latin typeface="Calibri"/>
              <a:ea typeface="Calibri"/>
              <a:cs typeface="Calibri"/>
            </a:endParaRPr>
          </a:p>
        </p:txBody>
      </p:sp>
      <p:pic>
        <p:nvPicPr>
          <p:cNvPr id="32" name="Image 3" descr="/home/claude/unp_charts/word/media/image4.png"/>
          <p:cNvPicPr>
            <a:picLocks noChangeAspect="1"/>
          </p:cNvPicPr>
          <p:nvPr/>
        </p:nvPicPr>
        <p:blipFill>
          <a:blip r:embed="rId6"/>
          <a:stretch>
            <a:fillRect/>
          </a:stretch>
        </p:blipFill>
        <p:spPr>
          <a:xfrm>
            <a:off x="6339840" y="5081206"/>
            <a:ext cx="5425440" cy="156343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8" name="Image 0" descr="preencoded.png"/>
          <p:cNvPicPr>
            <a:picLocks noChangeAspect="1"/>
          </p:cNvPicPr>
          <p:nvPr/>
        </p:nvPicPr>
        <p:blipFill>
          <a:blip r:embed="rId3"/>
          <a:srcRect/>
          <a:stretch/>
        </p:blipFill>
        <p:spPr>
          <a:xfrm>
            <a:off x="446531" y="4253463"/>
            <a:ext cx="5413248" cy="2267712"/>
          </a:xfrm>
          <a:prstGeom prst="rect">
            <a:avLst/>
          </a:prstGeom>
        </p:spPr>
      </p:pic>
      <p:pic>
        <p:nvPicPr>
          <p:cNvPr id="29" name="Image 1" descr="preencoded.png"/>
          <p:cNvPicPr>
            <a:picLocks noChangeAspect="1"/>
          </p:cNvPicPr>
          <p:nvPr/>
        </p:nvPicPr>
        <p:blipFill>
          <a:blip r:embed="rId4"/>
          <a:srcRect/>
          <a:stretch/>
        </p:blipFill>
        <p:spPr>
          <a:xfrm>
            <a:off x="6352032" y="4252532"/>
            <a:ext cx="5413248" cy="2414016"/>
          </a:xfrm>
          <a:prstGeom prst="rect">
            <a:avLst/>
          </a:prstGeom>
        </p:spPr>
      </p:pic>
      <p:sp>
        <p:nvSpPr>
          <p:cNvPr id="3" name="Shape 8">
            <a:extLst>
              <a:ext uri="{FF2B5EF4-FFF2-40B4-BE49-F238E27FC236}">
                <a16:creationId xmlns:a16="http://schemas.microsoft.com/office/drawing/2014/main" id="{7C2082E8-A5E7-1333-AB96-AB1AA79806C5}"/>
              </a:ext>
            </a:extLst>
          </p:cNvPr>
          <p:cNvSpPr/>
          <p:nvPr/>
        </p:nvSpPr>
        <p:spPr>
          <a:xfrm>
            <a:off x="373126" y="1163742"/>
            <a:ext cx="5597736" cy="2805855"/>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SG"/>
          </a:p>
        </p:txBody>
      </p:sp>
      <p:sp>
        <p:nvSpPr>
          <p:cNvPr id="6" name="Shape 9">
            <a:extLst>
              <a:ext uri="{FF2B5EF4-FFF2-40B4-BE49-F238E27FC236}">
                <a16:creationId xmlns:a16="http://schemas.microsoft.com/office/drawing/2014/main" id="{A24968AB-AA19-CFF7-69C9-CC475B66E993}"/>
              </a:ext>
            </a:extLst>
          </p:cNvPr>
          <p:cNvSpPr/>
          <p:nvPr/>
        </p:nvSpPr>
        <p:spPr>
          <a:xfrm>
            <a:off x="373126" y="973243"/>
            <a:ext cx="5608320" cy="390144"/>
          </a:xfrm>
          <a:prstGeom prst="rect">
            <a:avLst/>
          </a:prstGeom>
          <a:solidFill>
            <a:srgbClr val="1E3A5F"/>
          </a:solidFill>
          <a:ln w="12700">
            <a:solidFill>
              <a:srgbClr val="1E3A5F"/>
            </a:solidFill>
            <a:prstDash val="solid"/>
          </a:ln>
        </p:spPr>
        <p:txBody>
          <a:bodyPr/>
          <a:lstStyle/>
          <a:p>
            <a:endParaRPr lang="en-SG"/>
          </a:p>
        </p:txBody>
      </p:sp>
      <p:sp>
        <p:nvSpPr>
          <p:cNvPr id="8" name="Text 10">
            <a:extLst>
              <a:ext uri="{FF2B5EF4-FFF2-40B4-BE49-F238E27FC236}">
                <a16:creationId xmlns:a16="http://schemas.microsoft.com/office/drawing/2014/main" id="{3870E740-F591-9F2C-3ED3-EBAF5D1C20A4}"/>
              </a:ext>
            </a:extLst>
          </p:cNvPr>
          <p:cNvSpPr/>
          <p:nvPr/>
        </p:nvSpPr>
        <p:spPr>
          <a:xfrm>
            <a:off x="495046" y="1039960"/>
            <a:ext cx="5364480" cy="31699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133" b="1" kern="0" spc="133">
                <a:solidFill>
                  <a:srgbClr val="FFFFFF"/>
                </a:solidFill>
              </a:rPr>
              <a:t>CLASSIFICATION TARGET ANALYSIS</a:t>
            </a:r>
            <a:endParaRPr lang="en-US" sz="1133"/>
          </a:p>
        </p:txBody>
      </p:sp>
      <p:sp>
        <p:nvSpPr>
          <p:cNvPr id="10" name="Text 11">
            <a:extLst>
              <a:ext uri="{FF2B5EF4-FFF2-40B4-BE49-F238E27FC236}">
                <a16:creationId xmlns:a16="http://schemas.microsoft.com/office/drawing/2014/main" id="{B4A83C3C-AF5B-990B-FD96-E538E5F5129D}"/>
              </a:ext>
            </a:extLst>
          </p:cNvPr>
          <p:cNvSpPr/>
          <p:nvPr/>
        </p:nvSpPr>
        <p:spPr>
          <a:xfrm>
            <a:off x="463296" y="1444583"/>
            <a:ext cx="2186093"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b="1">
                <a:solidFill>
                  <a:srgbClr val="0F172A"/>
                </a:solidFill>
              </a:rPr>
              <a:t>Ticket Category</a:t>
            </a:r>
            <a:endParaRPr lang="en-US" sz="1267"/>
          </a:p>
        </p:txBody>
      </p:sp>
      <p:sp>
        <p:nvSpPr>
          <p:cNvPr id="12" name="Text 12">
            <a:extLst>
              <a:ext uri="{FF2B5EF4-FFF2-40B4-BE49-F238E27FC236}">
                <a16:creationId xmlns:a16="http://schemas.microsoft.com/office/drawing/2014/main" id="{24890114-71F3-F604-3D18-276AFD6DBA17}"/>
              </a:ext>
            </a:extLst>
          </p:cNvPr>
          <p:cNvSpPr/>
          <p:nvPr/>
        </p:nvSpPr>
        <p:spPr>
          <a:xfrm>
            <a:off x="463296" y="1701292"/>
            <a:ext cx="2186093" cy="5486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67">
                <a:solidFill>
                  <a:srgbClr val="64748B"/>
                </a:solidFill>
              </a:rPr>
              <a:t>Hardware 11,304 / Network 11,170</a:t>
            </a:r>
            <a:endParaRPr lang="en-US" sz="1067"/>
          </a:p>
        </p:txBody>
      </p:sp>
      <p:sp>
        <p:nvSpPr>
          <p:cNvPr id="14" name="Shape 13">
            <a:extLst>
              <a:ext uri="{FF2B5EF4-FFF2-40B4-BE49-F238E27FC236}">
                <a16:creationId xmlns:a16="http://schemas.microsoft.com/office/drawing/2014/main" id="{40B52F26-5B8C-B5C3-8BAA-5AD9C54C3C51}"/>
              </a:ext>
            </a:extLst>
          </p:cNvPr>
          <p:cNvSpPr/>
          <p:nvPr/>
        </p:nvSpPr>
        <p:spPr>
          <a:xfrm>
            <a:off x="2935816" y="1399709"/>
            <a:ext cx="2855384" cy="292608"/>
          </a:xfrm>
          <a:prstGeom prst="rect">
            <a:avLst/>
          </a:prstGeom>
          <a:solidFill>
            <a:srgbClr val="F1F5F9"/>
          </a:solidFill>
          <a:ln w="12700">
            <a:solidFill>
              <a:srgbClr val="E2E8F0"/>
            </a:solidFill>
            <a:prstDash val="solid"/>
          </a:ln>
        </p:spPr>
        <p:txBody>
          <a:bodyPr/>
          <a:lstStyle/>
          <a:p>
            <a:endParaRPr lang="en-SG"/>
          </a:p>
        </p:txBody>
      </p:sp>
      <p:sp>
        <p:nvSpPr>
          <p:cNvPr id="16" name="Text 14">
            <a:extLst>
              <a:ext uri="{FF2B5EF4-FFF2-40B4-BE49-F238E27FC236}">
                <a16:creationId xmlns:a16="http://schemas.microsoft.com/office/drawing/2014/main" id="{8D720AC0-A107-5FB3-1BCF-29B708DE23D1}"/>
              </a:ext>
            </a:extLst>
          </p:cNvPr>
          <p:cNvSpPr/>
          <p:nvPr/>
        </p:nvSpPr>
        <p:spPr>
          <a:xfrm>
            <a:off x="2975610" y="1445260"/>
            <a:ext cx="2754630" cy="2194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67">
                <a:solidFill>
                  <a:srgbClr val="64748B"/>
                </a:solidFill>
              </a:rPr>
              <a:t>~50:50 split → enables RF 84.2% accuracy</a:t>
            </a:r>
            <a:endParaRPr lang="en-US" sz="1067"/>
          </a:p>
        </p:txBody>
      </p:sp>
      <p:sp>
        <p:nvSpPr>
          <p:cNvPr id="18" name="Text 15">
            <a:extLst>
              <a:ext uri="{FF2B5EF4-FFF2-40B4-BE49-F238E27FC236}">
                <a16:creationId xmlns:a16="http://schemas.microsoft.com/office/drawing/2014/main" id="{E13FF63D-B218-056F-F6C1-5F75304C4DE7}"/>
              </a:ext>
            </a:extLst>
          </p:cNvPr>
          <p:cNvSpPr/>
          <p:nvPr/>
        </p:nvSpPr>
        <p:spPr>
          <a:xfrm>
            <a:off x="2975610" y="1701292"/>
            <a:ext cx="2754630" cy="29260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b="1">
                <a:solidFill>
                  <a:srgbClr val="059669"/>
                </a:solidFill>
              </a:rPr>
              <a:t>AUC 0.951</a:t>
            </a:r>
            <a:endParaRPr lang="en-US" sz="1200"/>
          </a:p>
        </p:txBody>
      </p:sp>
      <p:sp>
        <p:nvSpPr>
          <p:cNvPr id="20" name="Text 16">
            <a:extLst>
              <a:ext uri="{FF2B5EF4-FFF2-40B4-BE49-F238E27FC236}">
                <a16:creationId xmlns:a16="http://schemas.microsoft.com/office/drawing/2014/main" id="{78F957DF-549C-0020-D696-4460CF4E0F02}"/>
              </a:ext>
            </a:extLst>
          </p:cNvPr>
          <p:cNvSpPr/>
          <p:nvPr/>
        </p:nvSpPr>
        <p:spPr>
          <a:xfrm>
            <a:off x="463296" y="2104728"/>
            <a:ext cx="2186093"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b="1">
                <a:solidFill>
                  <a:srgbClr val="0F172A"/>
                </a:solidFill>
              </a:rPr>
              <a:t>Issue Type</a:t>
            </a:r>
            <a:endParaRPr lang="en-US" sz="1267"/>
          </a:p>
        </p:txBody>
      </p:sp>
      <p:sp>
        <p:nvSpPr>
          <p:cNvPr id="22" name="Text 17">
            <a:extLst>
              <a:ext uri="{FF2B5EF4-FFF2-40B4-BE49-F238E27FC236}">
                <a16:creationId xmlns:a16="http://schemas.microsoft.com/office/drawing/2014/main" id="{FABAED4C-3457-4586-11BE-5E1CF95E1621}"/>
              </a:ext>
            </a:extLst>
          </p:cNvPr>
          <p:cNvSpPr/>
          <p:nvPr/>
        </p:nvSpPr>
        <p:spPr>
          <a:xfrm>
            <a:off x="463296" y="2276771"/>
            <a:ext cx="2186093" cy="5486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67">
                <a:solidFill>
                  <a:srgbClr val="64748B"/>
                </a:solidFill>
              </a:rPr>
              <a:t>4 classes ~5,600 each</a:t>
            </a:r>
            <a:endParaRPr lang="en-US" sz="1067"/>
          </a:p>
        </p:txBody>
      </p:sp>
      <p:sp>
        <p:nvSpPr>
          <p:cNvPr id="24" name="Shape 18">
            <a:extLst>
              <a:ext uri="{FF2B5EF4-FFF2-40B4-BE49-F238E27FC236}">
                <a16:creationId xmlns:a16="http://schemas.microsoft.com/office/drawing/2014/main" id="{337BCEC5-E18B-E5B3-55C0-0505C666A7A8}"/>
              </a:ext>
            </a:extLst>
          </p:cNvPr>
          <p:cNvSpPr/>
          <p:nvPr/>
        </p:nvSpPr>
        <p:spPr>
          <a:xfrm>
            <a:off x="2935816" y="2133938"/>
            <a:ext cx="2855384" cy="292608"/>
          </a:xfrm>
          <a:prstGeom prst="rect">
            <a:avLst/>
          </a:prstGeom>
          <a:solidFill>
            <a:srgbClr val="F1F5F9"/>
          </a:solidFill>
          <a:ln w="12700">
            <a:solidFill>
              <a:srgbClr val="E2E8F0"/>
            </a:solidFill>
            <a:prstDash val="solid"/>
          </a:ln>
        </p:spPr>
        <p:txBody>
          <a:bodyPr/>
          <a:lstStyle/>
          <a:p>
            <a:endParaRPr lang="en-SG"/>
          </a:p>
        </p:txBody>
      </p:sp>
      <p:sp>
        <p:nvSpPr>
          <p:cNvPr id="26" name="Text 19">
            <a:extLst>
              <a:ext uri="{FF2B5EF4-FFF2-40B4-BE49-F238E27FC236}">
                <a16:creationId xmlns:a16="http://schemas.microsoft.com/office/drawing/2014/main" id="{E05B8149-75BA-807B-C8FF-B7B206C7D136}"/>
              </a:ext>
            </a:extLst>
          </p:cNvPr>
          <p:cNvSpPr/>
          <p:nvPr/>
        </p:nvSpPr>
        <p:spPr>
          <a:xfrm>
            <a:off x="2975610" y="2168906"/>
            <a:ext cx="2754630" cy="2194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67">
                <a:solidFill>
                  <a:srgbClr val="64748B"/>
                </a:solidFill>
              </a:rPr>
              <a:t>Near-uniform → XGBoost 71.8% accuracy</a:t>
            </a:r>
            <a:endParaRPr lang="en-US" sz="1067"/>
          </a:p>
        </p:txBody>
      </p:sp>
      <p:sp>
        <p:nvSpPr>
          <p:cNvPr id="76" name="Text 20">
            <a:extLst>
              <a:ext uri="{FF2B5EF4-FFF2-40B4-BE49-F238E27FC236}">
                <a16:creationId xmlns:a16="http://schemas.microsoft.com/office/drawing/2014/main" id="{DC6869AE-608F-8DBC-2ADE-334DD7E842EF}"/>
              </a:ext>
            </a:extLst>
          </p:cNvPr>
          <p:cNvSpPr/>
          <p:nvPr/>
        </p:nvSpPr>
        <p:spPr>
          <a:xfrm>
            <a:off x="2975610" y="2403771"/>
            <a:ext cx="2754630" cy="29260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b="1">
                <a:solidFill>
                  <a:srgbClr val="2563EB"/>
                </a:solidFill>
              </a:rPr>
              <a:t>F1 0.728</a:t>
            </a:r>
            <a:endParaRPr lang="en-US" sz="1200"/>
          </a:p>
        </p:txBody>
      </p:sp>
      <p:sp>
        <p:nvSpPr>
          <p:cNvPr id="79" name="Text 21">
            <a:extLst>
              <a:ext uri="{FF2B5EF4-FFF2-40B4-BE49-F238E27FC236}">
                <a16:creationId xmlns:a16="http://schemas.microsoft.com/office/drawing/2014/main" id="{1067ECC3-AAC1-66A5-DEE2-FC727E2637A6}"/>
              </a:ext>
            </a:extLst>
          </p:cNvPr>
          <p:cNvSpPr/>
          <p:nvPr/>
        </p:nvSpPr>
        <p:spPr>
          <a:xfrm>
            <a:off x="463296" y="2637874"/>
            <a:ext cx="2186093"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b="1">
                <a:solidFill>
                  <a:srgbClr val="0F172A"/>
                </a:solidFill>
              </a:rPr>
              <a:t>Priority</a:t>
            </a:r>
            <a:endParaRPr lang="en-US" sz="1267"/>
          </a:p>
        </p:txBody>
      </p:sp>
      <p:sp>
        <p:nvSpPr>
          <p:cNvPr id="81" name="Text 22">
            <a:extLst>
              <a:ext uri="{FF2B5EF4-FFF2-40B4-BE49-F238E27FC236}">
                <a16:creationId xmlns:a16="http://schemas.microsoft.com/office/drawing/2014/main" id="{B9607A97-22DC-E734-6FC1-2D7C0C1C6789}"/>
              </a:ext>
            </a:extLst>
          </p:cNvPr>
          <p:cNvSpPr/>
          <p:nvPr/>
        </p:nvSpPr>
        <p:spPr>
          <a:xfrm>
            <a:off x="463296" y="2831083"/>
            <a:ext cx="2186093" cy="5486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67">
                <a:solidFill>
                  <a:srgbClr val="64748B"/>
                </a:solidFill>
              </a:rPr>
              <a:t>P1–P4 ~25% each</a:t>
            </a:r>
            <a:endParaRPr lang="en-US" sz="1067"/>
          </a:p>
        </p:txBody>
      </p:sp>
      <p:sp>
        <p:nvSpPr>
          <p:cNvPr id="83" name="Shape 23">
            <a:extLst>
              <a:ext uri="{FF2B5EF4-FFF2-40B4-BE49-F238E27FC236}">
                <a16:creationId xmlns:a16="http://schemas.microsoft.com/office/drawing/2014/main" id="{27D8B908-9681-87FB-5F8C-7A66A3AD94AE}"/>
              </a:ext>
            </a:extLst>
          </p:cNvPr>
          <p:cNvSpPr/>
          <p:nvPr/>
        </p:nvSpPr>
        <p:spPr>
          <a:xfrm>
            <a:off x="2935816" y="2677668"/>
            <a:ext cx="2855384" cy="292608"/>
          </a:xfrm>
          <a:prstGeom prst="rect">
            <a:avLst/>
          </a:prstGeom>
          <a:solidFill>
            <a:srgbClr val="F1F5F9"/>
          </a:solidFill>
          <a:ln w="12700">
            <a:solidFill>
              <a:srgbClr val="E2E8F0"/>
            </a:solidFill>
            <a:prstDash val="solid"/>
          </a:ln>
        </p:spPr>
        <p:txBody>
          <a:bodyPr/>
          <a:lstStyle/>
          <a:p>
            <a:endParaRPr lang="en-SG"/>
          </a:p>
        </p:txBody>
      </p:sp>
      <p:sp>
        <p:nvSpPr>
          <p:cNvPr id="85" name="Text 24">
            <a:extLst>
              <a:ext uri="{FF2B5EF4-FFF2-40B4-BE49-F238E27FC236}">
                <a16:creationId xmlns:a16="http://schemas.microsoft.com/office/drawing/2014/main" id="{A27CE19A-F70C-2E63-4964-5A7061B40EA7}"/>
              </a:ext>
            </a:extLst>
          </p:cNvPr>
          <p:cNvSpPr/>
          <p:nvPr/>
        </p:nvSpPr>
        <p:spPr>
          <a:xfrm>
            <a:off x="2975610" y="2723218"/>
            <a:ext cx="2754630" cy="2194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67">
                <a:solidFill>
                  <a:srgbClr val="64748B"/>
                </a:solidFill>
              </a:rPr>
              <a:t>Uniform — no learnable signal</a:t>
            </a:r>
            <a:endParaRPr lang="en-US" sz="1067"/>
          </a:p>
        </p:txBody>
      </p:sp>
      <p:sp>
        <p:nvSpPr>
          <p:cNvPr id="87" name="Text 25">
            <a:extLst>
              <a:ext uri="{FF2B5EF4-FFF2-40B4-BE49-F238E27FC236}">
                <a16:creationId xmlns:a16="http://schemas.microsoft.com/office/drawing/2014/main" id="{789533D6-785D-CD82-5DC6-CEBAAA8CE34B}"/>
              </a:ext>
            </a:extLst>
          </p:cNvPr>
          <p:cNvSpPr/>
          <p:nvPr/>
        </p:nvSpPr>
        <p:spPr>
          <a:xfrm>
            <a:off x="2975610" y="2979250"/>
            <a:ext cx="2754630" cy="29260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b="1">
                <a:solidFill>
                  <a:srgbClr val="D97706"/>
                </a:solidFill>
              </a:rPr>
              <a:t>Informational</a:t>
            </a:r>
            <a:endParaRPr lang="en-US" sz="1200"/>
          </a:p>
        </p:txBody>
      </p:sp>
      <p:sp>
        <p:nvSpPr>
          <p:cNvPr id="89" name="Text 26">
            <a:extLst>
              <a:ext uri="{FF2B5EF4-FFF2-40B4-BE49-F238E27FC236}">
                <a16:creationId xmlns:a16="http://schemas.microsoft.com/office/drawing/2014/main" id="{19787657-F393-F4FB-86D4-8FE82FABB9FA}"/>
              </a:ext>
            </a:extLst>
          </p:cNvPr>
          <p:cNvSpPr/>
          <p:nvPr/>
        </p:nvSpPr>
        <p:spPr>
          <a:xfrm>
            <a:off x="463296" y="3234521"/>
            <a:ext cx="2186093"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b="1">
                <a:solidFill>
                  <a:srgbClr val="0F172A"/>
                </a:solidFill>
              </a:rPr>
              <a:t>Resolution Time</a:t>
            </a:r>
            <a:endParaRPr lang="en-US" sz="1267"/>
          </a:p>
        </p:txBody>
      </p:sp>
      <p:sp>
        <p:nvSpPr>
          <p:cNvPr id="91" name="Text 27">
            <a:extLst>
              <a:ext uri="{FF2B5EF4-FFF2-40B4-BE49-F238E27FC236}">
                <a16:creationId xmlns:a16="http://schemas.microsoft.com/office/drawing/2014/main" id="{B52C8173-ECCA-F8B7-6D93-6CC983EB6E05}"/>
              </a:ext>
            </a:extLst>
          </p:cNvPr>
          <p:cNvSpPr/>
          <p:nvPr/>
        </p:nvSpPr>
        <p:spPr>
          <a:xfrm>
            <a:off x="463296" y="3417147"/>
            <a:ext cx="2186093" cy="5486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67">
                <a:solidFill>
                  <a:srgbClr val="64748B"/>
                </a:solidFill>
              </a:rPr>
              <a:t>P1 452–480m → P4 3,210–3,335m</a:t>
            </a:r>
            <a:endParaRPr lang="en-US" sz="1067"/>
          </a:p>
        </p:txBody>
      </p:sp>
      <p:sp>
        <p:nvSpPr>
          <p:cNvPr id="93" name="Shape 28">
            <a:extLst>
              <a:ext uri="{FF2B5EF4-FFF2-40B4-BE49-F238E27FC236}">
                <a16:creationId xmlns:a16="http://schemas.microsoft.com/office/drawing/2014/main" id="{DECF5267-5384-FB31-6B2F-201FD7348518}"/>
              </a:ext>
            </a:extLst>
          </p:cNvPr>
          <p:cNvSpPr/>
          <p:nvPr/>
        </p:nvSpPr>
        <p:spPr>
          <a:xfrm>
            <a:off x="2935816" y="3221397"/>
            <a:ext cx="2855384" cy="292608"/>
          </a:xfrm>
          <a:prstGeom prst="rect">
            <a:avLst/>
          </a:prstGeom>
          <a:solidFill>
            <a:srgbClr val="F1F5F9"/>
          </a:solidFill>
          <a:ln w="12700">
            <a:solidFill>
              <a:srgbClr val="E2E8F0"/>
            </a:solidFill>
            <a:prstDash val="solid"/>
          </a:ln>
        </p:spPr>
        <p:txBody>
          <a:bodyPr/>
          <a:lstStyle/>
          <a:p>
            <a:endParaRPr lang="en-SG"/>
          </a:p>
        </p:txBody>
      </p:sp>
      <p:sp>
        <p:nvSpPr>
          <p:cNvPr id="95" name="Text 29">
            <a:extLst>
              <a:ext uri="{FF2B5EF4-FFF2-40B4-BE49-F238E27FC236}">
                <a16:creationId xmlns:a16="http://schemas.microsoft.com/office/drawing/2014/main" id="{13660B2F-BA0A-C3FD-055E-9F7D7303667A}"/>
              </a:ext>
            </a:extLst>
          </p:cNvPr>
          <p:cNvSpPr/>
          <p:nvPr/>
        </p:nvSpPr>
        <p:spPr>
          <a:xfrm>
            <a:off x="2975610" y="3298698"/>
            <a:ext cx="2754630" cy="2194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67">
                <a:solidFill>
                  <a:srgbClr val="64748B"/>
                </a:solidFill>
              </a:rPr>
              <a:t>Scales correctly by priority</a:t>
            </a:r>
            <a:endParaRPr lang="en-US" sz="1067"/>
          </a:p>
        </p:txBody>
      </p:sp>
      <p:sp>
        <p:nvSpPr>
          <p:cNvPr id="97" name="Text 30">
            <a:extLst>
              <a:ext uri="{FF2B5EF4-FFF2-40B4-BE49-F238E27FC236}">
                <a16:creationId xmlns:a16="http://schemas.microsoft.com/office/drawing/2014/main" id="{9AC6AAC3-3EEE-5210-2AF0-F61CAEFA7845}"/>
              </a:ext>
            </a:extLst>
          </p:cNvPr>
          <p:cNvSpPr/>
          <p:nvPr/>
        </p:nvSpPr>
        <p:spPr>
          <a:xfrm>
            <a:off x="2975610" y="3575897"/>
            <a:ext cx="2754630" cy="29260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b="1">
                <a:solidFill>
                  <a:srgbClr val="0891B2"/>
                </a:solidFill>
              </a:rPr>
              <a:t>R²=0.837</a:t>
            </a:r>
            <a:endParaRPr lang="en-US" sz="1200"/>
          </a:p>
        </p:txBody>
      </p:sp>
      <p:sp>
        <p:nvSpPr>
          <p:cNvPr id="99" name="Shape 31">
            <a:extLst>
              <a:ext uri="{FF2B5EF4-FFF2-40B4-BE49-F238E27FC236}">
                <a16:creationId xmlns:a16="http://schemas.microsoft.com/office/drawing/2014/main" id="{77DD8737-1226-372D-3A1D-936A8F0535CA}"/>
              </a:ext>
            </a:extLst>
          </p:cNvPr>
          <p:cNvSpPr/>
          <p:nvPr/>
        </p:nvSpPr>
        <p:spPr>
          <a:xfrm>
            <a:off x="6305804" y="930910"/>
            <a:ext cx="5587153" cy="3038687"/>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SG"/>
          </a:p>
        </p:txBody>
      </p:sp>
      <p:sp>
        <p:nvSpPr>
          <p:cNvPr id="101" name="Shape 32">
            <a:extLst>
              <a:ext uri="{FF2B5EF4-FFF2-40B4-BE49-F238E27FC236}">
                <a16:creationId xmlns:a16="http://schemas.microsoft.com/office/drawing/2014/main" id="{329C603A-E78C-361A-05F1-C3F68D6A6CDD}"/>
              </a:ext>
            </a:extLst>
          </p:cNvPr>
          <p:cNvSpPr/>
          <p:nvPr/>
        </p:nvSpPr>
        <p:spPr>
          <a:xfrm>
            <a:off x="6284637" y="973243"/>
            <a:ext cx="5608320" cy="390144"/>
          </a:xfrm>
          <a:prstGeom prst="rect">
            <a:avLst/>
          </a:prstGeom>
          <a:solidFill>
            <a:srgbClr val="0891B2"/>
          </a:solidFill>
          <a:ln w="12700">
            <a:solidFill>
              <a:srgbClr val="0891B2"/>
            </a:solidFill>
            <a:prstDash val="solid"/>
          </a:ln>
        </p:spPr>
        <p:txBody>
          <a:bodyPr/>
          <a:lstStyle/>
          <a:p>
            <a:endParaRPr lang="en-SG"/>
          </a:p>
        </p:txBody>
      </p:sp>
      <p:sp>
        <p:nvSpPr>
          <p:cNvPr id="103" name="Text 33">
            <a:extLst>
              <a:ext uri="{FF2B5EF4-FFF2-40B4-BE49-F238E27FC236}">
                <a16:creationId xmlns:a16="http://schemas.microsoft.com/office/drawing/2014/main" id="{D0F01EED-E9B1-338A-E18B-0583EB50C6CC}"/>
              </a:ext>
            </a:extLst>
          </p:cNvPr>
          <p:cNvSpPr/>
          <p:nvPr/>
        </p:nvSpPr>
        <p:spPr>
          <a:xfrm>
            <a:off x="6395974" y="1029377"/>
            <a:ext cx="5364480" cy="31699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133" b="1" kern="0" spc="133">
                <a:solidFill>
                  <a:srgbClr val="FFFFFF"/>
                </a:solidFill>
              </a:rPr>
              <a:t>NLP TEXT SIGNAL QUALITY</a:t>
            </a:r>
            <a:endParaRPr lang="en-US" sz="1133"/>
          </a:p>
        </p:txBody>
      </p:sp>
      <p:sp>
        <p:nvSpPr>
          <p:cNvPr id="105" name="Shape 34">
            <a:extLst>
              <a:ext uri="{FF2B5EF4-FFF2-40B4-BE49-F238E27FC236}">
                <a16:creationId xmlns:a16="http://schemas.microsoft.com/office/drawing/2014/main" id="{84931638-5613-FD59-99AB-72013260EF0F}"/>
              </a:ext>
            </a:extLst>
          </p:cNvPr>
          <p:cNvSpPr/>
          <p:nvPr/>
        </p:nvSpPr>
        <p:spPr>
          <a:xfrm>
            <a:off x="6305803" y="1451949"/>
            <a:ext cx="73152" cy="545592"/>
          </a:xfrm>
          <a:prstGeom prst="rect">
            <a:avLst/>
          </a:prstGeom>
          <a:solidFill>
            <a:srgbClr val="DC2626"/>
          </a:solidFill>
          <a:ln w="12700">
            <a:solidFill>
              <a:srgbClr val="DC2626"/>
            </a:solidFill>
            <a:prstDash val="solid"/>
          </a:ln>
        </p:spPr>
        <p:txBody>
          <a:bodyPr/>
          <a:lstStyle/>
          <a:p>
            <a:endParaRPr lang="en-SG"/>
          </a:p>
        </p:txBody>
      </p:sp>
      <p:sp>
        <p:nvSpPr>
          <p:cNvPr id="107" name="Text 35">
            <a:extLst>
              <a:ext uri="{FF2B5EF4-FFF2-40B4-BE49-F238E27FC236}">
                <a16:creationId xmlns:a16="http://schemas.microsoft.com/office/drawing/2014/main" id="{C8B35985-F37E-1E8F-0091-D8836C78459E}"/>
              </a:ext>
            </a:extLst>
          </p:cNvPr>
          <p:cNvSpPr/>
          <p:nvPr/>
        </p:nvSpPr>
        <p:spPr>
          <a:xfrm>
            <a:off x="6409775" y="1402249"/>
            <a:ext cx="5340096" cy="3048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b="1">
                <a:solidFill>
                  <a:srgbClr val="0F172A"/>
                </a:solidFill>
              </a:rPr>
              <a:t>Missing Descriptions</a:t>
            </a:r>
            <a:endParaRPr lang="en-US" sz="1267"/>
          </a:p>
        </p:txBody>
      </p:sp>
      <p:sp>
        <p:nvSpPr>
          <p:cNvPr id="109" name="Text 36">
            <a:extLst>
              <a:ext uri="{FF2B5EF4-FFF2-40B4-BE49-F238E27FC236}">
                <a16:creationId xmlns:a16="http://schemas.microsoft.com/office/drawing/2014/main" id="{9228B1C7-9A28-A7A8-8F81-8F1AE93DE0D4}"/>
              </a:ext>
            </a:extLst>
          </p:cNvPr>
          <p:cNvSpPr/>
          <p:nvPr/>
        </p:nvSpPr>
        <p:spPr>
          <a:xfrm>
            <a:off x="6420358" y="1498599"/>
            <a:ext cx="5340096"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100">
                <a:solidFill>
                  <a:srgbClr val="334155"/>
                </a:solidFill>
              </a:rPr>
              <a:t>31.69% of tickets (7,128 rows) have no detailed description. Forces TF-IDF vector to near-zero — falls back to issue type + device type.</a:t>
            </a:r>
            <a:endParaRPr lang="en-US" sz="1100"/>
          </a:p>
        </p:txBody>
      </p:sp>
      <p:sp>
        <p:nvSpPr>
          <p:cNvPr id="111" name="Shape 37">
            <a:extLst>
              <a:ext uri="{FF2B5EF4-FFF2-40B4-BE49-F238E27FC236}">
                <a16:creationId xmlns:a16="http://schemas.microsoft.com/office/drawing/2014/main" id="{0180D1F5-8BDE-F924-DCD6-B6F1672F4032}"/>
              </a:ext>
            </a:extLst>
          </p:cNvPr>
          <p:cNvSpPr/>
          <p:nvPr/>
        </p:nvSpPr>
        <p:spPr>
          <a:xfrm>
            <a:off x="6305804" y="2080344"/>
            <a:ext cx="83735" cy="566759"/>
          </a:xfrm>
          <a:prstGeom prst="rect">
            <a:avLst/>
          </a:prstGeom>
          <a:solidFill>
            <a:srgbClr val="D97706"/>
          </a:solidFill>
          <a:ln w="12700">
            <a:solidFill>
              <a:srgbClr val="D97706"/>
            </a:solidFill>
            <a:prstDash val="solid"/>
          </a:ln>
        </p:spPr>
        <p:txBody>
          <a:bodyPr/>
          <a:lstStyle/>
          <a:p>
            <a:endParaRPr lang="en-SG"/>
          </a:p>
        </p:txBody>
      </p:sp>
      <p:sp>
        <p:nvSpPr>
          <p:cNvPr id="113" name="Text 38">
            <a:extLst>
              <a:ext uri="{FF2B5EF4-FFF2-40B4-BE49-F238E27FC236}">
                <a16:creationId xmlns:a16="http://schemas.microsoft.com/office/drawing/2014/main" id="{043CBB99-1FE0-A429-67F3-154D10D8E21D}"/>
              </a:ext>
            </a:extLst>
          </p:cNvPr>
          <p:cNvSpPr/>
          <p:nvPr/>
        </p:nvSpPr>
        <p:spPr>
          <a:xfrm>
            <a:off x="6420358" y="2020062"/>
            <a:ext cx="5340096" cy="3048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b="1">
                <a:solidFill>
                  <a:srgbClr val="0F172A"/>
                </a:solidFill>
              </a:rPr>
              <a:t>Bimodal Distribution</a:t>
            </a:r>
            <a:endParaRPr lang="en-US" sz="1267"/>
          </a:p>
        </p:txBody>
      </p:sp>
      <p:sp>
        <p:nvSpPr>
          <p:cNvPr id="115" name="Text 39">
            <a:extLst>
              <a:ext uri="{FF2B5EF4-FFF2-40B4-BE49-F238E27FC236}">
                <a16:creationId xmlns:a16="http://schemas.microsoft.com/office/drawing/2014/main" id="{25759F67-BF10-24A4-FD42-F01DDBD68064}"/>
              </a:ext>
            </a:extLst>
          </p:cNvPr>
          <p:cNvSpPr/>
          <p:nvPr/>
        </p:nvSpPr>
        <p:spPr>
          <a:xfrm>
            <a:off x="6430941" y="2137579"/>
            <a:ext cx="5340096"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133">
                <a:solidFill>
                  <a:srgbClr val="334155"/>
                </a:solidFill>
              </a:rPr>
              <a:t>3,573 tickets &lt; 5 tokens (templates) vs 13,140 &gt; 50 tokens (rich text). Two distinct NLP regimes require adaptive handling.</a:t>
            </a:r>
            <a:endParaRPr lang="en-US" sz="1133"/>
          </a:p>
        </p:txBody>
      </p:sp>
      <p:sp>
        <p:nvSpPr>
          <p:cNvPr id="117" name="Shape 40">
            <a:extLst>
              <a:ext uri="{FF2B5EF4-FFF2-40B4-BE49-F238E27FC236}">
                <a16:creationId xmlns:a16="http://schemas.microsoft.com/office/drawing/2014/main" id="{2E67A2D9-C22B-0C77-E06F-7904360DE67A}"/>
              </a:ext>
            </a:extLst>
          </p:cNvPr>
          <p:cNvSpPr/>
          <p:nvPr/>
        </p:nvSpPr>
        <p:spPr>
          <a:xfrm>
            <a:off x="6305804" y="2698157"/>
            <a:ext cx="83735" cy="566759"/>
          </a:xfrm>
          <a:prstGeom prst="rect">
            <a:avLst/>
          </a:prstGeom>
          <a:solidFill>
            <a:srgbClr val="2563EB"/>
          </a:solidFill>
          <a:ln w="12700">
            <a:solidFill>
              <a:srgbClr val="2563EB"/>
            </a:solidFill>
            <a:prstDash val="solid"/>
          </a:ln>
        </p:spPr>
        <p:txBody>
          <a:bodyPr/>
          <a:lstStyle/>
          <a:p>
            <a:endParaRPr lang="en-SG"/>
          </a:p>
        </p:txBody>
      </p:sp>
      <p:sp>
        <p:nvSpPr>
          <p:cNvPr id="119" name="Text 41">
            <a:extLst>
              <a:ext uri="{FF2B5EF4-FFF2-40B4-BE49-F238E27FC236}">
                <a16:creationId xmlns:a16="http://schemas.microsoft.com/office/drawing/2014/main" id="{2AC4606C-13E4-7126-DC7B-CD193059D0CA}"/>
              </a:ext>
            </a:extLst>
          </p:cNvPr>
          <p:cNvSpPr/>
          <p:nvPr/>
        </p:nvSpPr>
        <p:spPr>
          <a:xfrm>
            <a:off x="6420358" y="2637874"/>
            <a:ext cx="5340096" cy="3048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b="1">
                <a:solidFill>
                  <a:srgbClr val="0F172A"/>
                </a:solidFill>
              </a:rPr>
              <a:t>TF-IDF Vocabulary</a:t>
            </a:r>
            <a:endParaRPr lang="en-US" sz="1267"/>
          </a:p>
        </p:txBody>
      </p:sp>
      <p:sp>
        <p:nvSpPr>
          <p:cNvPr id="121" name="Text 42">
            <a:extLst>
              <a:ext uri="{FF2B5EF4-FFF2-40B4-BE49-F238E27FC236}">
                <a16:creationId xmlns:a16="http://schemas.microsoft.com/office/drawing/2014/main" id="{4F02D923-9DBE-D965-71AE-7FE8FF929104}"/>
              </a:ext>
            </a:extLst>
          </p:cNvPr>
          <p:cNvSpPr/>
          <p:nvPr/>
        </p:nvSpPr>
        <p:spPr>
          <a:xfrm>
            <a:off x="6420358" y="2776558"/>
            <a:ext cx="5340096"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133">
                <a:solidFill>
                  <a:srgbClr val="334155"/>
                </a:solidFill>
              </a:rPr>
              <a:t>700 bigram features trained on 15,363 tickets with real descriptions. Cosine similarity drives recommendation retrieval.</a:t>
            </a:r>
            <a:endParaRPr lang="en-US" sz="1133"/>
          </a:p>
        </p:txBody>
      </p:sp>
      <p:sp>
        <p:nvSpPr>
          <p:cNvPr id="123" name="Shape 43">
            <a:extLst>
              <a:ext uri="{FF2B5EF4-FFF2-40B4-BE49-F238E27FC236}">
                <a16:creationId xmlns:a16="http://schemas.microsoft.com/office/drawing/2014/main" id="{0CBBBA77-BDF1-243C-808E-204F58ABFA59}"/>
              </a:ext>
            </a:extLst>
          </p:cNvPr>
          <p:cNvSpPr/>
          <p:nvPr/>
        </p:nvSpPr>
        <p:spPr>
          <a:xfrm>
            <a:off x="6305804" y="3337137"/>
            <a:ext cx="83735" cy="566759"/>
          </a:xfrm>
          <a:prstGeom prst="rect">
            <a:avLst/>
          </a:prstGeom>
          <a:solidFill>
            <a:srgbClr val="059669"/>
          </a:solidFill>
          <a:ln w="12700">
            <a:solidFill>
              <a:srgbClr val="059669"/>
            </a:solidFill>
            <a:prstDash val="solid"/>
          </a:ln>
        </p:spPr>
        <p:txBody>
          <a:bodyPr/>
          <a:lstStyle/>
          <a:p>
            <a:endParaRPr lang="en-SG"/>
          </a:p>
        </p:txBody>
      </p:sp>
      <p:sp>
        <p:nvSpPr>
          <p:cNvPr id="125" name="Text 44">
            <a:extLst>
              <a:ext uri="{FF2B5EF4-FFF2-40B4-BE49-F238E27FC236}">
                <a16:creationId xmlns:a16="http://schemas.microsoft.com/office/drawing/2014/main" id="{3803BDBA-D3E2-106E-47ED-D88E09132920}"/>
              </a:ext>
            </a:extLst>
          </p:cNvPr>
          <p:cNvSpPr/>
          <p:nvPr/>
        </p:nvSpPr>
        <p:spPr>
          <a:xfrm>
            <a:off x="6420358" y="3276854"/>
            <a:ext cx="5340096" cy="3048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b="1">
                <a:solidFill>
                  <a:srgbClr val="0F172A"/>
                </a:solidFill>
              </a:rPr>
              <a:t>Resolution Time Signal</a:t>
            </a:r>
            <a:endParaRPr lang="en-US" sz="1267"/>
          </a:p>
        </p:txBody>
      </p:sp>
      <p:sp>
        <p:nvSpPr>
          <p:cNvPr id="127" name="Text 45">
            <a:extLst>
              <a:ext uri="{FF2B5EF4-FFF2-40B4-BE49-F238E27FC236}">
                <a16:creationId xmlns:a16="http://schemas.microsoft.com/office/drawing/2014/main" id="{5D9CAE18-BB34-EA20-34DE-F57788F6DA13}"/>
              </a:ext>
            </a:extLst>
          </p:cNvPr>
          <p:cNvSpPr/>
          <p:nvPr/>
        </p:nvSpPr>
        <p:spPr>
          <a:xfrm>
            <a:off x="6430941" y="3415538"/>
            <a:ext cx="5340096"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133">
                <a:solidFill>
                  <a:srgbClr val="334155"/>
                </a:solidFill>
              </a:rPr>
              <a:t>P4 = 3,261 min (7× P1 at 457 min). Used as ranking weight — faster-resolved matches surfaced first in recommendations.</a:t>
            </a:r>
            <a:endParaRPr lang="en-US" sz="1133"/>
          </a:p>
        </p:txBody>
      </p:sp>
      <p:sp>
        <p:nvSpPr>
          <p:cNvPr id="5" name="Rectangle 4">
            <a:extLst>
              <a:ext uri="{FF2B5EF4-FFF2-40B4-BE49-F238E27FC236}">
                <a16:creationId xmlns:a16="http://schemas.microsoft.com/office/drawing/2014/main" id="{56BC99FC-988A-0DBC-D9E1-F7DA0E95379A}"/>
              </a:ext>
            </a:extLst>
          </p:cNvPr>
          <p:cNvSpPr/>
          <p:nvPr/>
        </p:nvSpPr>
        <p:spPr>
          <a:xfrm>
            <a:off x="0" y="0"/>
            <a:ext cx="12191969" cy="859536"/>
          </a:xfrm>
          <a:prstGeom prst="rect">
            <a:avLst/>
          </a:prstGeom>
          <a:solidFill>
            <a:srgbClr val="1E27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TextBox 8">
            <a:extLst>
              <a:ext uri="{FF2B5EF4-FFF2-40B4-BE49-F238E27FC236}">
                <a16:creationId xmlns:a16="http://schemas.microsoft.com/office/drawing/2014/main" id="{A10B4E5E-8DD4-4CE7-821C-0CC4AC5F539F}"/>
              </a:ext>
            </a:extLst>
          </p:cNvPr>
          <p:cNvSpPr txBox="1"/>
          <p:nvPr/>
        </p:nvSpPr>
        <p:spPr>
          <a:xfrm>
            <a:off x="328559" y="275805"/>
            <a:ext cx="11734769" cy="658368"/>
          </a:xfrm>
          <a:prstGeom prst="rect">
            <a:avLst/>
          </a:prstGeom>
          <a:noFill/>
        </p:spPr>
        <p:txBody>
          <a:bodyPr wrap="square" lIns="91440" tIns="45720" rIns="91440" bIns="45720" anchor="t"/>
          <a:lstStyle/>
          <a:p>
            <a:pPr algn="l">
              <a:defRPr/>
            </a:pPr>
            <a:r>
              <a:rPr lang="en-US" sz="2400" b="1" kern="1200">
                <a:solidFill>
                  <a:schemeClr val="bg1"/>
                </a:solidFill>
                <a:latin typeface="Calibri"/>
                <a:ea typeface="Calibri"/>
                <a:cs typeface="Calibri"/>
              </a:rPr>
              <a:t>Class Balance Enables Classification While Sparse Text Constrains NLP</a:t>
            </a:r>
            <a:endParaRPr lang="en-US" sz="2400" kern="1200">
              <a:solidFill>
                <a:schemeClr val="bg1"/>
              </a:solidFill>
              <a:latin typeface="Calibri"/>
              <a:ea typeface="Calibri"/>
              <a:cs typeface="Calibri"/>
            </a:endParaRPr>
          </a:p>
        </p:txBody>
      </p:sp>
      <p:sp>
        <p:nvSpPr>
          <p:cNvPr id="13" name="TextBox 12">
            <a:extLst>
              <a:ext uri="{FF2B5EF4-FFF2-40B4-BE49-F238E27FC236}">
                <a16:creationId xmlns:a16="http://schemas.microsoft.com/office/drawing/2014/main" id="{7A354936-B531-BF15-882E-C3FCBA33E539}"/>
              </a:ext>
            </a:extLst>
          </p:cNvPr>
          <p:cNvSpPr txBox="1"/>
          <p:nvPr/>
        </p:nvSpPr>
        <p:spPr>
          <a:xfrm>
            <a:off x="328559" y="48221"/>
            <a:ext cx="8229600" cy="230832"/>
          </a:xfrm>
          <a:prstGeom prst="rect">
            <a:avLst/>
          </a:prstGeom>
          <a:noFill/>
        </p:spPr>
        <p:txBody>
          <a:bodyPr wrap="square" lIns="91440" tIns="45720" rIns="91440" bIns="45720" anchor="t">
            <a:spAutoFit/>
          </a:bodyPr>
          <a:lstStyle/>
          <a:p>
            <a:pPr marL="0" marR="0" lvl="0" indent="0" algn="l" defTabSz="914400">
              <a:lnSpc>
                <a:spcPct val="100000"/>
              </a:lnSpc>
              <a:spcBef>
                <a:spcPts val="0"/>
              </a:spcBef>
              <a:spcAft>
                <a:spcPts val="0"/>
              </a:spcAft>
              <a:buNone/>
              <a:tabLst/>
              <a:defRPr/>
            </a:pPr>
            <a:r>
              <a:rPr lang="en-SG" sz="900" kern="1200">
                <a:solidFill>
                  <a:srgbClr val="8AAEC4"/>
                </a:solidFill>
                <a:latin typeface="Trebuchet MS"/>
                <a:ea typeface="+mn-ea"/>
                <a:cs typeface="+mn-cs"/>
              </a:rPr>
              <a:t>EDA</a:t>
            </a:r>
            <a:endParaRPr lang="en-US">
              <a:ea typeface="+mn-ea"/>
              <a:cs typeface="+mn-cs"/>
            </a:endParaRPr>
          </a:p>
        </p:txBody>
      </p:sp>
      <p:sp>
        <p:nvSpPr>
          <p:cNvPr id="17" name="TextBox 16">
            <a:extLst>
              <a:ext uri="{FF2B5EF4-FFF2-40B4-BE49-F238E27FC236}">
                <a16:creationId xmlns:a16="http://schemas.microsoft.com/office/drawing/2014/main" id="{B77DC88E-E96C-6111-C890-DF0D429BFAF2}"/>
              </a:ext>
            </a:extLst>
          </p:cNvPr>
          <p:cNvSpPr txBox="1"/>
          <p:nvPr/>
        </p:nvSpPr>
        <p:spPr>
          <a:xfrm>
            <a:off x="10363169" y="45720"/>
            <a:ext cx="1737360" cy="475488"/>
          </a:xfrm>
          <a:prstGeom prst="rect">
            <a:avLst/>
          </a:prstGeom>
          <a:noFill/>
        </p:spPr>
        <p:txBody>
          <a:bodyPr wrap="square" lIns="91440" tIns="45720" rIns="91440" bIns="4572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chemeClr val="bg1"/>
                </a:solidFill>
                <a:effectLst/>
                <a:uLnTx/>
                <a:uFillTx/>
                <a:latin typeface="Trebuchet MS"/>
                <a:ea typeface="+mn-ea"/>
                <a:cs typeface="+mn-cs"/>
              </a:rPr>
              <a:t>Expected Time Spent: </a:t>
            </a:r>
            <a:r>
              <a:rPr kumimoji="0" sz="900" b="0" i="0" u="none" strike="noStrike" kern="1200" cap="none" spc="0" normalizeH="0" baseline="0" noProof="0">
                <a:ln>
                  <a:noFill/>
                </a:ln>
                <a:solidFill>
                  <a:schemeClr val="bg1"/>
                </a:solidFill>
                <a:effectLst/>
                <a:uLnTx/>
                <a:uFillTx/>
                <a:latin typeface="Trebuchet MS"/>
                <a:ea typeface="+mn-ea"/>
                <a:cs typeface="+mn-cs"/>
              </a:rPr>
              <a:t>1 w</a:t>
            </a:r>
            <a:endParaRPr lang="en-US" sz="900" b="0" i="0" u="none" strike="noStrike" kern="1200" cap="none" spc="0" normalizeH="0" baseline="0" noProof="0">
              <a:ln>
                <a:noFill/>
              </a:ln>
              <a:solidFill>
                <a:schemeClr val="bg1"/>
              </a:solidFill>
              <a:effectLst/>
              <a:uLnTx/>
              <a:uFillTx/>
              <a:latin typeface="Trebuchet MS"/>
              <a:ea typeface="+mn-ea"/>
              <a:cs typeface="+mn-cs"/>
            </a:endParaRPr>
          </a:p>
          <a:p>
            <a:pPr algn="l" rtl="0">
              <a:defRPr/>
            </a:pPr>
            <a:r>
              <a:rPr kumimoji="0" sz="900" b="1" i="0" u="none" strike="noStrike" kern="1200" cap="none" spc="0" normalizeH="0" baseline="0" noProof="0">
                <a:ln>
                  <a:noFill/>
                </a:ln>
                <a:solidFill>
                  <a:schemeClr val="bg1"/>
                </a:solidFill>
                <a:effectLst/>
                <a:uLnTx/>
                <a:uFillTx/>
                <a:latin typeface="Trebuchet MS"/>
                <a:ea typeface="+mn-ea"/>
                <a:cs typeface="+mn-cs"/>
              </a:rPr>
              <a:t>Actual Time Spent: </a:t>
            </a:r>
            <a:r>
              <a:rPr lang="en-US" sz="900" b="1" kern="1200">
                <a:solidFill>
                  <a:schemeClr val="bg1"/>
                </a:solidFill>
                <a:latin typeface="Trebuchet MS"/>
                <a:ea typeface="+mn-ea"/>
                <a:cs typeface="+mn-cs"/>
              </a:rPr>
              <a:t>1</a:t>
            </a:r>
            <a:r>
              <a:rPr lang="en-US" sz="900" kern="1200">
                <a:solidFill>
                  <a:schemeClr val="bg1"/>
                </a:solidFill>
                <a:latin typeface="Trebuchet MS"/>
                <a:ea typeface="+mn-ea"/>
                <a:cs typeface="+mn-cs"/>
              </a:rPr>
              <a:t> </a:t>
            </a:r>
            <a:r>
              <a:rPr kumimoji="0" sz="900" b="0" i="0" u="none" strike="noStrike" kern="1200" cap="none" spc="0" normalizeH="0" baseline="0" noProof="0">
                <a:ln>
                  <a:noFill/>
                </a:ln>
                <a:solidFill>
                  <a:schemeClr val="bg1"/>
                </a:solidFill>
                <a:effectLst/>
                <a:uLnTx/>
                <a:uFillTx/>
                <a:latin typeface="Trebuchet MS"/>
                <a:ea typeface="+mn-ea"/>
                <a:cs typeface="+mn-cs"/>
              </a:rPr>
              <a:t>w</a:t>
            </a:r>
            <a:endParaRPr sz="900" b="0" i="0" u="none" strike="noStrike" kern="1200" cap="none" spc="0" normalizeH="0" baseline="0" noProof="0">
              <a:ln>
                <a:noFill/>
              </a:ln>
              <a:solidFill>
                <a:schemeClr val="bg1"/>
              </a:solidFill>
              <a:effectLst/>
              <a:uLnTx/>
              <a:uFillTx/>
              <a:latin typeface="Trebuchet MS"/>
              <a:ea typeface="+mn-ea"/>
              <a:cs typeface="+mn-cs"/>
            </a:endParaRPr>
          </a:p>
        </p:txBody>
      </p:sp>
    </p:spTree>
    <p:extLst>
      <p:ext uri="{BB962C8B-B14F-4D97-AF65-F5344CB8AC3E}">
        <p14:creationId xmlns:p14="http://schemas.microsoft.com/office/powerpoint/2010/main" val="265558021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10;&#10;Description automatically generated">
            <a:extLst>
              <a:ext uri="{FF2B5EF4-FFF2-40B4-BE49-F238E27FC236}">
                <a16:creationId xmlns:a16="http://schemas.microsoft.com/office/drawing/2014/main" id="{6B340A30-2D79-5D1D-26F6-3359C0E6DC2A}"/>
              </a:ext>
            </a:extLst>
          </p:cNvPr>
          <p:cNvPicPr>
            <a:picLocks noGrp="1" noChangeAspect="1"/>
          </p:cNvPicPr>
          <p:nvPr>
            <p:ph idx="1"/>
          </p:nvPr>
        </p:nvPicPr>
        <p:blipFill>
          <a:blip r:embed="rId2"/>
          <a:srcRect t="29389"/>
          <a:stretch/>
        </p:blipFill>
        <p:spPr>
          <a:xfrm>
            <a:off x="327384" y="1329119"/>
            <a:ext cx="6159455" cy="1226731"/>
          </a:xfrm>
        </p:spPr>
      </p:pic>
      <p:pic>
        <p:nvPicPr>
          <p:cNvPr id="7" name="Picture 6" descr="A screenshot of a computer&#10;&#10;Description automatically generated">
            <a:extLst>
              <a:ext uri="{FF2B5EF4-FFF2-40B4-BE49-F238E27FC236}">
                <a16:creationId xmlns:a16="http://schemas.microsoft.com/office/drawing/2014/main" id="{0900C892-F753-0812-E54E-CE240ADBED94}"/>
              </a:ext>
            </a:extLst>
          </p:cNvPr>
          <p:cNvPicPr>
            <a:picLocks noChangeAspect="1"/>
          </p:cNvPicPr>
          <p:nvPr/>
        </p:nvPicPr>
        <p:blipFill>
          <a:blip r:embed="rId3"/>
          <a:stretch>
            <a:fillRect/>
          </a:stretch>
        </p:blipFill>
        <p:spPr>
          <a:xfrm>
            <a:off x="316800" y="2784142"/>
            <a:ext cx="6159456" cy="1216148"/>
          </a:xfrm>
          <a:prstGeom prst="rect">
            <a:avLst/>
          </a:prstGeom>
        </p:spPr>
      </p:pic>
      <p:sp>
        <p:nvSpPr>
          <p:cNvPr id="8" name="TextBox 7">
            <a:extLst>
              <a:ext uri="{FF2B5EF4-FFF2-40B4-BE49-F238E27FC236}">
                <a16:creationId xmlns:a16="http://schemas.microsoft.com/office/drawing/2014/main" id="{7AB4EC13-D0A7-3DDD-C11F-D088A810AA02}"/>
              </a:ext>
            </a:extLst>
          </p:cNvPr>
          <p:cNvSpPr txBox="1"/>
          <p:nvPr/>
        </p:nvSpPr>
        <p:spPr>
          <a:xfrm>
            <a:off x="330557" y="4200635"/>
            <a:ext cx="5878062" cy="1600438"/>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Aptos" panose="02110004020202020204"/>
                <a:ea typeface="+mn-ea"/>
                <a:cs typeface="+mn-cs"/>
              </a:rPr>
              <a:t>Maintenance History is tracked at a Client level </a:t>
            </a:r>
            <a:r>
              <a:rPr kumimoji="0" lang="en-US" sz="1400" b="0" i="0" u="none" strike="noStrike" kern="1200" cap="none" spc="0" normalizeH="0" baseline="0" noProof="0">
                <a:ln>
                  <a:noFill/>
                </a:ln>
                <a:solidFill>
                  <a:prstClr val="black"/>
                </a:solidFill>
                <a:effectLst/>
                <a:uLnTx/>
                <a:uFillTx/>
                <a:latin typeface="Aptos" panose="02110004020202020204"/>
                <a:ea typeface="+mn-ea"/>
                <a:cs typeface="+mn-cs"/>
              </a:rPr>
              <a:t>which create a missing link between the physical asset type mapping to the maintenance Log. </a:t>
            </a:r>
            <a:br>
              <a:rPr kumimoji="0" lang="en-US" sz="1400" b="0" i="0" u="none" strike="noStrike" kern="1200" cap="none" spc="0" normalizeH="0" baseline="0" noProof="0">
                <a:ln>
                  <a:noFill/>
                </a:ln>
                <a:solidFill>
                  <a:prstClr val="black"/>
                </a:solidFill>
                <a:effectLst/>
                <a:uLnTx/>
                <a:uFillTx/>
                <a:latin typeface="Aptos" panose="02110004020202020204"/>
                <a:ea typeface="+mn-ea"/>
                <a:cs typeface="+mn-cs"/>
              </a:rPr>
            </a:br>
            <a:br>
              <a:rPr kumimoji="0" lang="en-US" sz="1400" b="0" i="0" u="none" strike="noStrike" kern="1200" cap="none" spc="0" normalizeH="0" baseline="0" noProof="0">
                <a:ln>
                  <a:noFill/>
                </a:ln>
                <a:solidFill>
                  <a:prstClr val="black"/>
                </a:solidFill>
                <a:effectLst/>
                <a:uLnTx/>
                <a:uFillTx/>
                <a:latin typeface="Aptos" panose="02110004020202020204"/>
                <a:ea typeface="+mn-ea"/>
                <a:cs typeface="+mn-cs"/>
              </a:rPr>
            </a:br>
            <a:r>
              <a:rPr kumimoji="0" lang="en-US" sz="1400" b="1" i="1" u="none" strike="noStrike" kern="1200" cap="none" spc="0" normalizeH="0" baseline="0" noProof="0">
                <a:ln>
                  <a:noFill/>
                </a:ln>
                <a:solidFill>
                  <a:prstClr val="black"/>
                </a:solidFill>
                <a:effectLst/>
                <a:uLnTx/>
                <a:uFillTx/>
                <a:latin typeface="Aptos" panose="02110004020202020204"/>
                <a:ea typeface="+mn-ea"/>
                <a:cs typeface="+mn-cs"/>
              </a:rPr>
              <a:t>This issue was acknowledged by the Sponsors, and they have agreed to work with their clients to start tracking the asset level Maintenance Log </a:t>
            </a:r>
            <a:r>
              <a:rPr kumimoji="0" lang="en-US" sz="1400" b="0" i="0" u="none" strike="noStrike" kern="1200" cap="none" spc="0" normalizeH="0" baseline="0" noProof="0">
                <a:ln>
                  <a:noFill/>
                </a:ln>
                <a:solidFill>
                  <a:prstClr val="black"/>
                </a:solidFill>
                <a:effectLst/>
                <a:uLnTx/>
                <a:uFillTx/>
                <a:latin typeface="Aptos" panose="02110004020202020204"/>
                <a:ea typeface="+mn-ea"/>
                <a:cs typeface="+mn-cs"/>
              </a:rPr>
              <a:t>to enable this feature to be used for Survival Analysis in future. (outside the scope of the project)</a:t>
            </a:r>
          </a:p>
        </p:txBody>
      </p:sp>
      <p:pic>
        <p:nvPicPr>
          <p:cNvPr id="10" name="Picture 9" descr="A screenshot of a computer&#10;&#10;Description automatically generated">
            <a:extLst>
              <a:ext uri="{FF2B5EF4-FFF2-40B4-BE49-F238E27FC236}">
                <a16:creationId xmlns:a16="http://schemas.microsoft.com/office/drawing/2014/main" id="{7EB1B7E5-8980-5C54-55EE-18250C9E6AF9}"/>
              </a:ext>
            </a:extLst>
          </p:cNvPr>
          <p:cNvPicPr>
            <a:picLocks noChangeAspect="1"/>
          </p:cNvPicPr>
          <p:nvPr/>
        </p:nvPicPr>
        <p:blipFill>
          <a:blip r:embed="rId4"/>
          <a:stretch>
            <a:fillRect/>
          </a:stretch>
        </p:blipFill>
        <p:spPr>
          <a:xfrm>
            <a:off x="6659773" y="3077886"/>
            <a:ext cx="2605927" cy="2964002"/>
          </a:xfrm>
          <a:prstGeom prst="rect">
            <a:avLst/>
          </a:prstGeom>
        </p:spPr>
      </p:pic>
      <p:pic>
        <p:nvPicPr>
          <p:cNvPr id="12" name="Picture 11" descr="A screenshot of a computer&#10;&#10;Description automatically generated">
            <a:extLst>
              <a:ext uri="{FF2B5EF4-FFF2-40B4-BE49-F238E27FC236}">
                <a16:creationId xmlns:a16="http://schemas.microsoft.com/office/drawing/2014/main" id="{16B1726D-DBA5-D65C-9DE8-8ECF04B63AC7}"/>
              </a:ext>
            </a:extLst>
          </p:cNvPr>
          <p:cNvPicPr>
            <a:picLocks noChangeAspect="1"/>
          </p:cNvPicPr>
          <p:nvPr/>
        </p:nvPicPr>
        <p:blipFill>
          <a:blip r:embed="rId5"/>
          <a:stretch>
            <a:fillRect/>
          </a:stretch>
        </p:blipFill>
        <p:spPr>
          <a:xfrm>
            <a:off x="9416290" y="3089091"/>
            <a:ext cx="2605930" cy="2964002"/>
          </a:xfrm>
          <a:prstGeom prst="rect">
            <a:avLst/>
          </a:prstGeom>
        </p:spPr>
      </p:pic>
      <p:cxnSp>
        <p:nvCxnSpPr>
          <p:cNvPr id="14" name="Straight Connector 13">
            <a:extLst>
              <a:ext uri="{FF2B5EF4-FFF2-40B4-BE49-F238E27FC236}">
                <a16:creationId xmlns:a16="http://schemas.microsoft.com/office/drawing/2014/main" id="{8AC64E91-68C2-DDD3-5096-01F21B4A48DC}"/>
              </a:ext>
            </a:extLst>
          </p:cNvPr>
          <p:cNvCxnSpPr>
            <a:cxnSpLocks/>
          </p:cNvCxnSpPr>
          <p:nvPr/>
        </p:nvCxnSpPr>
        <p:spPr>
          <a:xfrm>
            <a:off x="6551298" y="1332616"/>
            <a:ext cx="0" cy="4765286"/>
          </a:xfrm>
          <a:prstGeom prst="line">
            <a:avLst/>
          </a:prstGeom>
          <a:ln>
            <a:prstDash val="dash"/>
          </a:ln>
        </p:spPr>
        <p:style>
          <a:lnRef idx="2">
            <a:schemeClr val="dk1"/>
          </a:lnRef>
          <a:fillRef idx="0">
            <a:schemeClr val="dk1"/>
          </a:fillRef>
          <a:effectRef idx="1">
            <a:schemeClr val="dk1"/>
          </a:effectRef>
          <a:fontRef idx="minor">
            <a:schemeClr val="tx1"/>
          </a:fontRef>
        </p:style>
      </p:cxnSp>
      <p:sp>
        <p:nvSpPr>
          <p:cNvPr id="15" name="TextBox 14">
            <a:extLst>
              <a:ext uri="{FF2B5EF4-FFF2-40B4-BE49-F238E27FC236}">
                <a16:creationId xmlns:a16="http://schemas.microsoft.com/office/drawing/2014/main" id="{F387DEB9-69CB-2159-0418-F458F6FA6B28}"/>
              </a:ext>
            </a:extLst>
          </p:cNvPr>
          <p:cNvSpPr txBox="1"/>
          <p:nvPr/>
        </p:nvSpPr>
        <p:spPr>
          <a:xfrm>
            <a:off x="6678650" y="1419869"/>
            <a:ext cx="4880231" cy="1600438"/>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Aptos" panose="02110004020202020204"/>
                <a:ea typeface="+mn-ea"/>
                <a:cs typeface="+mn-cs"/>
              </a:rPr>
              <a:t>Warranty Window </a:t>
            </a:r>
            <a:r>
              <a:rPr kumimoji="0" lang="en-US" sz="1400" b="0" i="0" u="none" strike="noStrike" kern="1200" cap="none" spc="0" normalizeH="0" baseline="0" noProof="0">
                <a:ln>
                  <a:noFill/>
                </a:ln>
                <a:solidFill>
                  <a:prstClr val="black"/>
                </a:solidFill>
                <a:effectLst/>
                <a:uLnTx/>
                <a:uFillTx/>
                <a:latin typeface="Aptos" panose="02110004020202020204"/>
                <a:ea typeface="+mn-ea"/>
                <a:cs typeface="+mn-cs"/>
              </a:rPr>
              <a:t>is set to 1095 days irrespective of the device type which is useful as fallback calculation of the device warranty expiry date in Survival Analysis of Failure Event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Aptos" panose="02110004020202020204"/>
                <a:ea typeface="+mn-ea"/>
                <a:cs typeface="+mn-cs"/>
              </a:rPr>
              <a:t>Reorder Threshold </a:t>
            </a:r>
            <a:r>
              <a:rPr kumimoji="0" lang="en-US" sz="1400" b="0" i="0" u="none" strike="noStrike" kern="1200" cap="none" spc="0" normalizeH="0" baseline="0" noProof="0">
                <a:ln>
                  <a:noFill/>
                </a:ln>
                <a:solidFill>
                  <a:prstClr val="black"/>
                </a:solidFill>
                <a:effectLst/>
                <a:uLnTx/>
                <a:uFillTx/>
                <a:latin typeface="Aptos" panose="02110004020202020204"/>
                <a:ea typeface="+mn-ea"/>
                <a:cs typeface="+mn-cs"/>
              </a:rPr>
              <a:t>is synthetic data; set to 40 Units used in Procurement Order calculations</a:t>
            </a:r>
          </a:p>
        </p:txBody>
      </p:sp>
      <p:sp>
        <p:nvSpPr>
          <p:cNvPr id="22" name="Rectangle 21">
            <a:extLst>
              <a:ext uri="{FF2B5EF4-FFF2-40B4-BE49-F238E27FC236}">
                <a16:creationId xmlns:a16="http://schemas.microsoft.com/office/drawing/2014/main" id="{94238C41-94BF-D8A6-E2A0-27B7AE080562}"/>
              </a:ext>
            </a:extLst>
          </p:cNvPr>
          <p:cNvSpPr/>
          <p:nvPr/>
        </p:nvSpPr>
        <p:spPr>
          <a:xfrm>
            <a:off x="0" y="0"/>
            <a:ext cx="12191969" cy="859536"/>
          </a:xfrm>
          <a:prstGeom prst="rect">
            <a:avLst/>
          </a:prstGeom>
          <a:solidFill>
            <a:srgbClr val="1E27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TextBox 23">
            <a:extLst>
              <a:ext uri="{FF2B5EF4-FFF2-40B4-BE49-F238E27FC236}">
                <a16:creationId xmlns:a16="http://schemas.microsoft.com/office/drawing/2014/main" id="{CBAACB85-2811-1C09-E324-38F361F9E98A}"/>
              </a:ext>
            </a:extLst>
          </p:cNvPr>
          <p:cNvSpPr txBox="1"/>
          <p:nvPr/>
        </p:nvSpPr>
        <p:spPr>
          <a:xfrm>
            <a:off x="328559" y="275805"/>
            <a:ext cx="11734769" cy="658368"/>
          </a:xfrm>
          <a:prstGeom prst="rect">
            <a:avLst/>
          </a:prstGeom>
          <a:noFill/>
        </p:spPr>
        <p:txBody>
          <a:bodyPr wrap="square" lIns="91440" tIns="45720" rIns="91440" bIns="45720" anchor="t"/>
          <a:lstStyle/>
          <a:p>
            <a:pPr algn="l">
              <a:defRPr/>
            </a:pPr>
            <a:r>
              <a:rPr lang="en-US" sz="2400" b="1" kern="1200">
                <a:solidFill>
                  <a:schemeClr val="bg1"/>
                </a:solidFill>
                <a:latin typeface="Calibri"/>
                <a:ea typeface="Calibri"/>
                <a:cs typeface="Calibri"/>
              </a:rPr>
              <a:t>Maintenance History Data is not usable due to missing asset level tracking</a:t>
            </a:r>
            <a:endParaRPr lang="en-US">
              <a:solidFill>
                <a:schemeClr val="bg1"/>
              </a:solidFill>
            </a:endParaRPr>
          </a:p>
        </p:txBody>
      </p:sp>
      <p:sp>
        <p:nvSpPr>
          <p:cNvPr id="26" name="TextBox 25">
            <a:extLst>
              <a:ext uri="{FF2B5EF4-FFF2-40B4-BE49-F238E27FC236}">
                <a16:creationId xmlns:a16="http://schemas.microsoft.com/office/drawing/2014/main" id="{37A8BB7E-2B60-8325-F0D2-1629F54DDB16}"/>
              </a:ext>
            </a:extLst>
          </p:cNvPr>
          <p:cNvSpPr txBox="1"/>
          <p:nvPr/>
        </p:nvSpPr>
        <p:spPr>
          <a:xfrm>
            <a:off x="328559" y="48221"/>
            <a:ext cx="8229600" cy="230832"/>
          </a:xfrm>
          <a:prstGeom prst="rect">
            <a:avLst/>
          </a:prstGeom>
          <a:noFill/>
        </p:spPr>
        <p:txBody>
          <a:bodyPr wrap="square" lIns="91440" tIns="45720" rIns="91440" bIns="45720" anchor="t">
            <a:spAutoFit/>
          </a:bodyPr>
          <a:lstStyle/>
          <a:p>
            <a:pPr marL="0" marR="0" lvl="0" indent="0" algn="l" defTabSz="914400">
              <a:lnSpc>
                <a:spcPct val="100000"/>
              </a:lnSpc>
              <a:spcBef>
                <a:spcPts val="0"/>
              </a:spcBef>
              <a:spcAft>
                <a:spcPts val="0"/>
              </a:spcAft>
              <a:buNone/>
              <a:tabLst/>
              <a:defRPr/>
            </a:pPr>
            <a:r>
              <a:rPr lang="en-SG" sz="900" kern="1200">
                <a:solidFill>
                  <a:srgbClr val="8AAEC4"/>
                </a:solidFill>
                <a:latin typeface="Trebuchet MS"/>
                <a:ea typeface="+mn-ea"/>
                <a:cs typeface="+mn-cs"/>
              </a:rPr>
              <a:t>EDA</a:t>
            </a:r>
            <a:endParaRPr lang="en-US">
              <a:ea typeface="+mn-ea"/>
              <a:cs typeface="+mn-cs"/>
            </a:endParaRPr>
          </a:p>
        </p:txBody>
      </p:sp>
      <p:sp>
        <p:nvSpPr>
          <p:cNvPr id="28" name="TextBox 27">
            <a:extLst>
              <a:ext uri="{FF2B5EF4-FFF2-40B4-BE49-F238E27FC236}">
                <a16:creationId xmlns:a16="http://schemas.microsoft.com/office/drawing/2014/main" id="{9EC0CE26-9FDA-0001-66F9-F7BC33F65605}"/>
              </a:ext>
            </a:extLst>
          </p:cNvPr>
          <p:cNvSpPr txBox="1"/>
          <p:nvPr/>
        </p:nvSpPr>
        <p:spPr>
          <a:xfrm>
            <a:off x="10363169" y="45720"/>
            <a:ext cx="1737360" cy="475488"/>
          </a:xfrm>
          <a:prstGeom prst="rect">
            <a:avLst/>
          </a:prstGeom>
          <a:noFill/>
        </p:spPr>
        <p:txBody>
          <a:bodyPr wrap="square" lIns="91440" tIns="45720" rIns="91440" bIns="4572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chemeClr val="bg1"/>
                </a:solidFill>
                <a:effectLst/>
                <a:uLnTx/>
                <a:uFillTx/>
                <a:latin typeface="Trebuchet MS"/>
                <a:ea typeface="+mn-ea"/>
                <a:cs typeface="+mn-cs"/>
              </a:rPr>
              <a:t>Expected Time Spent: </a:t>
            </a:r>
            <a:r>
              <a:rPr kumimoji="0" sz="900" b="0" i="0" u="none" strike="noStrike" kern="1200" cap="none" spc="0" normalizeH="0" baseline="0" noProof="0">
                <a:ln>
                  <a:noFill/>
                </a:ln>
                <a:solidFill>
                  <a:schemeClr val="bg1"/>
                </a:solidFill>
                <a:effectLst/>
                <a:uLnTx/>
                <a:uFillTx/>
                <a:latin typeface="Trebuchet MS"/>
                <a:ea typeface="+mn-ea"/>
                <a:cs typeface="+mn-cs"/>
              </a:rPr>
              <a:t>1 w</a:t>
            </a:r>
            <a:endParaRPr lang="en-US" sz="900" b="0" i="0" u="none" strike="noStrike" kern="1200" cap="none" spc="0" normalizeH="0" baseline="0" noProof="0">
              <a:ln>
                <a:noFill/>
              </a:ln>
              <a:solidFill>
                <a:schemeClr val="bg1"/>
              </a:solidFill>
              <a:effectLst/>
              <a:uLnTx/>
              <a:uFillTx/>
              <a:latin typeface="Trebuchet MS"/>
              <a:ea typeface="+mn-ea"/>
              <a:cs typeface="+mn-cs"/>
            </a:endParaRPr>
          </a:p>
          <a:p>
            <a:pPr algn="l" rtl="0">
              <a:defRPr/>
            </a:pPr>
            <a:r>
              <a:rPr kumimoji="0" sz="900" b="1" i="0" u="none" strike="noStrike" kern="1200" cap="none" spc="0" normalizeH="0" baseline="0" noProof="0">
                <a:ln>
                  <a:noFill/>
                </a:ln>
                <a:solidFill>
                  <a:schemeClr val="bg1"/>
                </a:solidFill>
                <a:effectLst/>
                <a:uLnTx/>
                <a:uFillTx/>
                <a:latin typeface="Trebuchet MS"/>
                <a:ea typeface="+mn-ea"/>
                <a:cs typeface="+mn-cs"/>
              </a:rPr>
              <a:t>Actual Time Spent: </a:t>
            </a:r>
            <a:r>
              <a:rPr lang="en-US" sz="900" b="1" kern="1200">
                <a:solidFill>
                  <a:schemeClr val="bg1"/>
                </a:solidFill>
                <a:latin typeface="Trebuchet MS"/>
                <a:ea typeface="+mn-ea"/>
                <a:cs typeface="+mn-cs"/>
              </a:rPr>
              <a:t>2</a:t>
            </a:r>
            <a:r>
              <a:rPr lang="en-US" sz="900" kern="1200">
                <a:solidFill>
                  <a:schemeClr val="bg1"/>
                </a:solidFill>
                <a:latin typeface="Trebuchet MS"/>
                <a:ea typeface="+mn-ea"/>
                <a:cs typeface="+mn-cs"/>
              </a:rPr>
              <a:t> </a:t>
            </a:r>
            <a:r>
              <a:rPr kumimoji="0" sz="900" b="0" i="0" u="none" strike="noStrike" kern="1200" cap="none" spc="0" normalizeH="0" baseline="0" noProof="0">
                <a:ln>
                  <a:noFill/>
                </a:ln>
                <a:solidFill>
                  <a:schemeClr val="bg1"/>
                </a:solidFill>
                <a:effectLst/>
                <a:uLnTx/>
                <a:uFillTx/>
                <a:latin typeface="Trebuchet MS"/>
                <a:ea typeface="+mn-ea"/>
                <a:cs typeface="+mn-cs"/>
              </a:rPr>
              <a:t>w</a:t>
            </a:r>
            <a:endParaRPr sz="900" b="0" i="0" u="none" strike="noStrike" kern="1200" cap="none" spc="0" normalizeH="0" baseline="0" noProof="0">
              <a:ln>
                <a:noFill/>
              </a:ln>
              <a:solidFill>
                <a:schemeClr val="bg1"/>
              </a:solidFill>
              <a:effectLst/>
              <a:uLnTx/>
              <a:uFillTx/>
              <a:latin typeface="Trebuchet MS"/>
              <a:ea typeface="+mn-ea"/>
              <a:cs typeface="+mn-cs"/>
            </a:endParaRPr>
          </a:p>
        </p:txBody>
      </p:sp>
    </p:spTree>
    <p:extLst>
      <p:ext uri="{BB962C8B-B14F-4D97-AF65-F5344CB8AC3E}">
        <p14:creationId xmlns:p14="http://schemas.microsoft.com/office/powerpoint/2010/main" val="1331847134"/>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66FF2-6CF5-B787-60F1-FC0509F6478A}"/>
            </a:ext>
          </a:extLst>
        </p:cNvPr>
        <p:cNvGrpSpPr/>
        <p:nvPr/>
      </p:nvGrpSpPr>
      <p:grpSpPr>
        <a:xfrm>
          <a:off x="0" y="0"/>
          <a:ext cx="0" cy="0"/>
          <a:chOff x="0" y="0"/>
          <a:chExt cx="0" cy="0"/>
        </a:xfrm>
      </p:grpSpPr>
      <p:pic>
        <p:nvPicPr>
          <p:cNvPr id="28" name="Picture 27">
            <a:extLst>
              <a:ext uri="{FF2B5EF4-FFF2-40B4-BE49-F238E27FC236}">
                <a16:creationId xmlns:a16="http://schemas.microsoft.com/office/drawing/2014/main" id="{3F730233-8B1D-D7D9-8C27-E7BB17E341E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75870" y="4605675"/>
            <a:ext cx="3591984" cy="2002642"/>
          </a:xfrm>
          <a:prstGeom prst="rect">
            <a:avLst/>
          </a:prstGeom>
          <a:noFill/>
          <a:ln>
            <a:noFill/>
          </a:ln>
        </p:spPr>
      </p:pic>
      <p:sp>
        <p:nvSpPr>
          <p:cNvPr id="24" name="TextBox 23">
            <a:extLst>
              <a:ext uri="{FF2B5EF4-FFF2-40B4-BE49-F238E27FC236}">
                <a16:creationId xmlns:a16="http://schemas.microsoft.com/office/drawing/2014/main" id="{332251EF-CC19-5801-88C2-3AF3261798AC}"/>
              </a:ext>
            </a:extLst>
          </p:cNvPr>
          <p:cNvSpPr txBox="1"/>
          <p:nvPr/>
        </p:nvSpPr>
        <p:spPr>
          <a:xfrm>
            <a:off x="107465" y="1361687"/>
            <a:ext cx="4697455" cy="4832092"/>
          </a:xfrm>
          <a:prstGeom prst="rect">
            <a:avLst/>
          </a:prstGeom>
          <a:noFill/>
        </p:spPr>
        <p:txBody>
          <a:bodyPr wrap="square" lIns="91440" tIns="45720" rIns="91440" bIns="45720" anchor="t">
            <a:spAutoFit/>
          </a:bodyPr>
          <a:lstStyle/>
          <a:p>
            <a:pPr marL="190500" marR="0" lvl="0" indent="-1905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a:ln>
                  <a:noFill/>
                </a:ln>
                <a:solidFill>
                  <a:prstClr val="black"/>
                </a:solidFill>
                <a:effectLst/>
                <a:uLnTx/>
                <a:uFillTx/>
                <a:latin typeface="Aptos" panose="02110004020202020204"/>
                <a:ea typeface="+mn-ea"/>
                <a:cs typeface="+mn-cs"/>
              </a:rPr>
              <a:t>Explored breach drivers</a:t>
            </a:r>
            <a:r>
              <a:rPr kumimoji="0" lang="en-US" sz="1400" b="0" i="0" u="none" strike="noStrike" kern="1200" cap="none" spc="0" normalizeH="0" baseline="0" noProof="0">
                <a:ln>
                  <a:noFill/>
                </a:ln>
                <a:solidFill>
                  <a:prstClr val="black"/>
                </a:solidFill>
                <a:effectLst/>
                <a:uLnTx/>
                <a:uFillTx/>
                <a:latin typeface="Aptos" panose="02110004020202020204"/>
                <a:ea typeface="+mn-ea"/>
                <a:cs typeface="+mn-cs"/>
              </a:rPr>
              <a:t> across ticket priority, category, issue type, and channel.</a:t>
            </a:r>
          </a:p>
          <a:p>
            <a:pPr marL="190500" marR="0" lvl="0" indent="-1905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a:ln>
                <a:noFill/>
              </a:ln>
              <a:solidFill>
                <a:prstClr val="black"/>
              </a:solidFill>
              <a:effectLst/>
              <a:uLnTx/>
              <a:uFillTx/>
              <a:latin typeface="Aptos" panose="02110004020202020204"/>
              <a:ea typeface="+mn-ea"/>
              <a:cs typeface="+mn-cs"/>
            </a:endParaRPr>
          </a:p>
          <a:p>
            <a:pPr marL="190500" marR="0" lvl="0" indent="-1905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a:ln>
                  <a:noFill/>
                </a:ln>
                <a:solidFill>
                  <a:prstClr val="black"/>
                </a:solidFill>
                <a:effectLst/>
                <a:uLnTx/>
                <a:uFillTx/>
                <a:latin typeface="Aptos" panose="02110004020202020204"/>
                <a:ea typeface="+mn-ea"/>
                <a:cs typeface="+mn-cs"/>
              </a:rPr>
              <a:t>Compared breach rates by client attributes</a:t>
            </a:r>
            <a:r>
              <a:rPr kumimoji="0" lang="en-US" sz="1400" b="0" i="0" u="none" strike="noStrike" kern="1200" cap="none" spc="0" normalizeH="0" baseline="0" noProof="0">
                <a:ln>
                  <a:noFill/>
                </a:ln>
                <a:solidFill>
                  <a:prstClr val="black"/>
                </a:solidFill>
                <a:effectLst/>
                <a:uLnTx/>
                <a:uFillTx/>
                <a:latin typeface="Aptos" panose="02110004020202020204"/>
                <a:ea typeface="+mn-ea"/>
                <a:cs typeface="+mn-cs"/>
              </a:rPr>
              <a:t> such as service tier, industry, and region.</a:t>
            </a:r>
          </a:p>
          <a:p>
            <a:pPr marL="190500" marR="0" lvl="0" indent="-1905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a:ln>
                <a:noFill/>
              </a:ln>
              <a:solidFill>
                <a:prstClr val="black"/>
              </a:solidFill>
              <a:effectLst/>
              <a:uLnTx/>
              <a:uFillTx/>
              <a:latin typeface="Aptos" panose="02110004020202020204"/>
              <a:ea typeface="+mn-ea"/>
              <a:cs typeface="+mn-cs"/>
            </a:endParaRPr>
          </a:p>
          <a:p>
            <a:pPr marL="190500" marR="0" lvl="0" indent="-1905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a:ln>
                  <a:noFill/>
                </a:ln>
                <a:solidFill>
                  <a:prstClr val="black"/>
                </a:solidFill>
                <a:effectLst/>
                <a:uLnTx/>
                <a:uFillTx/>
                <a:latin typeface="Aptos" panose="02110004020202020204"/>
                <a:ea typeface="+mn-ea"/>
                <a:cs typeface="+mn-cs"/>
              </a:rPr>
              <a:t>Identified clear separation in response and resolution times</a:t>
            </a:r>
            <a:r>
              <a:rPr kumimoji="0" lang="en-US" sz="1400" b="0" i="0" u="none" strike="noStrike" kern="1200" cap="none" spc="0" normalizeH="0" baseline="0" noProof="0">
                <a:ln>
                  <a:noFill/>
                </a:ln>
                <a:solidFill>
                  <a:prstClr val="black"/>
                </a:solidFill>
                <a:effectLst/>
                <a:uLnTx/>
                <a:uFillTx/>
                <a:latin typeface="Aptos" panose="02110004020202020204"/>
                <a:ea typeface="+mn-ea"/>
                <a:cs typeface="+mn-cs"/>
              </a:rPr>
              <a:t> between breached and non-breached tickets.</a:t>
            </a:r>
            <a:endParaRPr lang="en-US" sz="1400" b="0" i="0" u="none" strike="noStrike" kern="1200" cap="none" spc="0" normalizeH="0" baseline="0" noProof="0">
              <a:ln>
                <a:noFill/>
              </a:ln>
              <a:solidFill>
                <a:prstClr val="black"/>
              </a:solidFill>
              <a:effectLst/>
              <a:uLnTx/>
              <a:uFillTx/>
              <a:latin typeface="Aptos" panose="02110004020202020204"/>
              <a:ea typeface="+mn-ea"/>
              <a:cs typeface="+mn-cs"/>
            </a:endParaRPr>
          </a:p>
          <a:p>
            <a:pPr marL="190500" marR="0" lvl="0" indent="-1905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a:ln>
                <a:noFill/>
              </a:ln>
              <a:solidFill>
                <a:prstClr val="black"/>
              </a:solidFill>
              <a:effectLst/>
              <a:uLnTx/>
              <a:uFillTx/>
              <a:latin typeface="Aptos" panose="02110004020202020204"/>
              <a:ea typeface="+mn-ea"/>
              <a:cs typeface="+mn-cs"/>
            </a:endParaRPr>
          </a:p>
          <a:p>
            <a:pPr marL="190500" marR="0" lvl="0" indent="-1905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a:ln>
                  <a:noFill/>
                </a:ln>
                <a:solidFill>
                  <a:prstClr val="black"/>
                </a:solidFill>
                <a:effectLst/>
                <a:uLnTx/>
                <a:uFillTx/>
                <a:latin typeface="Aptos" panose="02110004020202020204"/>
                <a:ea typeface="+mn-ea"/>
                <a:cs typeface="+mn-cs"/>
              </a:rPr>
              <a:t>Engineered time-based features from ticket creation patterns</a:t>
            </a:r>
            <a:r>
              <a:rPr kumimoji="0" lang="en-US" sz="1400" b="0" i="0" u="none" strike="noStrike" kern="1200" cap="none" spc="0" normalizeH="0" baseline="0" noProof="0">
                <a:ln>
                  <a:noFill/>
                </a:ln>
                <a:solidFill>
                  <a:prstClr val="black"/>
                </a:solidFill>
                <a:effectLst/>
                <a:uLnTx/>
                <a:uFillTx/>
                <a:latin typeface="Aptos" panose="02110004020202020204"/>
                <a:ea typeface="+mn-ea"/>
                <a:cs typeface="+mn-cs"/>
              </a:rPr>
              <a:t>, including hour, day of week, weekend, and business hours.</a:t>
            </a:r>
          </a:p>
          <a:p>
            <a:pPr marL="190500" marR="0" lvl="0" indent="-1905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a:ln>
                <a:noFill/>
              </a:ln>
              <a:solidFill>
                <a:prstClr val="black"/>
              </a:solidFill>
              <a:effectLst/>
              <a:uLnTx/>
              <a:uFillTx/>
              <a:latin typeface="Aptos" panose="02110004020202020204"/>
              <a:ea typeface="+mn-ea"/>
              <a:cs typeface="+mn-cs"/>
            </a:endParaRPr>
          </a:p>
          <a:p>
            <a:pPr marL="190500" marR="0" lvl="0" indent="-1905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a:ln>
                  <a:noFill/>
                </a:ln>
                <a:solidFill>
                  <a:prstClr val="black"/>
                </a:solidFill>
                <a:effectLst/>
                <a:uLnTx/>
                <a:uFillTx/>
                <a:latin typeface="Aptos" panose="02110004020202020204"/>
                <a:ea typeface="+mn-ea"/>
                <a:cs typeface="+mn-cs"/>
              </a:rPr>
              <a:t>Added SLA gap metrics using actual response time versus target response time.</a:t>
            </a:r>
          </a:p>
          <a:p>
            <a:pPr marL="190500" marR="0" lvl="0" indent="-1905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1" i="0" u="none" strike="noStrike" kern="1200" cap="none" spc="0" normalizeH="0" baseline="0" noProof="0">
              <a:ln>
                <a:noFill/>
              </a:ln>
              <a:solidFill>
                <a:prstClr val="black"/>
              </a:solidFill>
              <a:effectLst/>
              <a:uLnTx/>
              <a:uFillTx/>
              <a:latin typeface="Aptos" panose="02110004020202020204"/>
              <a:ea typeface="+mn-ea"/>
              <a:cs typeface="+mn-cs"/>
            </a:endParaRPr>
          </a:p>
          <a:p>
            <a:pPr marL="190500" marR="0" lvl="0" indent="-1905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ptos" panose="02110004020202020204"/>
                <a:ea typeface="+mn-ea"/>
                <a:cs typeface="+mn-cs"/>
              </a:rPr>
              <a:t>Built </a:t>
            </a:r>
            <a:r>
              <a:rPr kumimoji="0" lang="en-US" sz="1400" b="1" i="0" u="none" strike="noStrike" kern="1200" cap="none" spc="0" normalizeH="0" baseline="0" noProof="0">
                <a:ln>
                  <a:noFill/>
                </a:ln>
                <a:solidFill>
                  <a:prstClr val="black"/>
                </a:solidFill>
                <a:effectLst/>
                <a:uLnTx/>
                <a:uFillTx/>
                <a:latin typeface="Aptos" panose="02110004020202020204"/>
                <a:ea typeface="+mn-ea"/>
                <a:cs typeface="+mn-cs"/>
              </a:rPr>
              <a:t>historical aggregates at client, asset, and engineer levels to capture prior breach behavior.</a:t>
            </a:r>
          </a:p>
          <a:p>
            <a:pPr marL="190500" marR="0" lvl="0" indent="-1905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1" i="0" u="none" strike="noStrike" kern="1200" cap="none" spc="0" normalizeH="0" baseline="0" noProof="0">
              <a:ln>
                <a:noFill/>
              </a:ln>
              <a:solidFill>
                <a:prstClr val="black"/>
              </a:solidFill>
              <a:effectLst/>
              <a:uLnTx/>
              <a:uFillTx/>
              <a:latin typeface="Aptos" panose="02110004020202020204"/>
              <a:ea typeface="+mn-ea"/>
              <a:cs typeface="+mn-cs"/>
            </a:endParaRPr>
          </a:p>
          <a:p>
            <a:pPr marL="190500" marR="0" lvl="0" indent="-1905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a:ln>
                  <a:noFill/>
                </a:ln>
                <a:solidFill>
                  <a:prstClr val="black"/>
                </a:solidFill>
                <a:effectLst/>
                <a:uLnTx/>
                <a:uFillTx/>
                <a:latin typeface="Aptos" panose="02110004020202020204"/>
                <a:ea typeface="+mn-ea"/>
                <a:cs typeface="+mn-cs"/>
              </a:rPr>
              <a:t>Incorporated asset health signals</a:t>
            </a:r>
            <a:r>
              <a:rPr kumimoji="0" lang="en-US" sz="1400" b="0" i="0" u="none" strike="noStrike" kern="1200" cap="none" spc="0" normalizeH="0" baseline="0" noProof="0">
                <a:ln>
                  <a:noFill/>
                </a:ln>
                <a:solidFill>
                  <a:prstClr val="black"/>
                </a:solidFill>
                <a:effectLst/>
                <a:uLnTx/>
                <a:uFillTx/>
                <a:latin typeface="Aptos" panose="02110004020202020204"/>
                <a:ea typeface="+mn-ea"/>
                <a:cs typeface="+mn-cs"/>
              </a:rPr>
              <a:t> from telemetry, maintenance burden, and inventory context to enrich predictions.</a:t>
            </a:r>
          </a:p>
        </p:txBody>
      </p:sp>
      <p:pic>
        <p:nvPicPr>
          <p:cNvPr id="26" name="Picture 25">
            <a:extLst>
              <a:ext uri="{FF2B5EF4-FFF2-40B4-BE49-F238E27FC236}">
                <a16:creationId xmlns:a16="http://schemas.microsoft.com/office/drawing/2014/main" id="{8E298903-2686-425A-5CC5-34779F4D323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18120" y="2762030"/>
            <a:ext cx="5883761" cy="1697665"/>
          </a:xfrm>
          <a:prstGeom prst="rect">
            <a:avLst/>
          </a:prstGeom>
          <a:noFill/>
          <a:ln>
            <a:noFill/>
          </a:ln>
        </p:spPr>
      </p:pic>
      <p:pic>
        <p:nvPicPr>
          <p:cNvPr id="27" name="Picture 26">
            <a:extLst>
              <a:ext uri="{FF2B5EF4-FFF2-40B4-BE49-F238E27FC236}">
                <a16:creationId xmlns:a16="http://schemas.microsoft.com/office/drawing/2014/main" id="{0A796AA3-A232-7B4A-B523-9FB156A0E1A2}"/>
              </a:ext>
            </a:extLst>
          </p:cNvPr>
          <p:cNvPicPr>
            <a:picLocks noChangeAspect="1"/>
          </p:cNvPicPr>
          <p:nvPr/>
        </p:nvPicPr>
        <p:blipFill>
          <a:blip r:embed="rId4" cstate="print">
            <a:extLst>
              <a:ext uri="{28A0092B-C50C-407E-A947-70E740481C1C}">
                <a14:useLocalDpi xmlns:a14="http://schemas.microsoft.com/office/drawing/2010/main" val="0"/>
              </a:ext>
            </a:extLst>
          </a:blip>
          <a:srcRect l="-78" t="805" r="32451"/>
          <a:stretch>
            <a:fillRect/>
          </a:stretch>
        </p:blipFill>
        <p:spPr bwMode="auto">
          <a:xfrm>
            <a:off x="4845503" y="4604873"/>
            <a:ext cx="3376992" cy="1997174"/>
          </a:xfrm>
          <a:prstGeom prst="rect">
            <a:avLst/>
          </a:prstGeom>
          <a:noFill/>
          <a:ln>
            <a:noFill/>
          </a:ln>
        </p:spPr>
      </p:pic>
      <p:cxnSp>
        <p:nvCxnSpPr>
          <p:cNvPr id="15" name="Straight Connector 14">
            <a:extLst>
              <a:ext uri="{FF2B5EF4-FFF2-40B4-BE49-F238E27FC236}">
                <a16:creationId xmlns:a16="http://schemas.microsoft.com/office/drawing/2014/main" id="{5C3360D4-31B9-FFEF-C9D2-08157F1DDA78}"/>
              </a:ext>
            </a:extLst>
          </p:cNvPr>
          <p:cNvCxnSpPr>
            <a:cxnSpLocks/>
          </p:cNvCxnSpPr>
          <p:nvPr/>
        </p:nvCxnSpPr>
        <p:spPr>
          <a:xfrm>
            <a:off x="4785366" y="1218880"/>
            <a:ext cx="9769" cy="4892286"/>
          </a:xfrm>
          <a:prstGeom prst="line">
            <a:avLst/>
          </a:prstGeom>
          <a:ln>
            <a:prstDash val="dash"/>
          </a:ln>
        </p:spPr>
        <p:style>
          <a:lnRef idx="2">
            <a:schemeClr val="dk1"/>
          </a:lnRef>
          <a:fillRef idx="0">
            <a:schemeClr val="dk1"/>
          </a:fillRef>
          <a:effectRef idx="1">
            <a:schemeClr val="dk1"/>
          </a:effectRef>
          <a:fontRef idx="minor">
            <a:schemeClr val="tx1"/>
          </a:fontRef>
        </p:style>
      </p:cxnSp>
      <p:sp>
        <p:nvSpPr>
          <p:cNvPr id="3" name="Rectangle 2">
            <a:extLst>
              <a:ext uri="{FF2B5EF4-FFF2-40B4-BE49-F238E27FC236}">
                <a16:creationId xmlns:a16="http://schemas.microsoft.com/office/drawing/2014/main" id="{6CBC293F-7E62-0F77-9B84-CB99F5B8148F}"/>
              </a:ext>
            </a:extLst>
          </p:cNvPr>
          <p:cNvSpPr/>
          <p:nvPr/>
        </p:nvSpPr>
        <p:spPr>
          <a:xfrm>
            <a:off x="0" y="0"/>
            <a:ext cx="12191969" cy="859536"/>
          </a:xfrm>
          <a:prstGeom prst="rect">
            <a:avLst/>
          </a:prstGeom>
          <a:solidFill>
            <a:srgbClr val="1E27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C272CD15-FF7A-97DB-46FA-B94F4706E098}"/>
              </a:ext>
            </a:extLst>
          </p:cNvPr>
          <p:cNvSpPr txBox="1"/>
          <p:nvPr/>
        </p:nvSpPr>
        <p:spPr>
          <a:xfrm>
            <a:off x="328559" y="275805"/>
            <a:ext cx="11734769" cy="658368"/>
          </a:xfrm>
          <a:prstGeom prst="rect">
            <a:avLst/>
          </a:prstGeom>
          <a:noFill/>
        </p:spPr>
        <p:txBody>
          <a:bodyPr wrap="square" lIns="91440" tIns="45720" rIns="91440" bIns="45720" anchor="t"/>
          <a:lstStyle/>
          <a:p>
            <a:pPr algn="l">
              <a:defRPr/>
            </a:pPr>
            <a:r>
              <a:rPr lang="en-US" sz="2400" b="1" kern="1200">
                <a:solidFill>
                  <a:schemeClr val="bg1"/>
                </a:solidFill>
                <a:latin typeface="Calibri"/>
                <a:ea typeface="Calibri"/>
                <a:cs typeface="Calibri"/>
              </a:rPr>
              <a:t>EDA — SLA Breach Drivers: Translating Patterns into Predictive Features</a:t>
            </a:r>
          </a:p>
          <a:p>
            <a:pPr algn="l">
              <a:defRPr/>
            </a:pPr>
            <a:endParaRPr lang="en-US" sz="2400" b="1" kern="1200">
              <a:solidFill>
                <a:schemeClr val="bg1"/>
              </a:solidFill>
              <a:latin typeface="Calibri"/>
              <a:ea typeface="Calibri"/>
              <a:cs typeface="Calibri"/>
            </a:endParaRPr>
          </a:p>
        </p:txBody>
      </p:sp>
      <p:sp>
        <p:nvSpPr>
          <p:cNvPr id="7" name="TextBox 6">
            <a:extLst>
              <a:ext uri="{FF2B5EF4-FFF2-40B4-BE49-F238E27FC236}">
                <a16:creationId xmlns:a16="http://schemas.microsoft.com/office/drawing/2014/main" id="{0BD7998E-A4CE-3BE3-C0E2-D596DDDBBDD7}"/>
              </a:ext>
            </a:extLst>
          </p:cNvPr>
          <p:cNvSpPr txBox="1"/>
          <p:nvPr/>
        </p:nvSpPr>
        <p:spPr>
          <a:xfrm>
            <a:off x="328559" y="48221"/>
            <a:ext cx="8229600" cy="230832"/>
          </a:xfrm>
          <a:prstGeom prst="rect">
            <a:avLst/>
          </a:prstGeom>
          <a:noFill/>
        </p:spPr>
        <p:txBody>
          <a:bodyPr wrap="square" lIns="91440" tIns="45720" rIns="91440" bIns="45720" anchor="t">
            <a:spAutoFit/>
          </a:bodyPr>
          <a:lstStyle/>
          <a:p>
            <a:pPr marL="0" marR="0" lvl="0" indent="0" algn="l" defTabSz="914400">
              <a:lnSpc>
                <a:spcPct val="100000"/>
              </a:lnSpc>
              <a:spcBef>
                <a:spcPts val="0"/>
              </a:spcBef>
              <a:spcAft>
                <a:spcPts val="0"/>
              </a:spcAft>
              <a:buNone/>
              <a:tabLst/>
              <a:defRPr/>
            </a:pPr>
            <a:r>
              <a:rPr lang="en-SG" sz="900" kern="1200">
                <a:solidFill>
                  <a:srgbClr val="8AAEC4"/>
                </a:solidFill>
                <a:latin typeface="Trebuchet MS"/>
                <a:ea typeface="+mn-ea"/>
                <a:cs typeface="+mn-cs"/>
              </a:rPr>
              <a:t>EDA</a:t>
            </a:r>
            <a:endParaRPr lang="en-US">
              <a:ea typeface="+mn-ea"/>
              <a:cs typeface="+mn-cs"/>
            </a:endParaRPr>
          </a:p>
        </p:txBody>
      </p:sp>
      <p:sp>
        <p:nvSpPr>
          <p:cNvPr id="10" name="TextBox 9">
            <a:extLst>
              <a:ext uri="{FF2B5EF4-FFF2-40B4-BE49-F238E27FC236}">
                <a16:creationId xmlns:a16="http://schemas.microsoft.com/office/drawing/2014/main" id="{A522F441-B7A9-F0FC-43F3-C21DBF5BCC31}"/>
              </a:ext>
            </a:extLst>
          </p:cNvPr>
          <p:cNvSpPr txBox="1"/>
          <p:nvPr/>
        </p:nvSpPr>
        <p:spPr>
          <a:xfrm>
            <a:off x="10363169" y="45720"/>
            <a:ext cx="1737360" cy="475488"/>
          </a:xfrm>
          <a:prstGeom prst="rect">
            <a:avLst/>
          </a:prstGeom>
          <a:noFill/>
        </p:spPr>
        <p:txBody>
          <a:bodyPr wrap="square" lIns="91440" tIns="45720" rIns="91440" bIns="4572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chemeClr val="bg1"/>
                </a:solidFill>
                <a:effectLst/>
                <a:uLnTx/>
                <a:uFillTx/>
                <a:latin typeface="Trebuchet MS"/>
                <a:ea typeface="+mn-ea"/>
                <a:cs typeface="+mn-cs"/>
              </a:rPr>
              <a:t>Expected Time Spent: </a:t>
            </a:r>
            <a:r>
              <a:rPr kumimoji="0" sz="900" b="0" i="0" u="none" strike="noStrike" kern="1200" cap="none" spc="0" normalizeH="0" baseline="0" noProof="0">
                <a:ln>
                  <a:noFill/>
                </a:ln>
                <a:solidFill>
                  <a:schemeClr val="bg1"/>
                </a:solidFill>
                <a:effectLst/>
                <a:uLnTx/>
                <a:uFillTx/>
                <a:latin typeface="Trebuchet MS"/>
                <a:ea typeface="+mn-ea"/>
                <a:cs typeface="+mn-cs"/>
              </a:rPr>
              <a:t>1 w</a:t>
            </a:r>
            <a:endParaRPr lang="en-US" sz="900" b="0" i="0" u="none" strike="noStrike" kern="1200" cap="none" spc="0" normalizeH="0" baseline="0" noProof="0">
              <a:ln>
                <a:noFill/>
              </a:ln>
              <a:solidFill>
                <a:schemeClr val="bg1"/>
              </a:solidFill>
              <a:effectLst/>
              <a:uLnTx/>
              <a:uFillTx/>
              <a:latin typeface="Trebuchet MS"/>
              <a:ea typeface="+mn-ea"/>
              <a:cs typeface="+mn-cs"/>
            </a:endParaRPr>
          </a:p>
          <a:p>
            <a:pPr algn="l" rtl="0">
              <a:defRPr/>
            </a:pPr>
            <a:r>
              <a:rPr kumimoji="0" sz="900" b="1" i="0" u="none" strike="noStrike" kern="1200" cap="none" spc="0" normalizeH="0" baseline="0" noProof="0">
                <a:ln>
                  <a:noFill/>
                </a:ln>
                <a:solidFill>
                  <a:schemeClr val="bg1"/>
                </a:solidFill>
                <a:effectLst/>
                <a:uLnTx/>
                <a:uFillTx/>
                <a:latin typeface="Trebuchet MS"/>
                <a:ea typeface="+mn-ea"/>
                <a:cs typeface="+mn-cs"/>
              </a:rPr>
              <a:t>Actual Time Spent: </a:t>
            </a:r>
            <a:r>
              <a:rPr lang="en-US" sz="900" b="1" kern="1200">
                <a:solidFill>
                  <a:schemeClr val="bg1"/>
                </a:solidFill>
                <a:latin typeface="Trebuchet MS"/>
                <a:ea typeface="+mn-ea"/>
                <a:cs typeface="+mn-cs"/>
              </a:rPr>
              <a:t>2</a:t>
            </a:r>
            <a:r>
              <a:rPr lang="en-US" sz="900" kern="1200">
                <a:solidFill>
                  <a:schemeClr val="bg1"/>
                </a:solidFill>
                <a:latin typeface="Trebuchet MS"/>
                <a:ea typeface="+mn-ea"/>
                <a:cs typeface="+mn-cs"/>
              </a:rPr>
              <a:t> </a:t>
            </a:r>
            <a:r>
              <a:rPr kumimoji="0" sz="900" b="0" i="0" u="none" strike="noStrike" kern="1200" cap="none" spc="0" normalizeH="0" baseline="0" noProof="0">
                <a:ln>
                  <a:noFill/>
                </a:ln>
                <a:solidFill>
                  <a:schemeClr val="bg1"/>
                </a:solidFill>
                <a:effectLst/>
                <a:uLnTx/>
                <a:uFillTx/>
                <a:latin typeface="Trebuchet MS"/>
                <a:ea typeface="+mn-ea"/>
                <a:cs typeface="+mn-cs"/>
              </a:rPr>
              <a:t>w</a:t>
            </a:r>
            <a:endParaRPr sz="900" b="0" i="0" u="none" strike="noStrike" kern="1200" cap="none" spc="0" normalizeH="0" baseline="0" noProof="0">
              <a:ln>
                <a:noFill/>
              </a:ln>
              <a:solidFill>
                <a:schemeClr val="bg1"/>
              </a:solidFill>
              <a:effectLst/>
              <a:uLnTx/>
              <a:uFillTx/>
              <a:latin typeface="Trebuchet MS"/>
              <a:ea typeface="+mn-ea"/>
              <a:cs typeface="+mn-cs"/>
            </a:endParaRPr>
          </a:p>
        </p:txBody>
      </p:sp>
      <p:pic>
        <p:nvPicPr>
          <p:cNvPr id="25" name="Picture 24">
            <a:extLst>
              <a:ext uri="{FF2B5EF4-FFF2-40B4-BE49-F238E27FC236}">
                <a16:creationId xmlns:a16="http://schemas.microsoft.com/office/drawing/2014/main" id="{7DEEBB0E-08C9-6833-30A7-C85FB11C1446}"/>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726196" y="932722"/>
            <a:ext cx="4993341" cy="1832187"/>
          </a:xfrm>
          <a:prstGeom prst="rect">
            <a:avLst/>
          </a:prstGeom>
          <a:noFill/>
          <a:ln>
            <a:noFill/>
          </a:ln>
        </p:spPr>
      </p:pic>
    </p:spTree>
    <p:extLst>
      <p:ext uri="{BB962C8B-B14F-4D97-AF65-F5344CB8AC3E}">
        <p14:creationId xmlns:p14="http://schemas.microsoft.com/office/powerpoint/2010/main" val="231641557"/>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6D556-5466-9A3C-237D-EAAB42A9C05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0179060-733F-C162-758E-E7AD5460B305}"/>
              </a:ext>
            </a:extLst>
          </p:cNvPr>
          <p:cNvSpPr/>
          <p:nvPr/>
        </p:nvSpPr>
        <p:spPr>
          <a:xfrm>
            <a:off x="0" y="0"/>
            <a:ext cx="12188952" cy="6858000"/>
          </a:xfrm>
          <a:prstGeom prst="rect">
            <a:avLst/>
          </a:prstGeom>
          <a:solidFill>
            <a:srgbClr val="071524"/>
          </a:solidFill>
          <a:ln w="12700">
            <a:solidFill>
              <a:srgbClr val="07152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a:extLst>
              <a:ext uri="{FF2B5EF4-FFF2-40B4-BE49-F238E27FC236}">
                <a16:creationId xmlns:a16="http://schemas.microsoft.com/office/drawing/2014/main" id="{505F9668-3174-724F-F4EC-8018858EC51E}"/>
              </a:ext>
            </a:extLst>
          </p:cNvPr>
          <p:cNvSpPr/>
          <p:nvPr/>
        </p:nvSpPr>
        <p:spPr>
          <a:xfrm>
            <a:off x="0" y="360947"/>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4D42D301-9C13-FDC1-9EDB-32DC92D3B90E}"/>
              </a:ext>
            </a:extLst>
          </p:cNvPr>
          <p:cNvSpPr/>
          <p:nvPr/>
        </p:nvSpPr>
        <p:spPr>
          <a:xfrm>
            <a:off x="0" y="721895"/>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3D75725D-E277-A471-A167-E01A3D5CFEC3}"/>
              </a:ext>
            </a:extLst>
          </p:cNvPr>
          <p:cNvSpPr/>
          <p:nvPr/>
        </p:nvSpPr>
        <p:spPr>
          <a:xfrm>
            <a:off x="0" y="1082842"/>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a:extLst>
              <a:ext uri="{FF2B5EF4-FFF2-40B4-BE49-F238E27FC236}">
                <a16:creationId xmlns:a16="http://schemas.microsoft.com/office/drawing/2014/main" id="{409CE4A1-DB69-5794-7FDD-63AC31D992C0}"/>
              </a:ext>
            </a:extLst>
          </p:cNvPr>
          <p:cNvSpPr/>
          <p:nvPr/>
        </p:nvSpPr>
        <p:spPr>
          <a:xfrm>
            <a:off x="0" y="1443789"/>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a:extLst>
              <a:ext uri="{FF2B5EF4-FFF2-40B4-BE49-F238E27FC236}">
                <a16:creationId xmlns:a16="http://schemas.microsoft.com/office/drawing/2014/main" id="{FBAD8D06-97DF-EFB1-FB5A-9B1C2CE35023}"/>
              </a:ext>
            </a:extLst>
          </p:cNvPr>
          <p:cNvSpPr/>
          <p:nvPr/>
        </p:nvSpPr>
        <p:spPr>
          <a:xfrm>
            <a:off x="0" y="1804737"/>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a:extLst>
              <a:ext uri="{FF2B5EF4-FFF2-40B4-BE49-F238E27FC236}">
                <a16:creationId xmlns:a16="http://schemas.microsoft.com/office/drawing/2014/main" id="{375995C1-24B2-DF9B-C131-269C71BF659A}"/>
              </a:ext>
            </a:extLst>
          </p:cNvPr>
          <p:cNvSpPr/>
          <p:nvPr/>
        </p:nvSpPr>
        <p:spPr>
          <a:xfrm>
            <a:off x="0" y="2808621"/>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a:extLst>
              <a:ext uri="{FF2B5EF4-FFF2-40B4-BE49-F238E27FC236}">
                <a16:creationId xmlns:a16="http://schemas.microsoft.com/office/drawing/2014/main" id="{6B3C9A24-7294-53CB-5936-EA5825E737E9}"/>
              </a:ext>
            </a:extLst>
          </p:cNvPr>
          <p:cNvSpPr/>
          <p:nvPr/>
        </p:nvSpPr>
        <p:spPr>
          <a:xfrm>
            <a:off x="0" y="2526632"/>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a:extLst>
              <a:ext uri="{FF2B5EF4-FFF2-40B4-BE49-F238E27FC236}">
                <a16:creationId xmlns:a16="http://schemas.microsoft.com/office/drawing/2014/main" id="{8CF57AE4-5000-1DC1-DBFD-91EFCC8637FE}"/>
              </a:ext>
            </a:extLst>
          </p:cNvPr>
          <p:cNvSpPr/>
          <p:nvPr/>
        </p:nvSpPr>
        <p:spPr>
          <a:xfrm>
            <a:off x="0" y="2887579"/>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a:extLst>
              <a:ext uri="{FF2B5EF4-FFF2-40B4-BE49-F238E27FC236}">
                <a16:creationId xmlns:a16="http://schemas.microsoft.com/office/drawing/2014/main" id="{D9A4F9BD-E45A-C873-8544-9974A9EF7F58}"/>
              </a:ext>
            </a:extLst>
          </p:cNvPr>
          <p:cNvSpPr/>
          <p:nvPr/>
        </p:nvSpPr>
        <p:spPr>
          <a:xfrm>
            <a:off x="0" y="3248526"/>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a:extLst>
              <a:ext uri="{FF2B5EF4-FFF2-40B4-BE49-F238E27FC236}">
                <a16:creationId xmlns:a16="http://schemas.microsoft.com/office/drawing/2014/main" id="{1EA8E670-3F3A-BD3E-A8BB-23ED2AB1B99E}"/>
              </a:ext>
            </a:extLst>
          </p:cNvPr>
          <p:cNvSpPr/>
          <p:nvPr/>
        </p:nvSpPr>
        <p:spPr>
          <a:xfrm>
            <a:off x="0" y="3609474"/>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a:extLst>
              <a:ext uri="{FF2B5EF4-FFF2-40B4-BE49-F238E27FC236}">
                <a16:creationId xmlns:a16="http://schemas.microsoft.com/office/drawing/2014/main" id="{6C248001-8AA6-A7BB-508D-574B63A920FA}"/>
              </a:ext>
            </a:extLst>
          </p:cNvPr>
          <p:cNvSpPr/>
          <p:nvPr/>
        </p:nvSpPr>
        <p:spPr>
          <a:xfrm>
            <a:off x="0" y="3970421"/>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a:extLst>
              <a:ext uri="{FF2B5EF4-FFF2-40B4-BE49-F238E27FC236}">
                <a16:creationId xmlns:a16="http://schemas.microsoft.com/office/drawing/2014/main" id="{EFAAAA90-F180-05AA-8AFA-9594AF48698A}"/>
              </a:ext>
            </a:extLst>
          </p:cNvPr>
          <p:cNvSpPr/>
          <p:nvPr/>
        </p:nvSpPr>
        <p:spPr>
          <a:xfrm>
            <a:off x="0" y="4331368"/>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a:extLst>
              <a:ext uri="{FF2B5EF4-FFF2-40B4-BE49-F238E27FC236}">
                <a16:creationId xmlns:a16="http://schemas.microsoft.com/office/drawing/2014/main" id="{22F195CB-8504-3C14-2388-A217AE9445A3}"/>
              </a:ext>
            </a:extLst>
          </p:cNvPr>
          <p:cNvSpPr/>
          <p:nvPr/>
        </p:nvSpPr>
        <p:spPr>
          <a:xfrm>
            <a:off x="0" y="4692316"/>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a:extLst>
              <a:ext uri="{FF2B5EF4-FFF2-40B4-BE49-F238E27FC236}">
                <a16:creationId xmlns:a16="http://schemas.microsoft.com/office/drawing/2014/main" id="{C27C0C00-F503-0ADC-84EA-4936575FA33F}"/>
              </a:ext>
            </a:extLst>
          </p:cNvPr>
          <p:cNvSpPr/>
          <p:nvPr/>
        </p:nvSpPr>
        <p:spPr>
          <a:xfrm>
            <a:off x="0" y="5053263"/>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a:extLst>
              <a:ext uri="{FF2B5EF4-FFF2-40B4-BE49-F238E27FC236}">
                <a16:creationId xmlns:a16="http://schemas.microsoft.com/office/drawing/2014/main" id="{DB8EBB00-BD5D-3640-32CF-135C15681728}"/>
              </a:ext>
            </a:extLst>
          </p:cNvPr>
          <p:cNvSpPr/>
          <p:nvPr/>
        </p:nvSpPr>
        <p:spPr>
          <a:xfrm>
            <a:off x="0" y="5414211"/>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a:extLst>
              <a:ext uri="{FF2B5EF4-FFF2-40B4-BE49-F238E27FC236}">
                <a16:creationId xmlns:a16="http://schemas.microsoft.com/office/drawing/2014/main" id="{22AE5B02-41F4-DB2C-B322-BDC1443FA1F1}"/>
              </a:ext>
            </a:extLst>
          </p:cNvPr>
          <p:cNvSpPr/>
          <p:nvPr/>
        </p:nvSpPr>
        <p:spPr>
          <a:xfrm>
            <a:off x="0" y="5775158"/>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a:extLst>
              <a:ext uri="{FF2B5EF4-FFF2-40B4-BE49-F238E27FC236}">
                <a16:creationId xmlns:a16="http://schemas.microsoft.com/office/drawing/2014/main" id="{FE231E29-7470-F55F-21E0-B91D5903DC93}"/>
              </a:ext>
            </a:extLst>
          </p:cNvPr>
          <p:cNvSpPr/>
          <p:nvPr/>
        </p:nvSpPr>
        <p:spPr>
          <a:xfrm>
            <a:off x="0" y="6136105"/>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a:extLst>
              <a:ext uri="{FF2B5EF4-FFF2-40B4-BE49-F238E27FC236}">
                <a16:creationId xmlns:a16="http://schemas.microsoft.com/office/drawing/2014/main" id="{187B5FE4-1B76-C9A9-4E99-D14A06B52905}"/>
              </a:ext>
            </a:extLst>
          </p:cNvPr>
          <p:cNvSpPr/>
          <p:nvPr/>
        </p:nvSpPr>
        <p:spPr>
          <a:xfrm>
            <a:off x="0" y="6497053"/>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a:extLst>
              <a:ext uri="{FF2B5EF4-FFF2-40B4-BE49-F238E27FC236}">
                <a16:creationId xmlns:a16="http://schemas.microsoft.com/office/drawing/2014/main" id="{58F26FC5-7124-4B1E-0BA7-5352F4CACE93}"/>
              </a:ext>
            </a:extLst>
          </p:cNvPr>
          <p:cNvSpPr/>
          <p:nvPr/>
        </p:nvSpPr>
        <p:spPr>
          <a:xfrm>
            <a:off x="487558"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a:extLst>
              <a:ext uri="{FF2B5EF4-FFF2-40B4-BE49-F238E27FC236}">
                <a16:creationId xmlns:a16="http://schemas.microsoft.com/office/drawing/2014/main" id="{F2F9DDA2-D79F-A849-3323-704DCA2012D7}"/>
              </a:ext>
            </a:extLst>
          </p:cNvPr>
          <p:cNvSpPr/>
          <p:nvPr/>
        </p:nvSpPr>
        <p:spPr>
          <a:xfrm>
            <a:off x="975116"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a:extLst>
              <a:ext uri="{FF2B5EF4-FFF2-40B4-BE49-F238E27FC236}">
                <a16:creationId xmlns:a16="http://schemas.microsoft.com/office/drawing/2014/main" id="{A75421C0-059A-7A21-D669-342BC67FA626}"/>
              </a:ext>
            </a:extLst>
          </p:cNvPr>
          <p:cNvSpPr/>
          <p:nvPr/>
        </p:nvSpPr>
        <p:spPr>
          <a:xfrm>
            <a:off x="1462674"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a:extLst>
              <a:ext uri="{FF2B5EF4-FFF2-40B4-BE49-F238E27FC236}">
                <a16:creationId xmlns:a16="http://schemas.microsoft.com/office/drawing/2014/main" id="{7A7D7B54-99A2-36BF-F197-DCEA61887B81}"/>
              </a:ext>
            </a:extLst>
          </p:cNvPr>
          <p:cNvSpPr/>
          <p:nvPr/>
        </p:nvSpPr>
        <p:spPr>
          <a:xfrm>
            <a:off x="1950232"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a:extLst>
              <a:ext uri="{FF2B5EF4-FFF2-40B4-BE49-F238E27FC236}">
                <a16:creationId xmlns:a16="http://schemas.microsoft.com/office/drawing/2014/main" id="{4B112B12-F573-C018-8329-5FC98B65F467}"/>
              </a:ext>
            </a:extLst>
          </p:cNvPr>
          <p:cNvSpPr/>
          <p:nvPr/>
        </p:nvSpPr>
        <p:spPr>
          <a:xfrm>
            <a:off x="2437790"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4">
            <a:extLst>
              <a:ext uri="{FF2B5EF4-FFF2-40B4-BE49-F238E27FC236}">
                <a16:creationId xmlns:a16="http://schemas.microsoft.com/office/drawing/2014/main" id="{C88FB3B4-44AC-32C2-2EF0-86872A4AA0BA}"/>
              </a:ext>
            </a:extLst>
          </p:cNvPr>
          <p:cNvSpPr/>
          <p:nvPr/>
        </p:nvSpPr>
        <p:spPr>
          <a:xfrm>
            <a:off x="2925348"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5">
            <a:extLst>
              <a:ext uri="{FF2B5EF4-FFF2-40B4-BE49-F238E27FC236}">
                <a16:creationId xmlns:a16="http://schemas.microsoft.com/office/drawing/2014/main" id="{F9B3EF24-8365-C367-3ED9-60459B9DF0A7}"/>
              </a:ext>
            </a:extLst>
          </p:cNvPr>
          <p:cNvSpPr/>
          <p:nvPr/>
        </p:nvSpPr>
        <p:spPr>
          <a:xfrm>
            <a:off x="3412907"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6">
            <a:extLst>
              <a:ext uri="{FF2B5EF4-FFF2-40B4-BE49-F238E27FC236}">
                <a16:creationId xmlns:a16="http://schemas.microsoft.com/office/drawing/2014/main" id="{319027D5-0095-71D4-25A6-8CE0ADCB88F7}"/>
              </a:ext>
            </a:extLst>
          </p:cNvPr>
          <p:cNvSpPr/>
          <p:nvPr/>
        </p:nvSpPr>
        <p:spPr>
          <a:xfrm>
            <a:off x="3900465"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7">
            <a:extLst>
              <a:ext uri="{FF2B5EF4-FFF2-40B4-BE49-F238E27FC236}">
                <a16:creationId xmlns:a16="http://schemas.microsoft.com/office/drawing/2014/main" id="{28586539-0D7A-B8E4-07C5-CD4004AE822F}"/>
              </a:ext>
            </a:extLst>
          </p:cNvPr>
          <p:cNvSpPr/>
          <p:nvPr/>
        </p:nvSpPr>
        <p:spPr>
          <a:xfrm>
            <a:off x="4388023"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a:extLst>
              <a:ext uri="{FF2B5EF4-FFF2-40B4-BE49-F238E27FC236}">
                <a16:creationId xmlns:a16="http://schemas.microsoft.com/office/drawing/2014/main" id="{110D2AF9-4196-52FA-8AA1-CAB802348871}"/>
              </a:ext>
            </a:extLst>
          </p:cNvPr>
          <p:cNvSpPr/>
          <p:nvPr/>
        </p:nvSpPr>
        <p:spPr>
          <a:xfrm>
            <a:off x="4875581"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9">
            <a:extLst>
              <a:ext uri="{FF2B5EF4-FFF2-40B4-BE49-F238E27FC236}">
                <a16:creationId xmlns:a16="http://schemas.microsoft.com/office/drawing/2014/main" id="{E08D5CC3-F7C1-8953-13D6-323CAEEECB2C}"/>
              </a:ext>
            </a:extLst>
          </p:cNvPr>
          <p:cNvSpPr/>
          <p:nvPr/>
        </p:nvSpPr>
        <p:spPr>
          <a:xfrm>
            <a:off x="5363139"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30">
            <a:extLst>
              <a:ext uri="{FF2B5EF4-FFF2-40B4-BE49-F238E27FC236}">
                <a16:creationId xmlns:a16="http://schemas.microsoft.com/office/drawing/2014/main" id="{4429B0B7-6CB8-5605-DBCF-25CA10FBF12E}"/>
              </a:ext>
            </a:extLst>
          </p:cNvPr>
          <p:cNvSpPr/>
          <p:nvPr/>
        </p:nvSpPr>
        <p:spPr>
          <a:xfrm>
            <a:off x="5850697"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31">
            <a:extLst>
              <a:ext uri="{FF2B5EF4-FFF2-40B4-BE49-F238E27FC236}">
                <a16:creationId xmlns:a16="http://schemas.microsoft.com/office/drawing/2014/main" id="{2E67DF37-D65F-D236-4226-372B7C0C63C8}"/>
              </a:ext>
            </a:extLst>
          </p:cNvPr>
          <p:cNvSpPr/>
          <p:nvPr/>
        </p:nvSpPr>
        <p:spPr>
          <a:xfrm>
            <a:off x="6338255"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Shape 32">
            <a:extLst>
              <a:ext uri="{FF2B5EF4-FFF2-40B4-BE49-F238E27FC236}">
                <a16:creationId xmlns:a16="http://schemas.microsoft.com/office/drawing/2014/main" id="{8DE3BBAD-9D04-E4C2-5692-2D19E79CD5C5}"/>
              </a:ext>
            </a:extLst>
          </p:cNvPr>
          <p:cNvSpPr/>
          <p:nvPr/>
        </p:nvSpPr>
        <p:spPr>
          <a:xfrm>
            <a:off x="6825813"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Shape 33">
            <a:extLst>
              <a:ext uri="{FF2B5EF4-FFF2-40B4-BE49-F238E27FC236}">
                <a16:creationId xmlns:a16="http://schemas.microsoft.com/office/drawing/2014/main" id="{6E066AD9-EBF5-05D8-73B2-B83FD27AB9F8}"/>
              </a:ext>
            </a:extLst>
          </p:cNvPr>
          <p:cNvSpPr/>
          <p:nvPr/>
        </p:nvSpPr>
        <p:spPr>
          <a:xfrm>
            <a:off x="7313371"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34">
            <a:extLst>
              <a:ext uri="{FF2B5EF4-FFF2-40B4-BE49-F238E27FC236}">
                <a16:creationId xmlns:a16="http://schemas.microsoft.com/office/drawing/2014/main" id="{A06CDE56-574C-0A9A-D5F0-85C45A92DEC9}"/>
              </a:ext>
            </a:extLst>
          </p:cNvPr>
          <p:cNvSpPr/>
          <p:nvPr/>
        </p:nvSpPr>
        <p:spPr>
          <a:xfrm>
            <a:off x="7800929"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5">
            <a:extLst>
              <a:ext uri="{FF2B5EF4-FFF2-40B4-BE49-F238E27FC236}">
                <a16:creationId xmlns:a16="http://schemas.microsoft.com/office/drawing/2014/main" id="{CE33510F-9D30-8A7B-81F5-3A3C015D088C}"/>
              </a:ext>
            </a:extLst>
          </p:cNvPr>
          <p:cNvSpPr/>
          <p:nvPr/>
        </p:nvSpPr>
        <p:spPr>
          <a:xfrm>
            <a:off x="8288487"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6">
            <a:extLst>
              <a:ext uri="{FF2B5EF4-FFF2-40B4-BE49-F238E27FC236}">
                <a16:creationId xmlns:a16="http://schemas.microsoft.com/office/drawing/2014/main" id="{4DA4AEB1-5D0F-51AA-C7C9-6F5464DD136F}"/>
              </a:ext>
            </a:extLst>
          </p:cNvPr>
          <p:cNvSpPr/>
          <p:nvPr/>
        </p:nvSpPr>
        <p:spPr>
          <a:xfrm>
            <a:off x="8776045"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Shape 37">
            <a:extLst>
              <a:ext uri="{FF2B5EF4-FFF2-40B4-BE49-F238E27FC236}">
                <a16:creationId xmlns:a16="http://schemas.microsoft.com/office/drawing/2014/main" id="{E26BD3C0-2D2E-925C-3509-2411849EBC6C}"/>
              </a:ext>
            </a:extLst>
          </p:cNvPr>
          <p:cNvSpPr/>
          <p:nvPr/>
        </p:nvSpPr>
        <p:spPr>
          <a:xfrm>
            <a:off x="9263604"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Shape 38">
            <a:extLst>
              <a:ext uri="{FF2B5EF4-FFF2-40B4-BE49-F238E27FC236}">
                <a16:creationId xmlns:a16="http://schemas.microsoft.com/office/drawing/2014/main" id="{B38EBF73-1A1D-987E-B755-C0721FECCD96}"/>
              </a:ext>
            </a:extLst>
          </p:cNvPr>
          <p:cNvSpPr/>
          <p:nvPr/>
        </p:nvSpPr>
        <p:spPr>
          <a:xfrm>
            <a:off x="9751162"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Shape 39">
            <a:extLst>
              <a:ext uri="{FF2B5EF4-FFF2-40B4-BE49-F238E27FC236}">
                <a16:creationId xmlns:a16="http://schemas.microsoft.com/office/drawing/2014/main" id="{D4F5FC34-97A7-E135-6409-A601F0487109}"/>
              </a:ext>
            </a:extLst>
          </p:cNvPr>
          <p:cNvSpPr/>
          <p:nvPr/>
        </p:nvSpPr>
        <p:spPr>
          <a:xfrm>
            <a:off x="10238720"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Shape 40">
            <a:extLst>
              <a:ext uri="{FF2B5EF4-FFF2-40B4-BE49-F238E27FC236}">
                <a16:creationId xmlns:a16="http://schemas.microsoft.com/office/drawing/2014/main" id="{66EBEBA4-3CF4-9CC7-2F45-9E750B51251C}"/>
              </a:ext>
            </a:extLst>
          </p:cNvPr>
          <p:cNvSpPr/>
          <p:nvPr/>
        </p:nvSpPr>
        <p:spPr>
          <a:xfrm>
            <a:off x="10726278"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Shape 41">
            <a:extLst>
              <a:ext uri="{FF2B5EF4-FFF2-40B4-BE49-F238E27FC236}">
                <a16:creationId xmlns:a16="http://schemas.microsoft.com/office/drawing/2014/main" id="{FDA2EA77-999A-304B-7CD4-1266CB2A4785}"/>
              </a:ext>
            </a:extLst>
          </p:cNvPr>
          <p:cNvSpPr/>
          <p:nvPr/>
        </p:nvSpPr>
        <p:spPr>
          <a:xfrm>
            <a:off x="11213836"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Shape 42">
            <a:extLst>
              <a:ext uri="{FF2B5EF4-FFF2-40B4-BE49-F238E27FC236}">
                <a16:creationId xmlns:a16="http://schemas.microsoft.com/office/drawing/2014/main" id="{36A52169-8A0D-0D94-C5A2-C04AB8D3FA8A}"/>
              </a:ext>
            </a:extLst>
          </p:cNvPr>
          <p:cNvSpPr/>
          <p:nvPr/>
        </p:nvSpPr>
        <p:spPr>
          <a:xfrm>
            <a:off x="11701394"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43">
            <a:extLst>
              <a:ext uri="{FF2B5EF4-FFF2-40B4-BE49-F238E27FC236}">
                <a16:creationId xmlns:a16="http://schemas.microsoft.com/office/drawing/2014/main" id="{1498B390-9556-F14A-EF35-01E67491A134}"/>
              </a:ext>
            </a:extLst>
          </p:cNvPr>
          <p:cNvSpPr/>
          <p:nvPr/>
        </p:nvSpPr>
        <p:spPr>
          <a:xfrm>
            <a:off x="0" y="0"/>
            <a:ext cx="475488" cy="6858000"/>
          </a:xfrm>
          <a:prstGeom prst="rect">
            <a:avLst/>
          </a:prstGeom>
          <a:solidFill>
            <a:srgbClr val="156082"/>
          </a:solidFill>
          <a:ln w="12700">
            <a:solidFill>
              <a:srgbClr val="15608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Shape 44">
            <a:extLst>
              <a:ext uri="{FF2B5EF4-FFF2-40B4-BE49-F238E27FC236}">
                <a16:creationId xmlns:a16="http://schemas.microsoft.com/office/drawing/2014/main" id="{6F81EABC-BF0F-DA7F-009E-EF7A8CC5B3FD}"/>
              </a:ext>
            </a:extLst>
          </p:cNvPr>
          <p:cNvSpPr/>
          <p:nvPr/>
        </p:nvSpPr>
        <p:spPr>
          <a:xfrm>
            <a:off x="475488" y="0"/>
            <a:ext cx="0" cy="6858000"/>
          </a:xfrm>
          <a:prstGeom prst="line">
            <a:avLst/>
          </a:prstGeom>
          <a:noFill/>
          <a:ln w="1905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Shape 45">
            <a:extLst>
              <a:ext uri="{FF2B5EF4-FFF2-40B4-BE49-F238E27FC236}">
                <a16:creationId xmlns:a16="http://schemas.microsoft.com/office/drawing/2014/main" id="{A98D8E76-A89D-AE98-8A36-CEA2DA974791}"/>
              </a:ext>
            </a:extLst>
          </p:cNvPr>
          <p:cNvSpPr/>
          <p:nvPr/>
        </p:nvSpPr>
        <p:spPr>
          <a:xfrm>
            <a:off x="8412480" y="-1371600"/>
            <a:ext cx="6035040" cy="6035040"/>
          </a:xfrm>
          <a:prstGeom prst="ellipse">
            <a:avLst/>
          </a:prstGeom>
          <a:solidFill>
            <a:srgbClr val="071524">
              <a:alpha val="0"/>
            </a:srgbClr>
          </a:solidFill>
          <a:ln w="12700">
            <a:solidFill>
              <a:srgbClr val="0F9ED5">
                <a:alpha val="12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Shape 46">
            <a:extLst>
              <a:ext uri="{FF2B5EF4-FFF2-40B4-BE49-F238E27FC236}">
                <a16:creationId xmlns:a16="http://schemas.microsoft.com/office/drawing/2014/main" id="{44D2918D-EE5D-7D0C-95C3-3F4A3F672976}"/>
              </a:ext>
            </a:extLst>
          </p:cNvPr>
          <p:cNvSpPr/>
          <p:nvPr/>
        </p:nvSpPr>
        <p:spPr>
          <a:xfrm>
            <a:off x="9235440" y="-548640"/>
            <a:ext cx="4389120" cy="4389120"/>
          </a:xfrm>
          <a:prstGeom prst="ellipse">
            <a:avLst/>
          </a:prstGeom>
          <a:solidFill>
            <a:srgbClr val="071524">
              <a:alpha val="0"/>
            </a:srgbClr>
          </a:solidFill>
          <a:ln w="12700">
            <a:solidFill>
              <a:srgbClr val="0F9ED5">
                <a:alpha val="22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Shape 47">
            <a:extLst>
              <a:ext uri="{FF2B5EF4-FFF2-40B4-BE49-F238E27FC236}">
                <a16:creationId xmlns:a16="http://schemas.microsoft.com/office/drawing/2014/main" id="{E95425BB-FAE0-6CE0-D0B0-76531CC44C33}"/>
              </a:ext>
            </a:extLst>
          </p:cNvPr>
          <p:cNvSpPr/>
          <p:nvPr/>
        </p:nvSpPr>
        <p:spPr>
          <a:xfrm>
            <a:off x="10058400" y="274320"/>
            <a:ext cx="2743200" cy="2743200"/>
          </a:xfrm>
          <a:prstGeom prst="ellipse">
            <a:avLst/>
          </a:prstGeom>
          <a:solidFill>
            <a:srgbClr val="071524">
              <a:alpha val="0"/>
            </a:srgbClr>
          </a:solidFill>
          <a:ln w="12700">
            <a:solidFill>
              <a:srgbClr val="0F9ED5">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48">
            <a:extLst>
              <a:ext uri="{FF2B5EF4-FFF2-40B4-BE49-F238E27FC236}">
                <a16:creationId xmlns:a16="http://schemas.microsoft.com/office/drawing/2014/main" id="{7D119D41-DD22-9A3E-AF90-8F42E22E2A3A}"/>
              </a:ext>
            </a:extLst>
          </p:cNvPr>
          <p:cNvSpPr/>
          <p:nvPr/>
        </p:nvSpPr>
        <p:spPr>
          <a:xfrm>
            <a:off x="10881360" y="1097280"/>
            <a:ext cx="1097280" cy="1097280"/>
          </a:xfrm>
          <a:prstGeom prst="ellipse">
            <a:avLst/>
          </a:prstGeom>
          <a:solidFill>
            <a:srgbClr val="071524">
              <a:alpha val="0"/>
            </a:srgbClr>
          </a:solidFill>
          <a:ln w="12700">
            <a:solidFill>
              <a:srgbClr val="0F9ED5">
                <a:alpha val="5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9">
            <a:extLst>
              <a:ext uri="{FF2B5EF4-FFF2-40B4-BE49-F238E27FC236}">
                <a16:creationId xmlns:a16="http://schemas.microsoft.com/office/drawing/2014/main" id="{B1D764EF-9A49-1955-1472-12959557DD22}"/>
              </a:ext>
            </a:extLst>
          </p:cNvPr>
          <p:cNvSpPr/>
          <p:nvPr/>
        </p:nvSpPr>
        <p:spPr>
          <a:xfrm>
            <a:off x="11292840" y="1508760"/>
            <a:ext cx="274320" cy="274320"/>
          </a:xfrm>
          <a:prstGeom prst="ellipse">
            <a:avLst/>
          </a:prstGeom>
          <a:solidFill>
            <a:srgbClr val="0F9ED5">
              <a:alpha val="60000"/>
            </a:srgbClr>
          </a:solidFill>
          <a:ln w="1270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Shape 50">
            <a:extLst>
              <a:ext uri="{FF2B5EF4-FFF2-40B4-BE49-F238E27FC236}">
                <a16:creationId xmlns:a16="http://schemas.microsoft.com/office/drawing/2014/main" id="{5A4DC7DA-60EC-A01F-63D1-37C91264FB68}"/>
              </a:ext>
            </a:extLst>
          </p:cNvPr>
          <p:cNvSpPr/>
          <p:nvPr/>
        </p:nvSpPr>
        <p:spPr>
          <a:xfrm>
            <a:off x="155448" y="1179576"/>
            <a:ext cx="201168" cy="201168"/>
          </a:xfrm>
          <a:prstGeom prst="ellipse">
            <a:avLst/>
          </a:prstGeom>
          <a:solidFill>
            <a:srgbClr val="E97132"/>
          </a:solidFill>
          <a:ln w="1270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Shape 51">
            <a:extLst>
              <a:ext uri="{FF2B5EF4-FFF2-40B4-BE49-F238E27FC236}">
                <a16:creationId xmlns:a16="http://schemas.microsoft.com/office/drawing/2014/main" id="{4A7C0749-70DC-8860-12D9-9ED47A1FCDAF}"/>
              </a:ext>
            </a:extLst>
          </p:cNvPr>
          <p:cNvSpPr/>
          <p:nvPr/>
        </p:nvSpPr>
        <p:spPr>
          <a:xfrm>
            <a:off x="155448" y="2002536"/>
            <a:ext cx="201168" cy="201168"/>
          </a:xfrm>
          <a:prstGeom prst="ellipse">
            <a:avLst/>
          </a:prstGeom>
          <a:solidFill>
            <a:srgbClr val="0F9ED5"/>
          </a:solidFill>
          <a:ln w="1270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Shape 52">
            <a:extLst>
              <a:ext uri="{FF2B5EF4-FFF2-40B4-BE49-F238E27FC236}">
                <a16:creationId xmlns:a16="http://schemas.microsoft.com/office/drawing/2014/main" id="{4BE856AA-E411-DF54-C55E-8C87AF1DCB31}"/>
              </a:ext>
            </a:extLst>
          </p:cNvPr>
          <p:cNvSpPr/>
          <p:nvPr/>
        </p:nvSpPr>
        <p:spPr>
          <a:xfrm>
            <a:off x="155448" y="2825496"/>
            <a:ext cx="201168" cy="201168"/>
          </a:xfrm>
          <a:prstGeom prst="ellipse">
            <a:avLst/>
          </a:prstGeom>
          <a:solidFill>
            <a:srgbClr val="196B24"/>
          </a:solidFill>
          <a:ln w="12700">
            <a:solidFill>
              <a:srgbClr val="196B2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Shape 53">
            <a:extLst>
              <a:ext uri="{FF2B5EF4-FFF2-40B4-BE49-F238E27FC236}">
                <a16:creationId xmlns:a16="http://schemas.microsoft.com/office/drawing/2014/main" id="{FF6E099A-01F0-CD24-36FE-AAD5D1ABD835}"/>
              </a:ext>
            </a:extLst>
          </p:cNvPr>
          <p:cNvSpPr/>
          <p:nvPr/>
        </p:nvSpPr>
        <p:spPr>
          <a:xfrm>
            <a:off x="155448" y="3648456"/>
            <a:ext cx="201168" cy="201168"/>
          </a:xfrm>
          <a:prstGeom prst="ellipse">
            <a:avLst/>
          </a:prstGeom>
          <a:solidFill>
            <a:srgbClr val="0F9ED5"/>
          </a:solidFill>
          <a:ln w="1270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Shape 54">
            <a:extLst>
              <a:ext uri="{FF2B5EF4-FFF2-40B4-BE49-F238E27FC236}">
                <a16:creationId xmlns:a16="http://schemas.microsoft.com/office/drawing/2014/main" id="{C8109ADD-E07F-0F63-2F08-3B75F80AA1C2}"/>
              </a:ext>
            </a:extLst>
          </p:cNvPr>
          <p:cNvSpPr/>
          <p:nvPr/>
        </p:nvSpPr>
        <p:spPr>
          <a:xfrm>
            <a:off x="155448" y="4471416"/>
            <a:ext cx="201168" cy="201168"/>
          </a:xfrm>
          <a:prstGeom prst="ellipse">
            <a:avLst/>
          </a:prstGeom>
          <a:solidFill>
            <a:srgbClr val="E97132"/>
          </a:solidFill>
          <a:ln w="1270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Text 56">
            <a:extLst>
              <a:ext uri="{FF2B5EF4-FFF2-40B4-BE49-F238E27FC236}">
                <a16:creationId xmlns:a16="http://schemas.microsoft.com/office/drawing/2014/main" id="{CED67EC0-AE06-CE2C-8838-9A8118C51742}"/>
              </a:ext>
            </a:extLst>
          </p:cNvPr>
          <p:cNvSpPr/>
          <p:nvPr/>
        </p:nvSpPr>
        <p:spPr>
          <a:xfrm>
            <a:off x="658368" y="2038635"/>
            <a:ext cx="8778240" cy="731520"/>
          </a:xfrm>
          <a:prstGeom prst="rect">
            <a:avLst/>
          </a:prstGeom>
          <a:noFill/>
          <a:ln/>
        </p:spPr>
        <p:txBody>
          <a:bodyPr wrap="square"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600" b="1" i="0" u="none" strike="noStrike" kern="0" cap="none" spc="-50" normalizeH="0" baseline="0" noProof="0">
                <a:ln>
                  <a:noFill/>
                </a:ln>
                <a:solidFill>
                  <a:srgbClr val="FFFFFF"/>
                </a:solidFill>
                <a:effectLst/>
                <a:uLnTx/>
                <a:uFillTx/>
                <a:latin typeface="Aptos Display"/>
                <a:ea typeface="+mn-ea"/>
                <a:cs typeface="+mn-cs"/>
              </a:rPr>
              <a:t>Ticket Intelligence Engine</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Text 57">
            <a:extLst>
              <a:ext uri="{FF2B5EF4-FFF2-40B4-BE49-F238E27FC236}">
                <a16:creationId xmlns:a16="http://schemas.microsoft.com/office/drawing/2014/main" id="{8FB6B903-70C4-163A-FE67-86B9125072F0}"/>
              </a:ext>
            </a:extLst>
          </p:cNvPr>
          <p:cNvSpPr/>
          <p:nvPr/>
        </p:nvSpPr>
        <p:spPr>
          <a:xfrm>
            <a:off x="658368" y="2051113"/>
            <a:ext cx="8961120" cy="512064"/>
          </a:xfrm>
          <a:prstGeom prst="rect">
            <a:avLst/>
          </a:prstGeom>
          <a:noFill/>
          <a:ln/>
        </p:spPr>
        <p:txBody>
          <a:bodyPr wrap="square"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srgbClr val="0F9ED5"/>
              </a:solidFill>
              <a:effectLst/>
              <a:uLnTx/>
              <a:uFillTx/>
              <a:latin typeface="Calibri" panose="020F0502020204030204"/>
              <a:ea typeface="Calibri"/>
              <a:cs typeface="Calibri"/>
            </a:endParaRPr>
          </a:p>
        </p:txBody>
      </p:sp>
      <p:sp>
        <p:nvSpPr>
          <p:cNvPr id="60" name="Shape 58">
            <a:extLst>
              <a:ext uri="{FF2B5EF4-FFF2-40B4-BE49-F238E27FC236}">
                <a16:creationId xmlns:a16="http://schemas.microsoft.com/office/drawing/2014/main" id="{22ECBDF6-DC9B-BC5F-BB52-3E4A58C16D27}"/>
              </a:ext>
            </a:extLst>
          </p:cNvPr>
          <p:cNvSpPr/>
          <p:nvPr/>
        </p:nvSpPr>
        <p:spPr>
          <a:xfrm>
            <a:off x="658368" y="2768155"/>
            <a:ext cx="8229600" cy="0"/>
          </a:xfrm>
          <a:prstGeom prst="line">
            <a:avLst/>
          </a:prstGeom>
          <a:noFill/>
          <a:ln w="3175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62">
            <a:extLst>
              <a:ext uri="{FF2B5EF4-FFF2-40B4-BE49-F238E27FC236}">
                <a16:creationId xmlns:a16="http://schemas.microsoft.com/office/drawing/2014/main" id="{5DF85E53-DE75-4848-8E44-03D8804184DA}"/>
              </a:ext>
            </a:extLst>
          </p:cNvPr>
          <p:cNvSpPr/>
          <p:nvPr/>
        </p:nvSpPr>
        <p:spPr>
          <a:xfrm>
            <a:off x="658368" y="2724912"/>
            <a:ext cx="10515600" cy="0"/>
          </a:xfrm>
          <a:prstGeom prst="line">
            <a:avLst/>
          </a:prstGeom>
          <a:noFill/>
          <a:ln w="1016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Shape 66">
            <a:extLst>
              <a:ext uri="{FF2B5EF4-FFF2-40B4-BE49-F238E27FC236}">
                <a16:creationId xmlns:a16="http://schemas.microsoft.com/office/drawing/2014/main" id="{247A243A-B6A3-7C88-9847-C90A819A0351}"/>
              </a:ext>
            </a:extLst>
          </p:cNvPr>
          <p:cNvSpPr/>
          <p:nvPr/>
        </p:nvSpPr>
        <p:spPr>
          <a:xfrm>
            <a:off x="658368" y="3383280"/>
            <a:ext cx="10515600" cy="0"/>
          </a:xfrm>
          <a:prstGeom prst="line">
            <a:avLst/>
          </a:prstGeom>
          <a:noFill/>
          <a:ln w="1016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Shape 70">
            <a:extLst>
              <a:ext uri="{FF2B5EF4-FFF2-40B4-BE49-F238E27FC236}">
                <a16:creationId xmlns:a16="http://schemas.microsoft.com/office/drawing/2014/main" id="{78A6593D-718D-A4BB-9CF2-40F5EB96C178}"/>
              </a:ext>
            </a:extLst>
          </p:cNvPr>
          <p:cNvSpPr/>
          <p:nvPr/>
        </p:nvSpPr>
        <p:spPr>
          <a:xfrm>
            <a:off x="658368" y="4041648"/>
            <a:ext cx="10515600" cy="0"/>
          </a:xfrm>
          <a:prstGeom prst="line">
            <a:avLst/>
          </a:prstGeom>
          <a:noFill/>
          <a:ln w="1016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Shape 74">
            <a:extLst>
              <a:ext uri="{FF2B5EF4-FFF2-40B4-BE49-F238E27FC236}">
                <a16:creationId xmlns:a16="http://schemas.microsoft.com/office/drawing/2014/main" id="{590671C6-AD2E-A474-2DD5-2230EB9C0D13}"/>
              </a:ext>
            </a:extLst>
          </p:cNvPr>
          <p:cNvSpPr/>
          <p:nvPr/>
        </p:nvSpPr>
        <p:spPr>
          <a:xfrm>
            <a:off x="475488" y="4956048"/>
            <a:ext cx="11713464" cy="0"/>
          </a:xfrm>
          <a:prstGeom prst="line">
            <a:avLst/>
          </a:prstGeom>
          <a:noFill/>
          <a:ln w="2540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Shape 75">
            <a:extLst>
              <a:ext uri="{FF2B5EF4-FFF2-40B4-BE49-F238E27FC236}">
                <a16:creationId xmlns:a16="http://schemas.microsoft.com/office/drawing/2014/main" id="{5A7A55FB-DF45-89DD-D230-33E688C7750E}"/>
              </a:ext>
            </a:extLst>
          </p:cNvPr>
          <p:cNvSpPr/>
          <p:nvPr/>
        </p:nvSpPr>
        <p:spPr>
          <a:xfrm>
            <a:off x="475488" y="4956048"/>
            <a:ext cx="2928366" cy="1773936"/>
          </a:xfrm>
          <a:prstGeom prst="rect">
            <a:avLst/>
          </a:prstGeom>
          <a:solidFill>
            <a:srgbClr val="0E2841"/>
          </a:solidFill>
          <a:ln w="12700">
            <a:solidFill>
              <a:srgbClr val="0E28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Shape 76">
            <a:extLst>
              <a:ext uri="{FF2B5EF4-FFF2-40B4-BE49-F238E27FC236}">
                <a16:creationId xmlns:a16="http://schemas.microsoft.com/office/drawing/2014/main" id="{1C3CD88A-E035-B250-6749-2E5825984CE5}"/>
              </a:ext>
            </a:extLst>
          </p:cNvPr>
          <p:cNvSpPr/>
          <p:nvPr/>
        </p:nvSpPr>
        <p:spPr>
          <a:xfrm>
            <a:off x="475488" y="4956048"/>
            <a:ext cx="2928366" cy="50292"/>
          </a:xfrm>
          <a:prstGeom prst="rect">
            <a:avLst/>
          </a:prstGeom>
          <a:solidFill>
            <a:srgbClr val="E97132"/>
          </a:solidFill>
          <a:ln w="1270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Shape 77">
            <a:extLst>
              <a:ext uri="{FF2B5EF4-FFF2-40B4-BE49-F238E27FC236}">
                <a16:creationId xmlns:a16="http://schemas.microsoft.com/office/drawing/2014/main" id="{3B878375-9FA9-A79B-5B2F-78341C021F10}"/>
              </a:ext>
            </a:extLst>
          </p:cNvPr>
          <p:cNvSpPr/>
          <p:nvPr/>
        </p:nvSpPr>
        <p:spPr>
          <a:xfrm>
            <a:off x="3403854" y="4956048"/>
            <a:ext cx="0" cy="1773936"/>
          </a:xfrm>
          <a:prstGeom prst="line">
            <a:avLst/>
          </a:prstGeom>
          <a:noFill/>
          <a:ln w="1270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Shape 81">
            <a:extLst>
              <a:ext uri="{FF2B5EF4-FFF2-40B4-BE49-F238E27FC236}">
                <a16:creationId xmlns:a16="http://schemas.microsoft.com/office/drawing/2014/main" id="{ABD5FF9E-E2E3-9845-966D-04C89EE790EF}"/>
              </a:ext>
            </a:extLst>
          </p:cNvPr>
          <p:cNvSpPr/>
          <p:nvPr/>
        </p:nvSpPr>
        <p:spPr>
          <a:xfrm>
            <a:off x="3403854" y="4956048"/>
            <a:ext cx="2928366" cy="1773936"/>
          </a:xfrm>
          <a:prstGeom prst="rect">
            <a:avLst/>
          </a:prstGeom>
          <a:solidFill>
            <a:srgbClr val="0E2841"/>
          </a:solidFill>
          <a:ln w="12700">
            <a:solidFill>
              <a:srgbClr val="0E28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Shape 82">
            <a:extLst>
              <a:ext uri="{FF2B5EF4-FFF2-40B4-BE49-F238E27FC236}">
                <a16:creationId xmlns:a16="http://schemas.microsoft.com/office/drawing/2014/main" id="{EFDFC229-7FEF-B7BA-237D-38B69B1A90A5}"/>
              </a:ext>
            </a:extLst>
          </p:cNvPr>
          <p:cNvSpPr/>
          <p:nvPr/>
        </p:nvSpPr>
        <p:spPr>
          <a:xfrm>
            <a:off x="3403854" y="4956048"/>
            <a:ext cx="2928366" cy="50292"/>
          </a:xfrm>
          <a:prstGeom prst="rect">
            <a:avLst/>
          </a:prstGeom>
          <a:solidFill>
            <a:srgbClr val="0F9ED5"/>
          </a:solidFill>
          <a:ln w="1270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Shape 83">
            <a:extLst>
              <a:ext uri="{FF2B5EF4-FFF2-40B4-BE49-F238E27FC236}">
                <a16:creationId xmlns:a16="http://schemas.microsoft.com/office/drawing/2014/main" id="{FDB56687-0144-512B-51AE-94FE545F4890}"/>
              </a:ext>
            </a:extLst>
          </p:cNvPr>
          <p:cNvSpPr/>
          <p:nvPr/>
        </p:nvSpPr>
        <p:spPr>
          <a:xfrm>
            <a:off x="6332220" y="4956048"/>
            <a:ext cx="0" cy="1773936"/>
          </a:xfrm>
          <a:prstGeom prst="line">
            <a:avLst/>
          </a:prstGeom>
          <a:noFill/>
          <a:ln w="1270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Shape 87">
            <a:extLst>
              <a:ext uri="{FF2B5EF4-FFF2-40B4-BE49-F238E27FC236}">
                <a16:creationId xmlns:a16="http://schemas.microsoft.com/office/drawing/2014/main" id="{FBAD2F5C-2AF7-9ADB-79A6-D88B7F5875F4}"/>
              </a:ext>
            </a:extLst>
          </p:cNvPr>
          <p:cNvSpPr/>
          <p:nvPr/>
        </p:nvSpPr>
        <p:spPr>
          <a:xfrm>
            <a:off x="6332220" y="4956048"/>
            <a:ext cx="2928366" cy="1773936"/>
          </a:xfrm>
          <a:prstGeom prst="rect">
            <a:avLst/>
          </a:prstGeom>
          <a:solidFill>
            <a:srgbClr val="0E2841"/>
          </a:solidFill>
          <a:ln w="12700">
            <a:solidFill>
              <a:srgbClr val="0E28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Shape 88">
            <a:extLst>
              <a:ext uri="{FF2B5EF4-FFF2-40B4-BE49-F238E27FC236}">
                <a16:creationId xmlns:a16="http://schemas.microsoft.com/office/drawing/2014/main" id="{C8C23C5E-440E-913C-C431-D88BBADA19AE}"/>
              </a:ext>
            </a:extLst>
          </p:cNvPr>
          <p:cNvSpPr/>
          <p:nvPr/>
        </p:nvSpPr>
        <p:spPr>
          <a:xfrm>
            <a:off x="6332220" y="4956048"/>
            <a:ext cx="2928366" cy="50292"/>
          </a:xfrm>
          <a:prstGeom prst="rect">
            <a:avLst/>
          </a:prstGeom>
          <a:solidFill>
            <a:srgbClr val="196B24"/>
          </a:solidFill>
          <a:ln w="12700">
            <a:solidFill>
              <a:srgbClr val="196B2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Shape 89">
            <a:extLst>
              <a:ext uri="{FF2B5EF4-FFF2-40B4-BE49-F238E27FC236}">
                <a16:creationId xmlns:a16="http://schemas.microsoft.com/office/drawing/2014/main" id="{0933A1FC-428E-44A8-4E19-7D23048DD3B9}"/>
              </a:ext>
            </a:extLst>
          </p:cNvPr>
          <p:cNvSpPr/>
          <p:nvPr/>
        </p:nvSpPr>
        <p:spPr>
          <a:xfrm>
            <a:off x="9260586" y="4956048"/>
            <a:ext cx="0" cy="1773936"/>
          </a:xfrm>
          <a:prstGeom prst="line">
            <a:avLst/>
          </a:prstGeom>
          <a:noFill/>
          <a:ln w="1270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Shape 93">
            <a:extLst>
              <a:ext uri="{FF2B5EF4-FFF2-40B4-BE49-F238E27FC236}">
                <a16:creationId xmlns:a16="http://schemas.microsoft.com/office/drawing/2014/main" id="{3EE5512F-4A80-AE89-91F5-9E89617884AD}"/>
              </a:ext>
            </a:extLst>
          </p:cNvPr>
          <p:cNvSpPr/>
          <p:nvPr/>
        </p:nvSpPr>
        <p:spPr>
          <a:xfrm>
            <a:off x="9260586" y="4956048"/>
            <a:ext cx="2928366" cy="1773936"/>
          </a:xfrm>
          <a:prstGeom prst="rect">
            <a:avLst/>
          </a:prstGeom>
          <a:solidFill>
            <a:srgbClr val="0E2841"/>
          </a:solidFill>
          <a:ln w="12700">
            <a:solidFill>
              <a:srgbClr val="0E28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Shape 94">
            <a:extLst>
              <a:ext uri="{FF2B5EF4-FFF2-40B4-BE49-F238E27FC236}">
                <a16:creationId xmlns:a16="http://schemas.microsoft.com/office/drawing/2014/main" id="{2008671A-E44A-0170-A7F7-8ECC6CF8FBC4}"/>
              </a:ext>
            </a:extLst>
          </p:cNvPr>
          <p:cNvSpPr/>
          <p:nvPr/>
        </p:nvSpPr>
        <p:spPr>
          <a:xfrm>
            <a:off x="9260586" y="4956048"/>
            <a:ext cx="2928366" cy="50292"/>
          </a:xfrm>
          <a:prstGeom prst="rect">
            <a:avLst/>
          </a:prstGeom>
          <a:solidFill>
            <a:srgbClr val="8BAFC4"/>
          </a:solidFill>
          <a:ln w="12700">
            <a:solidFill>
              <a:srgbClr val="8BAFC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22767328"/>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256032" y="930601"/>
            <a:ext cx="11708203" cy="517074"/>
          </a:xfrm>
          <a:prstGeom prst="rect">
            <a:avLst/>
          </a:prstGeom>
          <a:noFill/>
          <a:ln/>
        </p:spPr>
        <p:txBody>
          <a:bodyPr wrap="square" lIns="91440" tIns="45720" rIns="91440" bIns="45720" rtlCol="0" anchor="ctr"/>
          <a:lstStyle/>
          <a:p>
            <a:pPr algn="l" rtl="0">
              <a:defRPr/>
            </a:pPr>
            <a:r>
              <a:rPr kumimoji="0" lang="en-US" sz="1600" b="1" i="0" u="none" strike="noStrike" kern="1200" cap="none" spc="0" normalizeH="0" baseline="0" noProof="0">
                <a:ln>
                  <a:noFill/>
                </a:ln>
                <a:solidFill>
                  <a:srgbClr val="000000"/>
                </a:solidFill>
                <a:effectLst/>
                <a:uLnTx/>
                <a:uFillTx/>
                <a:latin typeface="Calibri"/>
                <a:ea typeface="Calibri"/>
                <a:cs typeface="Calibri"/>
              </a:rPr>
              <a:t>Objective</a:t>
            </a:r>
            <a:r>
              <a:rPr kumimoji="0" lang="en-US" sz="1600" b="0" i="0" u="none" strike="noStrike" kern="1200" cap="none" spc="0" normalizeH="0" baseline="0" noProof="0">
                <a:ln>
                  <a:noFill/>
                </a:ln>
                <a:solidFill>
                  <a:srgbClr val="000000"/>
                </a:solidFill>
                <a:effectLst/>
                <a:uLnTx/>
                <a:uFillTx/>
                <a:latin typeface="Calibri"/>
                <a:ea typeface="Calibri"/>
                <a:cs typeface="Calibri"/>
              </a:rPr>
              <a:t>: </a:t>
            </a:r>
            <a:r>
              <a:rPr lang="en-US" sz="1600" kern="1200">
                <a:solidFill>
                  <a:srgbClr val="000000"/>
                </a:solidFill>
                <a:latin typeface="Calibri"/>
                <a:ea typeface="Calibri"/>
                <a:cs typeface="Calibri"/>
              </a:rPr>
              <a:t>To</a:t>
            </a:r>
            <a:r>
              <a:rPr kumimoji="0" lang="en-US" sz="1600" b="0" i="0" u="none" strike="noStrike" kern="1200" cap="none" spc="0" normalizeH="0" baseline="0" noProof="0">
                <a:ln>
                  <a:noFill/>
                </a:ln>
                <a:solidFill>
                  <a:srgbClr val="000000"/>
                </a:solidFill>
                <a:effectLst/>
                <a:uLnTx/>
                <a:uFillTx/>
                <a:latin typeface="Calibri"/>
                <a:ea typeface="Calibri"/>
                <a:cs typeface="Calibri"/>
              </a:rPr>
              <a:t> </a:t>
            </a:r>
            <a:r>
              <a:rPr lang="en-US" sz="1600" kern="1200">
                <a:solidFill>
                  <a:srgbClr val="000000"/>
                </a:solidFill>
                <a:latin typeface="Calibri"/>
                <a:ea typeface="Calibri"/>
                <a:cs typeface="Calibri"/>
              </a:rPr>
              <a:t>consolidate </a:t>
            </a:r>
            <a:r>
              <a:rPr kumimoji="0" lang="en-US" sz="1600" b="0" i="0" u="none" strike="noStrike" kern="1200" cap="none" spc="0" normalizeH="0" baseline="0" noProof="0">
                <a:ln>
                  <a:noFill/>
                </a:ln>
                <a:solidFill>
                  <a:srgbClr val="000000"/>
                </a:solidFill>
                <a:effectLst/>
                <a:uLnTx/>
                <a:uFillTx/>
                <a:latin typeface="Calibri"/>
                <a:ea typeface="Calibri"/>
                <a:cs typeface="Calibri"/>
              </a:rPr>
              <a:t>3 years of IT operations data, build a model-ready analytical base, and engineer features that capture ticket context, text, </a:t>
            </a:r>
            <a:r>
              <a:rPr lang="en-US" sz="1600" kern="1200">
                <a:solidFill>
                  <a:srgbClr val="000000"/>
                </a:solidFill>
                <a:latin typeface="Calibri"/>
                <a:ea typeface="Calibri"/>
                <a:cs typeface="Calibri"/>
              </a:rPr>
              <a:t>behavior</a:t>
            </a:r>
            <a:r>
              <a:rPr kumimoji="0" lang="en-US" sz="1600" b="0" i="0" u="none" strike="noStrike" kern="1200" cap="none" spc="0" normalizeH="0" baseline="0" noProof="0">
                <a:ln>
                  <a:noFill/>
                </a:ln>
                <a:solidFill>
                  <a:srgbClr val="000000"/>
                </a:solidFill>
                <a:effectLst/>
                <a:uLnTx/>
                <a:uFillTx/>
                <a:latin typeface="Calibri"/>
                <a:ea typeface="Calibri"/>
                <a:cs typeface="Calibri"/>
              </a:rPr>
              <a:t>, and hardware signals</a:t>
            </a:r>
            <a:endParaRPr kumimoji="0" lang="en-US" sz="1600" b="0" i="0" u="none" strike="noStrike" kern="1200" cap="none" spc="0" normalizeH="0" baseline="0" noProof="0">
              <a:ln>
                <a:noFill/>
              </a:ln>
              <a:solidFill>
                <a:prstClr val="black"/>
              </a:solidFill>
              <a:effectLst/>
              <a:uLnTx/>
              <a:uFillTx/>
              <a:latin typeface="Calibri"/>
              <a:ea typeface="Calibri"/>
              <a:cs typeface="Calibri"/>
            </a:endParaRPr>
          </a:p>
        </p:txBody>
      </p:sp>
      <p:cxnSp>
        <p:nvCxnSpPr>
          <p:cNvPr id="3" name="Straight Connector 2">
            <a:extLst>
              <a:ext uri="{FF2B5EF4-FFF2-40B4-BE49-F238E27FC236}">
                <a16:creationId xmlns:a16="http://schemas.microsoft.com/office/drawing/2014/main" id="{A7F330E3-A693-18DD-4710-FF63B1D6BE50}"/>
              </a:ext>
            </a:extLst>
          </p:cNvPr>
          <p:cNvCxnSpPr>
            <a:cxnSpLocks/>
          </p:cNvCxnSpPr>
          <p:nvPr/>
        </p:nvCxnSpPr>
        <p:spPr>
          <a:xfrm>
            <a:off x="5143987" y="1499920"/>
            <a:ext cx="9769" cy="4892286"/>
          </a:xfrm>
          <a:prstGeom prst="line">
            <a:avLst/>
          </a:prstGeom>
          <a:ln>
            <a:prstDash val="dash"/>
          </a:ln>
        </p:spPr>
        <p:style>
          <a:lnRef idx="2">
            <a:schemeClr val="dk1"/>
          </a:lnRef>
          <a:fillRef idx="0">
            <a:schemeClr val="dk1"/>
          </a:fillRef>
          <a:effectRef idx="1">
            <a:schemeClr val="dk1"/>
          </a:effectRef>
          <a:fontRef idx="minor">
            <a:schemeClr val="tx1"/>
          </a:fontRef>
        </p:style>
      </p:cxnSp>
      <p:sp>
        <p:nvSpPr>
          <p:cNvPr id="14" name="Rectangle 13">
            <a:extLst>
              <a:ext uri="{FF2B5EF4-FFF2-40B4-BE49-F238E27FC236}">
                <a16:creationId xmlns:a16="http://schemas.microsoft.com/office/drawing/2014/main" id="{7E0CCCC0-F631-0036-EABA-B99B21741D8D}"/>
              </a:ext>
            </a:extLst>
          </p:cNvPr>
          <p:cNvSpPr/>
          <p:nvPr/>
        </p:nvSpPr>
        <p:spPr>
          <a:xfrm>
            <a:off x="0" y="0"/>
            <a:ext cx="12191969" cy="859536"/>
          </a:xfrm>
          <a:prstGeom prst="rect">
            <a:avLst/>
          </a:prstGeom>
          <a:solidFill>
            <a:srgbClr val="1E27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TextBox 15">
            <a:extLst>
              <a:ext uri="{FF2B5EF4-FFF2-40B4-BE49-F238E27FC236}">
                <a16:creationId xmlns:a16="http://schemas.microsoft.com/office/drawing/2014/main" id="{478F2783-6A54-82C8-200F-B508FCA5930D}"/>
              </a:ext>
            </a:extLst>
          </p:cNvPr>
          <p:cNvSpPr txBox="1"/>
          <p:nvPr/>
        </p:nvSpPr>
        <p:spPr>
          <a:xfrm>
            <a:off x="276368" y="296682"/>
            <a:ext cx="11766084" cy="543546"/>
          </a:xfrm>
          <a:prstGeom prst="rect">
            <a:avLst/>
          </a:prstGeom>
          <a:noFill/>
        </p:spPr>
        <p:txBody>
          <a:bodyPr wrap="square" lIns="91440" tIns="45720" rIns="91440" bIns="45720" anchor="t"/>
          <a:lstStyle/>
          <a:p>
            <a:pPr algn="l" rtl="0">
              <a:defRPr/>
            </a:pPr>
            <a:r>
              <a:rPr kumimoji="0" sz="2400" b="1" i="0" u="none" strike="noStrike" kern="1200" cap="none" spc="0" normalizeH="0" baseline="0" noProof="0">
                <a:ln>
                  <a:noFill/>
                </a:ln>
                <a:solidFill>
                  <a:srgbClr val="FFFFFF"/>
                </a:solidFill>
                <a:effectLst/>
                <a:uLnTx/>
                <a:uFillTx/>
                <a:latin typeface="Georgia"/>
                <a:ea typeface="+mn-ea"/>
                <a:cs typeface="+mn-cs"/>
              </a:rPr>
              <a:t>Ticket Intelligence Engine</a:t>
            </a:r>
            <a:r>
              <a:rPr lang="en-US" sz="2400" b="1" kern="1200">
                <a:solidFill>
                  <a:srgbClr val="FFFFFF"/>
                </a:solidFill>
                <a:latin typeface="Georgia"/>
                <a:ea typeface="+mn-ea"/>
                <a:cs typeface="+mn-cs"/>
              </a:rPr>
              <a:t> - Data Processing &amp; Feature Engineering</a:t>
            </a:r>
          </a:p>
        </p:txBody>
      </p:sp>
      <p:sp>
        <p:nvSpPr>
          <p:cNvPr id="18" name="TextBox 17">
            <a:extLst>
              <a:ext uri="{FF2B5EF4-FFF2-40B4-BE49-F238E27FC236}">
                <a16:creationId xmlns:a16="http://schemas.microsoft.com/office/drawing/2014/main" id="{A5F1355C-B764-65C1-29B3-C9014A5A4317}"/>
              </a:ext>
            </a:extLst>
          </p:cNvPr>
          <p:cNvSpPr txBox="1"/>
          <p:nvPr/>
        </p:nvSpPr>
        <p:spPr>
          <a:xfrm>
            <a:off x="328559" y="48221"/>
            <a:ext cx="8229600" cy="230832"/>
          </a:xfrm>
          <a:prstGeom prst="rect">
            <a:avLst/>
          </a:prstGeom>
          <a:noFill/>
        </p:spPr>
        <p:txBody>
          <a:bodyPr wrap="square" lIns="91440" tIns="45720" rIns="91440" bIns="45720" anchor="t">
            <a:spAutoFit/>
          </a:bodyPr>
          <a:lstStyle/>
          <a:p>
            <a:pPr algn="l">
              <a:defRPr/>
            </a:pPr>
            <a:r>
              <a:rPr lang="en-SG" sz="900" kern="1200">
                <a:solidFill>
                  <a:srgbClr val="8AAEC4"/>
                </a:solidFill>
                <a:latin typeface="Trebuchet MS"/>
                <a:ea typeface="+mn-ea"/>
                <a:cs typeface="+mn-cs"/>
              </a:rPr>
              <a:t>Automate Service Ops - Data Processing and Feature Engineering</a:t>
            </a:r>
          </a:p>
        </p:txBody>
      </p:sp>
      <p:sp>
        <p:nvSpPr>
          <p:cNvPr id="20" name="TextBox 19">
            <a:extLst>
              <a:ext uri="{FF2B5EF4-FFF2-40B4-BE49-F238E27FC236}">
                <a16:creationId xmlns:a16="http://schemas.microsoft.com/office/drawing/2014/main" id="{B7E94385-2546-B48C-9944-06A6E330AF8E}"/>
              </a:ext>
            </a:extLst>
          </p:cNvPr>
          <p:cNvSpPr txBox="1"/>
          <p:nvPr/>
        </p:nvSpPr>
        <p:spPr>
          <a:xfrm>
            <a:off x="10363169" y="45720"/>
            <a:ext cx="1737360" cy="475488"/>
          </a:xfrm>
          <a:prstGeom prst="rect">
            <a:avLst/>
          </a:prstGeom>
          <a:noFill/>
        </p:spPr>
        <p:txBody>
          <a:bodyPr wrap="square" lIns="91440" tIns="45720" rIns="91440" bIns="4572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chemeClr val="bg1"/>
                </a:solidFill>
                <a:effectLst/>
                <a:uLnTx/>
                <a:uFillTx/>
                <a:latin typeface="Trebuchet MS"/>
                <a:ea typeface="+mn-ea"/>
                <a:cs typeface="+mn-cs"/>
              </a:rPr>
              <a:t>Expected Time Spent: </a:t>
            </a:r>
            <a:r>
              <a:rPr kumimoji="0" sz="900" b="0" i="0" u="none" strike="noStrike" kern="1200" cap="none" spc="0" normalizeH="0" baseline="0" noProof="0">
                <a:ln>
                  <a:noFill/>
                </a:ln>
                <a:solidFill>
                  <a:schemeClr val="bg1"/>
                </a:solidFill>
                <a:effectLst/>
                <a:uLnTx/>
                <a:uFillTx/>
                <a:latin typeface="Trebuchet MS"/>
                <a:ea typeface="+mn-ea"/>
                <a:cs typeface="+mn-cs"/>
              </a:rPr>
              <a:t>1 w</a:t>
            </a:r>
            <a:endParaRPr lang="en-US" sz="900" b="0" i="0" u="none" strike="noStrike" kern="1200" cap="none" spc="0" normalizeH="0" baseline="0" noProof="0">
              <a:ln>
                <a:noFill/>
              </a:ln>
              <a:solidFill>
                <a:schemeClr val="bg1"/>
              </a:solidFill>
              <a:effectLst/>
              <a:uLnTx/>
              <a:uFillTx/>
              <a:latin typeface="Trebuchet MS"/>
              <a:ea typeface="+mn-ea"/>
              <a:cs typeface="+mn-cs"/>
            </a:endParaRPr>
          </a:p>
          <a:p>
            <a:pPr algn="l" rtl="0">
              <a:defRPr/>
            </a:pPr>
            <a:r>
              <a:rPr kumimoji="0" sz="900" b="1" i="0" u="none" strike="noStrike" kern="1200" cap="none" spc="0" normalizeH="0" baseline="0" noProof="0">
                <a:ln>
                  <a:noFill/>
                </a:ln>
                <a:solidFill>
                  <a:schemeClr val="bg1"/>
                </a:solidFill>
                <a:effectLst/>
                <a:uLnTx/>
                <a:uFillTx/>
                <a:latin typeface="Trebuchet MS"/>
                <a:ea typeface="+mn-ea"/>
                <a:cs typeface="+mn-cs"/>
              </a:rPr>
              <a:t>Actual Time Spent: </a:t>
            </a:r>
            <a:r>
              <a:rPr lang="en-US" sz="900" b="1" kern="1200">
                <a:solidFill>
                  <a:schemeClr val="bg1"/>
                </a:solidFill>
                <a:latin typeface="Trebuchet MS"/>
                <a:ea typeface="+mn-ea"/>
                <a:cs typeface="+mn-cs"/>
              </a:rPr>
              <a:t>1</a:t>
            </a:r>
            <a:r>
              <a:rPr lang="en-US" sz="900" kern="1200">
                <a:solidFill>
                  <a:schemeClr val="bg1"/>
                </a:solidFill>
                <a:latin typeface="Trebuchet MS"/>
                <a:ea typeface="+mn-ea"/>
                <a:cs typeface="+mn-cs"/>
              </a:rPr>
              <a:t> </a:t>
            </a:r>
            <a:r>
              <a:rPr kumimoji="0" sz="900" b="0" i="0" u="none" strike="noStrike" kern="1200" cap="none" spc="0" normalizeH="0" baseline="0" noProof="0">
                <a:ln>
                  <a:noFill/>
                </a:ln>
                <a:solidFill>
                  <a:schemeClr val="bg1"/>
                </a:solidFill>
                <a:effectLst/>
                <a:uLnTx/>
                <a:uFillTx/>
                <a:latin typeface="Trebuchet MS"/>
                <a:ea typeface="+mn-ea"/>
                <a:cs typeface="+mn-cs"/>
              </a:rPr>
              <a:t>w</a:t>
            </a:r>
            <a:endParaRPr sz="900" b="0" i="0" u="none" strike="noStrike" kern="1200" cap="none" spc="0" normalizeH="0" baseline="0" noProof="0">
              <a:ln>
                <a:noFill/>
              </a:ln>
              <a:solidFill>
                <a:schemeClr val="bg1"/>
              </a:solidFill>
              <a:effectLst/>
              <a:uLnTx/>
              <a:uFillTx/>
              <a:latin typeface="Trebuchet MS"/>
              <a:ea typeface="+mn-ea"/>
              <a:cs typeface="+mn-cs"/>
            </a:endParaRPr>
          </a:p>
        </p:txBody>
      </p:sp>
      <p:grpSp>
        <p:nvGrpSpPr>
          <p:cNvPr id="55" name="Group 54">
            <a:extLst>
              <a:ext uri="{FF2B5EF4-FFF2-40B4-BE49-F238E27FC236}">
                <a16:creationId xmlns:a16="http://schemas.microsoft.com/office/drawing/2014/main" id="{4A52B0AA-EE3F-3C8C-D721-3B6883C72212}"/>
              </a:ext>
            </a:extLst>
          </p:cNvPr>
          <p:cNvGrpSpPr/>
          <p:nvPr/>
        </p:nvGrpSpPr>
        <p:grpSpPr>
          <a:xfrm>
            <a:off x="162197" y="1539045"/>
            <a:ext cx="4739646" cy="4863993"/>
            <a:chOff x="-4817" y="1539045"/>
            <a:chExt cx="4687455" cy="4801363"/>
          </a:xfrm>
        </p:grpSpPr>
        <p:grpSp>
          <p:nvGrpSpPr>
            <p:cNvPr id="49" name="Group 48">
              <a:extLst>
                <a:ext uri="{FF2B5EF4-FFF2-40B4-BE49-F238E27FC236}">
                  <a16:creationId xmlns:a16="http://schemas.microsoft.com/office/drawing/2014/main" id="{A727C518-C651-E8DE-F28F-8ACF33BA2AC6}"/>
                </a:ext>
              </a:extLst>
            </p:cNvPr>
            <p:cNvGrpSpPr/>
            <p:nvPr/>
          </p:nvGrpSpPr>
          <p:grpSpPr>
            <a:xfrm>
              <a:off x="333400" y="1542118"/>
              <a:ext cx="4131535" cy="4798290"/>
              <a:chOff x="274785" y="1870364"/>
              <a:chExt cx="4131535" cy="4798290"/>
            </a:xfrm>
          </p:grpSpPr>
          <p:sp>
            <p:nvSpPr>
              <p:cNvPr id="22" name="Can 3">
                <a:extLst>
                  <a:ext uri="{FF2B5EF4-FFF2-40B4-BE49-F238E27FC236}">
                    <a16:creationId xmlns:a16="http://schemas.microsoft.com/office/drawing/2014/main" id="{9E45F4A4-2831-3B52-8251-1E2E43A8CC66}"/>
                  </a:ext>
                </a:extLst>
              </p:cNvPr>
              <p:cNvSpPr/>
              <p:nvPr/>
            </p:nvSpPr>
            <p:spPr>
              <a:xfrm>
                <a:off x="890201" y="1870364"/>
                <a:ext cx="877455" cy="914400"/>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a:solidFill>
                      <a:prstClr val="white"/>
                    </a:solidFill>
                    <a:latin typeface="Aptos" panose="02110004020202020204"/>
                  </a:rPr>
                  <a:t>Assets</a:t>
                </a: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Can 4">
                <a:extLst>
                  <a:ext uri="{FF2B5EF4-FFF2-40B4-BE49-F238E27FC236}">
                    <a16:creationId xmlns:a16="http://schemas.microsoft.com/office/drawing/2014/main" id="{8FF15D0C-2D38-0D53-3245-6CBEA139DFF8}"/>
                  </a:ext>
                </a:extLst>
              </p:cNvPr>
              <p:cNvSpPr/>
              <p:nvPr/>
            </p:nvSpPr>
            <p:spPr>
              <a:xfrm>
                <a:off x="1844393" y="1881906"/>
                <a:ext cx="877455" cy="914400"/>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a:solidFill>
                      <a:prstClr val="white"/>
                    </a:solidFill>
                    <a:latin typeface="Aptos" panose="02110004020202020204"/>
                  </a:rPr>
                  <a:t>Engineer</a:t>
                </a: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Can 5">
                <a:extLst>
                  <a:ext uri="{FF2B5EF4-FFF2-40B4-BE49-F238E27FC236}">
                    <a16:creationId xmlns:a16="http://schemas.microsoft.com/office/drawing/2014/main" id="{77911CCC-851E-E242-6ACC-728419BED414}"/>
                  </a:ext>
                </a:extLst>
              </p:cNvPr>
              <p:cNvSpPr/>
              <p:nvPr/>
            </p:nvSpPr>
            <p:spPr>
              <a:xfrm>
                <a:off x="2800852" y="1881906"/>
                <a:ext cx="877455" cy="914400"/>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a:solidFill>
                      <a:prstClr val="white"/>
                    </a:solidFill>
                    <a:latin typeface="Aptos" panose="02110004020202020204"/>
                  </a:rPr>
                  <a:t>Client</a:t>
                </a: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5" name="Cube 24">
                <a:extLst>
                  <a:ext uri="{FF2B5EF4-FFF2-40B4-BE49-F238E27FC236}">
                    <a16:creationId xmlns:a16="http://schemas.microsoft.com/office/drawing/2014/main" id="{DFFEA5CE-1BB2-8AE0-94C0-0AD69F6D2D7C}"/>
                  </a:ext>
                </a:extLst>
              </p:cNvPr>
              <p:cNvSpPr/>
              <p:nvPr/>
            </p:nvSpPr>
            <p:spPr>
              <a:xfrm>
                <a:off x="274785" y="5107712"/>
                <a:ext cx="995220" cy="1062181"/>
              </a:xfrm>
              <a:prstGeom prst="cub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110004020202020204"/>
                    <a:ea typeface="+mn-ea"/>
                    <a:cs typeface="+mn-cs"/>
                  </a:rPr>
                  <a:t>ADS</a:t>
                </a:r>
              </a:p>
            </p:txBody>
          </p:sp>
          <p:sp>
            <p:nvSpPr>
              <p:cNvPr id="38" name="Cube 37">
                <a:extLst>
                  <a:ext uri="{FF2B5EF4-FFF2-40B4-BE49-F238E27FC236}">
                    <a16:creationId xmlns:a16="http://schemas.microsoft.com/office/drawing/2014/main" id="{D3B3CEBC-2D94-9A5B-6C3F-6CB40CD97B64}"/>
                  </a:ext>
                </a:extLst>
              </p:cNvPr>
              <p:cNvSpPr/>
              <p:nvPr/>
            </p:nvSpPr>
            <p:spPr>
              <a:xfrm>
                <a:off x="1027549" y="5107711"/>
                <a:ext cx="995220" cy="1062181"/>
              </a:xfrm>
              <a:prstGeom prst="cub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US" sz="900" kern="1200">
                    <a:solidFill>
                      <a:prstClr val="black"/>
                    </a:solidFill>
                    <a:latin typeface="Aptos" panose="02110004020202020204"/>
                  </a:rPr>
                  <a:t>[Text] NLP</a:t>
                </a:r>
                <a:endParaRPr lang="en-US">
                  <a:ea typeface="+mn-ea"/>
                  <a:cs typeface="+mn-cs"/>
                </a:endParaRPr>
              </a:p>
            </p:txBody>
          </p:sp>
          <p:sp>
            <p:nvSpPr>
              <p:cNvPr id="40" name="Cube 39">
                <a:extLst>
                  <a:ext uri="{FF2B5EF4-FFF2-40B4-BE49-F238E27FC236}">
                    <a16:creationId xmlns:a16="http://schemas.microsoft.com/office/drawing/2014/main" id="{E5059BC9-7871-953F-575B-2D4F9C9A9647}"/>
                  </a:ext>
                </a:extLst>
              </p:cNvPr>
              <p:cNvSpPr/>
              <p:nvPr/>
            </p:nvSpPr>
            <p:spPr>
              <a:xfrm>
                <a:off x="1771076" y="5107711"/>
                <a:ext cx="995220" cy="1062181"/>
              </a:xfrm>
              <a:prstGeom prst="cub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prstClr val="black"/>
                    </a:solidFill>
                    <a:latin typeface="Aptos" panose="02110004020202020204"/>
                  </a:rPr>
                  <a:t>[Temporal]</a:t>
                </a:r>
                <a:endParaRPr lang="en-US" sz="900" b="0" i="0" u="none" strike="noStrike" kern="1200" cap="none" spc="0" normalizeH="0" baseline="0" noProof="0">
                  <a:ln>
                    <a:noFill/>
                  </a:ln>
                  <a:solidFill>
                    <a:prstClr val="black"/>
                  </a:solidFill>
                  <a:effectLst/>
                  <a:uLnTx/>
                  <a:uFillTx/>
                  <a:latin typeface="Aptos" panose="02110004020202020204"/>
                </a:endParaRPr>
              </a:p>
            </p:txBody>
          </p:sp>
          <p:sp>
            <p:nvSpPr>
              <p:cNvPr id="42" name="Cube 41">
                <a:extLst>
                  <a:ext uri="{FF2B5EF4-FFF2-40B4-BE49-F238E27FC236}">
                    <a16:creationId xmlns:a16="http://schemas.microsoft.com/office/drawing/2014/main" id="{0A793F3A-B7B8-9594-2E99-9F0FA37FBD31}"/>
                  </a:ext>
                </a:extLst>
              </p:cNvPr>
              <p:cNvSpPr/>
              <p:nvPr/>
            </p:nvSpPr>
            <p:spPr>
              <a:xfrm>
                <a:off x="2523840" y="5107710"/>
                <a:ext cx="995220" cy="1062181"/>
              </a:xfrm>
              <a:prstGeom prst="cub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prstClr val="black"/>
                    </a:solidFill>
                    <a:latin typeface="Aptos" panose="02110004020202020204"/>
                  </a:rPr>
                  <a:t>[Context]</a:t>
                </a:r>
                <a:endParaRPr lang="en-US" sz="900" b="0" i="0" u="none" strike="noStrike" kern="1200" cap="none" spc="0" normalizeH="0" baseline="0" noProof="0">
                  <a:ln>
                    <a:noFill/>
                  </a:ln>
                  <a:solidFill>
                    <a:prstClr val="black"/>
                  </a:solidFill>
                  <a:effectLst/>
                  <a:uLnTx/>
                  <a:uFillTx/>
                  <a:latin typeface="Aptos" panose="02110004020202020204"/>
                </a:endParaRPr>
              </a:p>
            </p:txBody>
          </p:sp>
          <p:sp>
            <p:nvSpPr>
              <p:cNvPr id="43" name="Cube 42">
                <a:extLst>
                  <a:ext uri="{FF2B5EF4-FFF2-40B4-BE49-F238E27FC236}">
                    <a16:creationId xmlns:a16="http://schemas.microsoft.com/office/drawing/2014/main" id="{9B8733A7-F485-6268-38B4-97408EBEDA94}"/>
                  </a:ext>
                </a:extLst>
              </p:cNvPr>
              <p:cNvSpPr/>
              <p:nvPr/>
            </p:nvSpPr>
            <p:spPr>
              <a:xfrm>
                <a:off x="1878443" y="3475182"/>
                <a:ext cx="995220" cy="1062181"/>
              </a:xfrm>
              <a:prstGeom prst="cub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US" sz="900" kern="1200">
                    <a:solidFill>
                      <a:prstClr val="white"/>
                    </a:solidFill>
                    <a:latin typeface="Aptos" panose="02110004020202020204"/>
                  </a:rPr>
                  <a:t>Analytical</a:t>
                </a:r>
                <a:br>
                  <a:rPr lang="en-US" sz="900" kern="1200">
                    <a:solidFill>
                      <a:prstClr val="white"/>
                    </a:solidFill>
                    <a:latin typeface="Aptos" panose="02110004020202020204"/>
                  </a:rPr>
                </a:br>
                <a:r>
                  <a:rPr lang="en-US" sz="900" kern="1200">
                    <a:solidFill>
                      <a:prstClr val="white"/>
                    </a:solidFill>
                  </a:rPr>
                  <a:t>Base</a:t>
                </a:r>
                <a:endParaRPr lang="en-US">
                  <a:ea typeface="+mn-ea"/>
                  <a:cs typeface="+mn-cs"/>
                </a:endParaRPr>
              </a:p>
            </p:txBody>
          </p:sp>
          <p:sp>
            <p:nvSpPr>
              <p:cNvPr id="44" name="Left Brace 43">
                <a:extLst>
                  <a:ext uri="{FF2B5EF4-FFF2-40B4-BE49-F238E27FC236}">
                    <a16:creationId xmlns:a16="http://schemas.microsoft.com/office/drawing/2014/main" id="{9B745884-63B6-450C-B2C2-91FD3C3135A1}"/>
                  </a:ext>
                </a:extLst>
              </p:cNvPr>
              <p:cNvSpPr/>
              <p:nvPr/>
            </p:nvSpPr>
            <p:spPr>
              <a:xfrm rot="16200000">
                <a:off x="2115321" y="1184181"/>
                <a:ext cx="669541" cy="3912456"/>
              </a:xfrm>
              <a:prstGeom prst="leftBrace">
                <a:avLst>
                  <a:gd name="adj1" fmla="val 8333"/>
                  <a:gd name="adj2" fmla="val 48686"/>
                </a:avLst>
              </a:prstGeom>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45" name="Straight Connector 44">
                <a:extLst>
                  <a:ext uri="{FF2B5EF4-FFF2-40B4-BE49-F238E27FC236}">
                    <a16:creationId xmlns:a16="http://schemas.microsoft.com/office/drawing/2014/main" id="{8F18DCE0-5C99-A411-FF48-DE38BAC7859F}"/>
                  </a:ext>
                </a:extLst>
              </p:cNvPr>
              <p:cNvCxnSpPr>
                <a:cxnSpLocks/>
                <a:stCxn id="5" idx="3"/>
                <a:endCxn id="15" idx="1"/>
              </p:cNvCxnSpPr>
              <p:nvPr/>
            </p:nvCxnSpPr>
            <p:spPr>
              <a:xfrm flipH="1">
                <a:off x="2389860" y="2796306"/>
                <a:ext cx="18521" cy="678874"/>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D02C90FA-4D72-859E-8405-8135F850FD80}"/>
                  </a:ext>
                </a:extLst>
              </p:cNvPr>
              <p:cNvCxnSpPr>
                <a:cxnSpLocks/>
                <a:stCxn id="14" idx="3"/>
                <a:endCxn id="9" idx="0"/>
              </p:cNvCxnSpPr>
              <p:nvPr/>
            </p:nvCxnSpPr>
            <p:spPr>
              <a:xfrm flipH="1">
                <a:off x="896798" y="4537363"/>
                <a:ext cx="1354853" cy="5703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7" name="Right Arrow 24">
                <a:extLst>
                  <a:ext uri="{FF2B5EF4-FFF2-40B4-BE49-F238E27FC236}">
                    <a16:creationId xmlns:a16="http://schemas.microsoft.com/office/drawing/2014/main" id="{0089FDAC-CD15-8D5A-9A76-91E0CDE40518}"/>
                  </a:ext>
                </a:extLst>
              </p:cNvPr>
              <p:cNvSpPr/>
              <p:nvPr/>
            </p:nvSpPr>
            <p:spPr>
              <a:xfrm>
                <a:off x="1173019" y="6277980"/>
                <a:ext cx="2918690" cy="39067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ptos" panose="02110004020202020204"/>
                    <a:ea typeface="+mn-ea"/>
                    <a:cs typeface="+mn-cs"/>
                  </a:rPr>
                  <a:t>New Features</a:t>
                </a:r>
              </a:p>
            </p:txBody>
          </p:sp>
          <p:sp>
            <p:nvSpPr>
              <p:cNvPr id="48" name="Cube 47">
                <a:extLst>
                  <a:ext uri="{FF2B5EF4-FFF2-40B4-BE49-F238E27FC236}">
                    <a16:creationId xmlns:a16="http://schemas.microsoft.com/office/drawing/2014/main" id="{857A829A-A8F4-665B-1691-081BE7C028EB}"/>
                  </a:ext>
                </a:extLst>
              </p:cNvPr>
              <p:cNvSpPr/>
              <p:nvPr/>
            </p:nvSpPr>
            <p:spPr>
              <a:xfrm>
                <a:off x="3267367" y="5107709"/>
                <a:ext cx="1103527" cy="1062181"/>
              </a:xfrm>
              <a:prstGeom prst="cub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a:lnSpc>
                    <a:spcPct val="100000"/>
                  </a:lnSpc>
                  <a:spcBef>
                    <a:spcPts val="0"/>
                  </a:spcBef>
                  <a:spcAft>
                    <a:spcPts val="0"/>
                  </a:spcAft>
                  <a:buNone/>
                  <a:tabLst/>
                  <a:defRPr/>
                </a:pPr>
                <a:r>
                  <a:rPr lang="en-US" sz="900" kern="1200">
                    <a:solidFill>
                      <a:prstClr val="black"/>
                    </a:solidFill>
                    <a:latin typeface="Aptos" panose="02110004020202020204"/>
                  </a:rPr>
                  <a:t>[</a:t>
                </a:r>
                <a:r>
                  <a:rPr lang="en-US" sz="900" kern="1200" err="1">
                    <a:solidFill>
                      <a:prstClr val="black"/>
                    </a:solidFill>
                    <a:latin typeface="Aptos" panose="02110004020202020204"/>
                  </a:rPr>
                  <a:t>Behavioural</a:t>
                </a:r>
                <a:r>
                  <a:rPr lang="en-US" sz="900" kern="1200">
                    <a:solidFill>
                      <a:prstClr val="black"/>
                    </a:solidFill>
                    <a:latin typeface="Aptos" panose="02110004020202020204"/>
                  </a:rPr>
                  <a:t>]</a:t>
                </a:r>
                <a:endParaRPr lang="en-US">
                  <a:solidFill>
                    <a:prstClr val="black"/>
                  </a:solidFill>
                </a:endParaRPr>
              </a:p>
            </p:txBody>
          </p:sp>
        </p:grpSp>
        <p:sp>
          <p:nvSpPr>
            <p:cNvPr id="51" name="Can 5">
              <a:extLst>
                <a:ext uri="{FF2B5EF4-FFF2-40B4-BE49-F238E27FC236}">
                  <a16:creationId xmlns:a16="http://schemas.microsoft.com/office/drawing/2014/main" id="{2D2558B9-5B9D-4B31-B64F-6ACA59A1E26D}"/>
                </a:ext>
              </a:extLst>
            </p:cNvPr>
            <p:cNvSpPr/>
            <p:nvPr/>
          </p:nvSpPr>
          <p:spPr>
            <a:xfrm>
              <a:off x="3805183" y="1539046"/>
              <a:ext cx="877455" cy="914400"/>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a:solidFill>
                    <a:prstClr val="white"/>
                  </a:solidFill>
                  <a:latin typeface="Aptos" panose="02110004020202020204"/>
                </a:rPr>
                <a:t>Telemetry</a:t>
              </a:r>
              <a:endParaRPr lang="en-US" sz="1200" b="0" i="0" u="none" strike="noStrike" kern="1200" cap="none" spc="0" normalizeH="0" baseline="0" noProof="0">
                <a:ln>
                  <a:noFill/>
                </a:ln>
                <a:solidFill>
                  <a:prstClr val="white"/>
                </a:solidFill>
                <a:effectLst/>
                <a:uLnTx/>
                <a:uFillTx/>
                <a:latin typeface="Aptos" panose="02110004020202020204"/>
              </a:endParaRPr>
            </a:p>
          </p:txBody>
        </p:sp>
        <p:sp>
          <p:nvSpPr>
            <p:cNvPr id="52" name="Can 5">
              <a:extLst>
                <a:ext uri="{FF2B5EF4-FFF2-40B4-BE49-F238E27FC236}">
                  <a16:creationId xmlns:a16="http://schemas.microsoft.com/office/drawing/2014/main" id="{C75B0C3D-B23E-117A-D584-DE95F8D32055}"/>
                </a:ext>
              </a:extLst>
            </p:cNvPr>
            <p:cNvSpPr/>
            <p:nvPr/>
          </p:nvSpPr>
          <p:spPr>
            <a:xfrm>
              <a:off x="-4817" y="1539045"/>
              <a:ext cx="877455" cy="914400"/>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a:solidFill>
                    <a:prstClr val="white"/>
                  </a:solidFill>
                  <a:latin typeface="Aptos" panose="02110004020202020204"/>
                </a:rPr>
                <a:t>Tickets</a:t>
              </a: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4" name="Left Brace 53">
              <a:extLst>
                <a:ext uri="{FF2B5EF4-FFF2-40B4-BE49-F238E27FC236}">
                  <a16:creationId xmlns:a16="http://schemas.microsoft.com/office/drawing/2014/main" id="{7AE57641-9D6E-9E3A-6866-10BBA0647A79}"/>
                </a:ext>
              </a:extLst>
            </p:cNvPr>
            <p:cNvSpPr/>
            <p:nvPr/>
          </p:nvSpPr>
          <p:spPr>
            <a:xfrm rot="16200000">
              <a:off x="2148883" y="1895595"/>
              <a:ext cx="669541" cy="1803909"/>
            </a:xfrm>
            <a:prstGeom prst="leftBrace">
              <a:avLst>
                <a:gd name="adj1" fmla="val 8333"/>
                <a:gd name="adj2" fmla="val 48686"/>
              </a:avLst>
            </a:prstGeom>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64" name="Group 63">
            <a:extLst>
              <a:ext uri="{FF2B5EF4-FFF2-40B4-BE49-F238E27FC236}">
                <a16:creationId xmlns:a16="http://schemas.microsoft.com/office/drawing/2014/main" id="{3BABF896-DDE0-8348-E806-0A339F77BADA}"/>
              </a:ext>
            </a:extLst>
          </p:cNvPr>
          <p:cNvGrpSpPr/>
          <p:nvPr/>
        </p:nvGrpSpPr>
        <p:grpSpPr>
          <a:xfrm>
            <a:off x="5360388" y="1466333"/>
            <a:ext cx="6581088" cy="3501656"/>
            <a:chOff x="256032" y="817276"/>
            <a:chExt cx="4350469" cy="3090614"/>
          </a:xfrm>
        </p:grpSpPr>
        <p:sp>
          <p:nvSpPr>
            <p:cNvPr id="65" name="Shape 8">
              <a:extLst>
                <a:ext uri="{FF2B5EF4-FFF2-40B4-BE49-F238E27FC236}">
                  <a16:creationId xmlns:a16="http://schemas.microsoft.com/office/drawing/2014/main" id="{067100D2-8187-ECCC-6D1C-DF938F99952D}"/>
                </a:ext>
              </a:extLst>
            </p:cNvPr>
            <p:cNvSpPr/>
            <p:nvPr/>
          </p:nvSpPr>
          <p:spPr>
            <a:xfrm>
              <a:off x="256032" y="821924"/>
              <a:ext cx="4350469" cy="721340"/>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US"/>
            </a:p>
          </p:txBody>
        </p:sp>
        <p:sp>
          <p:nvSpPr>
            <p:cNvPr id="66" name="Shape 9">
              <a:extLst>
                <a:ext uri="{FF2B5EF4-FFF2-40B4-BE49-F238E27FC236}">
                  <a16:creationId xmlns:a16="http://schemas.microsoft.com/office/drawing/2014/main" id="{1B2FFB98-A4AB-DD99-F082-E38A6247D928}"/>
                </a:ext>
              </a:extLst>
            </p:cNvPr>
            <p:cNvSpPr/>
            <p:nvPr/>
          </p:nvSpPr>
          <p:spPr>
            <a:xfrm flipV="1">
              <a:off x="256032" y="817276"/>
              <a:ext cx="54864" cy="715196"/>
            </a:xfrm>
            <a:prstGeom prst="rect">
              <a:avLst/>
            </a:prstGeom>
            <a:solidFill>
              <a:srgbClr val="2563EB"/>
            </a:solidFill>
            <a:ln w="12700">
              <a:solidFill>
                <a:srgbClr val="2563EB"/>
              </a:solidFill>
              <a:prstDash val="solid"/>
            </a:ln>
          </p:spPr>
          <p:txBody>
            <a:bodyPr/>
            <a:lstStyle/>
            <a:p>
              <a:endParaRPr lang="en-US"/>
            </a:p>
          </p:txBody>
        </p:sp>
        <p:sp>
          <p:nvSpPr>
            <p:cNvPr id="67" name="Text 10">
              <a:extLst>
                <a:ext uri="{FF2B5EF4-FFF2-40B4-BE49-F238E27FC236}">
                  <a16:creationId xmlns:a16="http://schemas.microsoft.com/office/drawing/2014/main" id="{270E4504-612F-356D-ECAB-E1E5E59601DA}"/>
                </a:ext>
              </a:extLst>
            </p:cNvPr>
            <p:cNvSpPr/>
            <p:nvPr/>
          </p:nvSpPr>
          <p:spPr>
            <a:xfrm>
              <a:off x="402336" y="821233"/>
              <a:ext cx="2194560" cy="23774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a:solidFill>
                    <a:srgbClr val="0F172A"/>
                  </a:solidFill>
                </a:rPr>
                <a:t>Step 1: Data Consolidation</a:t>
              </a:r>
              <a:endParaRPr lang="en-US" sz="1200"/>
            </a:p>
          </p:txBody>
        </p:sp>
        <p:sp>
          <p:nvSpPr>
            <p:cNvPr id="68" name="Text 11">
              <a:extLst>
                <a:ext uri="{FF2B5EF4-FFF2-40B4-BE49-F238E27FC236}">
                  <a16:creationId xmlns:a16="http://schemas.microsoft.com/office/drawing/2014/main" id="{0DE95E4D-5AE0-CB36-2C01-1F7F8BDBC29A}"/>
                </a:ext>
              </a:extLst>
            </p:cNvPr>
            <p:cNvSpPr/>
            <p:nvPr/>
          </p:nvSpPr>
          <p:spPr>
            <a:xfrm>
              <a:off x="402336" y="1040276"/>
              <a:ext cx="4078224" cy="420624"/>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a:solidFill>
                    <a:srgbClr val="334155"/>
                  </a:solidFill>
                </a:rPr>
                <a:t>22,491 tickets from 5 source tables across 3 years. Stable Year_Ticket_ID key (IDs reset annually). 100% FK integrity: asset_id, engineer_id, client_id. 8.41% increase from 36,947 intermediate rows via aggregation.</a:t>
              </a:r>
              <a:endParaRPr lang="en-US" sz="1100"/>
            </a:p>
          </p:txBody>
        </p:sp>
        <p:sp>
          <p:nvSpPr>
            <p:cNvPr id="69" name="Shape 12">
              <a:extLst>
                <a:ext uri="{FF2B5EF4-FFF2-40B4-BE49-F238E27FC236}">
                  <a16:creationId xmlns:a16="http://schemas.microsoft.com/office/drawing/2014/main" id="{CF505A0C-C785-BA3A-D4FF-2CC6BDB22E0F}"/>
                </a:ext>
              </a:extLst>
            </p:cNvPr>
            <p:cNvSpPr/>
            <p:nvPr/>
          </p:nvSpPr>
          <p:spPr>
            <a:xfrm>
              <a:off x="256032" y="1613857"/>
              <a:ext cx="4315968" cy="714817"/>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US"/>
            </a:p>
          </p:txBody>
        </p:sp>
        <p:sp>
          <p:nvSpPr>
            <p:cNvPr id="70" name="Shape 13">
              <a:extLst>
                <a:ext uri="{FF2B5EF4-FFF2-40B4-BE49-F238E27FC236}">
                  <a16:creationId xmlns:a16="http://schemas.microsoft.com/office/drawing/2014/main" id="{1A0FC6D8-68F1-8F46-BE13-E9869F84EB2E}"/>
                </a:ext>
              </a:extLst>
            </p:cNvPr>
            <p:cNvSpPr/>
            <p:nvPr/>
          </p:nvSpPr>
          <p:spPr>
            <a:xfrm>
              <a:off x="256032" y="1613857"/>
              <a:ext cx="54864" cy="714817"/>
            </a:xfrm>
            <a:prstGeom prst="rect">
              <a:avLst/>
            </a:prstGeom>
            <a:solidFill>
              <a:srgbClr val="2563EB"/>
            </a:solidFill>
            <a:ln w="12700">
              <a:solidFill>
                <a:srgbClr val="0891B2"/>
              </a:solidFill>
              <a:prstDash val="solid"/>
            </a:ln>
          </p:spPr>
          <p:txBody>
            <a:bodyPr/>
            <a:lstStyle/>
            <a:p>
              <a:endParaRPr lang="en-US"/>
            </a:p>
          </p:txBody>
        </p:sp>
        <p:sp>
          <p:nvSpPr>
            <p:cNvPr id="71" name="Text 14">
              <a:extLst>
                <a:ext uri="{FF2B5EF4-FFF2-40B4-BE49-F238E27FC236}">
                  <a16:creationId xmlns:a16="http://schemas.microsoft.com/office/drawing/2014/main" id="{2D386C81-C230-F588-6FF8-87D8781D3224}"/>
                </a:ext>
              </a:extLst>
            </p:cNvPr>
            <p:cNvSpPr/>
            <p:nvPr/>
          </p:nvSpPr>
          <p:spPr>
            <a:xfrm>
              <a:off x="402336" y="1624663"/>
              <a:ext cx="2194560" cy="23774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a:solidFill>
                    <a:srgbClr val="0F172A"/>
                  </a:solidFill>
                </a:rPr>
                <a:t>Step 2: Telemetry Merge</a:t>
              </a:r>
              <a:endParaRPr lang="en-US" sz="1200"/>
            </a:p>
          </p:txBody>
        </p:sp>
        <p:sp>
          <p:nvSpPr>
            <p:cNvPr id="72" name="Text 15">
              <a:extLst>
                <a:ext uri="{FF2B5EF4-FFF2-40B4-BE49-F238E27FC236}">
                  <a16:creationId xmlns:a16="http://schemas.microsoft.com/office/drawing/2014/main" id="{3ED52270-D35E-C31E-03C1-60A8D6EBC86E}"/>
                </a:ext>
              </a:extLst>
            </p:cNvPr>
            <p:cNvSpPr/>
            <p:nvPr/>
          </p:nvSpPr>
          <p:spPr>
            <a:xfrm>
              <a:off x="402336" y="1889770"/>
              <a:ext cx="4078224" cy="420624"/>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a:solidFill>
                    <a:srgbClr val="334155"/>
                  </a:solidFill>
                </a:rPr>
                <a:t>Hardware telemetry aggregated at asset-client-year level (CPU, memory, disk, temperature, network means). 45,109 telemetry rows → asset health context per ticket. ADS: 22,491 × 51 columns.</a:t>
              </a:r>
              <a:endParaRPr lang="en-US" sz="1100"/>
            </a:p>
          </p:txBody>
        </p:sp>
        <p:sp>
          <p:nvSpPr>
            <p:cNvPr id="73" name="Shape 16">
              <a:extLst>
                <a:ext uri="{FF2B5EF4-FFF2-40B4-BE49-F238E27FC236}">
                  <a16:creationId xmlns:a16="http://schemas.microsoft.com/office/drawing/2014/main" id="{0A41A7A1-6A80-145F-12A8-252496ADB193}"/>
                </a:ext>
              </a:extLst>
            </p:cNvPr>
            <p:cNvSpPr/>
            <p:nvPr/>
          </p:nvSpPr>
          <p:spPr>
            <a:xfrm>
              <a:off x="256032" y="2410356"/>
              <a:ext cx="4315968" cy="712533"/>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US"/>
            </a:p>
          </p:txBody>
        </p:sp>
        <p:sp>
          <p:nvSpPr>
            <p:cNvPr id="74" name="Shape 17">
              <a:extLst>
                <a:ext uri="{FF2B5EF4-FFF2-40B4-BE49-F238E27FC236}">
                  <a16:creationId xmlns:a16="http://schemas.microsoft.com/office/drawing/2014/main" id="{5F634EB0-EA6B-40A9-47F7-E457E6556FA4}"/>
                </a:ext>
              </a:extLst>
            </p:cNvPr>
            <p:cNvSpPr/>
            <p:nvPr/>
          </p:nvSpPr>
          <p:spPr>
            <a:xfrm>
              <a:off x="256032" y="2410356"/>
              <a:ext cx="54864" cy="712533"/>
            </a:xfrm>
            <a:prstGeom prst="rect">
              <a:avLst/>
            </a:prstGeom>
            <a:solidFill>
              <a:srgbClr val="2563EB"/>
            </a:solidFill>
            <a:ln w="12700">
              <a:solidFill>
                <a:srgbClr val="1E3A5F"/>
              </a:solidFill>
              <a:prstDash val="solid"/>
            </a:ln>
          </p:spPr>
          <p:txBody>
            <a:bodyPr/>
            <a:lstStyle/>
            <a:p>
              <a:endParaRPr lang="en-US"/>
            </a:p>
          </p:txBody>
        </p:sp>
        <p:sp>
          <p:nvSpPr>
            <p:cNvPr id="75" name="Text 18">
              <a:extLst>
                <a:ext uri="{FF2B5EF4-FFF2-40B4-BE49-F238E27FC236}">
                  <a16:creationId xmlns:a16="http://schemas.microsoft.com/office/drawing/2014/main" id="{C9975931-5774-BAAA-0B88-77405A55802C}"/>
                </a:ext>
              </a:extLst>
            </p:cNvPr>
            <p:cNvSpPr/>
            <p:nvPr/>
          </p:nvSpPr>
          <p:spPr>
            <a:xfrm>
              <a:off x="402336" y="2409666"/>
              <a:ext cx="2194560" cy="23774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a:solidFill>
                    <a:srgbClr val="0F172A"/>
                  </a:solidFill>
                </a:rPr>
                <a:t>Step 3: Feature Engineering</a:t>
              </a:r>
              <a:endParaRPr lang="en-US" sz="1200"/>
            </a:p>
          </p:txBody>
        </p:sp>
        <p:sp>
          <p:nvSpPr>
            <p:cNvPr id="76" name="Text 19">
              <a:extLst>
                <a:ext uri="{FF2B5EF4-FFF2-40B4-BE49-F238E27FC236}">
                  <a16:creationId xmlns:a16="http://schemas.microsoft.com/office/drawing/2014/main" id="{247655EE-C4BD-3F37-9C88-C7421DBE5585}"/>
                </a:ext>
              </a:extLst>
            </p:cNvPr>
            <p:cNvSpPr/>
            <p:nvPr/>
          </p:nvSpPr>
          <p:spPr>
            <a:xfrm>
              <a:off x="402336" y="2674773"/>
              <a:ext cx="4078224" cy="420624"/>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a:solidFill>
                    <a:srgbClr val="334155"/>
                  </a:solidFill>
                </a:rPr>
                <a:t>76 features across 4 groups — [TEXT] TF-IDF 700 features; [TEMPORAL] created_hour, is_weekend; [BEHAVIOURAL] escalation_flag (historical), reopen_flag; [CONTEXT] asset_id, client_id, device_type.</a:t>
              </a:r>
              <a:endParaRPr lang="en-US" sz="1100"/>
            </a:p>
          </p:txBody>
        </p:sp>
        <p:sp>
          <p:nvSpPr>
            <p:cNvPr id="77" name="Shape 20">
              <a:extLst>
                <a:ext uri="{FF2B5EF4-FFF2-40B4-BE49-F238E27FC236}">
                  <a16:creationId xmlns:a16="http://schemas.microsoft.com/office/drawing/2014/main" id="{D2797D5F-6EA4-7151-3E93-2534AD27F2CC}"/>
                </a:ext>
              </a:extLst>
            </p:cNvPr>
            <p:cNvSpPr/>
            <p:nvPr/>
          </p:nvSpPr>
          <p:spPr>
            <a:xfrm>
              <a:off x="256032" y="3186145"/>
              <a:ext cx="4315968" cy="721745"/>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US"/>
            </a:p>
          </p:txBody>
        </p:sp>
        <p:sp>
          <p:nvSpPr>
            <p:cNvPr id="78" name="Shape 21">
              <a:extLst>
                <a:ext uri="{FF2B5EF4-FFF2-40B4-BE49-F238E27FC236}">
                  <a16:creationId xmlns:a16="http://schemas.microsoft.com/office/drawing/2014/main" id="{C476864A-7425-18A5-16D4-5ECF7AE6D23C}"/>
                </a:ext>
              </a:extLst>
            </p:cNvPr>
            <p:cNvSpPr/>
            <p:nvPr/>
          </p:nvSpPr>
          <p:spPr>
            <a:xfrm>
              <a:off x="262932" y="3186145"/>
              <a:ext cx="54864" cy="721745"/>
            </a:xfrm>
            <a:prstGeom prst="rect">
              <a:avLst/>
            </a:prstGeom>
            <a:solidFill>
              <a:srgbClr val="2563EB"/>
            </a:solidFill>
            <a:ln w="12700">
              <a:solidFill>
                <a:srgbClr val="059669"/>
              </a:solidFill>
              <a:prstDash val="solid"/>
            </a:ln>
          </p:spPr>
          <p:txBody>
            <a:bodyPr/>
            <a:lstStyle/>
            <a:p>
              <a:endParaRPr lang="en-US"/>
            </a:p>
          </p:txBody>
        </p:sp>
        <p:sp>
          <p:nvSpPr>
            <p:cNvPr id="79" name="Text 22">
              <a:extLst>
                <a:ext uri="{FF2B5EF4-FFF2-40B4-BE49-F238E27FC236}">
                  <a16:creationId xmlns:a16="http://schemas.microsoft.com/office/drawing/2014/main" id="{3ADB6878-89AC-77F1-9677-E5032E71E3BE}"/>
                </a:ext>
              </a:extLst>
            </p:cNvPr>
            <p:cNvSpPr/>
            <p:nvPr/>
          </p:nvSpPr>
          <p:spPr>
            <a:xfrm>
              <a:off x="402336" y="3194670"/>
              <a:ext cx="2194560" cy="23774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a:solidFill>
                    <a:srgbClr val="0F172A"/>
                  </a:solidFill>
                </a:rPr>
                <a:t>Step 4: Leakage Guard</a:t>
              </a:r>
              <a:endParaRPr lang="en-US" sz="1200"/>
            </a:p>
          </p:txBody>
        </p:sp>
        <p:sp>
          <p:nvSpPr>
            <p:cNvPr id="80" name="Text 23">
              <a:extLst>
                <a:ext uri="{FF2B5EF4-FFF2-40B4-BE49-F238E27FC236}">
                  <a16:creationId xmlns:a16="http://schemas.microsoft.com/office/drawing/2014/main" id="{0687AB36-2A1D-8DC7-55FC-D2CC7CD23A59}"/>
                </a:ext>
              </a:extLst>
            </p:cNvPr>
            <p:cNvSpPr/>
            <p:nvPr/>
          </p:nvSpPr>
          <p:spPr>
            <a:xfrm>
              <a:off x="402336" y="3413710"/>
              <a:ext cx="4078224" cy="420624"/>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a:solidFill>
                    <a:srgbClr val="334155"/>
                  </a:solidFill>
                </a:rPr>
                <a:t>resolution_time_minutes, resolution_notes, sla_breach_flag excluded from all classification training. Time-split: 2023–24 train (15,012 rows) → 2025 test (7,479 rows).</a:t>
              </a:r>
              <a:endParaRPr lang="en-US" sz="1100"/>
            </a:p>
          </p:txBody>
        </p:sp>
      </p:grpSp>
      <p:grpSp>
        <p:nvGrpSpPr>
          <p:cNvPr id="85" name="Group 84">
            <a:extLst>
              <a:ext uri="{FF2B5EF4-FFF2-40B4-BE49-F238E27FC236}">
                <a16:creationId xmlns:a16="http://schemas.microsoft.com/office/drawing/2014/main" id="{719E25A8-7BDF-86C3-728B-9C27EFD87BF4}"/>
              </a:ext>
            </a:extLst>
          </p:cNvPr>
          <p:cNvGrpSpPr/>
          <p:nvPr/>
        </p:nvGrpSpPr>
        <p:grpSpPr>
          <a:xfrm>
            <a:off x="5367069" y="5116029"/>
            <a:ext cx="6675580" cy="1293763"/>
            <a:chOff x="2433891" y="3349970"/>
            <a:chExt cx="5913580" cy="1097982"/>
          </a:xfrm>
        </p:grpSpPr>
        <p:sp>
          <p:nvSpPr>
            <p:cNvPr id="81" name="Shape 30">
              <a:extLst>
                <a:ext uri="{FF2B5EF4-FFF2-40B4-BE49-F238E27FC236}">
                  <a16:creationId xmlns:a16="http://schemas.microsoft.com/office/drawing/2014/main" id="{CF7A85BD-2837-BD5C-DA46-1207C4231CC5}"/>
                </a:ext>
              </a:extLst>
            </p:cNvPr>
            <p:cNvSpPr/>
            <p:nvPr/>
          </p:nvSpPr>
          <p:spPr>
            <a:xfrm>
              <a:off x="2433891" y="3355148"/>
              <a:ext cx="5913580" cy="487718"/>
            </a:xfrm>
            <a:prstGeom prst="rect">
              <a:avLst/>
            </a:prstGeom>
            <a:solidFill>
              <a:srgbClr val="EDF4FB"/>
            </a:solidFill>
            <a:ln w="12700">
              <a:solidFill>
                <a:srgbClr val="156082"/>
              </a:solidFill>
              <a:prstDash val="solid"/>
            </a:ln>
          </p:spPr>
          <p:txBody>
            <a:bodyPr/>
            <a:lstStyle>
              <a:defPPr>
                <a:defRPr kern="0"/>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82" name="Text 31">
              <a:extLst>
                <a:ext uri="{FF2B5EF4-FFF2-40B4-BE49-F238E27FC236}">
                  <a16:creationId xmlns:a16="http://schemas.microsoft.com/office/drawing/2014/main" id="{BF6F9E3F-C297-7CA0-27A3-632921DC85D8}"/>
                </a:ext>
              </a:extLst>
            </p:cNvPr>
            <p:cNvSpPr/>
            <p:nvPr/>
          </p:nvSpPr>
          <p:spPr>
            <a:xfrm>
              <a:off x="2556645" y="3349970"/>
              <a:ext cx="5684756" cy="485827"/>
            </a:xfrm>
            <a:prstGeom prst="rect">
              <a:avLst/>
            </a:prstGeom>
            <a:noFill/>
            <a:ln/>
          </p:spPr>
          <p:txBody>
            <a:bodyPr wrap="square" lIns="91440" tIns="45720" rIns="91440" bIns="45720" rtlCol="0" anchor="ctr"/>
            <a:lstStyle>
              <a:defPPr>
                <a:defRPr kern="0"/>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56082"/>
                  </a:solidFill>
                  <a:effectLst/>
                  <a:uLnTx/>
                  <a:uFillTx/>
                  <a:latin typeface="Calibri"/>
                  <a:ea typeface="Calibri"/>
                  <a:cs typeface="Calibri"/>
                </a:rPr>
                <a:t>NLP is used here: </a:t>
              </a:r>
              <a:r>
                <a:rPr kumimoji="0" lang="en-US" sz="1100" b="0" i="0" u="none" strike="noStrike" kern="1200" cap="none" spc="0" normalizeH="0" baseline="0" noProof="0" err="1">
                  <a:ln>
                    <a:noFill/>
                  </a:ln>
                  <a:solidFill>
                    <a:srgbClr val="595959"/>
                  </a:solidFill>
                  <a:effectLst/>
                  <a:uLnTx/>
                  <a:uFillTx/>
                  <a:latin typeface="Calibri"/>
                  <a:ea typeface="Calibri"/>
                  <a:cs typeface="Calibri"/>
                </a:rPr>
                <a:t>ticket_detailed_description</a:t>
              </a:r>
              <a:r>
                <a:rPr kumimoji="0" lang="en-US" sz="1100" b="0" i="0" u="none" strike="noStrike" kern="1200" cap="none" spc="0" normalizeH="0" baseline="0" noProof="0">
                  <a:ln>
                    <a:noFill/>
                  </a:ln>
                  <a:solidFill>
                    <a:srgbClr val="595959"/>
                  </a:solidFill>
                  <a:effectLst/>
                  <a:uLnTx/>
                  <a:uFillTx/>
                  <a:latin typeface="Calibri"/>
                  <a:ea typeface="Calibri"/>
                  <a:cs typeface="Calibri"/>
                </a:rPr>
                <a:t> → TF-IDF </a:t>
              </a:r>
              <a:r>
                <a:rPr kumimoji="0" lang="en-US" sz="1100" b="0" i="0" u="none" strike="noStrike" kern="1200" cap="none" spc="0" normalizeH="0" baseline="0" noProof="0" err="1">
                  <a:ln>
                    <a:noFill/>
                  </a:ln>
                  <a:solidFill>
                    <a:srgbClr val="595959"/>
                  </a:solidFill>
                  <a:effectLst/>
                  <a:uLnTx/>
                  <a:uFillTx/>
                  <a:latin typeface="Calibri"/>
                  <a:ea typeface="Calibri"/>
                  <a:cs typeface="Calibri"/>
                </a:rPr>
                <a:t>vectoriser</a:t>
              </a:r>
              <a:r>
                <a:rPr kumimoji="0" lang="en-US" sz="1100" b="0" i="0" u="none" strike="noStrike" kern="1200" cap="none" spc="0" normalizeH="0" baseline="0" noProof="0">
                  <a:ln>
                    <a:noFill/>
                  </a:ln>
                  <a:solidFill>
                    <a:srgbClr val="595959"/>
                  </a:solidFill>
                  <a:effectLst/>
                  <a:uLnTx/>
                  <a:uFillTx/>
                  <a:latin typeface="Calibri"/>
                  <a:ea typeface="Calibri"/>
                  <a:cs typeface="Calibri"/>
                </a:rPr>
                <a:t> → sparse matrix → </a:t>
              </a:r>
              <a:r>
                <a:rPr kumimoji="0" lang="en-US" sz="1100" b="0" i="0" u="none" strike="noStrike" kern="1200" cap="none" spc="0" normalizeH="0" baseline="0" noProof="0" err="1">
                  <a:ln>
                    <a:noFill/>
                  </a:ln>
                  <a:solidFill>
                    <a:srgbClr val="595959"/>
                  </a:solidFill>
                  <a:effectLst/>
                  <a:uLnTx/>
                  <a:uFillTx/>
                  <a:latin typeface="Calibri"/>
                  <a:ea typeface="Calibri"/>
                  <a:cs typeface="Calibri"/>
                </a:rPr>
                <a:t>combined_text</a:t>
              </a:r>
              <a:r>
                <a:rPr kumimoji="0" lang="en-US" sz="1100" b="0" i="0" u="none" strike="noStrike" kern="1200" cap="none" spc="0" normalizeH="0" baseline="0" noProof="0">
                  <a:ln>
                    <a:noFill/>
                  </a:ln>
                  <a:solidFill>
                    <a:srgbClr val="595959"/>
                  </a:solidFill>
                  <a:effectLst/>
                  <a:uLnTx/>
                  <a:uFillTx/>
                  <a:latin typeface="Calibri"/>
                  <a:ea typeface="Calibri"/>
                  <a:cs typeface="Calibri"/>
                </a:rPr>
                <a:t> used for classification targets (</a:t>
              </a:r>
              <a:r>
                <a:rPr kumimoji="0" lang="en-US" sz="1100" b="0" i="0" u="none" strike="noStrike" kern="1200" cap="none" spc="0" normalizeH="0" baseline="0" noProof="0" err="1">
                  <a:ln>
                    <a:noFill/>
                  </a:ln>
                  <a:solidFill>
                    <a:srgbClr val="595959"/>
                  </a:solidFill>
                  <a:effectLst/>
                  <a:uLnTx/>
                  <a:uFillTx/>
                  <a:latin typeface="Calibri"/>
                  <a:ea typeface="Calibri"/>
                  <a:cs typeface="Calibri"/>
                </a:rPr>
                <a:t>ticket_category</a:t>
              </a:r>
              <a:r>
                <a:rPr kumimoji="0" lang="en-US" sz="1100" b="0" i="0" u="none" strike="noStrike" kern="1200" cap="none" spc="0" normalizeH="0" baseline="0" noProof="0">
                  <a:ln>
                    <a:noFill/>
                  </a:ln>
                  <a:solidFill>
                    <a:srgbClr val="595959"/>
                  </a:solidFill>
                  <a:effectLst/>
                  <a:uLnTx/>
                  <a:uFillTx/>
                  <a:latin typeface="Calibri"/>
                  <a:ea typeface="Calibri"/>
                  <a:cs typeface="Calibri"/>
                </a:rPr>
                <a:t>, </a:t>
              </a:r>
              <a:r>
                <a:rPr kumimoji="0" lang="en-US" sz="1100" b="0" i="0" u="none" strike="noStrike" kern="1200" cap="none" spc="0" normalizeH="0" baseline="0" noProof="0" err="1">
                  <a:ln>
                    <a:noFill/>
                  </a:ln>
                  <a:solidFill>
                    <a:srgbClr val="595959"/>
                  </a:solidFill>
                  <a:effectLst/>
                  <a:uLnTx/>
                  <a:uFillTx/>
                  <a:latin typeface="Calibri"/>
                  <a:ea typeface="Calibri"/>
                  <a:cs typeface="Calibri"/>
                </a:rPr>
                <a:t>issue_type</a:t>
              </a:r>
              <a:r>
                <a:rPr kumimoji="0" lang="en-US" sz="1100" b="0" i="0" u="none" strike="noStrike" kern="1200" cap="none" spc="0" normalizeH="0" baseline="0" noProof="0">
                  <a:ln>
                    <a:noFill/>
                  </a:ln>
                  <a:solidFill>
                    <a:srgbClr val="595959"/>
                  </a:solidFill>
                  <a:effectLst/>
                  <a:uLnTx/>
                  <a:uFillTx/>
                  <a:latin typeface="Calibri"/>
                  <a:ea typeface="Calibri"/>
                  <a:cs typeface="Calibri"/>
                </a:rPr>
                <a:t>) and recommendation retrieval. 31.69% missing descriptions reduce vocabulary richness and retrieval accuracy.</a:t>
              </a:r>
              <a:endParaRPr lang="en-US" sz="1100" b="0" i="0" u="none" strike="noStrike" kern="1200" cap="none" spc="0" normalizeH="0" baseline="0" noProof="0">
                <a:ln>
                  <a:noFill/>
                </a:ln>
                <a:solidFill>
                  <a:prstClr val="black"/>
                </a:solidFill>
                <a:effectLst/>
                <a:uLnTx/>
                <a:uFillTx/>
                <a:latin typeface="Calibri"/>
                <a:ea typeface="Calibri"/>
                <a:cs typeface="Calibri"/>
              </a:endParaRPr>
            </a:p>
          </p:txBody>
        </p:sp>
        <p:sp>
          <p:nvSpPr>
            <p:cNvPr id="83" name="Shape 32">
              <a:extLst>
                <a:ext uri="{FF2B5EF4-FFF2-40B4-BE49-F238E27FC236}">
                  <a16:creationId xmlns:a16="http://schemas.microsoft.com/office/drawing/2014/main" id="{B14DEBFE-F3DB-ACAB-CFDE-7C78D584D959}"/>
                </a:ext>
              </a:extLst>
            </p:cNvPr>
            <p:cNvSpPr/>
            <p:nvPr/>
          </p:nvSpPr>
          <p:spPr>
            <a:xfrm>
              <a:off x="2433891" y="3945408"/>
              <a:ext cx="5913580" cy="450816"/>
            </a:xfrm>
            <a:prstGeom prst="rect">
              <a:avLst/>
            </a:prstGeom>
            <a:solidFill>
              <a:srgbClr val="FFF2CC"/>
            </a:solidFill>
            <a:ln w="12700">
              <a:solidFill>
                <a:srgbClr val="BF8F00"/>
              </a:solidFill>
              <a:prstDash val="solid"/>
            </a:ln>
          </p:spPr>
          <p:txBody>
            <a:bodyPr/>
            <a:lstStyle>
              <a:defPPr>
                <a:defRPr kern="0"/>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84" name="Text 33">
              <a:extLst>
                <a:ext uri="{FF2B5EF4-FFF2-40B4-BE49-F238E27FC236}">
                  <a16:creationId xmlns:a16="http://schemas.microsoft.com/office/drawing/2014/main" id="{8985B6E6-04AD-7376-51B7-415F0213777F}"/>
                </a:ext>
              </a:extLst>
            </p:cNvPr>
            <p:cNvSpPr/>
            <p:nvPr/>
          </p:nvSpPr>
          <p:spPr>
            <a:xfrm>
              <a:off x="2554057" y="4012577"/>
              <a:ext cx="5793045" cy="435375"/>
            </a:xfrm>
            <a:prstGeom prst="rect">
              <a:avLst/>
            </a:prstGeom>
            <a:noFill/>
            <a:ln/>
          </p:spPr>
          <p:txBody>
            <a:bodyPr wrap="square" lIns="91440" tIns="45720" rIns="91440" bIns="45720" rtlCol="0" anchor="ctr"/>
            <a:lstStyle>
              <a:defPPr>
                <a:defRPr kern="0"/>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7F6000"/>
                  </a:solidFill>
                  <a:effectLst/>
                  <a:uLnTx/>
                  <a:uFillTx/>
                  <a:latin typeface="Calibri"/>
                  <a:ea typeface="Calibri"/>
                  <a:cs typeface="Calibri"/>
                </a:rPr>
                <a:t>⚠  </a:t>
              </a:r>
              <a:r>
                <a:rPr kumimoji="0" lang="en-US" sz="1100" b="0" i="0" u="none" strike="noStrike" kern="1200" cap="none" spc="0" normalizeH="0" baseline="0" noProof="0">
                  <a:ln>
                    <a:noFill/>
                  </a:ln>
                  <a:solidFill>
                    <a:srgbClr val="7F6000"/>
                  </a:solidFill>
                  <a:effectLst/>
                  <a:uLnTx/>
                  <a:uFillTx/>
                  <a:latin typeface="Calibri"/>
                  <a:ea typeface="Calibri"/>
                  <a:cs typeface="Calibri"/>
                </a:rPr>
                <a:t>DATA LIMITATION:  31.69% of tickets have no </a:t>
              </a:r>
              <a:r>
                <a:rPr kumimoji="0" lang="en-US" sz="1100" b="0" i="0" u="none" strike="noStrike" kern="1200" cap="none" spc="0" normalizeH="0" baseline="0" noProof="0" err="1">
                  <a:ln>
                    <a:noFill/>
                  </a:ln>
                  <a:solidFill>
                    <a:srgbClr val="7F6000"/>
                  </a:solidFill>
                  <a:effectLst/>
                  <a:uLnTx/>
                  <a:uFillTx/>
                  <a:latin typeface="Calibri"/>
                  <a:ea typeface="Calibri"/>
                  <a:cs typeface="Calibri"/>
                </a:rPr>
                <a:t>detailed_description</a:t>
              </a:r>
              <a:r>
                <a:rPr kumimoji="0" lang="en-US" sz="1100" b="0" i="0" u="none" strike="noStrike" kern="1200" cap="none" spc="0" normalizeH="0" baseline="0" noProof="0">
                  <a:ln>
                    <a:noFill/>
                  </a:ln>
                  <a:solidFill>
                    <a:srgbClr val="7F6000"/>
                  </a:solidFill>
                  <a:effectLst/>
                  <a:uLnTx/>
                  <a:uFillTx/>
                  <a:latin typeface="Calibri"/>
                  <a:ea typeface="Calibri"/>
                  <a:cs typeface="Calibri"/>
                </a:rPr>
                <a:t> — the primary NLP input. Weak text signal forces the model to rely more on structured features (</a:t>
              </a:r>
              <a:r>
                <a:rPr kumimoji="0" lang="en-US" sz="1100" b="0" i="0" u="none" strike="noStrike" kern="1200" cap="none" spc="0" normalizeH="0" baseline="0" noProof="0" err="1">
                  <a:ln>
                    <a:noFill/>
                  </a:ln>
                  <a:solidFill>
                    <a:srgbClr val="7F6000"/>
                  </a:solidFill>
                  <a:effectLst/>
                  <a:uLnTx/>
                  <a:uFillTx/>
                  <a:latin typeface="Calibri"/>
                  <a:ea typeface="Calibri"/>
                  <a:cs typeface="Calibri"/>
                </a:rPr>
                <a:t>client_id</a:t>
              </a:r>
              <a:r>
                <a:rPr kumimoji="0" lang="en-US" sz="1100" b="0" i="0" u="none" strike="noStrike" kern="1200" cap="none" spc="0" normalizeH="0" baseline="0" noProof="0">
                  <a:ln>
                    <a:noFill/>
                  </a:ln>
                  <a:solidFill>
                    <a:srgbClr val="7F6000"/>
                  </a:solidFill>
                  <a:effectLst/>
                  <a:uLnTx/>
                  <a:uFillTx/>
                  <a:latin typeface="Calibri"/>
                  <a:ea typeface="Calibri"/>
                  <a:cs typeface="Calibri"/>
                </a:rPr>
                <a:t>, </a:t>
              </a:r>
              <a:r>
                <a:rPr kumimoji="0" lang="en-US" sz="1100" b="0" i="0" u="none" strike="noStrike" kern="1200" cap="none" spc="0" normalizeH="0" baseline="0" noProof="0" err="1">
                  <a:ln>
                    <a:noFill/>
                  </a:ln>
                  <a:solidFill>
                    <a:srgbClr val="7F6000"/>
                  </a:solidFill>
                  <a:effectLst/>
                  <a:uLnTx/>
                  <a:uFillTx/>
                  <a:latin typeface="Calibri"/>
                  <a:ea typeface="Calibri"/>
                  <a:cs typeface="Calibri"/>
                </a:rPr>
                <a:t>asset_id</a:t>
              </a:r>
              <a:r>
                <a:rPr kumimoji="0" lang="en-US" sz="1100" b="0" i="0" u="none" strike="noStrike" kern="1200" cap="none" spc="0" normalizeH="0" baseline="0" noProof="0">
                  <a:ln>
                    <a:noFill/>
                  </a:ln>
                  <a:solidFill>
                    <a:srgbClr val="7F6000"/>
                  </a:solidFill>
                  <a:effectLst/>
                  <a:uLnTx/>
                  <a:uFillTx/>
                  <a:latin typeface="Calibri"/>
                  <a:ea typeface="Calibri"/>
                  <a:cs typeface="Calibri"/>
                </a:rPr>
                <a:t>) which limits generalizability.</a:t>
              </a:r>
              <a:endParaRPr kumimoji="0" lang="en-US" sz="1100" b="0" i="0" u="none" strike="noStrike" kern="1200" cap="none" spc="0" normalizeH="0" baseline="0" noProof="0">
                <a:ln>
                  <a:noFill/>
                </a:ln>
                <a:solidFill>
                  <a:prstClr val="black"/>
                </a:solidFill>
                <a:effectLst/>
                <a:uLnTx/>
                <a:uFillTx/>
                <a:latin typeface="Calibri"/>
                <a:ea typeface="Calibri"/>
                <a:cs typeface="Calibri"/>
              </a:endParaRPr>
            </a:p>
          </p:txBody>
        </p:sp>
      </p:grpSp>
    </p:spTree>
    <p:extLst>
      <p:ext uri="{BB962C8B-B14F-4D97-AF65-F5344CB8AC3E}">
        <p14:creationId xmlns:p14="http://schemas.microsoft.com/office/powerpoint/2010/main" val="3958833878"/>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8" name="Text 6"/>
          <p:cNvSpPr/>
          <p:nvPr/>
        </p:nvSpPr>
        <p:spPr>
          <a:xfrm>
            <a:off x="344968" y="878075"/>
            <a:ext cx="11721270" cy="626719"/>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b="1">
                <a:solidFill>
                  <a:srgbClr val="0F172A"/>
                </a:solidFill>
              </a:rPr>
              <a:t>Objective: </a:t>
            </a:r>
            <a:r>
              <a:rPr lang="en-US" sz="1600">
                <a:solidFill>
                  <a:srgbClr val="334155"/>
                </a:solidFill>
              </a:rPr>
              <a:t>classify incoming tickets by category, issue type, and priority using a 5-stage feature selection pipeline and TF-IDF text signals. Best model selected per target by composite score: F1-weighted × 0.6 + ROC-AUC × 0.4.</a:t>
            </a:r>
            <a:endParaRPr lang="en-US" sz="1600"/>
          </a:p>
        </p:txBody>
      </p:sp>
      <p:sp>
        <p:nvSpPr>
          <p:cNvPr id="9" name="Text 7"/>
          <p:cNvSpPr/>
          <p:nvPr/>
        </p:nvSpPr>
        <p:spPr>
          <a:xfrm>
            <a:off x="341376" y="1507552"/>
            <a:ext cx="5608320"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b="1">
                <a:solidFill>
                  <a:srgbClr val="1E3A5F"/>
                </a:solidFill>
              </a:rPr>
              <a:t>Stages of Model Training and Prediction:</a:t>
            </a:r>
            <a:endParaRPr lang="en-US" sz="1467"/>
          </a:p>
        </p:txBody>
      </p:sp>
      <p:sp>
        <p:nvSpPr>
          <p:cNvPr id="10" name="Shape 8"/>
          <p:cNvSpPr/>
          <p:nvPr/>
        </p:nvSpPr>
        <p:spPr>
          <a:xfrm>
            <a:off x="341376" y="1922080"/>
            <a:ext cx="5608320" cy="524256"/>
          </a:xfrm>
          <a:prstGeom prst="rect">
            <a:avLst/>
          </a:prstGeom>
          <a:solidFill>
            <a:srgbClr val="EFF6FF"/>
          </a:solidFill>
          <a:ln w="12700">
            <a:solidFill>
              <a:srgbClr val="2563EB"/>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11" name="Shape 9"/>
          <p:cNvSpPr/>
          <p:nvPr/>
        </p:nvSpPr>
        <p:spPr>
          <a:xfrm>
            <a:off x="341376" y="1922080"/>
            <a:ext cx="365760" cy="524256"/>
          </a:xfrm>
          <a:prstGeom prst="rect">
            <a:avLst/>
          </a:prstGeom>
          <a:solidFill>
            <a:srgbClr val="1E3A5F"/>
          </a:solidFill>
          <a:ln w="12700">
            <a:solidFill>
              <a:srgbClr val="2563EB"/>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12" name="Text 10"/>
          <p:cNvSpPr/>
          <p:nvPr/>
        </p:nvSpPr>
        <p:spPr>
          <a:xfrm>
            <a:off x="341376" y="1922080"/>
            <a:ext cx="365760" cy="5242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67" b="1">
                <a:solidFill>
                  <a:srgbClr val="FFFFFF"/>
                </a:solidFill>
              </a:rPr>
              <a:t>1</a:t>
            </a:r>
            <a:endParaRPr lang="en-US" sz="1467"/>
          </a:p>
        </p:txBody>
      </p:sp>
      <p:sp>
        <p:nvSpPr>
          <p:cNvPr id="13" name="Text 11"/>
          <p:cNvSpPr/>
          <p:nvPr/>
        </p:nvSpPr>
        <p:spPr>
          <a:xfrm>
            <a:off x="780287" y="1912792"/>
            <a:ext cx="3051484" cy="2194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b="1">
                <a:solidFill>
                  <a:srgbClr val="0F172A"/>
                </a:solidFill>
              </a:rPr>
              <a:t>Ticket Category:</a:t>
            </a:r>
            <a:endParaRPr lang="en-US" sz="1267"/>
          </a:p>
        </p:txBody>
      </p:sp>
      <p:sp>
        <p:nvSpPr>
          <p:cNvPr id="14" name="Text 12"/>
          <p:cNvSpPr/>
          <p:nvPr/>
        </p:nvSpPr>
        <p:spPr>
          <a:xfrm>
            <a:off x="780288" y="2141924"/>
            <a:ext cx="5096256" cy="2194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67">
                <a:solidFill>
                  <a:srgbClr val="334155"/>
                </a:solidFill>
              </a:rPr>
              <a:t>LR and RF trained. Best: Logistic Regression — 84.2% accuracy, AUC 0.951 (RF: 84.0%, AUC 0.948).</a:t>
            </a:r>
            <a:endParaRPr lang="en-US" sz="1067"/>
          </a:p>
        </p:txBody>
      </p:sp>
      <p:sp>
        <p:nvSpPr>
          <p:cNvPr id="15" name="Shape 13"/>
          <p:cNvSpPr/>
          <p:nvPr/>
        </p:nvSpPr>
        <p:spPr>
          <a:xfrm>
            <a:off x="341376" y="2489008"/>
            <a:ext cx="5608320" cy="524256"/>
          </a:xfrm>
          <a:prstGeom prst="rect">
            <a:avLst/>
          </a:prstGeom>
          <a:solidFill>
            <a:srgbClr val="EFF6FF"/>
          </a:solidFill>
          <a:ln w="12700">
            <a:solidFill>
              <a:srgbClr val="2563EB"/>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16" name="Shape 14"/>
          <p:cNvSpPr/>
          <p:nvPr/>
        </p:nvSpPr>
        <p:spPr>
          <a:xfrm>
            <a:off x="341376" y="2489008"/>
            <a:ext cx="365760" cy="524256"/>
          </a:xfrm>
          <a:prstGeom prst="rect">
            <a:avLst/>
          </a:prstGeom>
          <a:solidFill>
            <a:srgbClr val="1E3A5F"/>
          </a:solidFill>
          <a:ln w="12700">
            <a:solidFill>
              <a:srgbClr val="0891B2"/>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17" name="Text 15"/>
          <p:cNvSpPr/>
          <p:nvPr/>
        </p:nvSpPr>
        <p:spPr>
          <a:xfrm>
            <a:off x="341376" y="2489008"/>
            <a:ext cx="365760" cy="5242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67" b="1">
                <a:solidFill>
                  <a:srgbClr val="FFFFFF"/>
                </a:solidFill>
              </a:rPr>
              <a:t>2</a:t>
            </a:r>
            <a:endParaRPr lang="en-US" sz="1467"/>
          </a:p>
        </p:txBody>
      </p:sp>
      <p:sp>
        <p:nvSpPr>
          <p:cNvPr id="18" name="Text 16"/>
          <p:cNvSpPr/>
          <p:nvPr/>
        </p:nvSpPr>
        <p:spPr>
          <a:xfrm>
            <a:off x="780287" y="2479720"/>
            <a:ext cx="3051484" cy="2194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b="1">
                <a:solidFill>
                  <a:srgbClr val="0F172A"/>
                </a:solidFill>
              </a:rPr>
              <a:t>Issue Type (NLP-driven):</a:t>
            </a:r>
            <a:endParaRPr lang="en-US" sz="1267"/>
          </a:p>
        </p:txBody>
      </p:sp>
      <p:sp>
        <p:nvSpPr>
          <p:cNvPr id="19" name="Text 17"/>
          <p:cNvSpPr/>
          <p:nvPr/>
        </p:nvSpPr>
        <p:spPr>
          <a:xfrm>
            <a:off x="780288" y="2708852"/>
            <a:ext cx="5096256" cy="2194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67">
                <a:solidFill>
                  <a:srgbClr val="334155"/>
                </a:solidFill>
              </a:rPr>
              <a:t>LR and XGBoost. TF-IDF features dominate. Best by F1: LR — F1=0.728, acc 71.8%. XGBoost near-tied: acc 72.9%, F1=0.7279 (−0.00013). Winner: LR.</a:t>
            </a:r>
            <a:endParaRPr lang="en-US" sz="1067"/>
          </a:p>
        </p:txBody>
      </p:sp>
      <p:sp>
        <p:nvSpPr>
          <p:cNvPr id="20" name="Shape 18"/>
          <p:cNvSpPr/>
          <p:nvPr/>
        </p:nvSpPr>
        <p:spPr>
          <a:xfrm>
            <a:off x="341376" y="3055936"/>
            <a:ext cx="5608320" cy="524256"/>
          </a:xfrm>
          <a:prstGeom prst="rect">
            <a:avLst/>
          </a:prstGeom>
          <a:solidFill>
            <a:srgbClr val="EFF6FF"/>
          </a:solidFill>
          <a:ln w="12700">
            <a:solidFill>
              <a:srgbClr val="2563EB"/>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21" name="Shape 19"/>
          <p:cNvSpPr/>
          <p:nvPr/>
        </p:nvSpPr>
        <p:spPr>
          <a:xfrm>
            <a:off x="341376" y="3055936"/>
            <a:ext cx="365760" cy="524256"/>
          </a:xfrm>
          <a:prstGeom prst="rect">
            <a:avLst/>
          </a:prstGeom>
          <a:solidFill>
            <a:srgbClr val="D97706"/>
          </a:solidFill>
          <a:ln w="12700">
            <a:solidFill>
              <a:srgbClr val="D97706"/>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22" name="Text 20"/>
          <p:cNvSpPr/>
          <p:nvPr/>
        </p:nvSpPr>
        <p:spPr>
          <a:xfrm>
            <a:off x="341376" y="3055936"/>
            <a:ext cx="365760" cy="524256"/>
          </a:xfrm>
          <a:prstGeom prst="rect">
            <a:avLst/>
          </a:prstGeom>
          <a:solidFill>
            <a:srgbClr val="1E3A5F"/>
          </a:solid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67" b="1">
                <a:solidFill>
                  <a:srgbClr val="FFFFFF"/>
                </a:solidFill>
              </a:rPr>
              <a:t>3</a:t>
            </a:r>
            <a:endParaRPr lang="en-US" sz="1467"/>
          </a:p>
        </p:txBody>
      </p:sp>
      <p:sp>
        <p:nvSpPr>
          <p:cNvPr id="23" name="Text 21"/>
          <p:cNvSpPr/>
          <p:nvPr/>
        </p:nvSpPr>
        <p:spPr>
          <a:xfrm>
            <a:off x="780287" y="3046648"/>
            <a:ext cx="3051484" cy="2194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b="1">
                <a:solidFill>
                  <a:srgbClr val="0F172A"/>
                </a:solidFill>
              </a:rPr>
              <a:t>Ticket Priority:</a:t>
            </a:r>
            <a:endParaRPr lang="en-US" sz="1267"/>
          </a:p>
        </p:txBody>
      </p:sp>
      <p:sp>
        <p:nvSpPr>
          <p:cNvPr id="24" name="Text 22"/>
          <p:cNvSpPr/>
          <p:nvPr/>
        </p:nvSpPr>
        <p:spPr>
          <a:xfrm>
            <a:off x="780288" y="3275780"/>
            <a:ext cx="5096256" cy="2194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67">
                <a:solidFill>
                  <a:srgbClr val="334155"/>
                </a:solidFill>
              </a:rPr>
              <a:t>LR and RF. Uniform ~25% each class — no learnable signal. Best: RF — 54.1%, F1=0.509. Treated as informational only.</a:t>
            </a:r>
            <a:endParaRPr lang="en-US" sz="1067"/>
          </a:p>
        </p:txBody>
      </p:sp>
      <p:sp>
        <p:nvSpPr>
          <p:cNvPr id="25" name="Shape 23"/>
          <p:cNvSpPr/>
          <p:nvPr/>
        </p:nvSpPr>
        <p:spPr>
          <a:xfrm>
            <a:off x="341376" y="3622864"/>
            <a:ext cx="5608320" cy="524256"/>
          </a:xfrm>
          <a:prstGeom prst="rect">
            <a:avLst/>
          </a:prstGeom>
          <a:solidFill>
            <a:srgbClr val="EFF6FF"/>
          </a:solidFill>
          <a:ln w="12700">
            <a:solidFill>
              <a:srgbClr val="2563EB"/>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26" name="Shape 24"/>
          <p:cNvSpPr/>
          <p:nvPr/>
        </p:nvSpPr>
        <p:spPr>
          <a:xfrm>
            <a:off x="341376" y="3622864"/>
            <a:ext cx="365760" cy="524256"/>
          </a:xfrm>
          <a:prstGeom prst="rect">
            <a:avLst/>
          </a:prstGeom>
          <a:solidFill>
            <a:srgbClr val="1E3A5F"/>
          </a:solidFill>
          <a:ln w="12700">
            <a:solidFill>
              <a:srgbClr val="059669"/>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27" name="Text 25"/>
          <p:cNvSpPr/>
          <p:nvPr/>
        </p:nvSpPr>
        <p:spPr>
          <a:xfrm>
            <a:off x="341376" y="3622864"/>
            <a:ext cx="365760" cy="5242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67" b="1">
                <a:solidFill>
                  <a:srgbClr val="FFFFFF"/>
                </a:solidFill>
              </a:rPr>
              <a:t>4</a:t>
            </a:r>
            <a:endParaRPr lang="en-US" sz="1467"/>
          </a:p>
        </p:txBody>
      </p:sp>
      <p:sp>
        <p:nvSpPr>
          <p:cNvPr id="28" name="Text 26"/>
          <p:cNvSpPr/>
          <p:nvPr/>
        </p:nvSpPr>
        <p:spPr>
          <a:xfrm>
            <a:off x="780287" y="3613576"/>
            <a:ext cx="3051484" cy="2194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b="1">
                <a:solidFill>
                  <a:srgbClr val="0F172A"/>
                </a:solidFill>
              </a:rPr>
              <a:t>Resolution Time (Regression):</a:t>
            </a:r>
            <a:endParaRPr lang="en-US" sz="1267"/>
          </a:p>
        </p:txBody>
      </p:sp>
      <p:sp>
        <p:nvSpPr>
          <p:cNvPr id="29" name="Text 27"/>
          <p:cNvSpPr/>
          <p:nvPr/>
        </p:nvSpPr>
        <p:spPr>
          <a:xfrm>
            <a:off x="780288" y="3842708"/>
            <a:ext cx="5096256" cy="2194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67">
                <a:solidFill>
                  <a:srgbClr val="334155"/>
                </a:solidFill>
              </a:rPr>
              <a:t>Linear Regression and RF Regressor. Best: RF Regressor — R²=0.837, RMSE=513 min (Lin.Reg: R²=0.829, RMSE=526 min).</a:t>
            </a:r>
            <a:endParaRPr lang="en-US" sz="1067"/>
          </a:p>
        </p:txBody>
      </p:sp>
      <p:sp>
        <p:nvSpPr>
          <p:cNvPr id="30" name="Shape 28"/>
          <p:cNvSpPr/>
          <p:nvPr/>
        </p:nvSpPr>
        <p:spPr>
          <a:xfrm>
            <a:off x="341376" y="4189792"/>
            <a:ext cx="5608320" cy="524256"/>
          </a:xfrm>
          <a:prstGeom prst="rect">
            <a:avLst/>
          </a:prstGeom>
          <a:solidFill>
            <a:srgbClr val="EFF6FF"/>
          </a:solidFill>
          <a:ln w="12700">
            <a:solidFill>
              <a:srgbClr val="2563EB"/>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31" name="Shape 29"/>
          <p:cNvSpPr/>
          <p:nvPr/>
        </p:nvSpPr>
        <p:spPr>
          <a:xfrm>
            <a:off x="341376" y="4189792"/>
            <a:ext cx="365760" cy="524256"/>
          </a:xfrm>
          <a:prstGeom prst="rect">
            <a:avLst/>
          </a:prstGeom>
          <a:solidFill>
            <a:srgbClr val="1E3A5F"/>
          </a:solidFill>
          <a:ln w="12700">
            <a:solidFill>
              <a:srgbClr val="1E3A5F"/>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solidFill>
                <a:srgbClr val="1E3A5F"/>
              </a:solidFill>
            </a:endParaRPr>
          </a:p>
        </p:txBody>
      </p:sp>
      <p:sp>
        <p:nvSpPr>
          <p:cNvPr id="32" name="Text 30"/>
          <p:cNvSpPr/>
          <p:nvPr/>
        </p:nvSpPr>
        <p:spPr>
          <a:xfrm>
            <a:off x="341376" y="4189792"/>
            <a:ext cx="365760" cy="5242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67" b="1">
                <a:solidFill>
                  <a:srgbClr val="FFFFFF"/>
                </a:solidFill>
              </a:rPr>
              <a:t>5</a:t>
            </a:r>
            <a:endParaRPr lang="en-US" sz="1467"/>
          </a:p>
        </p:txBody>
      </p:sp>
      <p:sp>
        <p:nvSpPr>
          <p:cNvPr id="33" name="Text 31"/>
          <p:cNvSpPr/>
          <p:nvPr/>
        </p:nvSpPr>
        <p:spPr>
          <a:xfrm>
            <a:off x="780287" y="4180504"/>
            <a:ext cx="3051484" cy="2194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b="1">
                <a:solidFill>
                  <a:srgbClr val="0F172A"/>
                </a:solidFill>
              </a:rPr>
              <a:t>Feature Selection (5 stages):</a:t>
            </a:r>
            <a:endParaRPr lang="en-US" sz="1267"/>
          </a:p>
        </p:txBody>
      </p:sp>
      <p:sp>
        <p:nvSpPr>
          <p:cNvPr id="34" name="Text 32"/>
          <p:cNvSpPr/>
          <p:nvPr/>
        </p:nvSpPr>
        <p:spPr>
          <a:xfrm>
            <a:off x="780288" y="4409636"/>
            <a:ext cx="5096256" cy="2194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67">
                <a:solidFill>
                  <a:srgbClr val="334155"/>
                </a:solidFill>
              </a:rPr>
              <a:t>Variance (30→26, removed 4) → Correlation (26→22, |r|&gt;0.85) → Chi-sq (12 tested, 1 sig: region) → MI (20 active, MI&gt;0) → SelectKBest TF-IDF (500 tokens, top 50/target).</a:t>
            </a:r>
            <a:endParaRPr lang="en-US" sz="1067"/>
          </a:p>
        </p:txBody>
      </p:sp>
      <p:sp>
        <p:nvSpPr>
          <p:cNvPr id="35" name="Shape 33"/>
          <p:cNvSpPr/>
          <p:nvPr/>
        </p:nvSpPr>
        <p:spPr>
          <a:xfrm>
            <a:off x="341376" y="4756720"/>
            <a:ext cx="5608320" cy="524256"/>
          </a:xfrm>
          <a:prstGeom prst="rect">
            <a:avLst/>
          </a:prstGeom>
          <a:solidFill>
            <a:srgbClr val="EFF6FF"/>
          </a:solidFill>
          <a:ln w="12700">
            <a:solidFill>
              <a:srgbClr val="2563EB"/>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36" name="Shape 34"/>
          <p:cNvSpPr/>
          <p:nvPr/>
        </p:nvSpPr>
        <p:spPr>
          <a:xfrm>
            <a:off x="341376" y="4756720"/>
            <a:ext cx="365760" cy="524256"/>
          </a:xfrm>
          <a:prstGeom prst="rect">
            <a:avLst/>
          </a:prstGeom>
          <a:solidFill>
            <a:srgbClr val="1E3A5F"/>
          </a:solidFill>
          <a:ln w="12700">
            <a:solidFill>
              <a:srgbClr val="2563EB"/>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37" name="Text 35"/>
          <p:cNvSpPr/>
          <p:nvPr/>
        </p:nvSpPr>
        <p:spPr>
          <a:xfrm>
            <a:off x="341376" y="4756720"/>
            <a:ext cx="365760" cy="5242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67" b="1">
                <a:solidFill>
                  <a:srgbClr val="FFFFFF"/>
                </a:solidFill>
              </a:rPr>
              <a:t>6</a:t>
            </a:r>
            <a:endParaRPr lang="en-US" sz="1467"/>
          </a:p>
        </p:txBody>
      </p:sp>
      <p:sp>
        <p:nvSpPr>
          <p:cNvPr id="38" name="Text 36"/>
          <p:cNvSpPr/>
          <p:nvPr/>
        </p:nvSpPr>
        <p:spPr>
          <a:xfrm>
            <a:off x="780287" y="4747432"/>
            <a:ext cx="3051484" cy="2194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b="1">
                <a:solidFill>
                  <a:srgbClr val="0F172A"/>
                </a:solidFill>
              </a:rPr>
              <a:t>Train/Test Split + Leakage Guard:</a:t>
            </a:r>
            <a:endParaRPr lang="en-US" sz="1267"/>
          </a:p>
        </p:txBody>
      </p:sp>
      <p:sp>
        <p:nvSpPr>
          <p:cNvPr id="39" name="Text 37"/>
          <p:cNvSpPr/>
          <p:nvPr/>
        </p:nvSpPr>
        <p:spPr>
          <a:xfrm>
            <a:off x="780288" y="4976564"/>
            <a:ext cx="5096256" cy="2194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050">
                <a:solidFill>
                  <a:srgbClr val="334155"/>
                </a:solidFill>
              </a:rPr>
              <a:t>Time-based: Train 15,012 rows (2023–24) → Test 7,479 rows (2025). Excluded: resolution time, resolution notes, </a:t>
            </a:r>
            <a:r>
              <a:rPr lang="en-US" sz="1050" err="1">
                <a:solidFill>
                  <a:srgbClr val="334155"/>
                </a:solidFill>
              </a:rPr>
              <a:t>sla</a:t>
            </a:r>
            <a:r>
              <a:rPr lang="en-US" sz="1050">
                <a:solidFill>
                  <a:srgbClr val="334155"/>
                </a:solidFill>
              </a:rPr>
              <a:t> breach flag, escalation flag, ticket reopen flag.</a:t>
            </a:r>
            <a:endParaRPr lang="en-US" sz="1050"/>
          </a:p>
        </p:txBody>
      </p:sp>
      <p:sp>
        <p:nvSpPr>
          <p:cNvPr id="40" name="Shape 38"/>
          <p:cNvSpPr/>
          <p:nvPr/>
        </p:nvSpPr>
        <p:spPr>
          <a:xfrm>
            <a:off x="341376" y="5323648"/>
            <a:ext cx="5608320" cy="524256"/>
          </a:xfrm>
          <a:prstGeom prst="rect">
            <a:avLst/>
          </a:prstGeom>
          <a:solidFill>
            <a:srgbClr val="EFF6FF"/>
          </a:solidFill>
          <a:ln w="12700">
            <a:solidFill>
              <a:srgbClr val="2563EB"/>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41" name="Shape 39"/>
          <p:cNvSpPr/>
          <p:nvPr/>
        </p:nvSpPr>
        <p:spPr>
          <a:xfrm>
            <a:off x="341376" y="5323648"/>
            <a:ext cx="365760" cy="524256"/>
          </a:xfrm>
          <a:prstGeom prst="rect">
            <a:avLst/>
          </a:prstGeom>
          <a:solidFill>
            <a:srgbClr val="0891B2"/>
          </a:solidFill>
          <a:ln w="12700">
            <a:solidFill>
              <a:srgbClr val="0891B2"/>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42" name="Text 40"/>
          <p:cNvSpPr/>
          <p:nvPr/>
        </p:nvSpPr>
        <p:spPr>
          <a:xfrm>
            <a:off x="341376" y="5323648"/>
            <a:ext cx="365760" cy="524256"/>
          </a:xfrm>
          <a:prstGeom prst="rect">
            <a:avLst/>
          </a:prstGeom>
          <a:solidFill>
            <a:srgbClr val="1E3A5F"/>
          </a:solid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67" b="1">
                <a:solidFill>
                  <a:srgbClr val="FFFFFF"/>
                </a:solidFill>
              </a:rPr>
              <a:t>7</a:t>
            </a:r>
            <a:endParaRPr lang="en-US" sz="1467"/>
          </a:p>
        </p:txBody>
      </p:sp>
      <p:sp>
        <p:nvSpPr>
          <p:cNvPr id="43" name="Text 41"/>
          <p:cNvSpPr/>
          <p:nvPr/>
        </p:nvSpPr>
        <p:spPr>
          <a:xfrm>
            <a:off x="780287" y="5314360"/>
            <a:ext cx="3051484" cy="2194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b="1">
                <a:solidFill>
                  <a:srgbClr val="0F172A"/>
                </a:solidFill>
              </a:rPr>
              <a:t>Top TF-IDF Tokens:</a:t>
            </a:r>
            <a:endParaRPr lang="en-US" sz="1267"/>
          </a:p>
        </p:txBody>
      </p:sp>
      <p:sp>
        <p:nvSpPr>
          <p:cNvPr id="44" name="Text 42"/>
          <p:cNvSpPr/>
          <p:nvPr/>
        </p:nvSpPr>
        <p:spPr>
          <a:xfrm>
            <a:off x="780288" y="5543492"/>
            <a:ext cx="5096256" cy="2194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050">
                <a:solidFill>
                  <a:srgbClr val="334155"/>
                </a:solidFill>
              </a:rPr>
              <a:t>Ticket category: 'network' (χ²=1531), 'power self' (1133), 'test post' (1123). Issue type: 'experienced' (χ²=3280), 'disk wait' (2763), 'network latency' (2358).</a:t>
            </a:r>
            <a:endParaRPr lang="en-US" sz="1050"/>
          </a:p>
        </p:txBody>
      </p:sp>
      <p:sp>
        <p:nvSpPr>
          <p:cNvPr id="45" name="Shape 43"/>
          <p:cNvSpPr/>
          <p:nvPr/>
        </p:nvSpPr>
        <p:spPr>
          <a:xfrm>
            <a:off x="341376" y="5890576"/>
            <a:ext cx="5608320" cy="524256"/>
          </a:xfrm>
          <a:prstGeom prst="rect">
            <a:avLst/>
          </a:prstGeom>
          <a:solidFill>
            <a:srgbClr val="EFF6FF"/>
          </a:solidFill>
          <a:ln w="12700">
            <a:solidFill>
              <a:srgbClr val="2563EB"/>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46" name="Shape 44"/>
          <p:cNvSpPr/>
          <p:nvPr/>
        </p:nvSpPr>
        <p:spPr>
          <a:xfrm>
            <a:off x="341376" y="5890576"/>
            <a:ext cx="365760" cy="524256"/>
          </a:xfrm>
          <a:prstGeom prst="rect">
            <a:avLst/>
          </a:prstGeom>
          <a:solidFill>
            <a:srgbClr val="059669"/>
          </a:solidFill>
          <a:ln w="12700">
            <a:solidFill>
              <a:srgbClr val="059669"/>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47" name="Text 45"/>
          <p:cNvSpPr/>
          <p:nvPr/>
        </p:nvSpPr>
        <p:spPr>
          <a:xfrm>
            <a:off x="341376" y="5890576"/>
            <a:ext cx="365760" cy="524256"/>
          </a:xfrm>
          <a:prstGeom prst="rect">
            <a:avLst/>
          </a:prstGeom>
          <a:solidFill>
            <a:srgbClr val="1E3A5F"/>
          </a:solid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67" b="1">
                <a:solidFill>
                  <a:srgbClr val="FFFFFF"/>
                </a:solidFill>
              </a:rPr>
              <a:t>8</a:t>
            </a:r>
            <a:endParaRPr lang="en-US" sz="1467"/>
          </a:p>
        </p:txBody>
      </p:sp>
      <p:sp>
        <p:nvSpPr>
          <p:cNvPr id="48" name="Text 46"/>
          <p:cNvSpPr/>
          <p:nvPr/>
        </p:nvSpPr>
        <p:spPr>
          <a:xfrm>
            <a:off x="780287" y="5881288"/>
            <a:ext cx="3051484" cy="2194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b="1">
                <a:solidFill>
                  <a:srgbClr val="0F172A"/>
                </a:solidFill>
              </a:rPr>
              <a:t>Decision Layer:</a:t>
            </a:r>
            <a:endParaRPr lang="en-US" sz="1267"/>
          </a:p>
        </p:txBody>
      </p:sp>
      <p:sp>
        <p:nvSpPr>
          <p:cNvPr id="49" name="Text 47"/>
          <p:cNvSpPr/>
          <p:nvPr/>
        </p:nvSpPr>
        <p:spPr>
          <a:xfrm>
            <a:off x="780288" y="6110420"/>
            <a:ext cx="5096256" cy="2194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67">
                <a:solidFill>
                  <a:srgbClr val="334155"/>
                </a:solidFill>
              </a:rPr>
              <a:t>16 open synthetic tickets scored. Predicted category, issue type, priority, resolution time, and recommended engineer group → fed into Ticket_03 AHP assignment engine.</a:t>
            </a:r>
            <a:endParaRPr lang="en-US" sz="1067"/>
          </a:p>
        </p:txBody>
      </p:sp>
      <p:sp>
        <p:nvSpPr>
          <p:cNvPr id="50" name="Shape 48"/>
          <p:cNvSpPr/>
          <p:nvPr/>
        </p:nvSpPr>
        <p:spPr>
          <a:xfrm>
            <a:off x="341376" y="6469696"/>
            <a:ext cx="5608320" cy="329184"/>
          </a:xfrm>
          <a:prstGeom prst="rect">
            <a:avLst/>
          </a:prstGeom>
          <a:solidFill>
            <a:srgbClr val="FFFBEB"/>
          </a:solidFill>
          <a:ln w="12700">
            <a:solidFill>
              <a:srgbClr val="D97706"/>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51" name="Text 49"/>
          <p:cNvSpPr/>
          <p:nvPr/>
        </p:nvSpPr>
        <p:spPr>
          <a:xfrm>
            <a:off x="414528" y="6494080"/>
            <a:ext cx="5437632" cy="28041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050" b="1">
                <a:solidFill>
                  <a:srgbClr val="D97706"/>
                </a:solidFill>
              </a:rPr>
              <a:t>⚠  </a:t>
            </a:r>
            <a:r>
              <a:rPr lang="en-US" sz="1050">
                <a:solidFill>
                  <a:srgbClr val="78350F"/>
                </a:solidFill>
              </a:rPr>
              <a:t>ticket priority near chance (54.1%) — uniform ~25% class distribution in synthetic data. Outputs treated as indicative, not predictive.</a:t>
            </a:r>
            <a:endParaRPr lang="en-US" sz="1050"/>
          </a:p>
        </p:txBody>
      </p:sp>
      <p:grpSp>
        <p:nvGrpSpPr>
          <p:cNvPr id="258" name="Group 257">
            <a:extLst>
              <a:ext uri="{FF2B5EF4-FFF2-40B4-BE49-F238E27FC236}">
                <a16:creationId xmlns:a16="http://schemas.microsoft.com/office/drawing/2014/main" id="{B540BBFB-BC67-276A-8AA3-E8B5976F8221}"/>
              </a:ext>
            </a:extLst>
          </p:cNvPr>
          <p:cNvGrpSpPr/>
          <p:nvPr/>
        </p:nvGrpSpPr>
        <p:grpSpPr>
          <a:xfrm>
            <a:off x="6100126" y="1505469"/>
            <a:ext cx="6023770" cy="2318597"/>
            <a:chOff x="4645151" y="1188720"/>
            <a:chExt cx="3759855" cy="1737360"/>
          </a:xfrm>
        </p:grpSpPr>
        <p:sp>
          <p:nvSpPr>
            <p:cNvPr id="52" name="Shape 50"/>
            <p:cNvSpPr/>
            <p:nvPr/>
          </p:nvSpPr>
          <p:spPr>
            <a:xfrm>
              <a:off x="4645151" y="1188720"/>
              <a:ext cx="3727441" cy="180171"/>
            </a:xfrm>
            <a:prstGeom prst="rect">
              <a:avLst/>
            </a:prstGeom>
            <a:solidFill>
              <a:srgbClr val="0F172A"/>
            </a:solidFill>
            <a:ln w="12700">
              <a:solidFill>
                <a:srgbClr val="0F172A"/>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53" name="Text 51"/>
            <p:cNvSpPr/>
            <p:nvPr/>
          </p:nvSpPr>
          <p:spPr>
            <a:xfrm>
              <a:off x="4645152" y="1201589"/>
              <a:ext cx="3520440" cy="154432"/>
            </a:xfrm>
            <a:prstGeom prst="rect">
              <a:avLst/>
            </a:prstGeom>
            <a:noFill/>
            <a:ln/>
          </p:spPr>
          <p:txBody>
            <a:bodyPr wrap="square" lIns="0" tIns="0" rIns="135467"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133" b="1" kern="0" spc="40">
                  <a:solidFill>
                    <a:srgbClr val="94A3B8"/>
                  </a:solidFill>
                </a:rPr>
                <a:t>MODEL PERFORMANCE SUMMARY  ·  2025 HOLDOUT</a:t>
              </a:r>
              <a:endParaRPr lang="en-US" sz="1133"/>
            </a:p>
          </p:txBody>
        </p:sp>
        <p:sp>
          <p:nvSpPr>
            <p:cNvPr id="54" name="Shape 52"/>
            <p:cNvSpPr/>
            <p:nvPr/>
          </p:nvSpPr>
          <p:spPr>
            <a:xfrm>
              <a:off x="4645152" y="1368891"/>
              <a:ext cx="872523" cy="173736"/>
            </a:xfrm>
            <a:prstGeom prst="rect">
              <a:avLst/>
            </a:prstGeom>
            <a:solidFill>
              <a:srgbClr val="1E3A5F"/>
            </a:solidFill>
            <a:ln w="12700">
              <a:solidFill>
                <a:srgbClr val="2D4A6A"/>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55" name="Text 53"/>
            <p:cNvSpPr/>
            <p:nvPr/>
          </p:nvSpPr>
          <p:spPr>
            <a:xfrm>
              <a:off x="4645152" y="1368891"/>
              <a:ext cx="872523" cy="17373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133" b="1">
                  <a:solidFill>
                    <a:srgbClr val="FFFFFF"/>
                  </a:solidFill>
                </a:rPr>
                <a:t>Target</a:t>
              </a:r>
              <a:endParaRPr lang="en-US" sz="1133"/>
            </a:p>
          </p:txBody>
        </p:sp>
        <p:sp>
          <p:nvSpPr>
            <p:cNvPr id="56" name="Shape 54"/>
            <p:cNvSpPr/>
            <p:nvPr/>
          </p:nvSpPr>
          <p:spPr>
            <a:xfrm>
              <a:off x="5517675" y="1368891"/>
              <a:ext cx="1198771" cy="173736"/>
            </a:xfrm>
            <a:prstGeom prst="rect">
              <a:avLst/>
            </a:prstGeom>
            <a:solidFill>
              <a:srgbClr val="1E3A5F"/>
            </a:solidFill>
            <a:ln w="12700">
              <a:solidFill>
                <a:srgbClr val="2D4A6A"/>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57" name="Text 55"/>
            <p:cNvSpPr/>
            <p:nvPr/>
          </p:nvSpPr>
          <p:spPr>
            <a:xfrm>
              <a:off x="5517675" y="1368891"/>
              <a:ext cx="1198771" cy="17373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133" b="1">
                  <a:solidFill>
                    <a:srgbClr val="FFFFFF"/>
                  </a:solidFill>
                </a:rPr>
                <a:t>Model</a:t>
              </a:r>
              <a:endParaRPr lang="en-US" sz="1133"/>
            </a:p>
          </p:txBody>
        </p:sp>
        <p:sp>
          <p:nvSpPr>
            <p:cNvPr id="58" name="Shape 56"/>
            <p:cNvSpPr/>
            <p:nvPr/>
          </p:nvSpPr>
          <p:spPr>
            <a:xfrm>
              <a:off x="6716445" y="1368891"/>
              <a:ext cx="424881" cy="173736"/>
            </a:xfrm>
            <a:prstGeom prst="rect">
              <a:avLst/>
            </a:prstGeom>
            <a:solidFill>
              <a:srgbClr val="1E3A5F"/>
            </a:solidFill>
            <a:ln w="12700">
              <a:solidFill>
                <a:srgbClr val="2D4A6A"/>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59" name="Text 57"/>
            <p:cNvSpPr/>
            <p:nvPr/>
          </p:nvSpPr>
          <p:spPr>
            <a:xfrm>
              <a:off x="6716445" y="1368891"/>
              <a:ext cx="424881" cy="17373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133" b="1">
                  <a:solidFill>
                    <a:srgbClr val="FFFFFF"/>
                  </a:solidFill>
                </a:rPr>
                <a:t>Acc</a:t>
              </a:r>
              <a:endParaRPr lang="en-US" sz="1133"/>
            </a:p>
          </p:txBody>
        </p:sp>
        <p:sp>
          <p:nvSpPr>
            <p:cNvPr id="60" name="Shape 58"/>
            <p:cNvSpPr/>
            <p:nvPr/>
          </p:nvSpPr>
          <p:spPr>
            <a:xfrm>
              <a:off x="7141326" y="1368891"/>
              <a:ext cx="394532" cy="173736"/>
            </a:xfrm>
            <a:prstGeom prst="rect">
              <a:avLst/>
            </a:prstGeom>
            <a:solidFill>
              <a:srgbClr val="1E3A5F"/>
            </a:solidFill>
            <a:ln w="12700">
              <a:solidFill>
                <a:srgbClr val="2D4A6A"/>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61" name="Text 59"/>
            <p:cNvSpPr/>
            <p:nvPr/>
          </p:nvSpPr>
          <p:spPr>
            <a:xfrm>
              <a:off x="7141326" y="1368891"/>
              <a:ext cx="394532" cy="17373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133" b="1">
                  <a:solidFill>
                    <a:srgbClr val="FFFFFF"/>
                  </a:solidFill>
                </a:rPr>
                <a:t>F1</a:t>
              </a:r>
              <a:endParaRPr lang="en-US" sz="1133"/>
            </a:p>
          </p:txBody>
        </p:sp>
        <p:sp>
          <p:nvSpPr>
            <p:cNvPr id="62" name="Shape 60"/>
            <p:cNvSpPr/>
            <p:nvPr/>
          </p:nvSpPr>
          <p:spPr>
            <a:xfrm>
              <a:off x="7535858" y="1368891"/>
              <a:ext cx="838800" cy="173736"/>
            </a:xfrm>
            <a:prstGeom prst="rect">
              <a:avLst/>
            </a:prstGeom>
            <a:solidFill>
              <a:srgbClr val="1E3A5F"/>
            </a:solidFill>
            <a:ln w="12700">
              <a:solidFill>
                <a:srgbClr val="2D4A6A"/>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63" name="Text 61"/>
            <p:cNvSpPr/>
            <p:nvPr/>
          </p:nvSpPr>
          <p:spPr>
            <a:xfrm>
              <a:off x="7535858" y="1368891"/>
              <a:ext cx="629734" cy="17373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133" b="1">
                  <a:solidFill>
                    <a:srgbClr val="FFFFFF"/>
                  </a:solidFill>
                </a:rPr>
                <a:t>AUC / R²</a:t>
              </a:r>
              <a:endParaRPr lang="en-US" sz="1133"/>
            </a:p>
          </p:txBody>
        </p:sp>
        <p:sp>
          <p:nvSpPr>
            <p:cNvPr id="64" name="Shape 62"/>
            <p:cNvSpPr/>
            <p:nvPr/>
          </p:nvSpPr>
          <p:spPr>
            <a:xfrm>
              <a:off x="4645152" y="1542627"/>
              <a:ext cx="872523" cy="167301"/>
            </a:xfrm>
            <a:prstGeom prst="rect">
              <a:avLst/>
            </a:prstGeom>
            <a:solidFill>
              <a:srgbClr val="FFFFFF"/>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65" name="Text 63"/>
            <p:cNvSpPr/>
            <p:nvPr/>
          </p:nvSpPr>
          <p:spPr>
            <a:xfrm>
              <a:off x="4675501" y="1542627"/>
              <a:ext cx="811826" cy="16730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900">
                  <a:solidFill>
                    <a:srgbClr val="0F172A"/>
                  </a:solidFill>
                </a:rPr>
                <a:t>Ticket category</a:t>
              </a:r>
              <a:endParaRPr lang="en-US" sz="933"/>
            </a:p>
          </p:txBody>
        </p:sp>
        <p:sp>
          <p:nvSpPr>
            <p:cNvPr id="66" name="Shape 64"/>
            <p:cNvSpPr/>
            <p:nvPr/>
          </p:nvSpPr>
          <p:spPr>
            <a:xfrm>
              <a:off x="5517675" y="1542627"/>
              <a:ext cx="1198771" cy="167301"/>
            </a:xfrm>
            <a:prstGeom prst="rect">
              <a:avLst/>
            </a:prstGeom>
            <a:solidFill>
              <a:srgbClr val="FFFFFF"/>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67" name="Text 65"/>
            <p:cNvSpPr/>
            <p:nvPr/>
          </p:nvSpPr>
          <p:spPr>
            <a:xfrm>
              <a:off x="5548023" y="1542627"/>
              <a:ext cx="1138073" cy="16730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900" b="1">
                  <a:solidFill>
                    <a:srgbClr val="2563EB"/>
                  </a:solidFill>
                </a:rPr>
                <a:t>Logistic regression ★</a:t>
              </a:r>
              <a:endParaRPr lang="en-US" sz="900"/>
            </a:p>
          </p:txBody>
        </p:sp>
        <p:sp>
          <p:nvSpPr>
            <p:cNvPr id="68" name="Shape 66"/>
            <p:cNvSpPr/>
            <p:nvPr/>
          </p:nvSpPr>
          <p:spPr>
            <a:xfrm>
              <a:off x="6716445" y="1542627"/>
              <a:ext cx="424881" cy="167301"/>
            </a:xfrm>
            <a:prstGeom prst="rect">
              <a:avLst/>
            </a:prstGeom>
            <a:solidFill>
              <a:srgbClr val="FFFFFF"/>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69" name="Text 67"/>
            <p:cNvSpPr/>
            <p:nvPr/>
          </p:nvSpPr>
          <p:spPr>
            <a:xfrm>
              <a:off x="6746794" y="1542627"/>
              <a:ext cx="364183" cy="16730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933" b="1">
                  <a:solidFill>
                    <a:srgbClr val="059669"/>
                  </a:solidFill>
                </a:rPr>
                <a:t>84.2%</a:t>
              </a:r>
              <a:endParaRPr lang="en-US" sz="933"/>
            </a:p>
          </p:txBody>
        </p:sp>
        <p:sp>
          <p:nvSpPr>
            <p:cNvPr id="70" name="Shape 68"/>
            <p:cNvSpPr/>
            <p:nvPr/>
          </p:nvSpPr>
          <p:spPr>
            <a:xfrm>
              <a:off x="7141326" y="1542627"/>
              <a:ext cx="394532" cy="167301"/>
            </a:xfrm>
            <a:prstGeom prst="rect">
              <a:avLst/>
            </a:prstGeom>
            <a:solidFill>
              <a:srgbClr val="FFFFFF"/>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71" name="Text 69"/>
            <p:cNvSpPr/>
            <p:nvPr/>
          </p:nvSpPr>
          <p:spPr>
            <a:xfrm>
              <a:off x="7171675" y="1542627"/>
              <a:ext cx="333835" cy="16730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933" b="1">
                  <a:solidFill>
                    <a:srgbClr val="059669"/>
                  </a:solidFill>
                </a:rPr>
                <a:t>0.842</a:t>
              </a:r>
              <a:endParaRPr lang="en-US" sz="933"/>
            </a:p>
          </p:txBody>
        </p:sp>
        <p:sp>
          <p:nvSpPr>
            <p:cNvPr id="72" name="Shape 70"/>
            <p:cNvSpPr/>
            <p:nvPr/>
          </p:nvSpPr>
          <p:spPr>
            <a:xfrm>
              <a:off x="7535858" y="1542627"/>
              <a:ext cx="838800" cy="167301"/>
            </a:xfrm>
            <a:prstGeom prst="rect">
              <a:avLst/>
            </a:prstGeom>
            <a:solidFill>
              <a:srgbClr val="FFFFFF"/>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73" name="Text 71"/>
            <p:cNvSpPr/>
            <p:nvPr/>
          </p:nvSpPr>
          <p:spPr>
            <a:xfrm>
              <a:off x="7566206" y="1542627"/>
              <a:ext cx="838800" cy="16730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933" b="1">
                  <a:solidFill>
                    <a:srgbClr val="059669"/>
                  </a:solidFill>
                </a:rPr>
                <a:t>AUC 0.951</a:t>
              </a:r>
              <a:endParaRPr lang="en-US" sz="933"/>
            </a:p>
          </p:txBody>
        </p:sp>
        <p:sp>
          <p:nvSpPr>
            <p:cNvPr id="74" name="Shape 72"/>
            <p:cNvSpPr/>
            <p:nvPr/>
          </p:nvSpPr>
          <p:spPr>
            <a:xfrm>
              <a:off x="4645152" y="1716363"/>
              <a:ext cx="872523" cy="167301"/>
            </a:xfrm>
            <a:prstGeom prst="rect">
              <a:avLst/>
            </a:prstGeom>
            <a:solidFill>
              <a:srgbClr val="F8FAFC"/>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933"/>
            </a:p>
          </p:txBody>
        </p:sp>
        <p:sp>
          <p:nvSpPr>
            <p:cNvPr id="75" name="Text 73"/>
            <p:cNvSpPr/>
            <p:nvPr/>
          </p:nvSpPr>
          <p:spPr>
            <a:xfrm>
              <a:off x="4675501" y="1716363"/>
              <a:ext cx="811826" cy="16730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endParaRPr lang="en-US" sz="933"/>
            </a:p>
          </p:txBody>
        </p:sp>
        <p:sp>
          <p:nvSpPr>
            <p:cNvPr id="76" name="Shape 74"/>
            <p:cNvSpPr/>
            <p:nvPr/>
          </p:nvSpPr>
          <p:spPr>
            <a:xfrm>
              <a:off x="5517675" y="1716363"/>
              <a:ext cx="1198771" cy="167301"/>
            </a:xfrm>
            <a:prstGeom prst="rect">
              <a:avLst/>
            </a:prstGeom>
            <a:solidFill>
              <a:srgbClr val="F8FAFC"/>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933"/>
            </a:p>
          </p:txBody>
        </p:sp>
        <p:sp>
          <p:nvSpPr>
            <p:cNvPr id="77" name="Text 75"/>
            <p:cNvSpPr/>
            <p:nvPr/>
          </p:nvSpPr>
          <p:spPr>
            <a:xfrm>
              <a:off x="5548023" y="1716363"/>
              <a:ext cx="1138073" cy="16730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900">
                  <a:solidFill>
                    <a:srgbClr val="0F172A"/>
                  </a:solidFill>
                </a:rPr>
                <a:t>Random forest</a:t>
              </a:r>
              <a:endParaRPr lang="en-US" sz="900"/>
            </a:p>
          </p:txBody>
        </p:sp>
        <p:sp>
          <p:nvSpPr>
            <p:cNvPr id="78" name="Shape 76"/>
            <p:cNvSpPr/>
            <p:nvPr/>
          </p:nvSpPr>
          <p:spPr>
            <a:xfrm>
              <a:off x="6716445" y="1716363"/>
              <a:ext cx="424881" cy="167301"/>
            </a:xfrm>
            <a:prstGeom prst="rect">
              <a:avLst/>
            </a:prstGeom>
            <a:solidFill>
              <a:srgbClr val="F8FAFC"/>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933"/>
            </a:p>
          </p:txBody>
        </p:sp>
        <p:sp>
          <p:nvSpPr>
            <p:cNvPr id="79" name="Text 77"/>
            <p:cNvSpPr/>
            <p:nvPr/>
          </p:nvSpPr>
          <p:spPr>
            <a:xfrm>
              <a:off x="6746794" y="1716363"/>
              <a:ext cx="364183" cy="16730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933">
                  <a:solidFill>
                    <a:srgbClr val="64748B"/>
                  </a:solidFill>
                </a:rPr>
                <a:t>84.0%</a:t>
              </a:r>
              <a:endParaRPr lang="en-US" sz="933"/>
            </a:p>
          </p:txBody>
        </p:sp>
        <p:sp>
          <p:nvSpPr>
            <p:cNvPr id="80" name="Shape 78"/>
            <p:cNvSpPr/>
            <p:nvPr/>
          </p:nvSpPr>
          <p:spPr>
            <a:xfrm>
              <a:off x="7141326" y="1716363"/>
              <a:ext cx="394532" cy="167301"/>
            </a:xfrm>
            <a:prstGeom prst="rect">
              <a:avLst/>
            </a:prstGeom>
            <a:solidFill>
              <a:srgbClr val="F8FAFC"/>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933"/>
            </a:p>
          </p:txBody>
        </p:sp>
        <p:sp>
          <p:nvSpPr>
            <p:cNvPr id="81" name="Text 79"/>
            <p:cNvSpPr/>
            <p:nvPr/>
          </p:nvSpPr>
          <p:spPr>
            <a:xfrm>
              <a:off x="7171675" y="1716363"/>
              <a:ext cx="333835" cy="16730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933">
                  <a:solidFill>
                    <a:srgbClr val="64748B"/>
                  </a:solidFill>
                </a:rPr>
                <a:t>0.840</a:t>
              </a:r>
              <a:endParaRPr lang="en-US" sz="933"/>
            </a:p>
          </p:txBody>
        </p:sp>
        <p:sp>
          <p:nvSpPr>
            <p:cNvPr id="82" name="Shape 80"/>
            <p:cNvSpPr/>
            <p:nvPr/>
          </p:nvSpPr>
          <p:spPr>
            <a:xfrm>
              <a:off x="7535858" y="1716363"/>
              <a:ext cx="838800" cy="167301"/>
            </a:xfrm>
            <a:prstGeom prst="rect">
              <a:avLst/>
            </a:prstGeom>
            <a:solidFill>
              <a:srgbClr val="F8FAFC"/>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933"/>
            </a:p>
          </p:txBody>
        </p:sp>
        <p:sp>
          <p:nvSpPr>
            <p:cNvPr id="83" name="Text 81"/>
            <p:cNvSpPr/>
            <p:nvPr/>
          </p:nvSpPr>
          <p:spPr>
            <a:xfrm>
              <a:off x="7566207" y="1716363"/>
              <a:ext cx="569037" cy="16730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933">
                  <a:solidFill>
                    <a:srgbClr val="64748B"/>
                  </a:solidFill>
                </a:rPr>
                <a:t>AUC 0.948</a:t>
              </a:r>
              <a:endParaRPr lang="en-US" sz="933"/>
            </a:p>
          </p:txBody>
        </p:sp>
        <p:sp>
          <p:nvSpPr>
            <p:cNvPr id="84" name="Shape 82"/>
            <p:cNvSpPr/>
            <p:nvPr/>
          </p:nvSpPr>
          <p:spPr>
            <a:xfrm>
              <a:off x="4645152" y="1890099"/>
              <a:ext cx="872523" cy="167301"/>
            </a:xfrm>
            <a:prstGeom prst="rect">
              <a:avLst/>
            </a:prstGeom>
            <a:solidFill>
              <a:srgbClr val="EFF6FF"/>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933"/>
            </a:p>
          </p:txBody>
        </p:sp>
        <p:sp>
          <p:nvSpPr>
            <p:cNvPr id="85" name="Text 83"/>
            <p:cNvSpPr/>
            <p:nvPr/>
          </p:nvSpPr>
          <p:spPr>
            <a:xfrm>
              <a:off x="4675501" y="1890099"/>
              <a:ext cx="811826" cy="16730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900">
                  <a:solidFill>
                    <a:srgbClr val="0F172A"/>
                  </a:solidFill>
                </a:rPr>
                <a:t>Issue type</a:t>
              </a:r>
              <a:endParaRPr lang="en-US" sz="900"/>
            </a:p>
          </p:txBody>
        </p:sp>
        <p:sp>
          <p:nvSpPr>
            <p:cNvPr id="86" name="Shape 84"/>
            <p:cNvSpPr/>
            <p:nvPr/>
          </p:nvSpPr>
          <p:spPr>
            <a:xfrm>
              <a:off x="5517675" y="1890099"/>
              <a:ext cx="1198771" cy="167301"/>
            </a:xfrm>
            <a:prstGeom prst="rect">
              <a:avLst/>
            </a:prstGeom>
            <a:solidFill>
              <a:srgbClr val="EFF6FF"/>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933"/>
            </a:p>
          </p:txBody>
        </p:sp>
        <p:sp>
          <p:nvSpPr>
            <p:cNvPr id="87" name="Text 85"/>
            <p:cNvSpPr/>
            <p:nvPr/>
          </p:nvSpPr>
          <p:spPr>
            <a:xfrm>
              <a:off x="5548023" y="1890099"/>
              <a:ext cx="1138073" cy="16730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900" b="1">
                  <a:solidFill>
                    <a:srgbClr val="2563EB"/>
                  </a:solidFill>
                </a:rPr>
                <a:t>Logistic regression ★</a:t>
              </a:r>
              <a:endParaRPr lang="en-US" sz="933"/>
            </a:p>
          </p:txBody>
        </p:sp>
        <p:sp>
          <p:nvSpPr>
            <p:cNvPr id="88" name="Shape 86"/>
            <p:cNvSpPr/>
            <p:nvPr/>
          </p:nvSpPr>
          <p:spPr>
            <a:xfrm>
              <a:off x="6716445" y="1890099"/>
              <a:ext cx="424881" cy="167301"/>
            </a:xfrm>
            <a:prstGeom prst="rect">
              <a:avLst/>
            </a:prstGeom>
            <a:solidFill>
              <a:srgbClr val="EFF6FF"/>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933"/>
            </a:p>
          </p:txBody>
        </p:sp>
        <p:sp>
          <p:nvSpPr>
            <p:cNvPr id="89" name="Text 87"/>
            <p:cNvSpPr/>
            <p:nvPr/>
          </p:nvSpPr>
          <p:spPr>
            <a:xfrm>
              <a:off x="6746794" y="1890099"/>
              <a:ext cx="364183" cy="16730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933" b="1">
                  <a:solidFill>
                    <a:srgbClr val="059669"/>
                  </a:solidFill>
                </a:rPr>
                <a:t>71.8%</a:t>
              </a:r>
              <a:endParaRPr lang="en-US" sz="933"/>
            </a:p>
          </p:txBody>
        </p:sp>
        <p:sp>
          <p:nvSpPr>
            <p:cNvPr id="90" name="Shape 88"/>
            <p:cNvSpPr/>
            <p:nvPr/>
          </p:nvSpPr>
          <p:spPr>
            <a:xfrm>
              <a:off x="7141326" y="1890099"/>
              <a:ext cx="394532" cy="167301"/>
            </a:xfrm>
            <a:prstGeom prst="rect">
              <a:avLst/>
            </a:prstGeom>
            <a:solidFill>
              <a:srgbClr val="EFF6FF"/>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933"/>
            </a:p>
          </p:txBody>
        </p:sp>
        <p:sp>
          <p:nvSpPr>
            <p:cNvPr id="91" name="Text 89"/>
            <p:cNvSpPr/>
            <p:nvPr/>
          </p:nvSpPr>
          <p:spPr>
            <a:xfrm>
              <a:off x="7171675" y="1890099"/>
              <a:ext cx="333835" cy="16730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933" b="1">
                  <a:solidFill>
                    <a:srgbClr val="059669"/>
                  </a:solidFill>
                </a:rPr>
                <a:t>0.728 ★</a:t>
              </a:r>
              <a:endParaRPr lang="en-US" sz="933"/>
            </a:p>
          </p:txBody>
        </p:sp>
        <p:sp>
          <p:nvSpPr>
            <p:cNvPr id="92" name="Shape 90"/>
            <p:cNvSpPr/>
            <p:nvPr/>
          </p:nvSpPr>
          <p:spPr>
            <a:xfrm>
              <a:off x="7535858" y="1890099"/>
              <a:ext cx="838800" cy="167301"/>
            </a:xfrm>
            <a:prstGeom prst="rect">
              <a:avLst/>
            </a:prstGeom>
            <a:solidFill>
              <a:srgbClr val="EFF6FF"/>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933"/>
            </a:p>
          </p:txBody>
        </p:sp>
        <p:sp>
          <p:nvSpPr>
            <p:cNvPr id="93" name="Text 91"/>
            <p:cNvSpPr/>
            <p:nvPr/>
          </p:nvSpPr>
          <p:spPr>
            <a:xfrm>
              <a:off x="7566207" y="1890099"/>
              <a:ext cx="569037" cy="16730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933" b="1">
                  <a:solidFill>
                    <a:srgbClr val="059669"/>
                  </a:solidFill>
                </a:rPr>
                <a:t>—</a:t>
              </a:r>
              <a:endParaRPr lang="en-US" sz="933"/>
            </a:p>
          </p:txBody>
        </p:sp>
        <p:sp>
          <p:nvSpPr>
            <p:cNvPr id="94" name="Shape 92"/>
            <p:cNvSpPr/>
            <p:nvPr/>
          </p:nvSpPr>
          <p:spPr>
            <a:xfrm>
              <a:off x="4645152" y="2063835"/>
              <a:ext cx="872523" cy="167301"/>
            </a:xfrm>
            <a:prstGeom prst="rect">
              <a:avLst/>
            </a:prstGeom>
            <a:solidFill>
              <a:srgbClr val="EFF6FF"/>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933"/>
            </a:p>
          </p:txBody>
        </p:sp>
        <p:sp>
          <p:nvSpPr>
            <p:cNvPr id="95" name="Text 93"/>
            <p:cNvSpPr/>
            <p:nvPr/>
          </p:nvSpPr>
          <p:spPr>
            <a:xfrm>
              <a:off x="4675501" y="2063835"/>
              <a:ext cx="811826" cy="16730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endParaRPr lang="en-US" sz="933"/>
            </a:p>
          </p:txBody>
        </p:sp>
        <p:sp>
          <p:nvSpPr>
            <p:cNvPr id="96" name="Shape 94"/>
            <p:cNvSpPr/>
            <p:nvPr/>
          </p:nvSpPr>
          <p:spPr>
            <a:xfrm>
              <a:off x="5517675" y="2063835"/>
              <a:ext cx="1198771" cy="167301"/>
            </a:xfrm>
            <a:prstGeom prst="rect">
              <a:avLst/>
            </a:prstGeom>
            <a:solidFill>
              <a:srgbClr val="EFF6FF"/>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933"/>
            </a:p>
          </p:txBody>
        </p:sp>
        <p:sp>
          <p:nvSpPr>
            <p:cNvPr id="97" name="Text 95"/>
            <p:cNvSpPr/>
            <p:nvPr/>
          </p:nvSpPr>
          <p:spPr>
            <a:xfrm>
              <a:off x="5548023" y="2063835"/>
              <a:ext cx="1138073" cy="16730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933">
                  <a:solidFill>
                    <a:srgbClr val="0F172A"/>
                  </a:solidFill>
                </a:rPr>
                <a:t>xgboost (near-tied)</a:t>
              </a:r>
              <a:endParaRPr lang="en-US" sz="933"/>
            </a:p>
          </p:txBody>
        </p:sp>
        <p:sp>
          <p:nvSpPr>
            <p:cNvPr id="98" name="Shape 96"/>
            <p:cNvSpPr/>
            <p:nvPr/>
          </p:nvSpPr>
          <p:spPr>
            <a:xfrm>
              <a:off x="6716445" y="2063835"/>
              <a:ext cx="424881" cy="167301"/>
            </a:xfrm>
            <a:prstGeom prst="rect">
              <a:avLst/>
            </a:prstGeom>
            <a:solidFill>
              <a:srgbClr val="EFF6FF"/>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933"/>
            </a:p>
          </p:txBody>
        </p:sp>
        <p:sp>
          <p:nvSpPr>
            <p:cNvPr id="99" name="Text 97"/>
            <p:cNvSpPr/>
            <p:nvPr/>
          </p:nvSpPr>
          <p:spPr>
            <a:xfrm>
              <a:off x="6746794" y="2063835"/>
              <a:ext cx="364183" cy="16730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933">
                  <a:solidFill>
                    <a:srgbClr val="D97706"/>
                  </a:solidFill>
                </a:rPr>
                <a:t>72.9%</a:t>
              </a:r>
              <a:endParaRPr lang="en-US" sz="933"/>
            </a:p>
          </p:txBody>
        </p:sp>
        <p:sp>
          <p:nvSpPr>
            <p:cNvPr id="100" name="Shape 98"/>
            <p:cNvSpPr/>
            <p:nvPr/>
          </p:nvSpPr>
          <p:spPr>
            <a:xfrm>
              <a:off x="7141326" y="2063835"/>
              <a:ext cx="394532" cy="167301"/>
            </a:xfrm>
            <a:prstGeom prst="rect">
              <a:avLst/>
            </a:prstGeom>
            <a:solidFill>
              <a:srgbClr val="EFF6FF"/>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933"/>
            </a:p>
          </p:txBody>
        </p:sp>
        <p:sp>
          <p:nvSpPr>
            <p:cNvPr id="101" name="Text 99"/>
            <p:cNvSpPr/>
            <p:nvPr/>
          </p:nvSpPr>
          <p:spPr>
            <a:xfrm>
              <a:off x="7171675" y="2063835"/>
              <a:ext cx="333835" cy="16730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933">
                  <a:solidFill>
                    <a:srgbClr val="D97706"/>
                  </a:solidFill>
                </a:rPr>
                <a:t>0.728</a:t>
              </a:r>
              <a:endParaRPr lang="en-US" sz="933"/>
            </a:p>
          </p:txBody>
        </p:sp>
        <p:sp>
          <p:nvSpPr>
            <p:cNvPr id="102" name="Shape 100"/>
            <p:cNvSpPr/>
            <p:nvPr/>
          </p:nvSpPr>
          <p:spPr>
            <a:xfrm>
              <a:off x="7535858" y="2063835"/>
              <a:ext cx="838800" cy="167301"/>
            </a:xfrm>
            <a:prstGeom prst="rect">
              <a:avLst/>
            </a:prstGeom>
            <a:solidFill>
              <a:srgbClr val="EFF6FF"/>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933"/>
            </a:p>
          </p:txBody>
        </p:sp>
        <p:sp>
          <p:nvSpPr>
            <p:cNvPr id="103" name="Text 101"/>
            <p:cNvSpPr/>
            <p:nvPr/>
          </p:nvSpPr>
          <p:spPr>
            <a:xfrm>
              <a:off x="7566207" y="2063835"/>
              <a:ext cx="569037" cy="16730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933">
                  <a:solidFill>
                    <a:srgbClr val="D97706"/>
                  </a:solidFill>
                </a:rPr>
                <a:t>—</a:t>
              </a:r>
              <a:endParaRPr lang="en-US" sz="933"/>
            </a:p>
          </p:txBody>
        </p:sp>
        <p:sp>
          <p:nvSpPr>
            <p:cNvPr id="104" name="Shape 102"/>
            <p:cNvSpPr/>
            <p:nvPr/>
          </p:nvSpPr>
          <p:spPr>
            <a:xfrm>
              <a:off x="4645152" y="2237571"/>
              <a:ext cx="872523" cy="167301"/>
            </a:xfrm>
            <a:prstGeom prst="rect">
              <a:avLst/>
            </a:prstGeom>
            <a:solidFill>
              <a:srgbClr val="FFFBEB"/>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933"/>
            </a:p>
          </p:txBody>
        </p:sp>
        <p:sp>
          <p:nvSpPr>
            <p:cNvPr id="105" name="Text 103"/>
            <p:cNvSpPr/>
            <p:nvPr/>
          </p:nvSpPr>
          <p:spPr>
            <a:xfrm>
              <a:off x="4675501" y="2237571"/>
              <a:ext cx="811826" cy="16730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900">
                  <a:solidFill>
                    <a:srgbClr val="0F172A"/>
                  </a:solidFill>
                </a:rPr>
                <a:t>Ticket priority</a:t>
              </a:r>
              <a:endParaRPr lang="en-US" sz="933"/>
            </a:p>
          </p:txBody>
        </p:sp>
        <p:sp>
          <p:nvSpPr>
            <p:cNvPr id="106" name="Shape 104"/>
            <p:cNvSpPr/>
            <p:nvPr/>
          </p:nvSpPr>
          <p:spPr>
            <a:xfrm>
              <a:off x="5517675" y="2237571"/>
              <a:ext cx="1198771" cy="167301"/>
            </a:xfrm>
            <a:prstGeom prst="rect">
              <a:avLst/>
            </a:prstGeom>
            <a:solidFill>
              <a:srgbClr val="FFFBEB"/>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933"/>
            </a:p>
          </p:txBody>
        </p:sp>
        <p:sp>
          <p:nvSpPr>
            <p:cNvPr id="107" name="Text 105"/>
            <p:cNvSpPr/>
            <p:nvPr/>
          </p:nvSpPr>
          <p:spPr>
            <a:xfrm>
              <a:off x="5548023" y="2237571"/>
              <a:ext cx="1138073" cy="16730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900" b="1">
                  <a:solidFill>
                    <a:srgbClr val="2563EB"/>
                  </a:solidFill>
                </a:rPr>
                <a:t>Random forest ★</a:t>
              </a:r>
              <a:endParaRPr lang="en-US" sz="900"/>
            </a:p>
          </p:txBody>
        </p:sp>
        <p:sp>
          <p:nvSpPr>
            <p:cNvPr id="108" name="Shape 106"/>
            <p:cNvSpPr/>
            <p:nvPr/>
          </p:nvSpPr>
          <p:spPr>
            <a:xfrm>
              <a:off x="6716445" y="2237571"/>
              <a:ext cx="424881" cy="167301"/>
            </a:xfrm>
            <a:prstGeom prst="rect">
              <a:avLst/>
            </a:prstGeom>
            <a:solidFill>
              <a:srgbClr val="FFFBEB"/>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933"/>
            </a:p>
          </p:txBody>
        </p:sp>
        <p:sp>
          <p:nvSpPr>
            <p:cNvPr id="109" name="Text 107"/>
            <p:cNvSpPr/>
            <p:nvPr/>
          </p:nvSpPr>
          <p:spPr>
            <a:xfrm>
              <a:off x="6746794" y="2237571"/>
              <a:ext cx="364183" cy="16730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933">
                  <a:solidFill>
                    <a:srgbClr val="DC2626"/>
                  </a:solidFill>
                </a:rPr>
                <a:t>54.1%</a:t>
              </a:r>
              <a:endParaRPr lang="en-US" sz="933"/>
            </a:p>
          </p:txBody>
        </p:sp>
        <p:sp>
          <p:nvSpPr>
            <p:cNvPr id="110" name="Shape 108"/>
            <p:cNvSpPr/>
            <p:nvPr/>
          </p:nvSpPr>
          <p:spPr>
            <a:xfrm>
              <a:off x="7141326" y="2237571"/>
              <a:ext cx="394532" cy="167301"/>
            </a:xfrm>
            <a:prstGeom prst="rect">
              <a:avLst/>
            </a:prstGeom>
            <a:solidFill>
              <a:srgbClr val="FFFBEB"/>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933"/>
            </a:p>
          </p:txBody>
        </p:sp>
        <p:sp>
          <p:nvSpPr>
            <p:cNvPr id="111" name="Text 109"/>
            <p:cNvSpPr/>
            <p:nvPr/>
          </p:nvSpPr>
          <p:spPr>
            <a:xfrm>
              <a:off x="7171675" y="2237571"/>
              <a:ext cx="333835" cy="16730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933">
                  <a:solidFill>
                    <a:srgbClr val="DC2626"/>
                  </a:solidFill>
                </a:rPr>
                <a:t>0.509</a:t>
              </a:r>
              <a:endParaRPr lang="en-US" sz="933"/>
            </a:p>
          </p:txBody>
        </p:sp>
        <p:sp>
          <p:nvSpPr>
            <p:cNvPr id="112" name="Shape 110"/>
            <p:cNvSpPr/>
            <p:nvPr/>
          </p:nvSpPr>
          <p:spPr>
            <a:xfrm>
              <a:off x="7535857" y="2237571"/>
              <a:ext cx="838885" cy="154433"/>
            </a:xfrm>
            <a:prstGeom prst="rect">
              <a:avLst/>
            </a:prstGeom>
            <a:solidFill>
              <a:srgbClr val="FFFBEB"/>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933"/>
            </a:p>
          </p:txBody>
        </p:sp>
        <p:sp>
          <p:nvSpPr>
            <p:cNvPr id="113" name="Text 111"/>
            <p:cNvSpPr/>
            <p:nvPr/>
          </p:nvSpPr>
          <p:spPr>
            <a:xfrm>
              <a:off x="7566207" y="2237571"/>
              <a:ext cx="569037" cy="16730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933">
                  <a:solidFill>
                    <a:srgbClr val="DC2626"/>
                  </a:solidFill>
                </a:rPr>
                <a:t>—</a:t>
              </a:r>
              <a:endParaRPr lang="en-US" sz="933"/>
            </a:p>
          </p:txBody>
        </p:sp>
        <p:sp>
          <p:nvSpPr>
            <p:cNvPr id="114" name="Shape 112"/>
            <p:cNvSpPr/>
            <p:nvPr/>
          </p:nvSpPr>
          <p:spPr>
            <a:xfrm>
              <a:off x="4645152" y="2411307"/>
              <a:ext cx="872523" cy="167301"/>
            </a:xfrm>
            <a:prstGeom prst="rect">
              <a:avLst/>
            </a:prstGeom>
            <a:solidFill>
              <a:srgbClr val="FFFBEB"/>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933"/>
            </a:p>
          </p:txBody>
        </p:sp>
        <p:sp>
          <p:nvSpPr>
            <p:cNvPr id="115" name="Text 113"/>
            <p:cNvSpPr/>
            <p:nvPr/>
          </p:nvSpPr>
          <p:spPr>
            <a:xfrm>
              <a:off x="4675501" y="2411307"/>
              <a:ext cx="811826" cy="16730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endParaRPr lang="en-US" sz="933"/>
            </a:p>
          </p:txBody>
        </p:sp>
        <p:sp>
          <p:nvSpPr>
            <p:cNvPr id="116" name="Shape 114"/>
            <p:cNvSpPr/>
            <p:nvPr/>
          </p:nvSpPr>
          <p:spPr>
            <a:xfrm>
              <a:off x="5517675" y="2411307"/>
              <a:ext cx="1198771" cy="167301"/>
            </a:xfrm>
            <a:prstGeom prst="rect">
              <a:avLst/>
            </a:prstGeom>
            <a:solidFill>
              <a:srgbClr val="FFFBEB"/>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933"/>
            </a:p>
          </p:txBody>
        </p:sp>
        <p:sp>
          <p:nvSpPr>
            <p:cNvPr id="117" name="Text 115"/>
            <p:cNvSpPr/>
            <p:nvPr/>
          </p:nvSpPr>
          <p:spPr>
            <a:xfrm>
              <a:off x="5548023" y="2411307"/>
              <a:ext cx="1138073" cy="16730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900">
                  <a:solidFill>
                    <a:srgbClr val="0F172A"/>
                  </a:solidFill>
                </a:rPr>
                <a:t>Logistic regression</a:t>
              </a:r>
              <a:endParaRPr lang="en-US" sz="933"/>
            </a:p>
          </p:txBody>
        </p:sp>
        <p:sp>
          <p:nvSpPr>
            <p:cNvPr id="118" name="Shape 116"/>
            <p:cNvSpPr/>
            <p:nvPr/>
          </p:nvSpPr>
          <p:spPr>
            <a:xfrm>
              <a:off x="6716445" y="2411307"/>
              <a:ext cx="424881" cy="167301"/>
            </a:xfrm>
            <a:prstGeom prst="rect">
              <a:avLst/>
            </a:prstGeom>
            <a:solidFill>
              <a:srgbClr val="FFFBEB"/>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933"/>
            </a:p>
          </p:txBody>
        </p:sp>
        <p:sp>
          <p:nvSpPr>
            <p:cNvPr id="119" name="Text 117"/>
            <p:cNvSpPr/>
            <p:nvPr/>
          </p:nvSpPr>
          <p:spPr>
            <a:xfrm>
              <a:off x="6746794" y="2411307"/>
              <a:ext cx="364183" cy="16730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933">
                  <a:solidFill>
                    <a:srgbClr val="DC2626"/>
                  </a:solidFill>
                </a:rPr>
                <a:t>47.9%</a:t>
              </a:r>
              <a:endParaRPr lang="en-US" sz="933"/>
            </a:p>
          </p:txBody>
        </p:sp>
        <p:sp>
          <p:nvSpPr>
            <p:cNvPr id="120" name="Shape 118"/>
            <p:cNvSpPr/>
            <p:nvPr/>
          </p:nvSpPr>
          <p:spPr>
            <a:xfrm>
              <a:off x="7141326" y="2411307"/>
              <a:ext cx="394532" cy="167301"/>
            </a:xfrm>
            <a:prstGeom prst="rect">
              <a:avLst/>
            </a:prstGeom>
            <a:solidFill>
              <a:srgbClr val="FFFBEB"/>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933"/>
            </a:p>
          </p:txBody>
        </p:sp>
        <p:sp>
          <p:nvSpPr>
            <p:cNvPr id="121" name="Text 119"/>
            <p:cNvSpPr/>
            <p:nvPr/>
          </p:nvSpPr>
          <p:spPr>
            <a:xfrm>
              <a:off x="7171675" y="2411307"/>
              <a:ext cx="333835" cy="16730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933">
                  <a:solidFill>
                    <a:srgbClr val="DC2626"/>
                  </a:solidFill>
                </a:rPr>
                <a:t>0.459</a:t>
              </a:r>
              <a:endParaRPr lang="en-US" sz="933"/>
            </a:p>
          </p:txBody>
        </p:sp>
        <p:sp>
          <p:nvSpPr>
            <p:cNvPr id="122" name="Shape 120"/>
            <p:cNvSpPr/>
            <p:nvPr/>
          </p:nvSpPr>
          <p:spPr>
            <a:xfrm>
              <a:off x="7535857" y="2411307"/>
              <a:ext cx="838885" cy="154433"/>
            </a:xfrm>
            <a:prstGeom prst="rect">
              <a:avLst/>
            </a:prstGeom>
            <a:solidFill>
              <a:srgbClr val="FFFBEB"/>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933"/>
            </a:p>
          </p:txBody>
        </p:sp>
        <p:sp>
          <p:nvSpPr>
            <p:cNvPr id="123" name="Text 121"/>
            <p:cNvSpPr/>
            <p:nvPr/>
          </p:nvSpPr>
          <p:spPr>
            <a:xfrm>
              <a:off x="7566207" y="2411307"/>
              <a:ext cx="569037" cy="16730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933">
                  <a:solidFill>
                    <a:srgbClr val="DC2626"/>
                  </a:solidFill>
                </a:rPr>
                <a:t>—</a:t>
              </a:r>
              <a:endParaRPr lang="en-US" sz="933"/>
            </a:p>
          </p:txBody>
        </p:sp>
        <p:sp>
          <p:nvSpPr>
            <p:cNvPr id="124" name="Shape 122"/>
            <p:cNvSpPr/>
            <p:nvPr/>
          </p:nvSpPr>
          <p:spPr>
            <a:xfrm>
              <a:off x="4645152" y="2585043"/>
              <a:ext cx="872523" cy="167301"/>
            </a:xfrm>
            <a:prstGeom prst="rect">
              <a:avLst/>
            </a:prstGeom>
            <a:solidFill>
              <a:srgbClr val="ECFDF5"/>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933"/>
            </a:p>
          </p:txBody>
        </p:sp>
        <p:sp>
          <p:nvSpPr>
            <p:cNvPr id="125" name="Text 123"/>
            <p:cNvSpPr/>
            <p:nvPr/>
          </p:nvSpPr>
          <p:spPr>
            <a:xfrm>
              <a:off x="4675501" y="2585043"/>
              <a:ext cx="811826" cy="16730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900">
                  <a:solidFill>
                    <a:srgbClr val="0F172A"/>
                  </a:solidFill>
                </a:rPr>
                <a:t>Resolution time</a:t>
              </a:r>
              <a:endParaRPr lang="en-US" sz="900"/>
            </a:p>
          </p:txBody>
        </p:sp>
        <p:sp>
          <p:nvSpPr>
            <p:cNvPr id="126" name="Shape 124"/>
            <p:cNvSpPr/>
            <p:nvPr/>
          </p:nvSpPr>
          <p:spPr>
            <a:xfrm>
              <a:off x="5517675" y="2585043"/>
              <a:ext cx="1198771" cy="167301"/>
            </a:xfrm>
            <a:prstGeom prst="rect">
              <a:avLst/>
            </a:prstGeom>
            <a:solidFill>
              <a:srgbClr val="ECFDF5"/>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933"/>
            </a:p>
          </p:txBody>
        </p:sp>
        <p:sp>
          <p:nvSpPr>
            <p:cNvPr id="127" name="Text 125"/>
            <p:cNvSpPr/>
            <p:nvPr/>
          </p:nvSpPr>
          <p:spPr>
            <a:xfrm>
              <a:off x="5548023" y="2585043"/>
              <a:ext cx="1138073" cy="16730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900" b="1">
                  <a:solidFill>
                    <a:srgbClr val="2563EB"/>
                  </a:solidFill>
                </a:rPr>
                <a:t>Rf regressor ★</a:t>
              </a:r>
              <a:endParaRPr lang="en-US" sz="933"/>
            </a:p>
          </p:txBody>
        </p:sp>
        <p:sp>
          <p:nvSpPr>
            <p:cNvPr id="128" name="Shape 126"/>
            <p:cNvSpPr/>
            <p:nvPr/>
          </p:nvSpPr>
          <p:spPr>
            <a:xfrm>
              <a:off x="6716445" y="2585043"/>
              <a:ext cx="424881" cy="167301"/>
            </a:xfrm>
            <a:prstGeom prst="rect">
              <a:avLst/>
            </a:prstGeom>
            <a:solidFill>
              <a:srgbClr val="ECFDF5"/>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933"/>
            </a:p>
          </p:txBody>
        </p:sp>
        <p:sp>
          <p:nvSpPr>
            <p:cNvPr id="129" name="Text 127"/>
            <p:cNvSpPr/>
            <p:nvPr/>
          </p:nvSpPr>
          <p:spPr>
            <a:xfrm>
              <a:off x="6746794" y="2585043"/>
              <a:ext cx="364183" cy="16730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933" b="1">
                  <a:solidFill>
                    <a:srgbClr val="059669"/>
                  </a:solidFill>
                </a:rPr>
                <a:t>—</a:t>
              </a:r>
              <a:endParaRPr lang="en-US" sz="933"/>
            </a:p>
          </p:txBody>
        </p:sp>
        <p:sp>
          <p:nvSpPr>
            <p:cNvPr id="130" name="Shape 128"/>
            <p:cNvSpPr/>
            <p:nvPr/>
          </p:nvSpPr>
          <p:spPr>
            <a:xfrm>
              <a:off x="7141326" y="2585043"/>
              <a:ext cx="394532" cy="167301"/>
            </a:xfrm>
            <a:prstGeom prst="rect">
              <a:avLst/>
            </a:prstGeom>
            <a:solidFill>
              <a:srgbClr val="ECFDF5"/>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933"/>
            </a:p>
          </p:txBody>
        </p:sp>
        <p:sp>
          <p:nvSpPr>
            <p:cNvPr id="131" name="Text 129"/>
            <p:cNvSpPr/>
            <p:nvPr/>
          </p:nvSpPr>
          <p:spPr>
            <a:xfrm>
              <a:off x="7171675" y="2585043"/>
              <a:ext cx="333835" cy="16730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933" b="1">
                  <a:solidFill>
                    <a:srgbClr val="059669"/>
                  </a:solidFill>
                </a:rPr>
                <a:t>—</a:t>
              </a:r>
              <a:endParaRPr lang="en-US" sz="933"/>
            </a:p>
          </p:txBody>
        </p:sp>
        <p:sp>
          <p:nvSpPr>
            <p:cNvPr id="132" name="Shape 130"/>
            <p:cNvSpPr/>
            <p:nvPr/>
          </p:nvSpPr>
          <p:spPr>
            <a:xfrm>
              <a:off x="7535857" y="2585044"/>
              <a:ext cx="838885" cy="154432"/>
            </a:xfrm>
            <a:prstGeom prst="rect">
              <a:avLst/>
            </a:prstGeom>
            <a:solidFill>
              <a:srgbClr val="ECFDF5"/>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933"/>
            </a:p>
          </p:txBody>
        </p:sp>
        <p:sp>
          <p:nvSpPr>
            <p:cNvPr id="133" name="Text 131"/>
            <p:cNvSpPr/>
            <p:nvPr/>
          </p:nvSpPr>
          <p:spPr>
            <a:xfrm>
              <a:off x="7566207" y="2585044"/>
              <a:ext cx="808536" cy="15443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933" b="1">
                  <a:solidFill>
                    <a:srgbClr val="059669"/>
                  </a:solidFill>
                </a:rPr>
                <a:t>R²=0.837  RMSE=513</a:t>
              </a:r>
              <a:endParaRPr lang="en-US" sz="933"/>
            </a:p>
          </p:txBody>
        </p:sp>
        <p:sp>
          <p:nvSpPr>
            <p:cNvPr id="134" name="Shape 132"/>
            <p:cNvSpPr/>
            <p:nvPr/>
          </p:nvSpPr>
          <p:spPr>
            <a:xfrm>
              <a:off x="4645152" y="2758779"/>
              <a:ext cx="872523" cy="167301"/>
            </a:xfrm>
            <a:prstGeom prst="rect">
              <a:avLst/>
            </a:prstGeom>
            <a:solidFill>
              <a:srgbClr val="ECFDF5"/>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933"/>
            </a:p>
          </p:txBody>
        </p:sp>
        <p:sp>
          <p:nvSpPr>
            <p:cNvPr id="135" name="Text 133"/>
            <p:cNvSpPr/>
            <p:nvPr/>
          </p:nvSpPr>
          <p:spPr>
            <a:xfrm>
              <a:off x="4675501" y="2758779"/>
              <a:ext cx="811826" cy="16730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endParaRPr lang="en-US" sz="933"/>
            </a:p>
          </p:txBody>
        </p:sp>
        <p:sp>
          <p:nvSpPr>
            <p:cNvPr id="136" name="Shape 134"/>
            <p:cNvSpPr/>
            <p:nvPr/>
          </p:nvSpPr>
          <p:spPr>
            <a:xfrm>
              <a:off x="5517675" y="2758779"/>
              <a:ext cx="1198771" cy="167301"/>
            </a:xfrm>
            <a:prstGeom prst="rect">
              <a:avLst/>
            </a:prstGeom>
            <a:solidFill>
              <a:srgbClr val="ECFDF5"/>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933"/>
            </a:p>
          </p:txBody>
        </p:sp>
        <p:sp>
          <p:nvSpPr>
            <p:cNvPr id="137" name="Text 135"/>
            <p:cNvSpPr/>
            <p:nvPr/>
          </p:nvSpPr>
          <p:spPr>
            <a:xfrm>
              <a:off x="5548023" y="2758779"/>
              <a:ext cx="1138073" cy="16730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900">
                  <a:solidFill>
                    <a:srgbClr val="0F172A"/>
                  </a:solidFill>
                </a:rPr>
                <a:t>Linear regression</a:t>
              </a:r>
              <a:endParaRPr lang="en-US" sz="900"/>
            </a:p>
          </p:txBody>
        </p:sp>
        <p:sp>
          <p:nvSpPr>
            <p:cNvPr id="138" name="Shape 136"/>
            <p:cNvSpPr/>
            <p:nvPr/>
          </p:nvSpPr>
          <p:spPr>
            <a:xfrm>
              <a:off x="6716445" y="2758779"/>
              <a:ext cx="424881" cy="167301"/>
            </a:xfrm>
            <a:prstGeom prst="rect">
              <a:avLst/>
            </a:prstGeom>
            <a:solidFill>
              <a:srgbClr val="ECFDF5"/>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933"/>
            </a:p>
          </p:txBody>
        </p:sp>
        <p:sp>
          <p:nvSpPr>
            <p:cNvPr id="139" name="Text 137"/>
            <p:cNvSpPr/>
            <p:nvPr/>
          </p:nvSpPr>
          <p:spPr>
            <a:xfrm>
              <a:off x="6746794" y="2758779"/>
              <a:ext cx="364183" cy="16730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933">
                  <a:solidFill>
                    <a:srgbClr val="64748B"/>
                  </a:solidFill>
                </a:rPr>
                <a:t>—</a:t>
              </a:r>
              <a:endParaRPr lang="en-US" sz="933"/>
            </a:p>
          </p:txBody>
        </p:sp>
        <p:sp>
          <p:nvSpPr>
            <p:cNvPr id="140" name="Shape 138"/>
            <p:cNvSpPr/>
            <p:nvPr/>
          </p:nvSpPr>
          <p:spPr>
            <a:xfrm>
              <a:off x="7141326" y="2758779"/>
              <a:ext cx="394532" cy="167301"/>
            </a:xfrm>
            <a:prstGeom prst="rect">
              <a:avLst/>
            </a:prstGeom>
            <a:solidFill>
              <a:srgbClr val="ECFDF5"/>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933"/>
            </a:p>
          </p:txBody>
        </p:sp>
        <p:sp>
          <p:nvSpPr>
            <p:cNvPr id="141" name="Text 139"/>
            <p:cNvSpPr/>
            <p:nvPr/>
          </p:nvSpPr>
          <p:spPr>
            <a:xfrm>
              <a:off x="7171675" y="2758779"/>
              <a:ext cx="333835" cy="16730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933">
                  <a:solidFill>
                    <a:srgbClr val="64748B"/>
                  </a:solidFill>
                </a:rPr>
                <a:t>—</a:t>
              </a:r>
              <a:endParaRPr lang="en-US" sz="933"/>
            </a:p>
          </p:txBody>
        </p:sp>
        <p:sp>
          <p:nvSpPr>
            <p:cNvPr id="142" name="Shape 140"/>
            <p:cNvSpPr/>
            <p:nvPr/>
          </p:nvSpPr>
          <p:spPr>
            <a:xfrm>
              <a:off x="7535857" y="2758780"/>
              <a:ext cx="838885" cy="154432"/>
            </a:xfrm>
            <a:prstGeom prst="rect">
              <a:avLst/>
            </a:prstGeom>
            <a:solidFill>
              <a:srgbClr val="ECFDF5"/>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933"/>
            </a:p>
          </p:txBody>
        </p:sp>
        <p:sp>
          <p:nvSpPr>
            <p:cNvPr id="143" name="Text 141"/>
            <p:cNvSpPr/>
            <p:nvPr/>
          </p:nvSpPr>
          <p:spPr>
            <a:xfrm>
              <a:off x="7566207" y="2758779"/>
              <a:ext cx="808536" cy="16730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933">
                  <a:solidFill>
                    <a:srgbClr val="64748B"/>
                  </a:solidFill>
                </a:rPr>
                <a:t>R²=0.829  RMSE=526</a:t>
              </a:r>
              <a:endParaRPr lang="en-US" sz="933"/>
            </a:p>
          </p:txBody>
        </p:sp>
      </p:grpSp>
      <p:grpSp>
        <p:nvGrpSpPr>
          <p:cNvPr id="255" name="Group 254">
            <a:extLst>
              <a:ext uri="{FF2B5EF4-FFF2-40B4-BE49-F238E27FC236}">
                <a16:creationId xmlns:a16="http://schemas.microsoft.com/office/drawing/2014/main" id="{AD065630-3E93-ACB9-C28B-1ABAD4C3E848}"/>
              </a:ext>
            </a:extLst>
          </p:cNvPr>
          <p:cNvGrpSpPr/>
          <p:nvPr/>
        </p:nvGrpSpPr>
        <p:grpSpPr>
          <a:xfrm>
            <a:off x="6099197" y="3855303"/>
            <a:ext cx="6028728" cy="2909339"/>
            <a:chOff x="4645152" y="3721608"/>
            <a:chExt cx="4242816" cy="2321366"/>
          </a:xfrm>
        </p:grpSpPr>
        <p:sp>
          <p:nvSpPr>
            <p:cNvPr id="144" name="Shape 142"/>
            <p:cNvSpPr/>
            <p:nvPr/>
          </p:nvSpPr>
          <p:spPr>
            <a:xfrm>
              <a:off x="4645152" y="3721608"/>
              <a:ext cx="4242816" cy="237744"/>
            </a:xfrm>
            <a:prstGeom prst="rect">
              <a:avLst/>
            </a:prstGeom>
            <a:solidFill>
              <a:srgbClr val="1E3A5F"/>
            </a:solidFill>
            <a:ln w="12700">
              <a:solidFill>
                <a:srgbClr val="1E3A5F"/>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145" name="Text 143"/>
            <p:cNvSpPr/>
            <p:nvPr/>
          </p:nvSpPr>
          <p:spPr>
            <a:xfrm>
              <a:off x="4645152" y="3739896"/>
              <a:ext cx="4242816" cy="201168"/>
            </a:xfrm>
            <a:prstGeom prst="rect">
              <a:avLst/>
            </a:prstGeom>
            <a:noFill/>
            <a:ln/>
          </p:spPr>
          <p:txBody>
            <a:bodyPr wrap="square" lIns="0" tIns="0" rIns="135467"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100" b="1" kern="0" spc="40">
                  <a:solidFill>
                    <a:srgbClr val="FFFFFF"/>
                  </a:solidFill>
                </a:rPr>
                <a:t>   5-STAGE FEATURE SELECTION FUNNEL</a:t>
              </a:r>
              <a:endParaRPr lang="en-US" sz="1100"/>
            </a:p>
          </p:txBody>
        </p:sp>
        <p:sp>
          <p:nvSpPr>
            <p:cNvPr id="146" name="Shape 144"/>
            <p:cNvSpPr/>
            <p:nvPr/>
          </p:nvSpPr>
          <p:spPr>
            <a:xfrm>
              <a:off x="4645152" y="3995928"/>
              <a:ext cx="731520" cy="347472"/>
            </a:xfrm>
            <a:prstGeom prst="rect">
              <a:avLst/>
            </a:prstGeom>
            <a:solidFill>
              <a:srgbClr val="2563EB"/>
            </a:solidFill>
            <a:ln w="12700">
              <a:solidFill>
                <a:srgbClr val="2563EB"/>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147" name="Text 145"/>
            <p:cNvSpPr/>
            <p:nvPr/>
          </p:nvSpPr>
          <p:spPr>
            <a:xfrm>
              <a:off x="4645152" y="3995928"/>
              <a:ext cx="731520" cy="34747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067" b="1">
                  <a:solidFill>
                    <a:srgbClr val="FFFFFF"/>
                  </a:solidFill>
                </a:rPr>
                <a:t>Stage 1</a:t>
              </a:r>
              <a:endParaRPr lang="en-US" sz="1067"/>
            </a:p>
            <a:p>
              <a:pPr marL="0" indent="0" algn="ctr">
                <a:buNone/>
              </a:pPr>
              <a:r>
                <a:rPr lang="en-US" sz="1067" b="1">
                  <a:solidFill>
                    <a:srgbClr val="FFFFFF"/>
                  </a:solidFill>
                </a:rPr>
                <a:t>Variance</a:t>
              </a:r>
              <a:endParaRPr lang="en-US" sz="1067"/>
            </a:p>
          </p:txBody>
        </p:sp>
        <p:sp>
          <p:nvSpPr>
            <p:cNvPr id="148" name="Text 146"/>
            <p:cNvSpPr/>
            <p:nvPr/>
          </p:nvSpPr>
          <p:spPr>
            <a:xfrm>
              <a:off x="4645152" y="4361688"/>
              <a:ext cx="731520" cy="1828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067" b="1">
                  <a:solidFill>
                    <a:srgbClr val="2563EB"/>
                  </a:solidFill>
                </a:rPr>
                <a:t>30→26</a:t>
              </a:r>
              <a:endParaRPr lang="en-US" sz="1067"/>
            </a:p>
          </p:txBody>
        </p:sp>
        <p:sp>
          <p:nvSpPr>
            <p:cNvPr id="149" name="Shape 147"/>
            <p:cNvSpPr/>
            <p:nvPr/>
          </p:nvSpPr>
          <p:spPr>
            <a:xfrm>
              <a:off x="5376672" y="4123944"/>
              <a:ext cx="109728" cy="91440"/>
            </a:xfrm>
            <a:prstGeom prst="rect">
              <a:avLst/>
            </a:prstGeom>
            <a:solidFill>
              <a:srgbClr val="64748B"/>
            </a:solidFill>
            <a:ln w="12700">
              <a:solidFill>
                <a:srgbClr val="64748B"/>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150" name="Shape 148"/>
            <p:cNvSpPr/>
            <p:nvPr/>
          </p:nvSpPr>
          <p:spPr>
            <a:xfrm>
              <a:off x="5486400" y="3995928"/>
              <a:ext cx="731520" cy="347472"/>
            </a:xfrm>
            <a:prstGeom prst="rect">
              <a:avLst/>
            </a:prstGeom>
            <a:solidFill>
              <a:srgbClr val="0891B2"/>
            </a:solidFill>
            <a:ln w="12700">
              <a:solidFill>
                <a:srgbClr val="0891B2"/>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151" name="Text 149"/>
            <p:cNvSpPr/>
            <p:nvPr/>
          </p:nvSpPr>
          <p:spPr>
            <a:xfrm>
              <a:off x="5486400" y="3995928"/>
              <a:ext cx="731520" cy="34747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067" b="1">
                  <a:solidFill>
                    <a:srgbClr val="FFFFFF"/>
                  </a:solidFill>
                </a:rPr>
                <a:t>Stage 2</a:t>
              </a:r>
              <a:endParaRPr lang="en-US" sz="1067"/>
            </a:p>
            <a:p>
              <a:pPr algn="ctr"/>
              <a:r>
                <a:rPr lang="en-US" sz="1050" b="1">
                  <a:solidFill>
                    <a:srgbClr val="FFFFFF"/>
                  </a:solidFill>
                </a:rPr>
                <a:t>Correlation</a:t>
              </a:r>
              <a:endParaRPr lang="en-US" sz="1050">
                <a:solidFill>
                  <a:srgbClr val="000000"/>
                </a:solidFill>
              </a:endParaRPr>
            </a:p>
          </p:txBody>
        </p:sp>
        <p:sp>
          <p:nvSpPr>
            <p:cNvPr id="152" name="Text 150"/>
            <p:cNvSpPr/>
            <p:nvPr/>
          </p:nvSpPr>
          <p:spPr>
            <a:xfrm>
              <a:off x="5486400" y="4361688"/>
              <a:ext cx="731520" cy="1828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067" b="1">
                  <a:solidFill>
                    <a:srgbClr val="0891B2"/>
                  </a:solidFill>
                </a:rPr>
                <a:t>26→22</a:t>
              </a:r>
              <a:endParaRPr lang="en-US" sz="1067"/>
            </a:p>
          </p:txBody>
        </p:sp>
        <p:sp>
          <p:nvSpPr>
            <p:cNvPr id="153" name="Shape 151"/>
            <p:cNvSpPr/>
            <p:nvPr/>
          </p:nvSpPr>
          <p:spPr>
            <a:xfrm>
              <a:off x="6217920" y="4123944"/>
              <a:ext cx="109728" cy="91440"/>
            </a:xfrm>
            <a:prstGeom prst="rect">
              <a:avLst/>
            </a:prstGeom>
            <a:solidFill>
              <a:srgbClr val="64748B"/>
            </a:solidFill>
            <a:ln w="12700">
              <a:solidFill>
                <a:srgbClr val="64748B"/>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154" name="Shape 152"/>
            <p:cNvSpPr/>
            <p:nvPr/>
          </p:nvSpPr>
          <p:spPr>
            <a:xfrm>
              <a:off x="6327648" y="3995928"/>
              <a:ext cx="731520" cy="347472"/>
            </a:xfrm>
            <a:prstGeom prst="rect">
              <a:avLst/>
            </a:prstGeom>
            <a:solidFill>
              <a:srgbClr val="1E3A5F"/>
            </a:solidFill>
            <a:ln w="12700">
              <a:solidFill>
                <a:srgbClr val="1E3A5F"/>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155" name="Text 153"/>
            <p:cNvSpPr/>
            <p:nvPr/>
          </p:nvSpPr>
          <p:spPr>
            <a:xfrm>
              <a:off x="6327648" y="3995928"/>
              <a:ext cx="731520" cy="34747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067" b="1">
                  <a:solidFill>
                    <a:srgbClr val="FFFFFF"/>
                  </a:solidFill>
                </a:rPr>
                <a:t>Stage 3</a:t>
              </a:r>
              <a:endParaRPr lang="en-US" sz="1067"/>
            </a:p>
            <a:p>
              <a:pPr marL="0" indent="0" algn="ctr">
                <a:buNone/>
              </a:pPr>
              <a:r>
                <a:rPr lang="en-US" sz="1067" b="1">
                  <a:solidFill>
                    <a:srgbClr val="FFFFFF"/>
                  </a:solidFill>
                </a:rPr>
                <a:t>Chi-sq</a:t>
              </a:r>
              <a:endParaRPr lang="en-US" sz="1067"/>
            </a:p>
          </p:txBody>
        </p:sp>
        <p:sp>
          <p:nvSpPr>
            <p:cNvPr id="156" name="Text 154"/>
            <p:cNvSpPr/>
            <p:nvPr/>
          </p:nvSpPr>
          <p:spPr>
            <a:xfrm>
              <a:off x="6327648" y="4361688"/>
              <a:ext cx="731520" cy="1828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067" b="1">
                  <a:solidFill>
                    <a:srgbClr val="1E3A5F"/>
                  </a:solidFill>
                </a:rPr>
                <a:t>12→1 sig</a:t>
              </a:r>
              <a:endParaRPr lang="en-US" sz="1067"/>
            </a:p>
          </p:txBody>
        </p:sp>
        <p:sp>
          <p:nvSpPr>
            <p:cNvPr id="157" name="Shape 155"/>
            <p:cNvSpPr/>
            <p:nvPr/>
          </p:nvSpPr>
          <p:spPr>
            <a:xfrm>
              <a:off x="7059168" y="4123944"/>
              <a:ext cx="109728" cy="91440"/>
            </a:xfrm>
            <a:prstGeom prst="rect">
              <a:avLst/>
            </a:prstGeom>
            <a:solidFill>
              <a:srgbClr val="64748B"/>
            </a:solidFill>
            <a:ln w="12700">
              <a:solidFill>
                <a:srgbClr val="64748B"/>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158" name="Shape 156"/>
            <p:cNvSpPr/>
            <p:nvPr/>
          </p:nvSpPr>
          <p:spPr>
            <a:xfrm>
              <a:off x="7168896" y="3995928"/>
              <a:ext cx="731520" cy="347472"/>
            </a:xfrm>
            <a:prstGeom prst="rect">
              <a:avLst/>
            </a:prstGeom>
            <a:solidFill>
              <a:srgbClr val="059669"/>
            </a:solidFill>
            <a:ln w="12700">
              <a:solidFill>
                <a:srgbClr val="059669"/>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159" name="Text 157"/>
            <p:cNvSpPr/>
            <p:nvPr/>
          </p:nvSpPr>
          <p:spPr>
            <a:xfrm>
              <a:off x="7168896" y="3995928"/>
              <a:ext cx="731520" cy="34747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067" b="1">
                  <a:solidFill>
                    <a:srgbClr val="FFFFFF"/>
                  </a:solidFill>
                </a:rPr>
                <a:t>Stage 4</a:t>
              </a:r>
              <a:endParaRPr lang="en-US" sz="1067"/>
            </a:p>
            <a:p>
              <a:pPr algn="ctr"/>
              <a:r>
                <a:rPr lang="en-US" sz="1050" b="1">
                  <a:solidFill>
                    <a:srgbClr val="FFFFFF"/>
                  </a:solidFill>
                </a:rPr>
                <a:t>Mutual Info</a:t>
              </a:r>
              <a:endParaRPr lang="en-US" sz="1050"/>
            </a:p>
          </p:txBody>
        </p:sp>
        <p:sp>
          <p:nvSpPr>
            <p:cNvPr id="160" name="Text 158"/>
            <p:cNvSpPr/>
            <p:nvPr/>
          </p:nvSpPr>
          <p:spPr>
            <a:xfrm>
              <a:off x="7168896" y="4361688"/>
              <a:ext cx="731520" cy="1828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067" b="1">
                  <a:solidFill>
                    <a:srgbClr val="059669"/>
                  </a:solidFill>
                </a:rPr>
                <a:t>→20 active</a:t>
              </a:r>
              <a:endParaRPr lang="en-US" sz="1067"/>
            </a:p>
          </p:txBody>
        </p:sp>
        <p:sp>
          <p:nvSpPr>
            <p:cNvPr id="161" name="Shape 159"/>
            <p:cNvSpPr/>
            <p:nvPr/>
          </p:nvSpPr>
          <p:spPr>
            <a:xfrm>
              <a:off x="7900416" y="4123944"/>
              <a:ext cx="109728" cy="91440"/>
            </a:xfrm>
            <a:prstGeom prst="rect">
              <a:avLst/>
            </a:prstGeom>
            <a:solidFill>
              <a:srgbClr val="64748B"/>
            </a:solidFill>
            <a:ln w="12700">
              <a:solidFill>
                <a:srgbClr val="64748B"/>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162" name="Shape 160"/>
            <p:cNvSpPr/>
            <p:nvPr/>
          </p:nvSpPr>
          <p:spPr>
            <a:xfrm>
              <a:off x="8010144" y="3995928"/>
              <a:ext cx="731520" cy="347472"/>
            </a:xfrm>
            <a:prstGeom prst="rect">
              <a:avLst/>
            </a:prstGeom>
            <a:solidFill>
              <a:srgbClr val="D97706"/>
            </a:solidFill>
            <a:ln w="12700">
              <a:solidFill>
                <a:srgbClr val="D97706"/>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163" name="Text 161"/>
            <p:cNvSpPr/>
            <p:nvPr/>
          </p:nvSpPr>
          <p:spPr>
            <a:xfrm>
              <a:off x="8010144" y="3995928"/>
              <a:ext cx="731520" cy="34747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067" b="1">
                  <a:solidFill>
                    <a:srgbClr val="FFFFFF"/>
                  </a:solidFill>
                </a:rPr>
                <a:t>Stage 5</a:t>
              </a:r>
              <a:endParaRPr lang="en-US" sz="1067"/>
            </a:p>
            <a:p>
              <a:pPr marL="0" indent="0" algn="ctr">
                <a:buNone/>
              </a:pPr>
              <a:r>
                <a:rPr lang="en-US" sz="1067" b="1">
                  <a:solidFill>
                    <a:srgbClr val="FFFFFF"/>
                  </a:solidFill>
                </a:rPr>
                <a:t>TF-IDF</a:t>
              </a:r>
              <a:endParaRPr lang="en-US" sz="1067"/>
            </a:p>
          </p:txBody>
        </p:sp>
        <p:sp>
          <p:nvSpPr>
            <p:cNvPr id="164" name="Text 162"/>
            <p:cNvSpPr/>
            <p:nvPr/>
          </p:nvSpPr>
          <p:spPr>
            <a:xfrm>
              <a:off x="8010144" y="4361688"/>
              <a:ext cx="731520" cy="1828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067" b="1">
                  <a:solidFill>
                    <a:srgbClr val="D97706"/>
                  </a:solidFill>
                </a:rPr>
                <a:t>500 tok, top50</a:t>
              </a:r>
              <a:endParaRPr lang="en-US" sz="1067"/>
            </a:p>
          </p:txBody>
        </p:sp>
        <p:sp>
          <p:nvSpPr>
            <p:cNvPr id="165" name="Shape 163"/>
            <p:cNvSpPr/>
            <p:nvPr/>
          </p:nvSpPr>
          <p:spPr>
            <a:xfrm>
              <a:off x="4645152" y="4553712"/>
              <a:ext cx="4242816" cy="237744"/>
            </a:xfrm>
            <a:prstGeom prst="rect">
              <a:avLst/>
            </a:prstGeom>
            <a:solidFill>
              <a:srgbClr val="0369A1"/>
            </a:solidFill>
            <a:ln w="12700">
              <a:solidFill>
                <a:srgbClr val="0369A1"/>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166" name="Text 164"/>
            <p:cNvSpPr/>
            <p:nvPr/>
          </p:nvSpPr>
          <p:spPr>
            <a:xfrm>
              <a:off x="4645152" y="4572000"/>
              <a:ext cx="4242816" cy="201168"/>
            </a:xfrm>
            <a:prstGeom prst="rect">
              <a:avLst/>
            </a:prstGeom>
            <a:noFill/>
            <a:ln/>
          </p:spPr>
          <p:txBody>
            <a:bodyPr wrap="square" lIns="0" tIns="0" rIns="135467"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900" b="1">
                  <a:solidFill>
                    <a:srgbClr val="FFFFFF"/>
                  </a:solidFill>
                </a:rPr>
                <a:t>   RECOMMENDATION ENGINE  —  SAMPLE OUTPUT  ·  Query: 2025_T0004606 (P1/Network/Crash/Server)</a:t>
              </a:r>
              <a:endParaRPr lang="en-US" sz="900"/>
            </a:p>
          </p:txBody>
        </p:sp>
        <p:sp>
          <p:nvSpPr>
            <p:cNvPr id="167" name="Shape 165"/>
            <p:cNvSpPr/>
            <p:nvPr/>
          </p:nvSpPr>
          <p:spPr>
            <a:xfrm>
              <a:off x="4645152" y="4791456"/>
              <a:ext cx="1051560" cy="210312"/>
            </a:xfrm>
            <a:prstGeom prst="rect">
              <a:avLst/>
            </a:prstGeom>
            <a:solidFill>
              <a:srgbClr val="1E4F7A"/>
            </a:solidFill>
            <a:ln w="12700">
              <a:solidFill>
                <a:srgbClr val="2A6496"/>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168" name="Text 166"/>
            <p:cNvSpPr/>
            <p:nvPr/>
          </p:nvSpPr>
          <p:spPr>
            <a:xfrm>
              <a:off x="4645152" y="4791456"/>
              <a:ext cx="1051560" cy="21031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067" b="1">
                  <a:solidFill>
                    <a:srgbClr val="FFFFFF"/>
                  </a:solidFill>
                </a:rPr>
                <a:t>Ticket ID</a:t>
              </a:r>
              <a:endParaRPr lang="en-US" sz="1067"/>
            </a:p>
          </p:txBody>
        </p:sp>
        <p:sp>
          <p:nvSpPr>
            <p:cNvPr id="169" name="Shape 167"/>
            <p:cNvSpPr/>
            <p:nvPr/>
          </p:nvSpPr>
          <p:spPr>
            <a:xfrm>
              <a:off x="5696712" y="4791456"/>
              <a:ext cx="530352" cy="210312"/>
            </a:xfrm>
            <a:prstGeom prst="rect">
              <a:avLst/>
            </a:prstGeom>
            <a:solidFill>
              <a:srgbClr val="1E4F7A"/>
            </a:solidFill>
            <a:ln w="12700">
              <a:solidFill>
                <a:srgbClr val="2A6496"/>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170" name="Text 168"/>
            <p:cNvSpPr/>
            <p:nvPr/>
          </p:nvSpPr>
          <p:spPr>
            <a:xfrm>
              <a:off x="5696712" y="4791456"/>
              <a:ext cx="530352" cy="21031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067" b="1">
                  <a:solidFill>
                    <a:srgbClr val="FFFFFF"/>
                  </a:solidFill>
                </a:rPr>
                <a:t>Cat</a:t>
              </a:r>
              <a:endParaRPr lang="en-US" sz="1067"/>
            </a:p>
          </p:txBody>
        </p:sp>
        <p:sp>
          <p:nvSpPr>
            <p:cNvPr id="171" name="Shape 169"/>
            <p:cNvSpPr/>
            <p:nvPr/>
          </p:nvSpPr>
          <p:spPr>
            <a:xfrm>
              <a:off x="6227064" y="4791456"/>
              <a:ext cx="301752" cy="210312"/>
            </a:xfrm>
            <a:prstGeom prst="rect">
              <a:avLst/>
            </a:prstGeom>
            <a:solidFill>
              <a:srgbClr val="1E4F7A"/>
            </a:solidFill>
            <a:ln w="12700">
              <a:solidFill>
                <a:srgbClr val="2A6496"/>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172" name="Text 170"/>
            <p:cNvSpPr/>
            <p:nvPr/>
          </p:nvSpPr>
          <p:spPr>
            <a:xfrm>
              <a:off x="6227064" y="4791456"/>
              <a:ext cx="301752" cy="21031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067" b="1">
                  <a:solidFill>
                    <a:srgbClr val="FFFFFF"/>
                  </a:solidFill>
                </a:rPr>
                <a:t>Pri</a:t>
              </a:r>
              <a:endParaRPr lang="en-US" sz="1067"/>
            </a:p>
          </p:txBody>
        </p:sp>
        <p:sp>
          <p:nvSpPr>
            <p:cNvPr id="173" name="Shape 171"/>
            <p:cNvSpPr/>
            <p:nvPr/>
          </p:nvSpPr>
          <p:spPr>
            <a:xfrm>
              <a:off x="6528816" y="4791456"/>
              <a:ext cx="420624" cy="210312"/>
            </a:xfrm>
            <a:prstGeom prst="rect">
              <a:avLst/>
            </a:prstGeom>
            <a:solidFill>
              <a:srgbClr val="1E4F7A"/>
            </a:solidFill>
            <a:ln w="12700">
              <a:solidFill>
                <a:srgbClr val="2A6496"/>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174" name="Text 172"/>
            <p:cNvSpPr/>
            <p:nvPr/>
          </p:nvSpPr>
          <p:spPr>
            <a:xfrm>
              <a:off x="6528816" y="4791456"/>
              <a:ext cx="420624" cy="21031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067" b="1">
                  <a:solidFill>
                    <a:srgbClr val="FFFFFF"/>
                  </a:solidFill>
                </a:rPr>
                <a:t>Sim</a:t>
              </a:r>
              <a:endParaRPr lang="en-US" sz="1067"/>
            </a:p>
          </p:txBody>
        </p:sp>
        <p:sp>
          <p:nvSpPr>
            <p:cNvPr id="175" name="Shape 173"/>
            <p:cNvSpPr/>
            <p:nvPr/>
          </p:nvSpPr>
          <p:spPr>
            <a:xfrm>
              <a:off x="6949440" y="4791456"/>
              <a:ext cx="402336" cy="210312"/>
            </a:xfrm>
            <a:prstGeom prst="rect">
              <a:avLst/>
            </a:prstGeom>
            <a:solidFill>
              <a:srgbClr val="1E4F7A"/>
            </a:solidFill>
            <a:ln w="12700">
              <a:solidFill>
                <a:srgbClr val="2A6496"/>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176" name="Text 174"/>
            <p:cNvSpPr/>
            <p:nvPr/>
          </p:nvSpPr>
          <p:spPr>
            <a:xfrm>
              <a:off x="6949440" y="4791456"/>
              <a:ext cx="402336" cy="21031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067" b="1">
                  <a:solidFill>
                    <a:srgbClr val="FFFFFF"/>
                  </a:solidFill>
                </a:rPr>
                <a:t>Rank</a:t>
              </a:r>
              <a:endParaRPr lang="en-US" sz="1067"/>
            </a:p>
          </p:txBody>
        </p:sp>
        <p:sp>
          <p:nvSpPr>
            <p:cNvPr id="177" name="Shape 175"/>
            <p:cNvSpPr/>
            <p:nvPr/>
          </p:nvSpPr>
          <p:spPr>
            <a:xfrm>
              <a:off x="7351776" y="4791456"/>
              <a:ext cx="502920" cy="210312"/>
            </a:xfrm>
            <a:prstGeom prst="rect">
              <a:avLst/>
            </a:prstGeom>
            <a:solidFill>
              <a:srgbClr val="1E4F7A"/>
            </a:solidFill>
            <a:ln w="12700">
              <a:solidFill>
                <a:srgbClr val="2A6496"/>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178" name="Text 176"/>
            <p:cNvSpPr/>
            <p:nvPr/>
          </p:nvSpPr>
          <p:spPr>
            <a:xfrm>
              <a:off x="7351776" y="4791456"/>
              <a:ext cx="502920" cy="21031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067" b="1">
                  <a:solidFill>
                    <a:srgbClr val="FFFFFF"/>
                  </a:solidFill>
                </a:rPr>
                <a:t>TTR</a:t>
              </a:r>
              <a:endParaRPr lang="en-US" sz="1067"/>
            </a:p>
          </p:txBody>
        </p:sp>
        <p:sp>
          <p:nvSpPr>
            <p:cNvPr id="179" name="Shape 177"/>
            <p:cNvSpPr/>
            <p:nvPr/>
          </p:nvSpPr>
          <p:spPr>
            <a:xfrm>
              <a:off x="7854696" y="4791456"/>
              <a:ext cx="1033272" cy="210312"/>
            </a:xfrm>
            <a:prstGeom prst="rect">
              <a:avLst/>
            </a:prstGeom>
            <a:solidFill>
              <a:srgbClr val="1E4F7A"/>
            </a:solidFill>
            <a:ln w="12700">
              <a:solidFill>
                <a:srgbClr val="2A6496"/>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180" name="Text 178"/>
            <p:cNvSpPr/>
            <p:nvPr/>
          </p:nvSpPr>
          <p:spPr>
            <a:xfrm>
              <a:off x="7854696" y="4791456"/>
              <a:ext cx="1033272" cy="21031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067" b="1">
                  <a:solidFill>
                    <a:srgbClr val="FFFFFF"/>
                  </a:solidFill>
                </a:rPr>
                <a:t>Resolution</a:t>
              </a:r>
              <a:endParaRPr lang="en-US" sz="1067"/>
            </a:p>
          </p:txBody>
        </p:sp>
        <p:sp>
          <p:nvSpPr>
            <p:cNvPr id="181" name="Shape 179"/>
            <p:cNvSpPr/>
            <p:nvPr/>
          </p:nvSpPr>
          <p:spPr>
            <a:xfrm>
              <a:off x="4645152" y="5001768"/>
              <a:ext cx="1051560" cy="182880"/>
            </a:xfrm>
            <a:prstGeom prst="rect">
              <a:avLst/>
            </a:prstGeom>
            <a:solidFill>
              <a:srgbClr val="E0F2FE"/>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182" name="Text 180"/>
            <p:cNvSpPr/>
            <p:nvPr/>
          </p:nvSpPr>
          <p:spPr>
            <a:xfrm>
              <a:off x="4672584" y="5001768"/>
              <a:ext cx="996696" cy="1828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00" b="1">
                  <a:solidFill>
                    <a:srgbClr val="0369A1"/>
                  </a:solidFill>
                </a:rPr>
                <a:t>2025_T0004606</a:t>
              </a:r>
              <a:endParaRPr lang="en-US" sz="1000"/>
            </a:p>
          </p:txBody>
        </p:sp>
        <p:sp>
          <p:nvSpPr>
            <p:cNvPr id="183" name="Shape 181"/>
            <p:cNvSpPr/>
            <p:nvPr/>
          </p:nvSpPr>
          <p:spPr>
            <a:xfrm>
              <a:off x="5696712" y="5001768"/>
              <a:ext cx="530352" cy="182880"/>
            </a:xfrm>
            <a:prstGeom prst="rect">
              <a:avLst/>
            </a:prstGeom>
            <a:solidFill>
              <a:srgbClr val="E0F2FE"/>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184" name="Text 182"/>
            <p:cNvSpPr/>
            <p:nvPr/>
          </p:nvSpPr>
          <p:spPr>
            <a:xfrm>
              <a:off x="5724144" y="5001768"/>
              <a:ext cx="475488" cy="1828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00">
                  <a:solidFill>
                    <a:srgbClr val="0F172A"/>
                  </a:solidFill>
                </a:rPr>
                <a:t>Network</a:t>
              </a:r>
              <a:endParaRPr lang="en-US" sz="1000"/>
            </a:p>
          </p:txBody>
        </p:sp>
        <p:sp>
          <p:nvSpPr>
            <p:cNvPr id="185" name="Shape 183"/>
            <p:cNvSpPr/>
            <p:nvPr/>
          </p:nvSpPr>
          <p:spPr>
            <a:xfrm>
              <a:off x="6227064" y="5001768"/>
              <a:ext cx="301752" cy="182880"/>
            </a:xfrm>
            <a:prstGeom prst="rect">
              <a:avLst/>
            </a:prstGeom>
            <a:solidFill>
              <a:srgbClr val="E0F2FE"/>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186" name="Text 184"/>
            <p:cNvSpPr/>
            <p:nvPr/>
          </p:nvSpPr>
          <p:spPr>
            <a:xfrm>
              <a:off x="6254496" y="5001768"/>
              <a:ext cx="246888" cy="1828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00">
                  <a:solidFill>
                    <a:srgbClr val="0F172A"/>
                  </a:solidFill>
                </a:rPr>
                <a:t>P1</a:t>
              </a:r>
              <a:endParaRPr lang="en-US" sz="1000"/>
            </a:p>
          </p:txBody>
        </p:sp>
        <p:sp>
          <p:nvSpPr>
            <p:cNvPr id="187" name="Shape 185"/>
            <p:cNvSpPr/>
            <p:nvPr/>
          </p:nvSpPr>
          <p:spPr>
            <a:xfrm>
              <a:off x="6528816" y="5001768"/>
              <a:ext cx="420624" cy="182880"/>
            </a:xfrm>
            <a:prstGeom prst="rect">
              <a:avLst/>
            </a:prstGeom>
            <a:solidFill>
              <a:srgbClr val="E0F2FE"/>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188" name="Text 186"/>
            <p:cNvSpPr/>
            <p:nvPr/>
          </p:nvSpPr>
          <p:spPr>
            <a:xfrm>
              <a:off x="6556248" y="5001768"/>
              <a:ext cx="365760" cy="1828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00" b="1">
                  <a:solidFill>
                    <a:srgbClr val="059669"/>
                  </a:solidFill>
                </a:rPr>
                <a:t>1.000</a:t>
              </a:r>
              <a:endParaRPr lang="en-US" sz="1000"/>
            </a:p>
          </p:txBody>
        </p:sp>
        <p:sp>
          <p:nvSpPr>
            <p:cNvPr id="189" name="Shape 187"/>
            <p:cNvSpPr/>
            <p:nvPr/>
          </p:nvSpPr>
          <p:spPr>
            <a:xfrm>
              <a:off x="6949440" y="5001768"/>
              <a:ext cx="402336" cy="182880"/>
            </a:xfrm>
            <a:prstGeom prst="rect">
              <a:avLst/>
            </a:prstGeom>
            <a:solidFill>
              <a:srgbClr val="E0F2FE"/>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190" name="Text 188"/>
            <p:cNvSpPr/>
            <p:nvPr/>
          </p:nvSpPr>
          <p:spPr>
            <a:xfrm>
              <a:off x="6976872" y="5001768"/>
              <a:ext cx="347472" cy="1828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00">
                  <a:solidFill>
                    <a:srgbClr val="059669"/>
                  </a:solidFill>
                </a:rPr>
                <a:t>0.875</a:t>
              </a:r>
              <a:endParaRPr lang="en-US" sz="1000"/>
            </a:p>
          </p:txBody>
        </p:sp>
        <p:sp>
          <p:nvSpPr>
            <p:cNvPr id="191" name="Shape 189"/>
            <p:cNvSpPr/>
            <p:nvPr/>
          </p:nvSpPr>
          <p:spPr>
            <a:xfrm>
              <a:off x="7351776" y="5001768"/>
              <a:ext cx="502920" cy="182880"/>
            </a:xfrm>
            <a:prstGeom prst="rect">
              <a:avLst/>
            </a:prstGeom>
            <a:solidFill>
              <a:srgbClr val="E0F2FE"/>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192" name="Text 190"/>
            <p:cNvSpPr/>
            <p:nvPr/>
          </p:nvSpPr>
          <p:spPr>
            <a:xfrm>
              <a:off x="7379208" y="5001768"/>
              <a:ext cx="448056" cy="1828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00">
                  <a:solidFill>
                    <a:srgbClr val="0F172A"/>
                  </a:solidFill>
                </a:rPr>
                <a:t>251m</a:t>
              </a:r>
              <a:endParaRPr lang="en-US" sz="1000"/>
            </a:p>
          </p:txBody>
        </p:sp>
        <p:sp>
          <p:nvSpPr>
            <p:cNvPr id="193" name="Shape 191"/>
            <p:cNvSpPr/>
            <p:nvPr/>
          </p:nvSpPr>
          <p:spPr>
            <a:xfrm>
              <a:off x="7854696" y="5001768"/>
              <a:ext cx="1033272" cy="182880"/>
            </a:xfrm>
            <a:prstGeom prst="rect">
              <a:avLst/>
            </a:prstGeom>
            <a:solidFill>
              <a:srgbClr val="E0F2FE"/>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194" name="Text 192"/>
            <p:cNvSpPr/>
            <p:nvPr/>
          </p:nvSpPr>
          <p:spPr>
            <a:xfrm>
              <a:off x="7882128" y="5001768"/>
              <a:ext cx="978408" cy="1828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00">
                  <a:solidFill>
                    <a:srgbClr val="0F172A"/>
                  </a:solidFill>
                </a:rPr>
                <a:t>Replaced PSU</a:t>
              </a:r>
              <a:endParaRPr lang="en-US" sz="1000"/>
            </a:p>
          </p:txBody>
        </p:sp>
        <p:sp>
          <p:nvSpPr>
            <p:cNvPr id="195" name="Shape 193"/>
            <p:cNvSpPr/>
            <p:nvPr/>
          </p:nvSpPr>
          <p:spPr>
            <a:xfrm>
              <a:off x="4645152" y="5193792"/>
              <a:ext cx="1051560" cy="182880"/>
            </a:xfrm>
            <a:prstGeom prst="rect">
              <a:avLst/>
            </a:prstGeom>
            <a:solidFill>
              <a:srgbClr val="FFFFFF"/>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196" name="Text 194"/>
            <p:cNvSpPr/>
            <p:nvPr/>
          </p:nvSpPr>
          <p:spPr>
            <a:xfrm>
              <a:off x="4672584" y="5193792"/>
              <a:ext cx="996696" cy="1828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00">
                  <a:solidFill>
                    <a:srgbClr val="0F172A"/>
                  </a:solidFill>
                </a:rPr>
                <a:t>2025_T0005989</a:t>
              </a:r>
              <a:endParaRPr lang="en-US" sz="1000"/>
            </a:p>
          </p:txBody>
        </p:sp>
        <p:sp>
          <p:nvSpPr>
            <p:cNvPr id="197" name="Shape 195"/>
            <p:cNvSpPr/>
            <p:nvPr/>
          </p:nvSpPr>
          <p:spPr>
            <a:xfrm>
              <a:off x="5696712" y="5193792"/>
              <a:ext cx="530352" cy="182880"/>
            </a:xfrm>
            <a:prstGeom prst="rect">
              <a:avLst/>
            </a:prstGeom>
            <a:solidFill>
              <a:srgbClr val="FFFFFF"/>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198" name="Text 196"/>
            <p:cNvSpPr/>
            <p:nvPr/>
          </p:nvSpPr>
          <p:spPr>
            <a:xfrm>
              <a:off x="5724144" y="5193792"/>
              <a:ext cx="475488" cy="1828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00">
                  <a:solidFill>
                    <a:srgbClr val="0F172A"/>
                  </a:solidFill>
                </a:rPr>
                <a:t>Network</a:t>
              </a:r>
              <a:endParaRPr lang="en-US" sz="1000"/>
            </a:p>
          </p:txBody>
        </p:sp>
        <p:sp>
          <p:nvSpPr>
            <p:cNvPr id="199" name="Shape 197"/>
            <p:cNvSpPr/>
            <p:nvPr/>
          </p:nvSpPr>
          <p:spPr>
            <a:xfrm>
              <a:off x="6227064" y="5193792"/>
              <a:ext cx="301752" cy="182880"/>
            </a:xfrm>
            <a:prstGeom prst="rect">
              <a:avLst/>
            </a:prstGeom>
            <a:solidFill>
              <a:srgbClr val="FFFFFF"/>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200" name="Text 198"/>
            <p:cNvSpPr/>
            <p:nvPr/>
          </p:nvSpPr>
          <p:spPr>
            <a:xfrm>
              <a:off x="6254496" y="5193792"/>
              <a:ext cx="246888" cy="1828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00">
                  <a:solidFill>
                    <a:srgbClr val="0F172A"/>
                  </a:solidFill>
                </a:rPr>
                <a:t>P2</a:t>
              </a:r>
              <a:endParaRPr lang="en-US" sz="1000"/>
            </a:p>
          </p:txBody>
        </p:sp>
        <p:sp>
          <p:nvSpPr>
            <p:cNvPr id="201" name="Shape 199"/>
            <p:cNvSpPr/>
            <p:nvPr/>
          </p:nvSpPr>
          <p:spPr>
            <a:xfrm>
              <a:off x="6528816" y="5193792"/>
              <a:ext cx="420624" cy="182880"/>
            </a:xfrm>
            <a:prstGeom prst="rect">
              <a:avLst/>
            </a:prstGeom>
            <a:solidFill>
              <a:srgbClr val="FFFFFF"/>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202" name="Text 200"/>
            <p:cNvSpPr/>
            <p:nvPr/>
          </p:nvSpPr>
          <p:spPr>
            <a:xfrm>
              <a:off x="6556248" y="5193792"/>
              <a:ext cx="365760" cy="1828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00">
                  <a:solidFill>
                    <a:srgbClr val="059669"/>
                  </a:solidFill>
                </a:rPr>
                <a:t>0.728</a:t>
              </a:r>
              <a:endParaRPr lang="en-US" sz="1000"/>
            </a:p>
          </p:txBody>
        </p:sp>
        <p:sp>
          <p:nvSpPr>
            <p:cNvPr id="203" name="Shape 201"/>
            <p:cNvSpPr/>
            <p:nvPr/>
          </p:nvSpPr>
          <p:spPr>
            <a:xfrm>
              <a:off x="6949440" y="5193792"/>
              <a:ext cx="402336" cy="182880"/>
            </a:xfrm>
            <a:prstGeom prst="rect">
              <a:avLst/>
            </a:prstGeom>
            <a:solidFill>
              <a:srgbClr val="FFFFFF"/>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204" name="Text 202"/>
            <p:cNvSpPr/>
            <p:nvPr/>
          </p:nvSpPr>
          <p:spPr>
            <a:xfrm>
              <a:off x="6976872" y="5193792"/>
              <a:ext cx="347472" cy="1828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00">
                  <a:solidFill>
                    <a:srgbClr val="059669"/>
                  </a:solidFill>
                </a:rPr>
                <a:t>0.737</a:t>
              </a:r>
              <a:endParaRPr lang="en-US" sz="1000"/>
            </a:p>
          </p:txBody>
        </p:sp>
        <p:sp>
          <p:nvSpPr>
            <p:cNvPr id="205" name="Shape 203"/>
            <p:cNvSpPr/>
            <p:nvPr/>
          </p:nvSpPr>
          <p:spPr>
            <a:xfrm>
              <a:off x="7351776" y="5193792"/>
              <a:ext cx="502920" cy="182880"/>
            </a:xfrm>
            <a:prstGeom prst="rect">
              <a:avLst/>
            </a:prstGeom>
            <a:solidFill>
              <a:srgbClr val="FFFFFF"/>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206" name="Text 204"/>
            <p:cNvSpPr/>
            <p:nvPr/>
          </p:nvSpPr>
          <p:spPr>
            <a:xfrm>
              <a:off x="7379208" y="5193792"/>
              <a:ext cx="448056" cy="1828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00">
                  <a:solidFill>
                    <a:srgbClr val="0F172A"/>
                  </a:solidFill>
                </a:rPr>
                <a:t>712m</a:t>
              </a:r>
              <a:endParaRPr lang="en-US" sz="1000"/>
            </a:p>
          </p:txBody>
        </p:sp>
        <p:sp>
          <p:nvSpPr>
            <p:cNvPr id="207" name="Shape 205"/>
            <p:cNvSpPr/>
            <p:nvPr/>
          </p:nvSpPr>
          <p:spPr>
            <a:xfrm>
              <a:off x="7854696" y="5193792"/>
              <a:ext cx="1033272" cy="182880"/>
            </a:xfrm>
            <a:prstGeom prst="rect">
              <a:avLst/>
            </a:prstGeom>
            <a:solidFill>
              <a:srgbClr val="FFFFFF"/>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208" name="Text 206"/>
            <p:cNvSpPr/>
            <p:nvPr/>
          </p:nvSpPr>
          <p:spPr>
            <a:xfrm>
              <a:off x="7882128" y="5193792"/>
              <a:ext cx="978408" cy="1828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00">
                  <a:solidFill>
                    <a:srgbClr val="0F172A"/>
                  </a:solidFill>
                </a:rPr>
                <a:t>Replaced PSU</a:t>
              </a:r>
              <a:endParaRPr lang="en-US" sz="1000"/>
            </a:p>
          </p:txBody>
        </p:sp>
        <p:sp>
          <p:nvSpPr>
            <p:cNvPr id="209" name="Shape 207"/>
            <p:cNvSpPr/>
            <p:nvPr/>
          </p:nvSpPr>
          <p:spPr>
            <a:xfrm>
              <a:off x="4645152" y="5385816"/>
              <a:ext cx="1051560" cy="182880"/>
            </a:xfrm>
            <a:prstGeom prst="rect">
              <a:avLst/>
            </a:prstGeom>
            <a:solidFill>
              <a:srgbClr val="F8FAFC"/>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210" name="Text 208"/>
            <p:cNvSpPr/>
            <p:nvPr/>
          </p:nvSpPr>
          <p:spPr>
            <a:xfrm>
              <a:off x="4672584" y="5385816"/>
              <a:ext cx="996696" cy="1828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00">
                  <a:solidFill>
                    <a:srgbClr val="0F172A"/>
                  </a:solidFill>
                </a:rPr>
                <a:t>2023_T0005083</a:t>
              </a:r>
              <a:endParaRPr lang="en-US" sz="1000"/>
            </a:p>
          </p:txBody>
        </p:sp>
        <p:sp>
          <p:nvSpPr>
            <p:cNvPr id="211" name="Shape 209"/>
            <p:cNvSpPr/>
            <p:nvPr/>
          </p:nvSpPr>
          <p:spPr>
            <a:xfrm>
              <a:off x="5696712" y="5385816"/>
              <a:ext cx="530352" cy="182880"/>
            </a:xfrm>
            <a:prstGeom prst="rect">
              <a:avLst/>
            </a:prstGeom>
            <a:solidFill>
              <a:srgbClr val="F8FAFC"/>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212" name="Text 210"/>
            <p:cNvSpPr/>
            <p:nvPr/>
          </p:nvSpPr>
          <p:spPr>
            <a:xfrm>
              <a:off x="5724144" y="5385816"/>
              <a:ext cx="475488" cy="1828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00">
                  <a:solidFill>
                    <a:srgbClr val="0F172A"/>
                  </a:solidFill>
                </a:rPr>
                <a:t>Network</a:t>
              </a:r>
              <a:endParaRPr lang="en-US" sz="1000"/>
            </a:p>
          </p:txBody>
        </p:sp>
        <p:sp>
          <p:nvSpPr>
            <p:cNvPr id="213" name="Shape 211"/>
            <p:cNvSpPr/>
            <p:nvPr/>
          </p:nvSpPr>
          <p:spPr>
            <a:xfrm>
              <a:off x="6227064" y="5385816"/>
              <a:ext cx="301752" cy="182880"/>
            </a:xfrm>
            <a:prstGeom prst="rect">
              <a:avLst/>
            </a:prstGeom>
            <a:solidFill>
              <a:srgbClr val="F8FAFC"/>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214" name="Text 212"/>
            <p:cNvSpPr/>
            <p:nvPr/>
          </p:nvSpPr>
          <p:spPr>
            <a:xfrm>
              <a:off x="6254496" y="5385816"/>
              <a:ext cx="246888" cy="1828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00">
                  <a:solidFill>
                    <a:srgbClr val="0F172A"/>
                  </a:solidFill>
                </a:rPr>
                <a:t>P4</a:t>
              </a:r>
              <a:endParaRPr lang="en-US" sz="1000"/>
            </a:p>
          </p:txBody>
        </p:sp>
        <p:sp>
          <p:nvSpPr>
            <p:cNvPr id="215" name="Shape 213"/>
            <p:cNvSpPr/>
            <p:nvPr/>
          </p:nvSpPr>
          <p:spPr>
            <a:xfrm>
              <a:off x="6528816" y="5385816"/>
              <a:ext cx="420624" cy="182880"/>
            </a:xfrm>
            <a:prstGeom prst="rect">
              <a:avLst/>
            </a:prstGeom>
            <a:solidFill>
              <a:srgbClr val="F8FAFC"/>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216" name="Text 214"/>
            <p:cNvSpPr/>
            <p:nvPr/>
          </p:nvSpPr>
          <p:spPr>
            <a:xfrm>
              <a:off x="6556248" y="5385816"/>
              <a:ext cx="365760" cy="1828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00">
                  <a:solidFill>
                    <a:srgbClr val="059669"/>
                  </a:solidFill>
                </a:rPr>
                <a:t>0.744</a:t>
              </a:r>
              <a:endParaRPr lang="en-US" sz="1000"/>
            </a:p>
          </p:txBody>
        </p:sp>
        <p:sp>
          <p:nvSpPr>
            <p:cNvPr id="217" name="Shape 215"/>
            <p:cNvSpPr/>
            <p:nvPr/>
          </p:nvSpPr>
          <p:spPr>
            <a:xfrm>
              <a:off x="6949440" y="5385816"/>
              <a:ext cx="402336" cy="182880"/>
            </a:xfrm>
            <a:prstGeom prst="rect">
              <a:avLst/>
            </a:prstGeom>
            <a:solidFill>
              <a:srgbClr val="F8FAFC"/>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218" name="Text 216"/>
            <p:cNvSpPr/>
            <p:nvPr/>
          </p:nvSpPr>
          <p:spPr>
            <a:xfrm>
              <a:off x="6976872" y="5385816"/>
              <a:ext cx="347472" cy="1828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00">
                  <a:solidFill>
                    <a:srgbClr val="059669"/>
                  </a:solidFill>
                </a:rPr>
                <a:t>0.722</a:t>
              </a:r>
              <a:endParaRPr lang="en-US" sz="1000"/>
            </a:p>
          </p:txBody>
        </p:sp>
        <p:sp>
          <p:nvSpPr>
            <p:cNvPr id="219" name="Shape 217"/>
            <p:cNvSpPr/>
            <p:nvPr/>
          </p:nvSpPr>
          <p:spPr>
            <a:xfrm>
              <a:off x="7351776" y="5385816"/>
              <a:ext cx="502920" cy="182880"/>
            </a:xfrm>
            <a:prstGeom prst="rect">
              <a:avLst/>
            </a:prstGeom>
            <a:solidFill>
              <a:srgbClr val="F8FAFC"/>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220" name="Text 218"/>
            <p:cNvSpPr/>
            <p:nvPr/>
          </p:nvSpPr>
          <p:spPr>
            <a:xfrm>
              <a:off x="7379208" y="5385816"/>
              <a:ext cx="448056" cy="1828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00">
                  <a:solidFill>
                    <a:srgbClr val="0F172A"/>
                  </a:solidFill>
                </a:rPr>
                <a:t>3180m</a:t>
              </a:r>
              <a:endParaRPr lang="en-US" sz="1000"/>
            </a:p>
          </p:txBody>
        </p:sp>
        <p:sp>
          <p:nvSpPr>
            <p:cNvPr id="221" name="Shape 219"/>
            <p:cNvSpPr/>
            <p:nvPr/>
          </p:nvSpPr>
          <p:spPr>
            <a:xfrm>
              <a:off x="7854696" y="5385816"/>
              <a:ext cx="1033272" cy="182880"/>
            </a:xfrm>
            <a:prstGeom prst="rect">
              <a:avLst/>
            </a:prstGeom>
            <a:solidFill>
              <a:srgbClr val="F8FAFC"/>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222" name="Text 220"/>
            <p:cNvSpPr/>
            <p:nvPr/>
          </p:nvSpPr>
          <p:spPr>
            <a:xfrm>
              <a:off x="7882128" y="5385816"/>
              <a:ext cx="978408" cy="1828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00">
                  <a:solidFill>
                    <a:srgbClr val="0F172A"/>
                  </a:solidFill>
                </a:rPr>
                <a:t>Replaced PSU</a:t>
              </a:r>
              <a:endParaRPr lang="en-US" sz="1000"/>
            </a:p>
          </p:txBody>
        </p:sp>
        <p:sp>
          <p:nvSpPr>
            <p:cNvPr id="223" name="Shape 221"/>
            <p:cNvSpPr/>
            <p:nvPr/>
          </p:nvSpPr>
          <p:spPr>
            <a:xfrm>
              <a:off x="4645152" y="5577840"/>
              <a:ext cx="1051560" cy="182880"/>
            </a:xfrm>
            <a:prstGeom prst="rect">
              <a:avLst/>
            </a:prstGeom>
            <a:solidFill>
              <a:srgbClr val="FFFFFF"/>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224" name="Text 222"/>
            <p:cNvSpPr/>
            <p:nvPr/>
          </p:nvSpPr>
          <p:spPr>
            <a:xfrm>
              <a:off x="4672584" y="5577840"/>
              <a:ext cx="996696" cy="1828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00">
                  <a:solidFill>
                    <a:srgbClr val="0F172A"/>
                  </a:solidFill>
                </a:rPr>
                <a:t>2025_T0007070</a:t>
              </a:r>
              <a:endParaRPr lang="en-US" sz="1000"/>
            </a:p>
          </p:txBody>
        </p:sp>
        <p:sp>
          <p:nvSpPr>
            <p:cNvPr id="225" name="Shape 223"/>
            <p:cNvSpPr/>
            <p:nvPr/>
          </p:nvSpPr>
          <p:spPr>
            <a:xfrm>
              <a:off x="5696712" y="5577840"/>
              <a:ext cx="530352" cy="182880"/>
            </a:xfrm>
            <a:prstGeom prst="rect">
              <a:avLst/>
            </a:prstGeom>
            <a:solidFill>
              <a:srgbClr val="FFFFFF"/>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226" name="Text 224"/>
            <p:cNvSpPr/>
            <p:nvPr/>
          </p:nvSpPr>
          <p:spPr>
            <a:xfrm>
              <a:off x="5724144" y="5577840"/>
              <a:ext cx="475488" cy="1828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00">
                  <a:solidFill>
                    <a:srgbClr val="0F172A"/>
                  </a:solidFill>
                </a:rPr>
                <a:t>Network</a:t>
              </a:r>
              <a:endParaRPr lang="en-US" sz="1000"/>
            </a:p>
          </p:txBody>
        </p:sp>
        <p:sp>
          <p:nvSpPr>
            <p:cNvPr id="227" name="Shape 225"/>
            <p:cNvSpPr/>
            <p:nvPr/>
          </p:nvSpPr>
          <p:spPr>
            <a:xfrm>
              <a:off x="6227064" y="5577840"/>
              <a:ext cx="301752" cy="182880"/>
            </a:xfrm>
            <a:prstGeom prst="rect">
              <a:avLst/>
            </a:prstGeom>
            <a:solidFill>
              <a:srgbClr val="FFFFFF"/>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228" name="Text 226"/>
            <p:cNvSpPr/>
            <p:nvPr/>
          </p:nvSpPr>
          <p:spPr>
            <a:xfrm>
              <a:off x="6254496" y="5577840"/>
              <a:ext cx="246888" cy="1828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00">
                  <a:solidFill>
                    <a:srgbClr val="0F172A"/>
                  </a:solidFill>
                </a:rPr>
                <a:t>P4</a:t>
              </a:r>
              <a:endParaRPr lang="en-US" sz="1000"/>
            </a:p>
          </p:txBody>
        </p:sp>
        <p:sp>
          <p:nvSpPr>
            <p:cNvPr id="229" name="Shape 227"/>
            <p:cNvSpPr/>
            <p:nvPr/>
          </p:nvSpPr>
          <p:spPr>
            <a:xfrm>
              <a:off x="6528816" y="5577840"/>
              <a:ext cx="420624" cy="182880"/>
            </a:xfrm>
            <a:prstGeom prst="rect">
              <a:avLst/>
            </a:prstGeom>
            <a:solidFill>
              <a:srgbClr val="FFFFFF"/>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230" name="Text 228"/>
            <p:cNvSpPr/>
            <p:nvPr/>
          </p:nvSpPr>
          <p:spPr>
            <a:xfrm>
              <a:off x="6556248" y="5577840"/>
              <a:ext cx="365760" cy="1828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00">
                  <a:solidFill>
                    <a:srgbClr val="059669"/>
                  </a:solidFill>
                </a:rPr>
                <a:t>0.697</a:t>
              </a:r>
              <a:endParaRPr lang="en-US" sz="1000"/>
            </a:p>
          </p:txBody>
        </p:sp>
        <p:sp>
          <p:nvSpPr>
            <p:cNvPr id="231" name="Shape 229"/>
            <p:cNvSpPr/>
            <p:nvPr/>
          </p:nvSpPr>
          <p:spPr>
            <a:xfrm>
              <a:off x="6949440" y="5577840"/>
              <a:ext cx="402336" cy="182880"/>
            </a:xfrm>
            <a:prstGeom prst="rect">
              <a:avLst/>
            </a:prstGeom>
            <a:solidFill>
              <a:srgbClr val="FFFFFF"/>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232" name="Text 230"/>
            <p:cNvSpPr/>
            <p:nvPr/>
          </p:nvSpPr>
          <p:spPr>
            <a:xfrm>
              <a:off x="6976872" y="5577840"/>
              <a:ext cx="347472" cy="1828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00">
                  <a:solidFill>
                    <a:srgbClr val="059669"/>
                  </a:solidFill>
                </a:rPr>
                <a:t>0.693</a:t>
              </a:r>
              <a:endParaRPr lang="en-US" sz="1000"/>
            </a:p>
          </p:txBody>
        </p:sp>
        <p:sp>
          <p:nvSpPr>
            <p:cNvPr id="233" name="Shape 231"/>
            <p:cNvSpPr/>
            <p:nvPr/>
          </p:nvSpPr>
          <p:spPr>
            <a:xfrm>
              <a:off x="7351776" y="5577840"/>
              <a:ext cx="502920" cy="182880"/>
            </a:xfrm>
            <a:prstGeom prst="rect">
              <a:avLst/>
            </a:prstGeom>
            <a:solidFill>
              <a:srgbClr val="FFFFFF"/>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234" name="Text 232"/>
            <p:cNvSpPr/>
            <p:nvPr/>
          </p:nvSpPr>
          <p:spPr>
            <a:xfrm>
              <a:off x="7379208" y="5577840"/>
              <a:ext cx="448056" cy="1828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00">
                  <a:solidFill>
                    <a:srgbClr val="0F172A"/>
                  </a:solidFill>
                </a:rPr>
                <a:t>3042m</a:t>
              </a:r>
              <a:endParaRPr lang="en-US" sz="1000"/>
            </a:p>
          </p:txBody>
        </p:sp>
        <p:sp>
          <p:nvSpPr>
            <p:cNvPr id="235" name="Shape 233"/>
            <p:cNvSpPr/>
            <p:nvPr/>
          </p:nvSpPr>
          <p:spPr>
            <a:xfrm>
              <a:off x="7854696" y="5577840"/>
              <a:ext cx="1033272" cy="182880"/>
            </a:xfrm>
            <a:prstGeom prst="rect">
              <a:avLst/>
            </a:prstGeom>
            <a:solidFill>
              <a:srgbClr val="FFFFFF"/>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SG" sz="3200"/>
            </a:p>
          </p:txBody>
        </p:sp>
        <p:sp>
          <p:nvSpPr>
            <p:cNvPr id="236" name="Text 234"/>
            <p:cNvSpPr/>
            <p:nvPr/>
          </p:nvSpPr>
          <p:spPr>
            <a:xfrm>
              <a:off x="7882128" y="5577840"/>
              <a:ext cx="978408" cy="1828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00">
                  <a:solidFill>
                    <a:srgbClr val="0F172A"/>
                  </a:solidFill>
                </a:rPr>
                <a:t>Replaced PSU</a:t>
              </a:r>
              <a:endParaRPr lang="en-US" sz="1000"/>
            </a:p>
          </p:txBody>
        </p:sp>
        <p:sp>
          <p:nvSpPr>
            <p:cNvPr id="251" name="Text 249"/>
            <p:cNvSpPr/>
            <p:nvPr/>
          </p:nvSpPr>
          <p:spPr>
            <a:xfrm>
              <a:off x="4645152" y="5841806"/>
              <a:ext cx="4242816" cy="20116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933" i="1">
                  <a:solidFill>
                    <a:srgbClr val="0369A1"/>
                  </a:solidFill>
                </a:rPr>
                <a:t>Reco: 60% sim + 15% issue + 10% device + 10% speed + 5% reopen  ·  Corpus: 15,363 tickets · 15,363×700 TF-IDF matrix  ·  Suggested: Replaced PSU  ·  Eng. group: Network  ·  Expected TTR: 2,124 min</a:t>
              </a:r>
              <a:endParaRPr lang="en-US" sz="933"/>
            </a:p>
          </p:txBody>
        </p:sp>
      </p:grpSp>
      <p:sp>
        <p:nvSpPr>
          <p:cNvPr id="238" name="Rectangle 237">
            <a:extLst>
              <a:ext uri="{FF2B5EF4-FFF2-40B4-BE49-F238E27FC236}">
                <a16:creationId xmlns:a16="http://schemas.microsoft.com/office/drawing/2014/main" id="{9CFD5D97-E789-7D6B-3C76-CDF78F8D0F1A}"/>
              </a:ext>
            </a:extLst>
          </p:cNvPr>
          <p:cNvSpPr/>
          <p:nvPr/>
        </p:nvSpPr>
        <p:spPr>
          <a:xfrm>
            <a:off x="0" y="0"/>
            <a:ext cx="12191969" cy="859536"/>
          </a:xfrm>
          <a:prstGeom prst="rect">
            <a:avLst/>
          </a:prstGeom>
          <a:solidFill>
            <a:srgbClr val="1E27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0" name="TextBox 239">
            <a:extLst>
              <a:ext uri="{FF2B5EF4-FFF2-40B4-BE49-F238E27FC236}">
                <a16:creationId xmlns:a16="http://schemas.microsoft.com/office/drawing/2014/main" id="{9AC70328-4314-D14A-81F6-D7663F9E21A9}"/>
              </a:ext>
            </a:extLst>
          </p:cNvPr>
          <p:cNvSpPr txBox="1"/>
          <p:nvPr/>
        </p:nvSpPr>
        <p:spPr>
          <a:xfrm>
            <a:off x="276368" y="296682"/>
            <a:ext cx="11766084" cy="543546"/>
          </a:xfrm>
          <a:prstGeom prst="rect">
            <a:avLst/>
          </a:prstGeom>
          <a:noFill/>
        </p:spPr>
        <p:txBody>
          <a:bodyPr wrap="square" lIns="91440" tIns="45720" rIns="91440" bIns="45720" anchor="t"/>
          <a:lstStyle/>
          <a:p>
            <a:pPr algn="l" rtl="0">
              <a:defRPr/>
            </a:pPr>
            <a:r>
              <a:rPr kumimoji="0" sz="2400" b="1" i="0" u="none" strike="noStrike" kern="1200" cap="none" spc="0" normalizeH="0" baseline="0" noProof="0">
                <a:ln>
                  <a:noFill/>
                </a:ln>
                <a:solidFill>
                  <a:srgbClr val="FFFFFF"/>
                </a:solidFill>
                <a:effectLst/>
                <a:uLnTx/>
                <a:uFillTx/>
                <a:latin typeface="Georgia"/>
                <a:ea typeface="+mn-ea"/>
                <a:cs typeface="+mn-cs"/>
              </a:rPr>
              <a:t>Ticket Intelligence Engine</a:t>
            </a:r>
            <a:r>
              <a:rPr lang="en-US" sz="2400" b="1" kern="1200">
                <a:solidFill>
                  <a:srgbClr val="FFFFFF"/>
                </a:solidFill>
                <a:latin typeface="Georgia"/>
                <a:ea typeface="+mn-ea"/>
                <a:cs typeface="+mn-cs"/>
              </a:rPr>
              <a:t> - Classification Models</a:t>
            </a:r>
          </a:p>
        </p:txBody>
      </p:sp>
      <p:sp>
        <p:nvSpPr>
          <p:cNvPr id="242" name="TextBox 241">
            <a:extLst>
              <a:ext uri="{FF2B5EF4-FFF2-40B4-BE49-F238E27FC236}">
                <a16:creationId xmlns:a16="http://schemas.microsoft.com/office/drawing/2014/main" id="{958E029B-28C5-C8CD-DC5C-5039E7791B9E}"/>
              </a:ext>
            </a:extLst>
          </p:cNvPr>
          <p:cNvSpPr txBox="1"/>
          <p:nvPr/>
        </p:nvSpPr>
        <p:spPr>
          <a:xfrm>
            <a:off x="328559" y="48221"/>
            <a:ext cx="8229600" cy="230832"/>
          </a:xfrm>
          <a:prstGeom prst="rect">
            <a:avLst/>
          </a:prstGeom>
          <a:noFill/>
        </p:spPr>
        <p:txBody>
          <a:bodyPr wrap="square" lIns="91440" tIns="45720" rIns="91440" bIns="45720" anchor="t">
            <a:spAutoFit/>
          </a:bodyPr>
          <a:lstStyle/>
          <a:p>
            <a:pPr algn="l">
              <a:defRPr/>
            </a:pPr>
            <a:r>
              <a:rPr lang="en-SG" sz="900" kern="1200">
                <a:solidFill>
                  <a:srgbClr val="8AAEC4"/>
                </a:solidFill>
                <a:latin typeface="Trebuchet MS"/>
                <a:ea typeface="+mn-ea"/>
                <a:cs typeface="+mn-cs"/>
              </a:rPr>
              <a:t>Automate Service Ops - Classification Models</a:t>
            </a:r>
          </a:p>
        </p:txBody>
      </p:sp>
      <p:sp>
        <p:nvSpPr>
          <p:cNvPr id="244" name="TextBox 243">
            <a:extLst>
              <a:ext uri="{FF2B5EF4-FFF2-40B4-BE49-F238E27FC236}">
                <a16:creationId xmlns:a16="http://schemas.microsoft.com/office/drawing/2014/main" id="{A9A1EF86-F284-E76E-F598-227CFF6651F3}"/>
              </a:ext>
            </a:extLst>
          </p:cNvPr>
          <p:cNvSpPr txBox="1"/>
          <p:nvPr/>
        </p:nvSpPr>
        <p:spPr>
          <a:xfrm>
            <a:off x="10363169" y="45720"/>
            <a:ext cx="1737360" cy="475488"/>
          </a:xfrm>
          <a:prstGeom prst="rect">
            <a:avLst/>
          </a:prstGeom>
          <a:noFill/>
        </p:spPr>
        <p:txBody>
          <a:bodyPr wrap="square" lIns="91440" tIns="45720" rIns="91440" bIns="4572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chemeClr val="bg1"/>
                </a:solidFill>
                <a:effectLst/>
                <a:uLnTx/>
                <a:uFillTx/>
                <a:latin typeface="Trebuchet MS"/>
                <a:ea typeface="+mn-ea"/>
                <a:cs typeface="+mn-cs"/>
              </a:rPr>
              <a:t>Expected Time Spent: </a:t>
            </a:r>
            <a:r>
              <a:rPr kumimoji="0" sz="900" b="0" i="0" u="none" strike="noStrike" kern="1200" cap="none" spc="0" normalizeH="0" baseline="0" noProof="0">
                <a:ln>
                  <a:noFill/>
                </a:ln>
                <a:solidFill>
                  <a:schemeClr val="bg1"/>
                </a:solidFill>
                <a:effectLst/>
                <a:uLnTx/>
                <a:uFillTx/>
                <a:latin typeface="Trebuchet MS"/>
                <a:ea typeface="+mn-ea"/>
                <a:cs typeface="+mn-cs"/>
              </a:rPr>
              <a:t>1 w</a:t>
            </a:r>
            <a:endParaRPr lang="en-US" sz="900" b="0" i="0" u="none" strike="noStrike" kern="1200" cap="none" spc="0" normalizeH="0" baseline="0" noProof="0">
              <a:ln>
                <a:noFill/>
              </a:ln>
              <a:solidFill>
                <a:schemeClr val="bg1"/>
              </a:solidFill>
              <a:effectLst/>
              <a:uLnTx/>
              <a:uFillTx/>
              <a:latin typeface="Trebuchet MS"/>
              <a:ea typeface="+mn-ea"/>
              <a:cs typeface="+mn-cs"/>
            </a:endParaRPr>
          </a:p>
          <a:p>
            <a:pPr algn="l" rtl="0">
              <a:defRPr/>
            </a:pPr>
            <a:r>
              <a:rPr kumimoji="0" sz="900" b="1" i="0" u="none" strike="noStrike" kern="1200" cap="none" spc="0" normalizeH="0" baseline="0" noProof="0">
                <a:ln>
                  <a:noFill/>
                </a:ln>
                <a:solidFill>
                  <a:schemeClr val="bg1"/>
                </a:solidFill>
                <a:effectLst/>
                <a:uLnTx/>
                <a:uFillTx/>
                <a:latin typeface="Trebuchet MS"/>
                <a:ea typeface="+mn-ea"/>
                <a:cs typeface="+mn-cs"/>
              </a:rPr>
              <a:t>Actual Time Spent: </a:t>
            </a:r>
            <a:r>
              <a:rPr lang="en-US" sz="900" b="1" kern="1200">
                <a:solidFill>
                  <a:schemeClr val="bg1"/>
                </a:solidFill>
                <a:latin typeface="Trebuchet MS"/>
                <a:ea typeface="+mn-ea"/>
                <a:cs typeface="+mn-cs"/>
              </a:rPr>
              <a:t>1</a:t>
            </a:r>
            <a:r>
              <a:rPr lang="en-US" sz="900" kern="1200">
                <a:solidFill>
                  <a:schemeClr val="bg1"/>
                </a:solidFill>
                <a:latin typeface="Trebuchet MS"/>
                <a:ea typeface="+mn-ea"/>
                <a:cs typeface="+mn-cs"/>
              </a:rPr>
              <a:t> </a:t>
            </a:r>
            <a:r>
              <a:rPr kumimoji="0" sz="900" b="0" i="0" u="none" strike="noStrike" kern="1200" cap="none" spc="0" normalizeH="0" baseline="0" noProof="0">
                <a:ln>
                  <a:noFill/>
                </a:ln>
                <a:solidFill>
                  <a:schemeClr val="bg1"/>
                </a:solidFill>
                <a:effectLst/>
                <a:uLnTx/>
                <a:uFillTx/>
                <a:latin typeface="Trebuchet MS"/>
                <a:ea typeface="+mn-ea"/>
                <a:cs typeface="+mn-cs"/>
              </a:rPr>
              <a:t>w</a:t>
            </a:r>
            <a:endParaRPr sz="900" b="0" i="0" u="none" strike="noStrike" kern="1200" cap="none" spc="0" normalizeH="0" baseline="0" noProof="0">
              <a:ln>
                <a:noFill/>
              </a:ln>
              <a:solidFill>
                <a:schemeClr val="bg1"/>
              </a:solidFill>
              <a:effectLst/>
              <a:uLnTx/>
              <a:uFillTx/>
              <a:latin typeface="Trebuchet MS"/>
              <a:ea typeface="+mn-ea"/>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7" name="Shape 5"/>
          <p:cNvSpPr/>
          <p:nvPr/>
        </p:nvSpPr>
        <p:spPr>
          <a:xfrm>
            <a:off x="365760" y="949473"/>
            <a:ext cx="11460480" cy="24384"/>
          </a:xfrm>
          <a:prstGeom prst="rect">
            <a:avLst/>
          </a:prstGeom>
          <a:solidFill>
            <a:srgbClr val="E2E8F0"/>
          </a:solidFill>
          <a:ln w="12700">
            <a:solidFill>
              <a:srgbClr val="E2E8F0"/>
            </a:solidFill>
            <a:prstDash val="solid"/>
          </a:ln>
        </p:spPr>
        <p:txBody>
          <a:bodyPr/>
          <a:lstStyle/>
          <a:p>
            <a:endParaRPr lang="en-SG"/>
          </a:p>
        </p:txBody>
      </p:sp>
      <p:pic>
        <p:nvPicPr>
          <p:cNvPr id="10" name="Image 0" descr="preencoded.png"/>
          <p:cNvPicPr>
            <a:picLocks noChangeAspect="1"/>
          </p:cNvPicPr>
          <p:nvPr/>
        </p:nvPicPr>
        <p:blipFill>
          <a:blip r:embed="rId3"/>
          <a:stretch>
            <a:fillRect/>
          </a:stretch>
        </p:blipFill>
        <p:spPr>
          <a:xfrm>
            <a:off x="341376" y="4058433"/>
            <a:ext cx="5754624" cy="2340864"/>
          </a:xfrm>
          <a:prstGeom prst="rect">
            <a:avLst/>
          </a:prstGeom>
        </p:spPr>
      </p:pic>
      <p:sp>
        <p:nvSpPr>
          <p:cNvPr id="11" name="Shape 8"/>
          <p:cNvSpPr/>
          <p:nvPr/>
        </p:nvSpPr>
        <p:spPr>
          <a:xfrm>
            <a:off x="341376" y="1071393"/>
            <a:ext cx="5754624" cy="2804160"/>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SG"/>
          </a:p>
        </p:txBody>
      </p:sp>
      <p:sp>
        <p:nvSpPr>
          <p:cNvPr id="12" name="Shape 9"/>
          <p:cNvSpPr/>
          <p:nvPr/>
        </p:nvSpPr>
        <p:spPr>
          <a:xfrm>
            <a:off x="341376" y="1071393"/>
            <a:ext cx="5754624" cy="365760"/>
          </a:xfrm>
          <a:prstGeom prst="rect">
            <a:avLst/>
          </a:prstGeom>
          <a:solidFill>
            <a:srgbClr val="1E3A5F"/>
          </a:solidFill>
          <a:ln w="12700">
            <a:solidFill>
              <a:srgbClr val="2563EB"/>
            </a:solidFill>
            <a:prstDash val="solid"/>
          </a:ln>
        </p:spPr>
        <p:txBody>
          <a:bodyPr/>
          <a:lstStyle/>
          <a:p>
            <a:endParaRPr lang="en-SG"/>
          </a:p>
        </p:txBody>
      </p:sp>
      <p:sp>
        <p:nvSpPr>
          <p:cNvPr id="13" name="Text 10"/>
          <p:cNvSpPr/>
          <p:nvPr/>
        </p:nvSpPr>
        <p:spPr>
          <a:xfrm>
            <a:off x="463296" y="1095777"/>
            <a:ext cx="5510784" cy="29260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b="1" kern="0" spc="133">
                <a:solidFill>
                  <a:srgbClr val="FFFFFF"/>
                </a:solidFill>
              </a:rPr>
              <a:t>RECOMMENDATION ENGINE</a:t>
            </a:r>
            <a:endParaRPr lang="en-US" sz="1200"/>
          </a:p>
        </p:txBody>
      </p:sp>
      <p:sp>
        <p:nvSpPr>
          <p:cNvPr id="14" name="Text 11"/>
          <p:cNvSpPr/>
          <p:nvPr/>
        </p:nvSpPr>
        <p:spPr>
          <a:xfrm>
            <a:off x="463296" y="1546881"/>
            <a:ext cx="1097280" cy="31699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b="1">
                <a:solidFill>
                  <a:srgbClr val="2563EB"/>
                </a:solidFill>
              </a:rPr>
              <a:t>Query:</a:t>
            </a:r>
            <a:endParaRPr lang="en-US" sz="1200"/>
          </a:p>
        </p:txBody>
      </p:sp>
      <p:sp>
        <p:nvSpPr>
          <p:cNvPr id="15" name="Text 12"/>
          <p:cNvSpPr/>
          <p:nvPr/>
        </p:nvSpPr>
        <p:spPr>
          <a:xfrm>
            <a:off x="1609344" y="1546881"/>
            <a:ext cx="4340352" cy="43891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a:solidFill>
                  <a:srgbClr val="334155"/>
                </a:solidFill>
              </a:rPr>
              <a:t>TF-IDF on description + issue_type + device_type → sparse vector</a:t>
            </a:r>
            <a:endParaRPr lang="en-US" sz="1267"/>
          </a:p>
        </p:txBody>
      </p:sp>
      <p:sp>
        <p:nvSpPr>
          <p:cNvPr id="16" name="Text 13"/>
          <p:cNvSpPr/>
          <p:nvPr/>
        </p:nvSpPr>
        <p:spPr>
          <a:xfrm>
            <a:off x="463296" y="2095521"/>
            <a:ext cx="1097280" cy="31699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b="1">
                <a:solidFill>
                  <a:srgbClr val="2563EB"/>
                </a:solidFill>
              </a:rPr>
              <a:t>Cosine Match:</a:t>
            </a:r>
            <a:endParaRPr lang="en-US" sz="1200"/>
          </a:p>
        </p:txBody>
      </p:sp>
      <p:sp>
        <p:nvSpPr>
          <p:cNvPr id="17" name="Text 14"/>
          <p:cNvSpPr/>
          <p:nvPr/>
        </p:nvSpPr>
        <p:spPr>
          <a:xfrm>
            <a:off x="1609344" y="2095521"/>
            <a:ext cx="4340352" cy="43891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a:solidFill>
                  <a:srgbClr val="334155"/>
                </a:solidFill>
              </a:rPr>
              <a:t>Similarity vs all 15,363 tickets with real descriptions</a:t>
            </a:r>
            <a:endParaRPr lang="en-US" sz="1267"/>
          </a:p>
        </p:txBody>
      </p:sp>
      <p:sp>
        <p:nvSpPr>
          <p:cNvPr id="18" name="Text 15"/>
          <p:cNvSpPr/>
          <p:nvPr/>
        </p:nvSpPr>
        <p:spPr>
          <a:xfrm>
            <a:off x="463296" y="2644161"/>
            <a:ext cx="1097280" cy="31699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b="1">
                <a:solidFill>
                  <a:srgbClr val="2563EB"/>
                </a:solidFill>
              </a:rPr>
              <a:t>Re-rank:</a:t>
            </a:r>
            <a:endParaRPr lang="en-US" sz="1200"/>
          </a:p>
        </p:txBody>
      </p:sp>
      <p:sp>
        <p:nvSpPr>
          <p:cNvPr id="19" name="Text 16"/>
          <p:cNvSpPr/>
          <p:nvPr/>
        </p:nvSpPr>
        <p:spPr>
          <a:xfrm>
            <a:off x="1609344" y="2644161"/>
            <a:ext cx="4340352" cy="43891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a:solidFill>
                  <a:srgbClr val="334155"/>
                </a:solidFill>
              </a:rPr>
              <a:t>60% sim + 15% issue match + 10% device + 10% speed + 5% reopen</a:t>
            </a:r>
            <a:endParaRPr lang="en-US" sz="1267"/>
          </a:p>
        </p:txBody>
      </p:sp>
      <p:sp>
        <p:nvSpPr>
          <p:cNvPr id="20" name="Text 17"/>
          <p:cNvSpPr/>
          <p:nvPr/>
        </p:nvSpPr>
        <p:spPr>
          <a:xfrm>
            <a:off x="463296" y="3192801"/>
            <a:ext cx="1097280" cy="31699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b="1">
                <a:solidFill>
                  <a:srgbClr val="2563EB"/>
                </a:solidFill>
              </a:rPr>
              <a:t>Output:</a:t>
            </a:r>
            <a:endParaRPr lang="en-US" sz="1200"/>
          </a:p>
        </p:txBody>
      </p:sp>
      <p:sp>
        <p:nvSpPr>
          <p:cNvPr id="21" name="Text 18"/>
          <p:cNvSpPr/>
          <p:nvPr/>
        </p:nvSpPr>
        <p:spPr>
          <a:xfrm>
            <a:off x="1609344" y="3192801"/>
            <a:ext cx="4340352" cy="43891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a:solidFill>
                  <a:srgbClr val="334155"/>
                </a:solidFill>
              </a:rPr>
              <a:t>Top-5: ticket ID · similarity · expected resolution time · suggested fix</a:t>
            </a:r>
            <a:endParaRPr lang="en-US" sz="1267"/>
          </a:p>
        </p:txBody>
      </p:sp>
      <p:sp>
        <p:nvSpPr>
          <p:cNvPr id="22" name="Shape 19"/>
          <p:cNvSpPr/>
          <p:nvPr/>
        </p:nvSpPr>
        <p:spPr>
          <a:xfrm>
            <a:off x="6315456" y="1071393"/>
            <a:ext cx="5535168" cy="2804160"/>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SG"/>
          </a:p>
        </p:txBody>
      </p:sp>
      <p:sp>
        <p:nvSpPr>
          <p:cNvPr id="23" name="Shape 20"/>
          <p:cNvSpPr/>
          <p:nvPr/>
        </p:nvSpPr>
        <p:spPr>
          <a:xfrm>
            <a:off x="6315456" y="1071393"/>
            <a:ext cx="5535168" cy="365760"/>
          </a:xfrm>
          <a:prstGeom prst="rect">
            <a:avLst/>
          </a:prstGeom>
          <a:solidFill>
            <a:srgbClr val="1E3A5F"/>
          </a:solidFill>
          <a:ln w="12700">
            <a:solidFill>
              <a:srgbClr val="059669"/>
            </a:solidFill>
            <a:prstDash val="solid"/>
          </a:ln>
        </p:spPr>
        <p:txBody>
          <a:bodyPr/>
          <a:lstStyle/>
          <a:p>
            <a:endParaRPr lang="en-SG"/>
          </a:p>
        </p:txBody>
      </p:sp>
      <p:sp>
        <p:nvSpPr>
          <p:cNvPr id="24" name="Text 21"/>
          <p:cNvSpPr/>
          <p:nvPr/>
        </p:nvSpPr>
        <p:spPr>
          <a:xfrm>
            <a:off x="6437376" y="1095777"/>
            <a:ext cx="5291328" cy="29260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b="1" kern="0" spc="133">
                <a:solidFill>
                  <a:srgbClr val="FFFFFF"/>
                </a:solidFill>
              </a:rPr>
              <a:t>AHP ENGINEER ASSIGNMENT  (Saaty 1977)</a:t>
            </a:r>
            <a:endParaRPr lang="en-US" sz="1200"/>
          </a:p>
        </p:txBody>
      </p:sp>
      <p:graphicFrame>
        <p:nvGraphicFramePr>
          <p:cNvPr id="25" name="Table 0"/>
          <p:cNvGraphicFramePr>
            <a:graphicFrameLocks noGrp="1"/>
          </p:cNvGraphicFramePr>
          <p:nvPr>
            <p:extLst>
              <p:ext uri="{D42A27DB-BD31-4B8C-83A1-F6EECF244321}">
                <p14:modId xmlns:p14="http://schemas.microsoft.com/office/powerpoint/2010/main" val="1470414987"/>
              </p:ext>
            </p:extLst>
          </p:nvPr>
        </p:nvGraphicFramePr>
        <p:xfrm>
          <a:off x="6442456" y="1603946"/>
          <a:ext cx="5291328" cy="2081021"/>
        </p:xfrm>
        <a:graphic>
          <a:graphicData uri="http://schemas.openxmlformats.org/drawingml/2006/table">
            <a:tbl>
              <a:tblPr/>
              <a:tblGrid>
                <a:gridCol w="1767840">
                  <a:extLst>
                    <a:ext uri="{9D8B030D-6E8A-4147-A177-3AD203B41FA5}">
                      <a16:colId xmlns:a16="http://schemas.microsoft.com/office/drawing/2014/main" val="20000"/>
                    </a:ext>
                  </a:extLst>
                </a:gridCol>
                <a:gridCol w="1170432">
                  <a:extLst>
                    <a:ext uri="{9D8B030D-6E8A-4147-A177-3AD203B41FA5}">
                      <a16:colId xmlns:a16="http://schemas.microsoft.com/office/drawing/2014/main" val="20001"/>
                    </a:ext>
                  </a:extLst>
                </a:gridCol>
                <a:gridCol w="1170432">
                  <a:extLst>
                    <a:ext uri="{9D8B030D-6E8A-4147-A177-3AD203B41FA5}">
                      <a16:colId xmlns:a16="http://schemas.microsoft.com/office/drawing/2014/main" val="20002"/>
                    </a:ext>
                  </a:extLst>
                </a:gridCol>
                <a:gridCol w="1182624">
                  <a:extLst>
                    <a:ext uri="{9D8B030D-6E8A-4147-A177-3AD203B41FA5}">
                      <a16:colId xmlns:a16="http://schemas.microsoft.com/office/drawing/2014/main" val="20003"/>
                    </a:ext>
                  </a:extLst>
                </a:gridCol>
              </a:tblGrid>
              <a:tr h="283019">
                <a:tc>
                  <a:txBody>
                    <a:bodyPr/>
                    <a:lstStyle/>
                    <a:p>
                      <a:pPr marL="0" indent="0" algn="l">
                        <a:buNone/>
                      </a:pPr>
                      <a:r>
                        <a:rPr lang="en-US" sz="1100" b="1">
                          <a:solidFill>
                            <a:srgbClr val="FFFFFF"/>
                          </a:solidFill>
                        </a:rPr>
                        <a:t>Criterion</a:t>
                      </a:r>
                      <a:endParaRPr lang="en-US" sz="11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563EB"/>
                    </a:solidFill>
                  </a:tcPr>
                </a:tc>
                <a:tc>
                  <a:txBody>
                    <a:bodyPr/>
                    <a:lstStyle/>
                    <a:p>
                      <a:pPr marL="0" indent="0" algn="ctr">
                        <a:buNone/>
                      </a:pPr>
                      <a:r>
                        <a:rPr lang="en-US" sz="1100" b="1">
                          <a:solidFill>
                            <a:srgbClr val="FFFFFF"/>
                          </a:solidFill>
                        </a:rPr>
                        <a:t>Low</a:t>
                      </a:r>
                      <a:endParaRPr lang="en-US" sz="11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563EB"/>
                    </a:solidFill>
                  </a:tcPr>
                </a:tc>
                <a:tc>
                  <a:txBody>
                    <a:bodyPr/>
                    <a:lstStyle/>
                    <a:p>
                      <a:pPr marL="0" indent="0" algn="ctr">
                        <a:buNone/>
                      </a:pPr>
                      <a:r>
                        <a:rPr lang="en-US" sz="1100" b="1">
                          <a:solidFill>
                            <a:srgbClr val="FFFFFF"/>
                          </a:solidFill>
                        </a:rPr>
                        <a:t>Med</a:t>
                      </a:r>
                      <a:endParaRPr lang="en-US" sz="11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563EB"/>
                    </a:solidFill>
                  </a:tcPr>
                </a:tc>
                <a:tc>
                  <a:txBody>
                    <a:bodyPr/>
                    <a:lstStyle/>
                    <a:p>
                      <a:pPr marL="0" indent="0" algn="ctr">
                        <a:buNone/>
                      </a:pPr>
                      <a:r>
                        <a:rPr lang="en-US" sz="1100" b="1">
                          <a:solidFill>
                            <a:srgbClr val="FFFFFF"/>
                          </a:solidFill>
                        </a:rPr>
                        <a:t>High</a:t>
                      </a:r>
                      <a:endParaRPr lang="en-US" sz="11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563EB"/>
                    </a:solidFill>
                  </a:tcPr>
                </a:tc>
                <a:extLst>
                  <a:ext uri="{0D108BD9-81ED-4DB2-BD59-A6C34878D82A}">
                    <a16:rowId xmlns:a16="http://schemas.microsoft.com/office/drawing/2014/main" val="10000"/>
                  </a:ext>
                </a:extLst>
              </a:tr>
              <a:tr h="299667">
                <a:tc>
                  <a:txBody>
                    <a:bodyPr/>
                    <a:lstStyle/>
                    <a:p>
                      <a:pPr marL="0" indent="0" algn="l">
                        <a:buNone/>
                      </a:pPr>
                      <a:r>
                        <a:rPr lang="en-US" sz="1200" b="1">
                          <a:solidFill>
                            <a:srgbClr val="0F172A"/>
                          </a:solidFill>
                        </a:rPr>
                        <a:t>Specialisation Match</a:t>
                      </a:r>
                      <a:endParaRPr lang="en-US" sz="12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a:solidFill>
                            <a:srgbClr val="0F172A"/>
                          </a:solidFill>
                        </a:rPr>
                        <a:t>30.7%</a:t>
                      </a:r>
                      <a:endParaRPr lang="en-US" sz="12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a:solidFill>
                            <a:srgbClr val="0F172A"/>
                          </a:solidFill>
                        </a:rPr>
                        <a:t>21.5%</a:t>
                      </a:r>
                      <a:endParaRPr lang="en-US" sz="12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a:solidFill>
                            <a:srgbClr val="0F172A"/>
                          </a:solidFill>
                        </a:rPr>
                        <a:t>15.6%</a:t>
                      </a:r>
                      <a:endParaRPr lang="en-US" sz="12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9667">
                <a:tc>
                  <a:txBody>
                    <a:bodyPr/>
                    <a:lstStyle/>
                    <a:p>
                      <a:pPr marL="0" indent="0" algn="l">
                        <a:buNone/>
                      </a:pPr>
                      <a:r>
                        <a:rPr lang="en-US" sz="1200" b="1">
                          <a:solidFill>
                            <a:srgbClr val="0F172A"/>
                          </a:solidFill>
                        </a:rPr>
                        <a:t>Experience Score</a:t>
                      </a:r>
                      <a:endParaRPr lang="en-US" sz="12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200">
                          <a:solidFill>
                            <a:srgbClr val="0F172A"/>
                          </a:solidFill>
                        </a:rPr>
                        <a:t>14.0%</a:t>
                      </a:r>
                      <a:endParaRPr lang="en-US" sz="12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200">
                          <a:solidFill>
                            <a:srgbClr val="0F172A"/>
                          </a:solidFill>
                        </a:rPr>
                        <a:t>17.4%</a:t>
                      </a:r>
                      <a:endParaRPr lang="en-US" sz="12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200">
                          <a:solidFill>
                            <a:srgbClr val="0F172A"/>
                          </a:solidFill>
                        </a:rPr>
                        <a:t>15.6%</a:t>
                      </a:r>
                      <a:endParaRPr lang="en-US" sz="12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299667">
                <a:tc>
                  <a:txBody>
                    <a:bodyPr/>
                    <a:lstStyle/>
                    <a:p>
                      <a:pPr marL="0" indent="0" algn="l">
                        <a:buNone/>
                      </a:pPr>
                      <a:r>
                        <a:rPr lang="en-US" sz="1200" b="1">
                          <a:solidFill>
                            <a:srgbClr val="0F172A"/>
                          </a:solidFill>
                        </a:rPr>
                        <a:t>SLA Success Rate</a:t>
                      </a:r>
                      <a:endParaRPr lang="en-US" sz="12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a:solidFill>
                            <a:srgbClr val="0F172A"/>
                          </a:solidFill>
                        </a:rPr>
                        <a:t>22.2%</a:t>
                      </a:r>
                      <a:endParaRPr lang="en-US" sz="12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a:solidFill>
                            <a:srgbClr val="0F172A"/>
                          </a:solidFill>
                        </a:rPr>
                        <a:t>31.4%</a:t>
                      </a:r>
                      <a:endParaRPr lang="en-US" sz="12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a:solidFill>
                            <a:srgbClr val="059669"/>
                          </a:solidFill>
                        </a:rPr>
                        <a:t>45.1% ★</a:t>
                      </a:r>
                      <a:endParaRPr lang="en-US" sz="12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9667">
                <a:tc>
                  <a:txBody>
                    <a:bodyPr/>
                    <a:lstStyle/>
                    <a:p>
                      <a:pPr marL="0" indent="0" algn="l">
                        <a:buNone/>
                      </a:pPr>
                      <a:r>
                        <a:rPr lang="en-US" sz="1200" b="1">
                          <a:solidFill>
                            <a:srgbClr val="0F172A"/>
                          </a:solidFill>
                        </a:rPr>
                        <a:t>Load Score</a:t>
                      </a:r>
                      <a:endParaRPr lang="en-US" sz="12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200">
                          <a:solidFill>
                            <a:srgbClr val="059669"/>
                          </a:solidFill>
                        </a:rPr>
                        <a:t>24.1% ★</a:t>
                      </a:r>
                      <a:endParaRPr lang="en-US" sz="12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200">
                          <a:solidFill>
                            <a:srgbClr val="0F172A"/>
                          </a:solidFill>
                        </a:rPr>
                        <a:t>19.8%</a:t>
                      </a:r>
                      <a:endParaRPr lang="en-US" sz="12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200">
                          <a:solidFill>
                            <a:srgbClr val="0F172A"/>
                          </a:solidFill>
                        </a:rPr>
                        <a:t>15.6%</a:t>
                      </a:r>
                      <a:endParaRPr lang="en-US" sz="12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299667">
                <a:tc>
                  <a:txBody>
                    <a:bodyPr/>
                    <a:lstStyle/>
                    <a:p>
                      <a:pPr marL="0" indent="0" algn="l">
                        <a:buNone/>
                      </a:pPr>
                      <a:r>
                        <a:rPr lang="en-US" sz="1200" b="1">
                          <a:solidFill>
                            <a:srgbClr val="0F172A"/>
                          </a:solidFill>
                        </a:rPr>
                        <a:t>Issue Familiarity</a:t>
                      </a:r>
                      <a:endParaRPr lang="en-US" sz="12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a:solidFill>
                            <a:srgbClr val="0F172A"/>
                          </a:solidFill>
                        </a:rPr>
                        <a:t>9.0%</a:t>
                      </a:r>
                      <a:endParaRPr lang="en-US" sz="12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a:solidFill>
                            <a:srgbClr val="0F172A"/>
                          </a:solidFill>
                        </a:rPr>
                        <a:t>9.9%</a:t>
                      </a:r>
                      <a:endParaRPr lang="en-US" sz="12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a:solidFill>
                            <a:srgbClr val="0F172A"/>
                          </a:solidFill>
                        </a:rPr>
                        <a:t>8.1%</a:t>
                      </a:r>
                      <a:endParaRPr lang="en-US" sz="12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9667">
                <a:tc>
                  <a:txBody>
                    <a:bodyPr/>
                    <a:lstStyle/>
                    <a:p>
                      <a:pPr marL="0" indent="0" algn="l">
                        <a:buNone/>
                      </a:pPr>
                      <a:r>
                        <a:rPr lang="en-US" sz="1200" b="1">
                          <a:solidFill>
                            <a:srgbClr val="0F172A"/>
                          </a:solidFill>
                        </a:rPr>
                        <a:t>Consistency Ratio</a:t>
                      </a:r>
                      <a:endParaRPr lang="en-US" sz="12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200">
                          <a:solidFill>
                            <a:srgbClr val="059669"/>
                          </a:solidFill>
                        </a:rPr>
                        <a:t>0.012 ✓</a:t>
                      </a:r>
                      <a:endParaRPr lang="en-US" sz="12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200">
                          <a:solidFill>
                            <a:srgbClr val="059669"/>
                          </a:solidFill>
                        </a:rPr>
                        <a:t>0.005 ✓</a:t>
                      </a:r>
                      <a:endParaRPr lang="en-US" sz="12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200">
                          <a:solidFill>
                            <a:srgbClr val="059669"/>
                          </a:solidFill>
                        </a:rPr>
                        <a:t>0.001 ✓</a:t>
                      </a:r>
                      <a:endParaRPr lang="en-US" sz="12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extLst>
                  <a:ext uri="{0D108BD9-81ED-4DB2-BD59-A6C34878D82A}">
                    <a16:rowId xmlns:a16="http://schemas.microsoft.com/office/drawing/2014/main" val="10006"/>
                  </a:ext>
                </a:extLst>
              </a:tr>
            </a:tbl>
          </a:graphicData>
        </a:graphic>
      </p:graphicFrame>
      <p:sp>
        <p:nvSpPr>
          <p:cNvPr id="26" name="Shape 22"/>
          <p:cNvSpPr/>
          <p:nvPr/>
        </p:nvSpPr>
        <p:spPr>
          <a:xfrm>
            <a:off x="6315456" y="4058433"/>
            <a:ext cx="5535168" cy="2340864"/>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SG"/>
          </a:p>
        </p:txBody>
      </p:sp>
      <p:sp>
        <p:nvSpPr>
          <p:cNvPr id="27" name="Shape 23"/>
          <p:cNvSpPr/>
          <p:nvPr/>
        </p:nvSpPr>
        <p:spPr>
          <a:xfrm>
            <a:off x="6315456" y="4058433"/>
            <a:ext cx="5535168" cy="365760"/>
          </a:xfrm>
          <a:prstGeom prst="rect">
            <a:avLst/>
          </a:prstGeom>
          <a:solidFill>
            <a:srgbClr val="1E3A5F"/>
          </a:solidFill>
          <a:ln w="12700">
            <a:solidFill>
              <a:srgbClr val="1E3A5F"/>
            </a:solidFill>
            <a:prstDash val="solid"/>
          </a:ln>
        </p:spPr>
        <p:txBody>
          <a:bodyPr/>
          <a:lstStyle/>
          <a:p>
            <a:endParaRPr lang="en-SG"/>
          </a:p>
        </p:txBody>
      </p:sp>
      <p:sp>
        <p:nvSpPr>
          <p:cNvPr id="28" name="Text 24"/>
          <p:cNvSpPr/>
          <p:nvPr/>
        </p:nvSpPr>
        <p:spPr>
          <a:xfrm>
            <a:off x="6437376" y="4082817"/>
            <a:ext cx="5291328" cy="29260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133" b="1">
                <a:solidFill>
                  <a:srgbClr val="FFFFFF"/>
                </a:solidFill>
              </a:rPr>
              <a:t>SAMPLE OUTPUT — T0004606 (P1 Network/Crash/Server)</a:t>
            </a:r>
            <a:endParaRPr lang="en-US" sz="1133"/>
          </a:p>
        </p:txBody>
      </p:sp>
      <p:graphicFrame>
        <p:nvGraphicFramePr>
          <p:cNvPr id="29" name="Table 1"/>
          <p:cNvGraphicFramePr>
            <a:graphicFrameLocks noGrp="1"/>
          </p:cNvGraphicFramePr>
          <p:nvPr>
            <p:extLst>
              <p:ext uri="{D42A27DB-BD31-4B8C-83A1-F6EECF244321}">
                <p14:modId xmlns:p14="http://schemas.microsoft.com/office/powerpoint/2010/main" val="3943084006"/>
              </p:ext>
            </p:extLst>
          </p:nvPr>
        </p:nvGraphicFramePr>
        <p:xfrm>
          <a:off x="6442456" y="4536461"/>
          <a:ext cx="5275200" cy="1724895"/>
        </p:xfrm>
        <a:graphic>
          <a:graphicData uri="http://schemas.openxmlformats.org/drawingml/2006/table">
            <a:tbl>
              <a:tblPr/>
              <a:tblGrid>
                <a:gridCol w="1866226">
                  <a:extLst>
                    <a:ext uri="{9D8B030D-6E8A-4147-A177-3AD203B41FA5}">
                      <a16:colId xmlns:a16="http://schemas.microsoft.com/office/drawing/2014/main" val="20000"/>
                    </a:ext>
                  </a:extLst>
                </a:gridCol>
                <a:gridCol w="1119736">
                  <a:extLst>
                    <a:ext uri="{9D8B030D-6E8A-4147-A177-3AD203B41FA5}">
                      <a16:colId xmlns:a16="http://schemas.microsoft.com/office/drawing/2014/main" val="20001"/>
                    </a:ext>
                  </a:extLst>
                </a:gridCol>
                <a:gridCol w="1094853">
                  <a:extLst>
                    <a:ext uri="{9D8B030D-6E8A-4147-A177-3AD203B41FA5}">
                      <a16:colId xmlns:a16="http://schemas.microsoft.com/office/drawing/2014/main" val="20002"/>
                    </a:ext>
                  </a:extLst>
                </a:gridCol>
                <a:gridCol w="1194385">
                  <a:extLst>
                    <a:ext uri="{9D8B030D-6E8A-4147-A177-3AD203B41FA5}">
                      <a16:colId xmlns:a16="http://schemas.microsoft.com/office/drawing/2014/main" val="20003"/>
                    </a:ext>
                  </a:extLst>
                </a:gridCol>
              </a:tblGrid>
              <a:tr h="329475">
                <a:tc>
                  <a:txBody>
                    <a:bodyPr/>
                    <a:lstStyle/>
                    <a:p>
                      <a:pPr marL="0" indent="0" algn="ctr">
                        <a:buNone/>
                      </a:pPr>
                      <a:r>
                        <a:rPr lang="en-US" sz="1100" b="1">
                          <a:solidFill>
                            <a:srgbClr val="FFFFFF"/>
                          </a:solidFill>
                        </a:rPr>
                        <a:t>Ticket ID</a:t>
                      </a:r>
                      <a:endParaRPr lang="en-US" sz="11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34155"/>
                    </a:solidFill>
                  </a:tcPr>
                </a:tc>
                <a:tc>
                  <a:txBody>
                    <a:bodyPr/>
                    <a:lstStyle/>
                    <a:p>
                      <a:pPr marL="0" indent="0" algn="ctr">
                        <a:buNone/>
                      </a:pPr>
                      <a:r>
                        <a:rPr lang="en-US" sz="1100" b="1">
                          <a:solidFill>
                            <a:srgbClr val="FFFFFF"/>
                          </a:solidFill>
                        </a:rPr>
                        <a:t>Category</a:t>
                      </a:r>
                      <a:endParaRPr lang="en-US" sz="11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34155"/>
                    </a:solidFill>
                  </a:tcPr>
                </a:tc>
                <a:tc>
                  <a:txBody>
                    <a:bodyPr/>
                    <a:lstStyle/>
                    <a:p>
                      <a:pPr marL="0" indent="0" algn="ctr">
                        <a:buNone/>
                      </a:pPr>
                      <a:r>
                        <a:rPr lang="en-US" sz="1100" b="1">
                          <a:solidFill>
                            <a:srgbClr val="FFFFFF"/>
                          </a:solidFill>
                        </a:rPr>
                        <a:t>Similarity</a:t>
                      </a:r>
                      <a:endParaRPr lang="en-US" sz="11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34155"/>
                    </a:solidFill>
                  </a:tcPr>
                </a:tc>
                <a:tc>
                  <a:txBody>
                    <a:bodyPr/>
                    <a:lstStyle/>
                    <a:p>
                      <a:pPr marL="0" indent="0" algn="ctr">
                        <a:buNone/>
                      </a:pPr>
                      <a:r>
                        <a:rPr lang="en-US" sz="1100" b="1">
                          <a:solidFill>
                            <a:srgbClr val="FFFFFF"/>
                          </a:solidFill>
                        </a:rPr>
                        <a:t>Expected TTR</a:t>
                      </a:r>
                      <a:endParaRPr lang="en-US" sz="11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34155"/>
                    </a:solidFill>
                  </a:tcPr>
                </a:tc>
                <a:extLst>
                  <a:ext uri="{0D108BD9-81ED-4DB2-BD59-A6C34878D82A}">
                    <a16:rowId xmlns:a16="http://schemas.microsoft.com/office/drawing/2014/main" val="10000"/>
                  </a:ext>
                </a:extLst>
              </a:tr>
              <a:tr h="348855">
                <a:tc>
                  <a:txBody>
                    <a:bodyPr/>
                    <a:lstStyle/>
                    <a:p>
                      <a:pPr marL="0" indent="0" algn="l">
                        <a:buNone/>
                      </a:pPr>
                      <a:r>
                        <a:rPr lang="en-US" sz="1200" b="1">
                          <a:solidFill>
                            <a:srgbClr val="2563EB"/>
                          </a:solidFill>
                        </a:rPr>
                        <a:t>2025_T0005989</a:t>
                      </a:r>
                      <a:endParaRPr lang="en-US" sz="12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a:solidFill>
                            <a:srgbClr val="64748B"/>
                          </a:solidFill>
                        </a:rPr>
                        <a:t>Network/P2</a:t>
                      </a:r>
                      <a:endParaRPr lang="en-US" sz="11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b="1">
                          <a:solidFill>
                            <a:srgbClr val="0F172A"/>
                          </a:solidFill>
                        </a:rPr>
                        <a:t>sim=0.728</a:t>
                      </a:r>
                      <a:endParaRPr lang="en-US" sz="12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a:solidFill>
                            <a:srgbClr val="64748B"/>
                          </a:solidFill>
                        </a:rPr>
                        <a:t>11h 52m</a:t>
                      </a:r>
                      <a:endParaRPr lang="en-US" sz="11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348855">
                <a:tc>
                  <a:txBody>
                    <a:bodyPr/>
                    <a:lstStyle/>
                    <a:p>
                      <a:pPr marL="0" indent="0" algn="l">
                        <a:buNone/>
                      </a:pPr>
                      <a:r>
                        <a:rPr lang="en-US" sz="1200" b="1">
                          <a:solidFill>
                            <a:srgbClr val="2563EB"/>
                          </a:solidFill>
                        </a:rPr>
                        <a:t>2023_T0005083</a:t>
                      </a:r>
                      <a:endParaRPr lang="en-US" sz="12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a:solidFill>
                            <a:srgbClr val="64748B"/>
                          </a:solidFill>
                        </a:rPr>
                        <a:t>Network/P4</a:t>
                      </a:r>
                      <a:endParaRPr lang="en-US" sz="11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b="1">
                          <a:solidFill>
                            <a:srgbClr val="0F172A"/>
                          </a:solidFill>
                        </a:rPr>
                        <a:t>sim=0.744</a:t>
                      </a:r>
                      <a:endParaRPr lang="en-US" sz="12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a:solidFill>
                            <a:srgbClr val="64748B"/>
                          </a:solidFill>
                        </a:rPr>
                        <a:t>53h 0m</a:t>
                      </a:r>
                      <a:endParaRPr lang="en-US" sz="11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348855">
                <a:tc>
                  <a:txBody>
                    <a:bodyPr/>
                    <a:lstStyle/>
                    <a:p>
                      <a:pPr marL="0" indent="0" algn="l">
                        <a:buNone/>
                      </a:pPr>
                      <a:r>
                        <a:rPr lang="en-US" sz="1200" b="1">
                          <a:solidFill>
                            <a:srgbClr val="2563EB"/>
                          </a:solidFill>
                        </a:rPr>
                        <a:t>2025_T0007070</a:t>
                      </a:r>
                      <a:endParaRPr lang="en-US" sz="12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a:solidFill>
                            <a:srgbClr val="64748B"/>
                          </a:solidFill>
                        </a:rPr>
                        <a:t>Network/P4</a:t>
                      </a:r>
                      <a:endParaRPr lang="en-US" sz="11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b="1">
                          <a:solidFill>
                            <a:srgbClr val="0F172A"/>
                          </a:solidFill>
                        </a:rPr>
                        <a:t>sim=0.697</a:t>
                      </a:r>
                      <a:endParaRPr lang="en-US" sz="12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a:solidFill>
                            <a:srgbClr val="64748B"/>
                          </a:solidFill>
                        </a:rPr>
                        <a:t>50h 42m</a:t>
                      </a:r>
                      <a:endParaRPr lang="en-US" sz="11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348855">
                <a:tc>
                  <a:txBody>
                    <a:bodyPr/>
                    <a:lstStyle/>
                    <a:p>
                      <a:pPr marL="0" indent="0" algn="l">
                        <a:buNone/>
                      </a:pPr>
                      <a:r>
                        <a:rPr lang="en-US" sz="1200" b="1">
                          <a:solidFill>
                            <a:srgbClr val="2563EB"/>
                          </a:solidFill>
                        </a:rPr>
                        <a:t>2024_T0002181</a:t>
                      </a:r>
                      <a:endParaRPr lang="en-US" sz="12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a:solidFill>
                            <a:srgbClr val="64748B"/>
                          </a:solidFill>
                        </a:rPr>
                        <a:t>Network/P4</a:t>
                      </a:r>
                      <a:endParaRPr lang="en-US" sz="11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b="1">
                          <a:solidFill>
                            <a:srgbClr val="0F172A"/>
                          </a:solidFill>
                        </a:rPr>
                        <a:t>sim=0.648</a:t>
                      </a:r>
                      <a:endParaRPr lang="en-US" sz="12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a:solidFill>
                            <a:srgbClr val="64748B"/>
                          </a:solidFill>
                        </a:rPr>
                        <a:t>57h 16m</a:t>
                      </a:r>
                      <a:endParaRPr lang="en-US" sz="1100"/>
                    </a:p>
                  </a:txBody>
                  <a:tcPr marL="0" marR="67733" marT="508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bl>
          </a:graphicData>
        </a:graphic>
      </p:graphicFrame>
      <p:sp>
        <p:nvSpPr>
          <p:cNvPr id="32" name="Rectangle 31">
            <a:extLst>
              <a:ext uri="{FF2B5EF4-FFF2-40B4-BE49-F238E27FC236}">
                <a16:creationId xmlns:a16="http://schemas.microsoft.com/office/drawing/2014/main" id="{5028A0A9-9647-3591-722C-95532B630CBB}"/>
              </a:ext>
            </a:extLst>
          </p:cNvPr>
          <p:cNvSpPr/>
          <p:nvPr/>
        </p:nvSpPr>
        <p:spPr>
          <a:xfrm>
            <a:off x="0" y="0"/>
            <a:ext cx="12191969" cy="859536"/>
          </a:xfrm>
          <a:prstGeom prst="rect">
            <a:avLst/>
          </a:prstGeom>
          <a:solidFill>
            <a:srgbClr val="1E27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TextBox 33">
            <a:extLst>
              <a:ext uri="{FF2B5EF4-FFF2-40B4-BE49-F238E27FC236}">
                <a16:creationId xmlns:a16="http://schemas.microsoft.com/office/drawing/2014/main" id="{8FB0BF32-00F7-95D1-831A-682143023A91}"/>
              </a:ext>
            </a:extLst>
          </p:cNvPr>
          <p:cNvSpPr txBox="1"/>
          <p:nvPr/>
        </p:nvSpPr>
        <p:spPr>
          <a:xfrm>
            <a:off x="276368" y="296682"/>
            <a:ext cx="11766084" cy="543546"/>
          </a:xfrm>
          <a:prstGeom prst="rect">
            <a:avLst/>
          </a:prstGeom>
          <a:noFill/>
        </p:spPr>
        <p:txBody>
          <a:bodyPr wrap="square" lIns="91440" tIns="45720" rIns="91440" bIns="45720" anchor="t"/>
          <a:lstStyle/>
          <a:p>
            <a:pPr algn="l" rtl="0">
              <a:defRPr/>
            </a:pPr>
            <a:r>
              <a:rPr kumimoji="0" sz="2400" b="1" i="0" u="none" strike="noStrike" kern="1200" cap="none" spc="0" normalizeH="0" baseline="0" noProof="0">
                <a:ln>
                  <a:noFill/>
                </a:ln>
                <a:solidFill>
                  <a:srgbClr val="FFFFFF"/>
                </a:solidFill>
                <a:effectLst/>
                <a:uLnTx/>
                <a:uFillTx/>
                <a:latin typeface="Georgia"/>
                <a:ea typeface="+mn-ea"/>
                <a:cs typeface="+mn-cs"/>
              </a:rPr>
              <a:t>Ticket Intelligence Engine</a:t>
            </a:r>
            <a:r>
              <a:rPr lang="en-US" sz="2400" b="1" kern="1200">
                <a:solidFill>
                  <a:srgbClr val="FFFFFF"/>
                </a:solidFill>
                <a:latin typeface="Georgia"/>
                <a:ea typeface="+mn-ea"/>
                <a:cs typeface="+mn-cs"/>
              </a:rPr>
              <a:t> - Recommendation &amp; Engineer </a:t>
            </a:r>
            <a:r>
              <a:rPr lang="en-US" sz="2400" b="1" kern="1200" err="1">
                <a:solidFill>
                  <a:srgbClr val="FFFFFF"/>
                </a:solidFill>
                <a:latin typeface="Georgia"/>
                <a:ea typeface="+mn-ea"/>
                <a:cs typeface="+mn-cs"/>
              </a:rPr>
              <a:t>Sugesstion</a:t>
            </a:r>
            <a:r>
              <a:rPr lang="en-US" sz="2400" b="1" kern="1200">
                <a:solidFill>
                  <a:srgbClr val="FFFFFF"/>
                </a:solidFill>
                <a:latin typeface="Georgia"/>
                <a:ea typeface="+mn-ea"/>
                <a:cs typeface="+mn-cs"/>
              </a:rPr>
              <a:t> </a:t>
            </a:r>
          </a:p>
        </p:txBody>
      </p:sp>
      <p:sp>
        <p:nvSpPr>
          <p:cNvPr id="36" name="TextBox 35">
            <a:extLst>
              <a:ext uri="{FF2B5EF4-FFF2-40B4-BE49-F238E27FC236}">
                <a16:creationId xmlns:a16="http://schemas.microsoft.com/office/drawing/2014/main" id="{B4051467-71F3-52E9-4701-F22CC5175772}"/>
              </a:ext>
            </a:extLst>
          </p:cNvPr>
          <p:cNvSpPr txBox="1"/>
          <p:nvPr/>
        </p:nvSpPr>
        <p:spPr>
          <a:xfrm>
            <a:off x="328559" y="48221"/>
            <a:ext cx="8229600" cy="230832"/>
          </a:xfrm>
          <a:prstGeom prst="rect">
            <a:avLst/>
          </a:prstGeom>
          <a:noFill/>
        </p:spPr>
        <p:txBody>
          <a:bodyPr wrap="square" lIns="91440" tIns="45720" rIns="91440" bIns="45720" anchor="t">
            <a:spAutoFit/>
          </a:bodyPr>
          <a:lstStyle/>
          <a:p>
            <a:pPr algn="l">
              <a:defRPr/>
            </a:pPr>
            <a:r>
              <a:rPr lang="en-SG" sz="900" kern="1200">
                <a:solidFill>
                  <a:srgbClr val="8AAEC4"/>
                </a:solidFill>
                <a:latin typeface="Trebuchet MS"/>
                <a:ea typeface="+mn-ea"/>
                <a:cs typeface="+mn-cs"/>
              </a:rPr>
              <a:t>Automate Service Ops - Recommendation Engine</a:t>
            </a:r>
          </a:p>
        </p:txBody>
      </p:sp>
      <p:sp>
        <p:nvSpPr>
          <p:cNvPr id="38" name="TextBox 37">
            <a:extLst>
              <a:ext uri="{FF2B5EF4-FFF2-40B4-BE49-F238E27FC236}">
                <a16:creationId xmlns:a16="http://schemas.microsoft.com/office/drawing/2014/main" id="{8424152D-02B9-85E5-E39C-505BF80ECF96}"/>
              </a:ext>
            </a:extLst>
          </p:cNvPr>
          <p:cNvSpPr txBox="1"/>
          <p:nvPr/>
        </p:nvSpPr>
        <p:spPr>
          <a:xfrm>
            <a:off x="10363169" y="45720"/>
            <a:ext cx="1737360" cy="475488"/>
          </a:xfrm>
          <a:prstGeom prst="rect">
            <a:avLst/>
          </a:prstGeom>
          <a:noFill/>
        </p:spPr>
        <p:txBody>
          <a:bodyPr wrap="square" lIns="91440" tIns="45720" rIns="91440" bIns="4572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chemeClr val="bg1"/>
                </a:solidFill>
                <a:effectLst/>
                <a:uLnTx/>
                <a:uFillTx/>
                <a:latin typeface="Trebuchet MS"/>
                <a:ea typeface="+mn-ea"/>
                <a:cs typeface="+mn-cs"/>
              </a:rPr>
              <a:t>Expected Time Spent: </a:t>
            </a:r>
            <a:r>
              <a:rPr kumimoji="0" sz="900" b="0" i="0" u="none" strike="noStrike" kern="1200" cap="none" spc="0" normalizeH="0" baseline="0" noProof="0">
                <a:ln>
                  <a:noFill/>
                </a:ln>
                <a:solidFill>
                  <a:schemeClr val="bg1"/>
                </a:solidFill>
                <a:effectLst/>
                <a:uLnTx/>
                <a:uFillTx/>
                <a:latin typeface="Trebuchet MS"/>
                <a:ea typeface="+mn-ea"/>
                <a:cs typeface="+mn-cs"/>
              </a:rPr>
              <a:t>1 w</a:t>
            </a:r>
            <a:endParaRPr lang="en-US" sz="900" b="0" i="0" u="none" strike="noStrike" kern="1200" cap="none" spc="0" normalizeH="0" baseline="0" noProof="0">
              <a:ln>
                <a:noFill/>
              </a:ln>
              <a:solidFill>
                <a:schemeClr val="bg1"/>
              </a:solidFill>
              <a:effectLst/>
              <a:uLnTx/>
              <a:uFillTx/>
              <a:latin typeface="Trebuchet MS"/>
              <a:ea typeface="+mn-ea"/>
              <a:cs typeface="+mn-cs"/>
            </a:endParaRPr>
          </a:p>
          <a:p>
            <a:pPr algn="l" rtl="0">
              <a:defRPr/>
            </a:pPr>
            <a:r>
              <a:rPr kumimoji="0" sz="900" b="1" i="0" u="none" strike="noStrike" kern="1200" cap="none" spc="0" normalizeH="0" baseline="0" noProof="0">
                <a:ln>
                  <a:noFill/>
                </a:ln>
                <a:solidFill>
                  <a:schemeClr val="bg1"/>
                </a:solidFill>
                <a:effectLst/>
                <a:uLnTx/>
                <a:uFillTx/>
                <a:latin typeface="Trebuchet MS"/>
                <a:ea typeface="+mn-ea"/>
                <a:cs typeface="+mn-cs"/>
              </a:rPr>
              <a:t>Actual Time Spent: </a:t>
            </a:r>
            <a:r>
              <a:rPr lang="en-US" sz="900" b="1" kern="1200">
                <a:solidFill>
                  <a:schemeClr val="bg1"/>
                </a:solidFill>
                <a:latin typeface="Trebuchet MS"/>
                <a:ea typeface="+mn-ea"/>
                <a:cs typeface="+mn-cs"/>
              </a:rPr>
              <a:t>1</a:t>
            </a:r>
            <a:r>
              <a:rPr lang="en-US" sz="900" kern="1200">
                <a:solidFill>
                  <a:schemeClr val="bg1"/>
                </a:solidFill>
                <a:latin typeface="Trebuchet MS"/>
                <a:ea typeface="+mn-ea"/>
                <a:cs typeface="+mn-cs"/>
              </a:rPr>
              <a:t> </a:t>
            </a:r>
            <a:r>
              <a:rPr kumimoji="0" sz="900" b="0" i="0" u="none" strike="noStrike" kern="1200" cap="none" spc="0" normalizeH="0" baseline="0" noProof="0">
                <a:ln>
                  <a:noFill/>
                </a:ln>
                <a:solidFill>
                  <a:schemeClr val="bg1"/>
                </a:solidFill>
                <a:effectLst/>
                <a:uLnTx/>
                <a:uFillTx/>
                <a:latin typeface="Trebuchet MS"/>
                <a:ea typeface="+mn-ea"/>
                <a:cs typeface="+mn-cs"/>
              </a:rPr>
              <a:t>w</a:t>
            </a:r>
            <a:endParaRPr sz="900" b="0" i="0" u="none" strike="noStrike" kern="1200" cap="none" spc="0" normalizeH="0" baseline="0" noProof="0">
              <a:ln>
                <a:noFill/>
              </a:ln>
              <a:solidFill>
                <a:schemeClr val="bg1"/>
              </a:solidFill>
              <a:effectLst/>
              <a:uLnTx/>
              <a:uFillTx/>
              <a:latin typeface="Trebuchet MS"/>
              <a:ea typeface="+mn-ea"/>
              <a:cs typeface="+mn-cs"/>
            </a:endParaRPr>
          </a:p>
        </p:txBody>
      </p:sp>
    </p:spTree>
    <p:extLst>
      <p:ext uri="{BB962C8B-B14F-4D97-AF65-F5344CB8AC3E}">
        <p14:creationId xmlns:p14="http://schemas.microsoft.com/office/powerpoint/2010/main" val="67152500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55FEC-F5FA-11AF-C8E4-386D924C53A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2F775BC-D54D-4697-E5AA-D73692E46C75}"/>
              </a:ext>
            </a:extLst>
          </p:cNvPr>
          <p:cNvSpPr/>
          <p:nvPr/>
        </p:nvSpPr>
        <p:spPr>
          <a:xfrm>
            <a:off x="0" y="0"/>
            <a:ext cx="12188952" cy="6858000"/>
          </a:xfrm>
          <a:prstGeom prst="rect">
            <a:avLst/>
          </a:prstGeom>
          <a:solidFill>
            <a:srgbClr val="071524"/>
          </a:solidFill>
          <a:ln w="12700">
            <a:solidFill>
              <a:srgbClr val="07152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a:extLst>
              <a:ext uri="{FF2B5EF4-FFF2-40B4-BE49-F238E27FC236}">
                <a16:creationId xmlns:a16="http://schemas.microsoft.com/office/drawing/2014/main" id="{6E04FC1B-14F6-0915-EA45-2C5030C74625}"/>
              </a:ext>
            </a:extLst>
          </p:cNvPr>
          <p:cNvSpPr/>
          <p:nvPr/>
        </p:nvSpPr>
        <p:spPr>
          <a:xfrm>
            <a:off x="0" y="360947"/>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B306F3A0-FA67-336C-45F5-4B34BE862714}"/>
              </a:ext>
            </a:extLst>
          </p:cNvPr>
          <p:cNvSpPr/>
          <p:nvPr/>
        </p:nvSpPr>
        <p:spPr>
          <a:xfrm>
            <a:off x="0" y="721895"/>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AE0F64FD-8553-9F22-C80C-291871716B8E}"/>
              </a:ext>
            </a:extLst>
          </p:cNvPr>
          <p:cNvSpPr/>
          <p:nvPr/>
        </p:nvSpPr>
        <p:spPr>
          <a:xfrm>
            <a:off x="0" y="1082842"/>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a:extLst>
              <a:ext uri="{FF2B5EF4-FFF2-40B4-BE49-F238E27FC236}">
                <a16:creationId xmlns:a16="http://schemas.microsoft.com/office/drawing/2014/main" id="{BFAED052-8935-7A88-2F61-90AE53FF8AF1}"/>
              </a:ext>
            </a:extLst>
          </p:cNvPr>
          <p:cNvSpPr/>
          <p:nvPr/>
        </p:nvSpPr>
        <p:spPr>
          <a:xfrm>
            <a:off x="0" y="1443789"/>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a:extLst>
              <a:ext uri="{FF2B5EF4-FFF2-40B4-BE49-F238E27FC236}">
                <a16:creationId xmlns:a16="http://schemas.microsoft.com/office/drawing/2014/main" id="{B1CDB2FA-5E23-2052-208A-7F65C921869D}"/>
              </a:ext>
            </a:extLst>
          </p:cNvPr>
          <p:cNvSpPr/>
          <p:nvPr/>
        </p:nvSpPr>
        <p:spPr>
          <a:xfrm>
            <a:off x="0" y="1804737"/>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a:extLst>
              <a:ext uri="{FF2B5EF4-FFF2-40B4-BE49-F238E27FC236}">
                <a16:creationId xmlns:a16="http://schemas.microsoft.com/office/drawing/2014/main" id="{1035C9AA-7BCC-FC69-A824-327D49761230}"/>
              </a:ext>
            </a:extLst>
          </p:cNvPr>
          <p:cNvSpPr/>
          <p:nvPr/>
        </p:nvSpPr>
        <p:spPr>
          <a:xfrm>
            <a:off x="0" y="2808621"/>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a:extLst>
              <a:ext uri="{FF2B5EF4-FFF2-40B4-BE49-F238E27FC236}">
                <a16:creationId xmlns:a16="http://schemas.microsoft.com/office/drawing/2014/main" id="{542E6EF8-925D-A948-3AE0-C42D1F6D3334}"/>
              </a:ext>
            </a:extLst>
          </p:cNvPr>
          <p:cNvSpPr/>
          <p:nvPr/>
        </p:nvSpPr>
        <p:spPr>
          <a:xfrm>
            <a:off x="0" y="2526632"/>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a:extLst>
              <a:ext uri="{FF2B5EF4-FFF2-40B4-BE49-F238E27FC236}">
                <a16:creationId xmlns:a16="http://schemas.microsoft.com/office/drawing/2014/main" id="{B7939D12-5CAF-3017-CA40-26308C55B1E8}"/>
              </a:ext>
            </a:extLst>
          </p:cNvPr>
          <p:cNvSpPr/>
          <p:nvPr/>
        </p:nvSpPr>
        <p:spPr>
          <a:xfrm>
            <a:off x="0" y="2887579"/>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a:extLst>
              <a:ext uri="{FF2B5EF4-FFF2-40B4-BE49-F238E27FC236}">
                <a16:creationId xmlns:a16="http://schemas.microsoft.com/office/drawing/2014/main" id="{DE4FA2EC-CD1D-83B8-2B9A-B14582EF59C1}"/>
              </a:ext>
            </a:extLst>
          </p:cNvPr>
          <p:cNvSpPr/>
          <p:nvPr/>
        </p:nvSpPr>
        <p:spPr>
          <a:xfrm>
            <a:off x="0" y="3248526"/>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a:extLst>
              <a:ext uri="{FF2B5EF4-FFF2-40B4-BE49-F238E27FC236}">
                <a16:creationId xmlns:a16="http://schemas.microsoft.com/office/drawing/2014/main" id="{DC549C54-6734-4D62-718D-7A0600A9B6CA}"/>
              </a:ext>
            </a:extLst>
          </p:cNvPr>
          <p:cNvSpPr/>
          <p:nvPr/>
        </p:nvSpPr>
        <p:spPr>
          <a:xfrm>
            <a:off x="0" y="3609474"/>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a:extLst>
              <a:ext uri="{FF2B5EF4-FFF2-40B4-BE49-F238E27FC236}">
                <a16:creationId xmlns:a16="http://schemas.microsoft.com/office/drawing/2014/main" id="{D8230029-127C-831C-6D36-39DEE1C8453E}"/>
              </a:ext>
            </a:extLst>
          </p:cNvPr>
          <p:cNvSpPr/>
          <p:nvPr/>
        </p:nvSpPr>
        <p:spPr>
          <a:xfrm>
            <a:off x="0" y="3970421"/>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a:extLst>
              <a:ext uri="{FF2B5EF4-FFF2-40B4-BE49-F238E27FC236}">
                <a16:creationId xmlns:a16="http://schemas.microsoft.com/office/drawing/2014/main" id="{0704919B-E649-4866-6E40-86C0DADEC9C7}"/>
              </a:ext>
            </a:extLst>
          </p:cNvPr>
          <p:cNvSpPr/>
          <p:nvPr/>
        </p:nvSpPr>
        <p:spPr>
          <a:xfrm>
            <a:off x="0" y="4331368"/>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a:extLst>
              <a:ext uri="{FF2B5EF4-FFF2-40B4-BE49-F238E27FC236}">
                <a16:creationId xmlns:a16="http://schemas.microsoft.com/office/drawing/2014/main" id="{3C434EDD-8DC3-19B6-4E47-51AD9791E0AF}"/>
              </a:ext>
            </a:extLst>
          </p:cNvPr>
          <p:cNvSpPr/>
          <p:nvPr/>
        </p:nvSpPr>
        <p:spPr>
          <a:xfrm>
            <a:off x="0" y="4692316"/>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a:extLst>
              <a:ext uri="{FF2B5EF4-FFF2-40B4-BE49-F238E27FC236}">
                <a16:creationId xmlns:a16="http://schemas.microsoft.com/office/drawing/2014/main" id="{334A87C3-BBC9-63DD-AD4D-78F7B17462CE}"/>
              </a:ext>
            </a:extLst>
          </p:cNvPr>
          <p:cNvSpPr/>
          <p:nvPr/>
        </p:nvSpPr>
        <p:spPr>
          <a:xfrm>
            <a:off x="0" y="5053263"/>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a:extLst>
              <a:ext uri="{FF2B5EF4-FFF2-40B4-BE49-F238E27FC236}">
                <a16:creationId xmlns:a16="http://schemas.microsoft.com/office/drawing/2014/main" id="{35BC10DE-23B5-EB30-DDF6-2F336119B16D}"/>
              </a:ext>
            </a:extLst>
          </p:cNvPr>
          <p:cNvSpPr/>
          <p:nvPr/>
        </p:nvSpPr>
        <p:spPr>
          <a:xfrm>
            <a:off x="0" y="5414211"/>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a:extLst>
              <a:ext uri="{FF2B5EF4-FFF2-40B4-BE49-F238E27FC236}">
                <a16:creationId xmlns:a16="http://schemas.microsoft.com/office/drawing/2014/main" id="{F9EFDB75-559E-E985-7149-58029447635C}"/>
              </a:ext>
            </a:extLst>
          </p:cNvPr>
          <p:cNvSpPr/>
          <p:nvPr/>
        </p:nvSpPr>
        <p:spPr>
          <a:xfrm>
            <a:off x="0" y="5775158"/>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a:extLst>
              <a:ext uri="{FF2B5EF4-FFF2-40B4-BE49-F238E27FC236}">
                <a16:creationId xmlns:a16="http://schemas.microsoft.com/office/drawing/2014/main" id="{CF33E3ED-6969-E8C4-97BB-1A8DBE43DE7A}"/>
              </a:ext>
            </a:extLst>
          </p:cNvPr>
          <p:cNvSpPr/>
          <p:nvPr/>
        </p:nvSpPr>
        <p:spPr>
          <a:xfrm>
            <a:off x="0" y="6136105"/>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a:extLst>
              <a:ext uri="{FF2B5EF4-FFF2-40B4-BE49-F238E27FC236}">
                <a16:creationId xmlns:a16="http://schemas.microsoft.com/office/drawing/2014/main" id="{A77ECAE2-1D0D-461A-CF0F-AE6C43D2D0C6}"/>
              </a:ext>
            </a:extLst>
          </p:cNvPr>
          <p:cNvSpPr/>
          <p:nvPr/>
        </p:nvSpPr>
        <p:spPr>
          <a:xfrm>
            <a:off x="0" y="6497053"/>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a:extLst>
              <a:ext uri="{FF2B5EF4-FFF2-40B4-BE49-F238E27FC236}">
                <a16:creationId xmlns:a16="http://schemas.microsoft.com/office/drawing/2014/main" id="{A4074F0F-298B-C8F5-7682-114C2B20AC5D}"/>
              </a:ext>
            </a:extLst>
          </p:cNvPr>
          <p:cNvSpPr/>
          <p:nvPr/>
        </p:nvSpPr>
        <p:spPr>
          <a:xfrm>
            <a:off x="487558"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a:extLst>
              <a:ext uri="{FF2B5EF4-FFF2-40B4-BE49-F238E27FC236}">
                <a16:creationId xmlns:a16="http://schemas.microsoft.com/office/drawing/2014/main" id="{FB65E125-CEAB-FE07-679E-741D7915F35B}"/>
              </a:ext>
            </a:extLst>
          </p:cNvPr>
          <p:cNvSpPr/>
          <p:nvPr/>
        </p:nvSpPr>
        <p:spPr>
          <a:xfrm>
            <a:off x="975116"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a:extLst>
              <a:ext uri="{FF2B5EF4-FFF2-40B4-BE49-F238E27FC236}">
                <a16:creationId xmlns:a16="http://schemas.microsoft.com/office/drawing/2014/main" id="{63C39F14-71D2-BC86-4C6D-0F07B1D962C2}"/>
              </a:ext>
            </a:extLst>
          </p:cNvPr>
          <p:cNvSpPr/>
          <p:nvPr/>
        </p:nvSpPr>
        <p:spPr>
          <a:xfrm>
            <a:off x="1462674"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a:extLst>
              <a:ext uri="{FF2B5EF4-FFF2-40B4-BE49-F238E27FC236}">
                <a16:creationId xmlns:a16="http://schemas.microsoft.com/office/drawing/2014/main" id="{A0C4A002-3F28-5159-6E25-C84AE1B9770E}"/>
              </a:ext>
            </a:extLst>
          </p:cNvPr>
          <p:cNvSpPr/>
          <p:nvPr/>
        </p:nvSpPr>
        <p:spPr>
          <a:xfrm>
            <a:off x="1950232"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a:extLst>
              <a:ext uri="{FF2B5EF4-FFF2-40B4-BE49-F238E27FC236}">
                <a16:creationId xmlns:a16="http://schemas.microsoft.com/office/drawing/2014/main" id="{33FCBF58-FF2A-14BE-24CD-4B395258D324}"/>
              </a:ext>
            </a:extLst>
          </p:cNvPr>
          <p:cNvSpPr/>
          <p:nvPr/>
        </p:nvSpPr>
        <p:spPr>
          <a:xfrm>
            <a:off x="2437790"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4">
            <a:extLst>
              <a:ext uri="{FF2B5EF4-FFF2-40B4-BE49-F238E27FC236}">
                <a16:creationId xmlns:a16="http://schemas.microsoft.com/office/drawing/2014/main" id="{B1A920A5-1F64-AE86-4B57-CEBB5A34B08D}"/>
              </a:ext>
            </a:extLst>
          </p:cNvPr>
          <p:cNvSpPr/>
          <p:nvPr/>
        </p:nvSpPr>
        <p:spPr>
          <a:xfrm>
            <a:off x="2925348"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5">
            <a:extLst>
              <a:ext uri="{FF2B5EF4-FFF2-40B4-BE49-F238E27FC236}">
                <a16:creationId xmlns:a16="http://schemas.microsoft.com/office/drawing/2014/main" id="{7D5E9B48-B6D1-2B41-A942-4D4C6ED24FD0}"/>
              </a:ext>
            </a:extLst>
          </p:cNvPr>
          <p:cNvSpPr/>
          <p:nvPr/>
        </p:nvSpPr>
        <p:spPr>
          <a:xfrm>
            <a:off x="3412907"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6">
            <a:extLst>
              <a:ext uri="{FF2B5EF4-FFF2-40B4-BE49-F238E27FC236}">
                <a16:creationId xmlns:a16="http://schemas.microsoft.com/office/drawing/2014/main" id="{67A774C8-3923-D848-C118-7D5F69675C66}"/>
              </a:ext>
            </a:extLst>
          </p:cNvPr>
          <p:cNvSpPr/>
          <p:nvPr/>
        </p:nvSpPr>
        <p:spPr>
          <a:xfrm>
            <a:off x="3900465"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7">
            <a:extLst>
              <a:ext uri="{FF2B5EF4-FFF2-40B4-BE49-F238E27FC236}">
                <a16:creationId xmlns:a16="http://schemas.microsoft.com/office/drawing/2014/main" id="{7138D618-3D2C-0F5D-34CC-6ACE866A0901}"/>
              </a:ext>
            </a:extLst>
          </p:cNvPr>
          <p:cNvSpPr/>
          <p:nvPr/>
        </p:nvSpPr>
        <p:spPr>
          <a:xfrm>
            <a:off x="4388023"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a:extLst>
              <a:ext uri="{FF2B5EF4-FFF2-40B4-BE49-F238E27FC236}">
                <a16:creationId xmlns:a16="http://schemas.microsoft.com/office/drawing/2014/main" id="{B182C6CE-860E-D151-FB31-A29871A06F1D}"/>
              </a:ext>
            </a:extLst>
          </p:cNvPr>
          <p:cNvSpPr/>
          <p:nvPr/>
        </p:nvSpPr>
        <p:spPr>
          <a:xfrm>
            <a:off x="4875581"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9">
            <a:extLst>
              <a:ext uri="{FF2B5EF4-FFF2-40B4-BE49-F238E27FC236}">
                <a16:creationId xmlns:a16="http://schemas.microsoft.com/office/drawing/2014/main" id="{8C6ED62C-CFA5-C795-50AA-4F836F499427}"/>
              </a:ext>
            </a:extLst>
          </p:cNvPr>
          <p:cNvSpPr/>
          <p:nvPr/>
        </p:nvSpPr>
        <p:spPr>
          <a:xfrm>
            <a:off x="5363139"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30">
            <a:extLst>
              <a:ext uri="{FF2B5EF4-FFF2-40B4-BE49-F238E27FC236}">
                <a16:creationId xmlns:a16="http://schemas.microsoft.com/office/drawing/2014/main" id="{74E8BB76-7343-3628-A653-7CA8BE3B977C}"/>
              </a:ext>
            </a:extLst>
          </p:cNvPr>
          <p:cNvSpPr/>
          <p:nvPr/>
        </p:nvSpPr>
        <p:spPr>
          <a:xfrm>
            <a:off x="5850697"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31">
            <a:extLst>
              <a:ext uri="{FF2B5EF4-FFF2-40B4-BE49-F238E27FC236}">
                <a16:creationId xmlns:a16="http://schemas.microsoft.com/office/drawing/2014/main" id="{9D55A2B4-17E5-B772-1A56-86DD2636FED7}"/>
              </a:ext>
            </a:extLst>
          </p:cNvPr>
          <p:cNvSpPr/>
          <p:nvPr/>
        </p:nvSpPr>
        <p:spPr>
          <a:xfrm>
            <a:off x="6338255"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Shape 32">
            <a:extLst>
              <a:ext uri="{FF2B5EF4-FFF2-40B4-BE49-F238E27FC236}">
                <a16:creationId xmlns:a16="http://schemas.microsoft.com/office/drawing/2014/main" id="{0204E8BF-45BF-FC3C-4B95-B52C29957B67}"/>
              </a:ext>
            </a:extLst>
          </p:cNvPr>
          <p:cNvSpPr/>
          <p:nvPr/>
        </p:nvSpPr>
        <p:spPr>
          <a:xfrm>
            <a:off x="6825813"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Shape 33">
            <a:extLst>
              <a:ext uri="{FF2B5EF4-FFF2-40B4-BE49-F238E27FC236}">
                <a16:creationId xmlns:a16="http://schemas.microsoft.com/office/drawing/2014/main" id="{43ED8E07-6623-3D00-C827-BDC1702848F7}"/>
              </a:ext>
            </a:extLst>
          </p:cNvPr>
          <p:cNvSpPr/>
          <p:nvPr/>
        </p:nvSpPr>
        <p:spPr>
          <a:xfrm>
            <a:off x="7313371"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34">
            <a:extLst>
              <a:ext uri="{FF2B5EF4-FFF2-40B4-BE49-F238E27FC236}">
                <a16:creationId xmlns:a16="http://schemas.microsoft.com/office/drawing/2014/main" id="{4AE6F4F2-647C-E57C-1F8C-26E522A5ED51}"/>
              </a:ext>
            </a:extLst>
          </p:cNvPr>
          <p:cNvSpPr/>
          <p:nvPr/>
        </p:nvSpPr>
        <p:spPr>
          <a:xfrm>
            <a:off x="7800929"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5">
            <a:extLst>
              <a:ext uri="{FF2B5EF4-FFF2-40B4-BE49-F238E27FC236}">
                <a16:creationId xmlns:a16="http://schemas.microsoft.com/office/drawing/2014/main" id="{774DCB14-6143-3D5E-D5AB-C1CBC5450AB6}"/>
              </a:ext>
            </a:extLst>
          </p:cNvPr>
          <p:cNvSpPr/>
          <p:nvPr/>
        </p:nvSpPr>
        <p:spPr>
          <a:xfrm>
            <a:off x="8288487"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6">
            <a:extLst>
              <a:ext uri="{FF2B5EF4-FFF2-40B4-BE49-F238E27FC236}">
                <a16:creationId xmlns:a16="http://schemas.microsoft.com/office/drawing/2014/main" id="{4FA5D1A7-ABB6-4A43-48E0-8DE631BA79B8}"/>
              </a:ext>
            </a:extLst>
          </p:cNvPr>
          <p:cNvSpPr/>
          <p:nvPr/>
        </p:nvSpPr>
        <p:spPr>
          <a:xfrm>
            <a:off x="8776045"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Shape 37">
            <a:extLst>
              <a:ext uri="{FF2B5EF4-FFF2-40B4-BE49-F238E27FC236}">
                <a16:creationId xmlns:a16="http://schemas.microsoft.com/office/drawing/2014/main" id="{44539120-8321-D4D1-F5BE-DD7A777E1ABC}"/>
              </a:ext>
            </a:extLst>
          </p:cNvPr>
          <p:cNvSpPr/>
          <p:nvPr/>
        </p:nvSpPr>
        <p:spPr>
          <a:xfrm>
            <a:off x="9263604"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Shape 38">
            <a:extLst>
              <a:ext uri="{FF2B5EF4-FFF2-40B4-BE49-F238E27FC236}">
                <a16:creationId xmlns:a16="http://schemas.microsoft.com/office/drawing/2014/main" id="{7BCC54DC-6B64-B6EE-DEB4-98D092FED4B7}"/>
              </a:ext>
            </a:extLst>
          </p:cNvPr>
          <p:cNvSpPr/>
          <p:nvPr/>
        </p:nvSpPr>
        <p:spPr>
          <a:xfrm>
            <a:off x="9751162"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Shape 39">
            <a:extLst>
              <a:ext uri="{FF2B5EF4-FFF2-40B4-BE49-F238E27FC236}">
                <a16:creationId xmlns:a16="http://schemas.microsoft.com/office/drawing/2014/main" id="{603784F9-FAEF-94A3-0F6C-C0F3D5FFE7CC}"/>
              </a:ext>
            </a:extLst>
          </p:cNvPr>
          <p:cNvSpPr/>
          <p:nvPr/>
        </p:nvSpPr>
        <p:spPr>
          <a:xfrm>
            <a:off x="10238720"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Shape 40">
            <a:extLst>
              <a:ext uri="{FF2B5EF4-FFF2-40B4-BE49-F238E27FC236}">
                <a16:creationId xmlns:a16="http://schemas.microsoft.com/office/drawing/2014/main" id="{344E12B2-5DB9-4752-4EBD-F185AABFB910}"/>
              </a:ext>
            </a:extLst>
          </p:cNvPr>
          <p:cNvSpPr/>
          <p:nvPr/>
        </p:nvSpPr>
        <p:spPr>
          <a:xfrm>
            <a:off x="10726278"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Shape 41">
            <a:extLst>
              <a:ext uri="{FF2B5EF4-FFF2-40B4-BE49-F238E27FC236}">
                <a16:creationId xmlns:a16="http://schemas.microsoft.com/office/drawing/2014/main" id="{B452ACBB-F22D-A28E-E26A-60D9F6F32B66}"/>
              </a:ext>
            </a:extLst>
          </p:cNvPr>
          <p:cNvSpPr/>
          <p:nvPr/>
        </p:nvSpPr>
        <p:spPr>
          <a:xfrm>
            <a:off x="11213836"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Shape 42">
            <a:extLst>
              <a:ext uri="{FF2B5EF4-FFF2-40B4-BE49-F238E27FC236}">
                <a16:creationId xmlns:a16="http://schemas.microsoft.com/office/drawing/2014/main" id="{2CEC3FA0-10AB-5983-4B1E-62D923A62CA2}"/>
              </a:ext>
            </a:extLst>
          </p:cNvPr>
          <p:cNvSpPr/>
          <p:nvPr/>
        </p:nvSpPr>
        <p:spPr>
          <a:xfrm>
            <a:off x="11701394"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43">
            <a:extLst>
              <a:ext uri="{FF2B5EF4-FFF2-40B4-BE49-F238E27FC236}">
                <a16:creationId xmlns:a16="http://schemas.microsoft.com/office/drawing/2014/main" id="{727C18E8-C7B5-C4A8-E2F3-EFED69BB08CD}"/>
              </a:ext>
            </a:extLst>
          </p:cNvPr>
          <p:cNvSpPr/>
          <p:nvPr/>
        </p:nvSpPr>
        <p:spPr>
          <a:xfrm>
            <a:off x="0" y="0"/>
            <a:ext cx="475488" cy="6858000"/>
          </a:xfrm>
          <a:prstGeom prst="rect">
            <a:avLst/>
          </a:prstGeom>
          <a:solidFill>
            <a:srgbClr val="156082"/>
          </a:solidFill>
          <a:ln w="12700">
            <a:solidFill>
              <a:srgbClr val="15608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Shape 44">
            <a:extLst>
              <a:ext uri="{FF2B5EF4-FFF2-40B4-BE49-F238E27FC236}">
                <a16:creationId xmlns:a16="http://schemas.microsoft.com/office/drawing/2014/main" id="{0BCE2EFD-D127-6535-E124-DDF31CB34FC2}"/>
              </a:ext>
            </a:extLst>
          </p:cNvPr>
          <p:cNvSpPr/>
          <p:nvPr/>
        </p:nvSpPr>
        <p:spPr>
          <a:xfrm>
            <a:off x="475488" y="0"/>
            <a:ext cx="0" cy="6858000"/>
          </a:xfrm>
          <a:prstGeom prst="line">
            <a:avLst/>
          </a:prstGeom>
          <a:noFill/>
          <a:ln w="1905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Shape 45">
            <a:extLst>
              <a:ext uri="{FF2B5EF4-FFF2-40B4-BE49-F238E27FC236}">
                <a16:creationId xmlns:a16="http://schemas.microsoft.com/office/drawing/2014/main" id="{1ABA9937-41C9-F26E-B593-74541A3F1B51}"/>
              </a:ext>
            </a:extLst>
          </p:cNvPr>
          <p:cNvSpPr/>
          <p:nvPr/>
        </p:nvSpPr>
        <p:spPr>
          <a:xfrm>
            <a:off x="8412480" y="-1371600"/>
            <a:ext cx="6035040" cy="6035040"/>
          </a:xfrm>
          <a:prstGeom prst="ellipse">
            <a:avLst/>
          </a:prstGeom>
          <a:solidFill>
            <a:srgbClr val="071524">
              <a:alpha val="0"/>
            </a:srgbClr>
          </a:solidFill>
          <a:ln w="12700">
            <a:solidFill>
              <a:srgbClr val="0F9ED5">
                <a:alpha val="12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Shape 46">
            <a:extLst>
              <a:ext uri="{FF2B5EF4-FFF2-40B4-BE49-F238E27FC236}">
                <a16:creationId xmlns:a16="http://schemas.microsoft.com/office/drawing/2014/main" id="{BD68CB3F-CDA4-3C29-2F4C-E54A41D3E6D2}"/>
              </a:ext>
            </a:extLst>
          </p:cNvPr>
          <p:cNvSpPr/>
          <p:nvPr/>
        </p:nvSpPr>
        <p:spPr>
          <a:xfrm>
            <a:off x="9235440" y="-548640"/>
            <a:ext cx="4389120" cy="4389120"/>
          </a:xfrm>
          <a:prstGeom prst="ellipse">
            <a:avLst/>
          </a:prstGeom>
          <a:solidFill>
            <a:srgbClr val="071524">
              <a:alpha val="0"/>
            </a:srgbClr>
          </a:solidFill>
          <a:ln w="12700">
            <a:solidFill>
              <a:srgbClr val="0F9ED5">
                <a:alpha val="22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Shape 47">
            <a:extLst>
              <a:ext uri="{FF2B5EF4-FFF2-40B4-BE49-F238E27FC236}">
                <a16:creationId xmlns:a16="http://schemas.microsoft.com/office/drawing/2014/main" id="{0F193F37-348E-B7D8-F54A-DFD1DE7C0E5A}"/>
              </a:ext>
            </a:extLst>
          </p:cNvPr>
          <p:cNvSpPr/>
          <p:nvPr/>
        </p:nvSpPr>
        <p:spPr>
          <a:xfrm>
            <a:off x="10058400" y="274320"/>
            <a:ext cx="2743200" cy="2743200"/>
          </a:xfrm>
          <a:prstGeom prst="ellipse">
            <a:avLst/>
          </a:prstGeom>
          <a:solidFill>
            <a:srgbClr val="071524">
              <a:alpha val="0"/>
            </a:srgbClr>
          </a:solidFill>
          <a:ln w="12700">
            <a:solidFill>
              <a:srgbClr val="0F9ED5">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48">
            <a:extLst>
              <a:ext uri="{FF2B5EF4-FFF2-40B4-BE49-F238E27FC236}">
                <a16:creationId xmlns:a16="http://schemas.microsoft.com/office/drawing/2014/main" id="{38916ACA-12BC-6DFD-2659-CA4E561290F7}"/>
              </a:ext>
            </a:extLst>
          </p:cNvPr>
          <p:cNvSpPr/>
          <p:nvPr/>
        </p:nvSpPr>
        <p:spPr>
          <a:xfrm>
            <a:off x="10881360" y="1097280"/>
            <a:ext cx="1097280" cy="1097280"/>
          </a:xfrm>
          <a:prstGeom prst="ellipse">
            <a:avLst/>
          </a:prstGeom>
          <a:solidFill>
            <a:srgbClr val="071524">
              <a:alpha val="0"/>
            </a:srgbClr>
          </a:solidFill>
          <a:ln w="12700">
            <a:solidFill>
              <a:srgbClr val="0F9ED5">
                <a:alpha val="5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9">
            <a:extLst>
              <a:ext uri="{FF2B5EF4-FFF2-40B4-BE49-F238E27FC236}">
                <a16:creationId xmlns:a16="http://schemas.microsoft.com/office/drawing/2014/main" id="{9D494606-8C9E-94C2-5A5D-4E5E2261B2A4}"/>
              </a:ext>
            </a:extLst>
          </p:cNvPr>
          <p:cNvSpPr/>
          <p:nvPr/>
        </p:nvSpPr>
        <p:spPr>
          <a:xfrm>
            <a:off x="11292840" y="1508760"/>
            <a:ext cx="274320" cy="274320"/>
          </a:xfrm>
          <a:prstGeom prst="ellipse">
            <a:avLst/>
          </a:prstGeom>
          <a:solidFill>
            <a:srgbClr val="0F9ED5">
              <a:alpha val="60000"/>
            </a:srgbClr>
          </a:solidFill>
          <a:ln w="1270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Shape 50">
            <a:extLst>
              <a:ext uri="{FF2B5EF4-FFF2-40B4-BE49-F238E27FC236}">
                <a16:creationId xmlns:a16="http://schemas.microsoft.com/office/drawing/2014/main" id="{837B96B7-C72A-D569-6C3A-FE95EB94A17C}"/>
              </a:ext>
            </a:extLst>
          </p:cNvPr>
          <p:cNvSpPr/>
          <p:nvPr/>
        </p:nvSpPr>
        <p:spPr>
          <a:xfrm>
            <a:off x="155448" y="1179576"/>
            <a:ext cx="201168" cy="201168"/>
          </a:xfrm>
          <a:prstGeom prst="ellipse">
            <a:avLst/>
          </a:prstGeom>
          <a:solidFill>
            <a:srgbClr val="E97132"/>
          </a:solidFill>
          <a:ln w="1270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Shape 51">
            <a:extLst>
              <a:ext uri="{FF2B5EF4-FFF2-40B4-BE49-F238E27FC236}">
                <a16:creationId xmlns:a16="http://schemas.microsoft.com/office/drawing/2014/main" id="{396C955F-4E1E-45AB-F63B-AA32305A651D}"/>
              </a:ext>
            </a:extLst>
          </p:cNvPr>
          <p:cNvSpPr/>
          <p:nvPr/>
        </p:nvSpPr>
        <p:spPr>
          <a:xfrm>
            <a:off x="155448" y="2002536"/>
            <a:ext cx="201168" cy="201168"/>
          </a:xfrm>
          <a:prstGeom prst="ellipse">
            <a:avLst/>
          </a:prstGeom>
          <a:solidFill>
            <a:srgbClr val="0F9ED5"/>
          </a:solidFill>
          <a:ln w="1270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Shape 52">
            <a:extLst>
              <a:ext uri="{FF2B5EF4-FFF2-40B4-BE49-F238E27FC236}">
                <a16:creationId xmlns:a16="http://schemas.microsoft.com/office/drawing/2014/main" id="{9EF70B3C-42D3-0CE1-3D02-B7AFCCE5187E}"/>
              </a:ext>
            </a:extLst>
          </p:cNvPr>
          <p:cNvSpPr/>
          <p:nvPr/>
        </p:nvSpPr>
        <p:spPr>
          <a:xfrm>
            <a:off x="155448" y="2825496"/>
            <a:ext cx="201168" cy="201168"/>
          </a:xfrm>
          <a:prstGeom prst="ellipse">
            <a:avLst/>
          </a:prstGeom>
          <a:solidFill>
            <a:srgbClr val="196B24"/>
          </a:solidFill>
          <a:ln w="12700">
            <a:solidFill>
              <a:srgbClr val="196B2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Shape 53">
            <a:extLst>
              <a:ext uri="{FF2B5EF4-FFF2-40B4-BE49-F238E27FC236}">
                <a16:creationId xmlns:a16="http://schemas.microsoft.com/office/drawing/2014/main" id="{F57AC365-8E6D-6E41-8B82-EA269688EB84}"/>
              </a:ext>
            </a:extLst>
          </p:cNvPr>
          <p:cNvSpPr/>
          <p:nvPr/>
        </p:nvSpPr>
        <p:spPr>
          <a:xfrm>
            <a:off x="155448" y="3648456"/>
            <a:ext cx="201168" cy="201168"/>
          </a:xfrm>
          <a:prstGeom prst="ellipse">
            <a:avLst/>
          </a:prstGeom>
          <a:solidFill>
            <a:srgbClr val="0F9ED5"/>
          </a:solidFill>
          <a:ln w="1270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Shape 54">
            <a:extLst>
              <a:ext uri="{FF2B5EF4-FFF2-40B4-BE49-F238E27FC236}">
                <a16:creationId xmlns:a16="http://schemas.microsoft.com/office/drawing/2014/main" id="{C1FD679B-0E1E-532A-C2E8-2993CC7A3F9A}"/>
              </a:ext>
            </a:extLst>
          </p:cNvPr>
          <p:cNvSpPr/>
          <p:nvPr/>
        </p:nvSpPr>
        <p:spPr>
          <a:xfrm>
            <a:off x="155448" y="4471416"/>
            <a:ext cx="201168" cy="201168"/>
          </a:xfrm>
          <a:prstGeom prst="ellipse">
            <a:avLst/>
          </a:prstGeom>
          <a:solidFill>
            <a:srgbClr val="E97132"/>
          </a:solidFill>
          <a:ln w="1270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Text 56">
            <a:extLst>
              <a:ext uri="{FF2B5EF4-FFF2-40B4-BE49-F238E27FC236}">
                <a16:creationId xmlns:a16="http://schemas.microsoft.com/office/drawing/2014/main" id="{34058DAE-7738-9D3C-2F97-65E046695806}"/>
              </a:ext>
            </a:extLst>
          </p:cNvPr>
          <p:cNvSpPr/>
          <p:nvPr/>
        </p:nvSpPr>
        <p:spPr>
          <a:xfrm>
            <a:off x="658368" y="2038635"/>
            <a:ext cx="8778240" cy="731520"/>
          </a:xfrm>
          <a:prstGeom prst="rect">
            <a:avLst/>
          </a:prstGeom>
          <a:noFill/>
          <a:ln/>
        </p:spPr>
        <p:txBody>
          <a:bodyPr wrap="square"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600" b="1" i="0" u="none" strike="noStrike" kern="0" cap="none" spc="-50" normalizeH="0" baseline="0" noProof="0">
                <a:ln>
                  <a:noFill/>
                </a:ln>
                <a:solidFill>
                  <a:srgbClr val="FFFFFF"/>
                </a:solidFill>
                <a:effectLst/>
                <a:uLnTx/>
                <a:uFillTx/>
                <a:latin typeface="Aptos Display"/>
                <a:ea typeface="+mn-ea"/>
                <a:cs typeface="+mn-cs"/>
              </a:rPr>
              <a:t>SLA Breach Model</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Text 57">
            <a:extLst>
              <a:ext uri="{FF2B5EF4-FFF2-40B4-BE49-F238E27FC236}">
                <a16:creationId xmlns:a16="http://schemas.microsoft.com/office/drawing/2014/main" id="{D374B364-5F8E-63F2-2B0D-7BB92EEC0F88}"/>
              </a:ext>
            </a:extLst>
          </p:cNvPr>
          <p:cNvSpPr/>
          <p:nvPr/>
        </p:nvSpPr>
        <p:spPr>
          <a:xfrm>
            <a:off x="658368" y="2051113"/>
            <a:ext cx="8961120" cy="512064"/>
          </a:xfrm>
          <a:prstGeom prst="rect">
            <a:avLst/>
          </a:prstGeom>
          <a:noFill/>
          <a:ln/>
        </p:spPr>
        <p:txBody>
          <a:bodyPr wrap="square"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srgbClr val="0F9ED5"/>
              </a:solidFill>
              <a:effectLst/>
              <a:uLnTx/>
              <a:uFillTx/>
              <a:latin typeface="Calibri" panose="020F0502020204030204"/>
              <a:ea typeface="Calibri"/>
              <a:cs typeface="Calibri"/>
            </a:endParaRPr>
          </a:p>
        </p:txBody>
      </p:sp>
      <p:sp>
        <p:nvSpPr>
          <p:cNvPr id="60" name="Shape 58">
            <a:extLst>
              <a:ext uri="{FF2B5EF4-FFF2-40B4-BE49-F238E27FC236}">
                <a16:creationId xmlns:a16="http://schemas.microsoft.com/office/drawing/2014/main" id="{304EA8E0-C738-C366-9897-4247D9B525F1}"/>
              </a:ext>
            </a:extLst>
          </p:cNvPr>
          <p:cNvSpPr/>
          <p:nvPr/>
        </p:nvSpPr>
        <p:spPr>
          <a:xfrm>
            <a:off x="658368" y="2768155"/>
            <a:ext cx="8229600" cy="0"/>
          </a:xfrm>
          <a:prstGeom prst="line">
            <a:avLst/>
          </a:prstGeom>
          <a:noFill/>
          <a:ln w="3175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62">
            <a:extLst>
              <a:ext uri="{FF2B5EF4-FFF2-40B4-BE49-F238E27FC236}">
                <a16:creationId xmlns:a16="http://schemas.microsoft.com/office/drawing/2014/main" id="{20FB33DA-B08E-ABEF-83FB-781A924B0688}"/>
              </a:ext>
            </a:extLst>
          </p:cNvPr>
          <p:cNvSpPr/>
          <p:nvPr/>
        </p:nvSpPr>
        <p:spPr>
          <a:xfrm>
            <a:off x="658368" y="2724912"/>
            <a:ext cx="10515600" cy="0"/>
          </a:xfrm>
          <a:prstGeom prst="line">
            <a:avLst/>
          </a:prstGeom>
          <a:noFill/>
          <a:ln w="1016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Shape 66">
            <a:extLst>
              <a:ext uri="{FF2B5EF4-FFF2-40B4-BE49-F238E27FC236}">
                <a16:creationId xmlns:a16="http://schemas.microsoft.com/office/drawing/2014/main" id="{7C3AB59B-DC64-C926-8A06-D93BEFF9F598}"/>
              </a:ext>
            </a:extLst>
          </p:cNvPr>
          <p:cNvSpPr/>
          <p:nvPr/>
        </p:nvSpPr>
        <p:spPr>
          <a:xfrm>
            <a:off x="658368" y="3383280"/>
            <a:ext cx="10515600" cy="0"/>
          </a:xfrm>
          <a:prstGeom prst="line">
            <a:avLst/>
          </a:prstGeom>
          <a:noFill/>
          <a:ln w="1016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Shape 70">
            <a:extLst>
              <a:ext uri="{FF2B5EF4-FFF2-40B4-BE49-F238E27FC236}">
                <a16:creationId xmlns:a16="http://schemas.microsoft.com/office/drawing/2014/main" id="{9889A0E9-78FC-293B-6852-B8839F5E133A}"/>
              </a:ext>
            </a:extLst>
          </p:cNvPr>
          <p:cNvSpPr/>
          <p:nvPr/>
        </p:nvSpPr>
        <p:spPr>
          <a:xfrm>
            <a:off x="658368" y="4041648"/>
            <a:ext cx="10515600" cy="0"/>
          </a:xfrm>
          <a:prstGeom prst="line">
            <a:avLst/>
          </a:prstGeom>
          <a:noFill/>
          <a:ln w="1016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Shape 74">
            <a:extLst>
              <a:ext uri="{FF2B5EF4-FFF2-40B4-BE49-F238E27FC236}">
                <a16:creationId xmlns:a16="http://schemas.microsoft.com/office/drawing/2014/main" id="{F75DC8D6-8B98-1C7F-77F5-1542DE52686E}"/>
              </a:ext>
            </a:extLst>
          </p:cNvPr>
          <p:cNvSpPr/>
          <p:nvPr/>
        </p:nvSpPr>
        <p:spPr>
          <a:xfrm>
            <a:off x="475488" y="4956048"/>
            <a:ext cx="11713464" cy="0"/>
          </a:xfrm>
          <a:prstGeom prst="line">
            <a:avLst/>
          </a:prstGeom>
          <a:noFill/>
          <a:ln w="2540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Shape 75">
            <a:extLst>
              <a:ext uri="{FF2B5EF4-FFF2-40B4-BE49-F238E27FC236}">
                <a16:creationId xmlns:a16="http://schemas.microsoft.com/office/drawing/2014/main" id="{723739AF-E84B-8C8B-36F1-156C2AF10B53}"/>
              </a:ext>
            </a:extLst>
          </p:cNvPr>
          <p:cNvSpPr/>
          <p:nvPr/>
        </p:nvSpPr>
        <p:spPr>
          <a:xfrm>
            <a:off x="475488" y="4956048"/>
            <a:ext cx="2928366" cy="1773936"/>
          </a:xfrm>
          <a:prstGeom prst="rect">
            <a:avLst/>
          </a:prstGeom>
          <a:solidFill>
            <a:srgbClr val="0E2841"/>
          </a:solidFill>
          <a:ln w="12700">
            <a:solidFill>
              <a:srgbClr val="0E28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Shape 76">
            <a:extLst>
              <a:ext uri="{FF2B5EF4-FFF2-40B4-BE49-F238E27FC236}">
                <a16:creationId xmlns:a16="http://schemas.microsoft.com/office/drawing/2014/main" id="{04D27536-B760-4677-0771-81BE4A000234}"/>
              </a:ext>
            </a:extLst>
          </p:cNvPr>
          <p:cNvSpPr/>
          <p:nvPr/>
        </p:nvSpPr>
        <p:spPr>
          <a:xfrm>
            <a:off x="475488" y="4956048"/>
            <a:ext cx="2928366" cy="50292"/>
          </a:xfrm>
          <a:prstGeom prst="rect">
            <a:avLst/>
          </a:prstGeom>
          <a:solidFill>
            <a:srgbClr val="E97132"/>
          </a:solidFill>
          <a:ln w="1270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Shape 77">
            <a:extLst>
              <a:ext uri="{FF2B5EF4-FFF2-40B4-BE49-F238E27FC236}">
                <a16:creationId xmlns:a16="http://schemas.microsoft.com/office/drawing/2014/main" id="{FC7FEC04-8DCC-548A-E394-EDBD77F0240D}"/>
              </a:ext>
            </a:extLst>
          </p:cNvPr>
          <p:cNvSpPr/>
          <p:nvPr/>
        </p:nvSpPr>
        <p:spPr>
          <a:xfrm>
            <a:off x="3403854" y="4956048"/>
            <a:ext cx="0" cy="1773936"/>
          </a:xfrm>
          <a:prstGeom prst="line">
            <a:avLst/>
          </a:prstGeom>
          <a:noFill/>
          <a:ln w="1270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Shape 81">
            <a:extLst>
              <a:ext uri="{FF2B5EF4-FFF2-40B4-BE49-F238E27FC236}">
                <a16:creationId xmlns:a16="http://schemas.microsoft.com/office/drawing/2014/main" id="{2E66E68D-EA44-3B21-EEB8-B5912A31F145}"/>
              </a:ext>
            </a:extLst>
          </p:cNvPr>
          <p:cNvSpPr/>
          <p:nvPr/>
        </p:nvSpPr>
        <p:spPr>
          <a:xfrm>
            <a:off x="3403854" y="4956048"/>
            <a:ext cx="2928366" cy="1773936"/>
          </a:xfrm>
          <a:prstGeom prst="rect">
            <a:avLst/>
          </a:prstGeom>
          <a:solidFill>
            <a:srgbClr val="0E2841"/>
          </a:solidFill>
          <a:ln w="12700">
            <a:solidFill>
              <a:srgbClr val="0E28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Shape 82">
            <a:extLst>
              <a:ext uri="{FF2B5EF4-FFF2-40B4-BE49-F238E27FC236}">
                <a16:creationId xmlns:a16="http://schemas.microsoft.com/office/drawing/2014/main" id="{85D8EE09-1692-1BC7-5B60-DEFE1E8BFF56}"/>
              </a:ext>
            </a:extLst>
          </p:cNvPr>
          <p:cNvSpPr/>
          <p:nvPr/>
        </p:nvSpPr>
        <p:spPr>
          <a:xfrm>
            <a:off x="3403854" y="4956048"/>
            <a:ext cx="2928366" cy="50292"/>
          </a:xfrm>
          <a:prstGeom prst="rect">
            <a:avLst/>
          </a:prstGeom>
          <a:solidFill>
            <a:srgbClr val="0F9ED5"/>
          </a:solidFill>
          <a:ln w="1270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Shape 83">
            <a:extLst>
              <a:ext uri="{FF2B5EF4-FFF2-40B4-BE49-F238E27FC236}">
                <a16:creationId xmlns:a16="http://schemas.microsoft.com/office/drawing/2014/main" id="{20E1DA30-8C03-ACD4-6356-9EA55DADDF97}"/>
              </a:ext>
            </a:extLst>
          </p:cNvPr>
          <p:cNvSpPr/>
          <p:nvPr/>
        </p:nvSpPr>
        <p:spPr>
          <a:xfrm>
            <a:off x="6332220" y="4956048"/>
            <a:ext cx="0" cy="1773936"/>
          </a:xfrm>
          <a:prstGeom prst="line">
            <a:avLst/>
          </a:prstGeom>
          <a:noFill/>
          <a:ln w="1270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Shape 87">
            <a:extLst>
              <a:ext uri="{FF2B5EF4-FFF2-40B4-BE49-F238E27FC236}">
                <a16:creationId xmlns:a16="http://schemas.microsoft.com/office/drawing/2014/main" id="{8D9568A5-234B-6B95-4D8A-7EBEED66DC64}"/>
              </a:ext>
            </a:extLst>
          </p:cNvPr>
          <p:cNvSpPr/>
          <p:nvPr/>
        </p:nvSpPr>
        <p:spPr>
          <a:xfrm>
            <a:off x="6332220" y="4956048"/>
            <a:ext cx="2928366" cy="1773936"/>
          </a:xfrm>
          <a:prstGeom prst="rect">
            <a:avLst/>
          </a:prstGeom>
          <a:solidFill>
            <a:srgbClr val="0E2841"/>
          </a:solidFill>
          <a:ln w="12700">
            <a:solidFill>
              <a:srgbClr val="0E28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Shape 88">
            <a:extLst>
              <a:ext uri="{FF2B5EF4-FFF2-40B4-BE49-F238E27FC236}">
                <a16:creationId xmlns:a16="http://schemas.microsoft.com/office/drawing/2014/main" id="{1597B8A3-83F3-1BA4-D6E2-568AA0C6B559}"/>
              </a:ext>
            </a:extLst>
          </p:cNvPr>
          <p:cNvSpPr/>
          <p:nvPr/>
        </p:nvSpPr>
        <p:spPr>
          <a:xfrm>
            <a:off x="6332220" y="4956048"/>
            <a:ext cx="2928366" cy="50292"/>
          </a:xfrm>
          <a:prstGeom prst="rect">
            <a:avLst/>
          </a:prstGeom>
          <a:solidFill>
            <a:srgbClr val="196B24"/>
          </a:solidFill>
          <a:ln w="12700">
            <a:solidFill>
              <a:srgbClr val="196B2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Shape 89">
            <a:extLst>
              <a:ext uri="{FF2B5EF4-FFF2-40B4-BE49-F238E27FC236}">
                <a16:creationId xmlns:a16="http://schemas.microsoft.com/office/drawing/2014/main" id="{676EFD7E-C07C-1119-8E5B-24A18B55B242}"/>
              </a:ext>
            </a:extLst>
          </p:cNvPr>
          <p:cNvSpPr/>
          <p:nvPr/>
        </p:nvSpPr>
        <p:spPr>
          <a:xfrm>
            <a:off x="9260586" y="4956048"/>
            <a:ext cx="0" cy="1773936"/>
          </a:xfrm>
          <a:prstGeom prst="line">
            <a:avLst/>
          </a:prstGeom>
          <a:noFill/>
          <a:ln w="1270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Shape 93">
            <a:extLst>
              <a:ext uri="{FF2B5EF4-FFF2-40B4-BE49-F238E27FC236}">
                <a16:creationId xmlns:a16="http://schemas.microsoft.com/office/drawing/2014/main" id="{6BE737C0-32EA-5B4A-28A3-7159EB38E577}"/>
              </a:ext>
            </a:extLst>
          </p:cNvPr>
          <p:cNvSpPr/>
          <p:nvPr/>
        </p:nvSpPr>
        <p:spPr>
          <a:xfrm>
            <a:off x="9260586" y="4956048"/>
            <a:ext cx="2928366" cy="1773936"/>
          </a:xfrm>
          <a:prstGeom prst="rect">
            <a:avLst/>
          </a:prstGeom>
          <a:solidFill>
            <a:srgbClr val="0E2841"/>
          </a:solidFill>
          <a:ln w="12700">
            <a:solidFill>
              <a:srgbClr val="0E28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Shape 94">
            <a:extLst>
              <a:ext uri="{FF2B5EF4-FFF2-40B4-BE49-F238E27FC236}">
                <a16:creationId xmlns:a16="http://schemas.microsoft.com/office/drawing/2014/main" id="{85134785-A858-DB41-FDCB-4D1BB4C55711}"/>
              </a:ext>
            </a:extLst>
          </p:cNvPr>
          <p:cNvSpPr/>
          <p:nvPr/>
        </p:nvSpPr>
        <p:spPr>
          <a:xfrm>
            <a:off x="9260586" y="4956048"/>
            <a:ext cx="2928366" cy="50292"/>
          </a:xfrm>
          <a:prstGeom prst="rect">
            <a:avLst/>
          </a:prstGeom>
          <a:solidFill>
            <a:srgbClr val="8BAFC4"/>
          </a:solidFill>
          <a:ln w="12700">
            <a:solidFill>
              <a:srgbClr val="8BAFC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6357050"/>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object 15">
            <a:extLst>
              <a:ext uri="{FF2B5EF4-FFF2-40B4-BE49-F238E27FC236}">
                <a16:creationId xmlns:a16="http://schemas.microsoft.com/office/drawing/2014/main" id="{CE0AC92A-34CC-FE6B-EF14-C767387D11EE}"/>
              </a:ext>
            </a:extLst>
          </p:cNvPr>
          <p:cNvSpPr txBox="1"/>
          <p:nvPr/>
        </p:nvSpPr>
        <p:spPr>
          <a:xfrm>
            <a:off x="325477" y="1007164"/>
            <a:ext cx="11289032" cy="570028"/>
          </a:xfrm>
          <a:prstGeom prst="rect">
            <a:avLst/>
          </a:prstGeom>
        </p:spPr>
        <p:txBody>
          <a:bodyPr vert="horz" wrap="square" lIns="0" tIns="15875" rIns="0" bIns="0" rtlCol="0" anchor="t">
            <a:spAutoFit/>
          </a:bodyPr>
          <a:lstStyle/>
          <a:p>
            <a:pPr marL="12700" marR="0" lvl="0" indent="0" algn="l" defTabSz="914400" rtl="0" eaLnBrk="1" fontAlgn="auto" latinLnBrk="0" hangingPunct="1">
              <a:lnSpc>
                <a:spcPct val="100000"/>
              </a:lnSpc>
              <a:spcBef>
                <a:spcPts val="125"/>
              </a:spcBef>
              <a:spcAft>
                <a:spcPts val="0"/>
              </a:spcAft>
              <a:buClrTx/>
              <a:buSzTx/>
              <a:buFontTx/>
              <a:buNone/>
              <a:tabLst/>
              <a:defRPr/>
            </a:pPr>
            <a:r>
              <a:rPr kumimoji="0" sz="1800" b="1" i="0" u="none" strike="noStrike" kern="1200" cap="none" spc="-120" normalizeH="0" baseline="0" noProof="0">
                <a:ln>
                  <a:noFill/>
                </a:ln>
                <a:solidFill>
                  <a:prstClr val="black"/>
                </a:solidFill>
                <a:effectLst/>
                <a:uLnTx/>
                <a:uFillTx/>
                <a:latin typeface="Trebuchet MS"/>
                <a:ea typeface="+mn-ea"/>
                <a:cs typeface="Trebuchet MS"/>
              </a:rPr>
              <a:t>Objective</a:t>
            </a:r>
            <a:r>
              <a:rPr kumimoji="0" sz="1800" b="0" i="0" u="none" strike="noStrike" kern="1200" cap="none" spc="-120" normalizeH="0" baseline="0" noProof="0">
                <a:ln>
                  <a:noFill/>
                </a:ln>
                <a:solidFill>
                  <a:prstClr val="black"/>
                </a:solidFill>
                <a:effectLst/>
                <a:uLnTx/>
                <a:uFillTx/>
                <a:latin typeface="Trebuchet MS"/>
                <a:ea typeface="+mn-ea"/>
                <a:cs typeface="Trebuchet MS"/>
              </a:rPr>
              <a:t>:</a:t>
            </a:r>
            <a:r>
              <a:rPr kumimoji="0" sz="1800" b="0" i="0" u="none" strike="noStrike" kern="1200" cap="none" spc="-170" normalizeH="0" baseline="0" noProof="0">
                <a:ln>
                  <a:noFill/>
                </a:ln>
                <a:solidFill>
                  <a:prstClr val="black"/>
                </a:solidFill>
                <a:effectLst/>
                <a:uLnTx/>
                <a:uFillTx/>
                <a:latin typeface="Trebuchet MS"/>
                <a:ea typeface="+mn-ea"/>
                <a:cs typeface="Trebuchet MS"/>
              </a:rPr>
              <a:t> </a:t>
            </a:r>
            <a:r>
              <a:rPr kumimoji="0" lang="en-IN" sz="1800" b="0" i="0" u="none" strike="noStrike" kern="1200" cap="none" spc="0" normalizeH="0" baseline="0" noProof="0">
                <a:ln>
                  <a:noFill/>
                </a:ln>
                <a:solidFill>
                  <a:prstClr val="black"/>
                </a:solidFill>
                <a:effectLst/>
                <a:uLnTx/>
                <a:uFillTx/>
                <a:latin typeface="Aptos" panose="02110004020202020204"/>
                <a:ea typeface="+mn-ea"/>
                <a:cs typeface="+mn-cs"/>
              </a:rPr>
              <a:t>To engineer operational, temporal, </a:t>
            </a:r>
            <a:r>
              <a:rPr lang="en-IN" kern="1200">
                <a:solidFill>
                  <a:prstClr val="black"/>
                </a:solidFill>
                <a:latin typeface="Aptos" panose="02110004020202020204"/>
                <a:ea typeface="+mn-ea"/>
                <a:cs typeface="+mn-cs"/>
              </a:rPr>
              <a:t>behavioural</a:t>
            </a:r>
            <a:r>
              <a:rPr kumimoji="0" lang="en-IN" sz="1800" b="0" i="0" u="none" strike="noStrike" kern="1200" cap="none" spc="0" normalizeH="0" baseline="0" noProof="0">
                <a:ln>
                  <a:noFill/>
                </a:ln>
                <a:solidFill>
                  <a:prstClr val="black"/>
                </a:solidFill>
                <a:effectLst/>
                <a:uLnTx/>
                <a:uFillTx/>
                <a:latin typeface="Aptos" panose="02110004020202020204"/>
                <a:ea typeface="+mn-ea"/>
                <a:cs typeface="+mn-cs"/>
              </a:rPr>
              <a:t>, and infrastructure-driven features for proactive SLA breach risk identification</a:t>
            </a:r>
            <a:endParaRPr kumimoji="0" sz="1800" b="0" i="0" u="none" strike="noStrike" kern="1200" cap="none" spc="0" normalizeH="0" baseline="0" noProof="0">
              <a:ln>
                <a:noFill/>
              </a:ln>
              <a:solidFill>
                <a:prstClr val="black"/>
              </a:solidFill>
              <a:effectLst/>
              <a:uLnTx/>
              <a:uFillTx/>
              <a:latin typeface="Trebuchet MS"/>
              <a:ea typeface="+mn-ea"/>
              <a:cs typeface="Trebuchet MS"/>
            </a:endParaRPr>
          </a:p>
        </p:txBody>
      </p:sp>
      <p:grpSp>
        <p:nvGrpSpPr>
          <p:cNvPr id="26" name="object 17">
            <a:extLst>
              <a:ext uri="{FF2B5EF4-FFF2-40B4-BE49-F238E27FC236}">
                <a16:creationId xmlns:a16="http://schemas.microsoft.com/office/drawing/2014/main" id="{3E59C049-0F3E-9A7C-CFDE-82352E513495}"/>
              </a:ext>
            </a:extLst>
          </p:cNvPr>
          <p:cNvGrpSpPr/>
          <p:nvPr/>
        </p:nvGrpSpPr>
        <p:grpSpPr>
          <a:xfrm>
            <a:off x="1859756" y="5584215"/>
            <a:ext cx="876300" cy="914781"/>
            <a:chOff x="2038350" y="5457825"/>
            <a:chExt cx="876300" cy="914781"/>
          </a:xfrm>
        </p:grpSpPr>
        <p:sp>
          <p:nvSpPr>
            <p:cNvPr id="27" name="object 18">
              <a:extLst>
                <a:ext uri="{FF2B5EF4-FFF2-40B4-BE49-F238E27FC236}">
                  <a16:creationId xmlns:a16="http://schemas.microsoft.com/office/drawing/2014/main" id="{80FB9A37-5DBF-80BC-DED2-845EA6EBF879}"/>
                </a:ext>
              </a:extLst>
            </p:cNvPr>
            <p:cNvSpPr/>
            <p:nvPr/>
          </p:nvSpPr>
          <p:spPr>
            <a:xfrm>
              <a:off x="2038350" y="5567426"/>
              <a:ext cx="876300" cy="805180"/>
            </a:xfrm>
            <a:custGeom>
              <a:avLst/>
              <a:gdLst/>
              <a:ahLst/>
              <a:cxnLst/>
              <a:rect l="l" t="t" r="r" b="b"/>
              <a:pathLst>
                <a:path w="876300" h="805179">
                  <a:moveTo>
                    <a:pt x="876300" y="0"/>
                  </a:moveTo>
                  <a:lnTo>
                    <a:pt x="853958" y="34593"/>
                  </a:lnTo>
                  <a:lnTo>
                    <a:pt x="791748" y="64644"/>
                  </a:lnTo>
                  <a:lnTo>
                    <a:pt x="747950" y="77401"/>
                  </a:lnTo>
                  <a:lnTo>
                    <a:pt x="696894" y="88345"/>
                  </a:lnTo>
                  <a:lnTo>
                    <a:pt x="639483" y="97250"/>
                  </a:lnTo>
                  <a:lnTo>
                    <a:pt x="576620" y="103890"/>
                  </a:lnTo>
                  <a:lnTo>
                    <a:pt x="509208" y="108040"/>
                  </a:lnTo>
                  <a:lnTo>
                    <a:pt x="438150" y="109474"/>
                  </a:lnTo>
                  <a:lnTo>
                    <a:pt x="367091" y="108040"/>
                  </a:lnTo>
                  <a:lnTo>
                    <a:pt x="299679" y="103890"/>
                  </a:lnTo>
                  <a:lnTo>
                    <a:pt x="236816" y="97250"/>
                  </a:lnTo>
                  <a:lnTo>
                    <a:pt x="179405" y="88345"/>
                  </a:lnTo>
                  <a:lnTo>
                    <a:pt x="128349" y="77401"/>
                  </a:lnTo>
                  <a:lnTo>
                    <a:pt x="84551" y="64644"/>
                  </a:lnTo>
                  <a:lnTo>
                    <a:pt x="48914" y="50300"/>
                  </a:lnTo>
                  <a:lnTo>
                    <a:pt x="5735" y="17752"/>
                  </a:lnTo>
                  <a:lnTo>
                    <a:pt x="0" y="0"/>
                  </a:lnTo>
                  <a:lnTo>
                    <a:pt x="0" y="695261"/>
                  </a:lnTo>
                  <a:lnTo>
                    <a:pt x="22341" y="729886"/>
                  </a:lnTo>
                  <a:lnTo>
                    <a:pt x="84551" y="759955"/>
                  </a:lnTo>
                  <a:lnTo>
                    <a:pt x="128349" y="772718"/>
                  </a:lnTo>
                  <a:lnTo>
                    <a:pt x="179405" y="783666"/>
                  </a:lnTo>
                  <a:lnTo>
                    <a:pt x="236816" y="792573"/>
                  </a:lnTo>
                  <a:lnTo>
                    <a:pt x="299679" y="799215"/>
                  </a:lnTo>
                  <a:lnTo>
                    <a:pt x="367091" y="803365"/>
                  </a:lnTo>
                  <a:lnTo>
                    <a:pt x="438150" y="804799"/>
                  </a:lnTo>
                  <a:lnTo>
                    <a:pt x="509208" y="803365"/>
                  </a:lnTo>
                  <a:lnTo>
                    <a:pt x="576620" y="799215"/>
                  </a:lnTo>
                  <a:lnTo>
                    <a:pt x="639483" y="792573"/>
                  </a:lnTo>
                  <a:lnTo>
                    <a:pt x="696894" y="783666"/>
                  </a:lnTo>
                  <a:lnTo>
                    <a:pt x="747950" y="772718"/>
                  </a:lnTo>
                  <a:lnTo>
                    <a:pt x="791748" y="759955"/>
                  </a:lnTo>
                  <a:lnTo>
                    <a:pt x="827385" y="745603"/>
                  </a:lnTo>
                  <a:lnTo>
                    <a:pt x="870564" y="713030"/>
                  </a:lnTo>
                  <a:lnTo>
                    <a:pt x="876300" y="695261"/>
                  </a:lnTo>
                  <a:lnTo>
                    <a:pt x="876300" y="0"/>
                  </a:lnTo>
                  <a:close/>
                </a:path>
              </a:pathLst>
            </a:custGeom>
            <a:solidFill>
              <a:srgbClr val="155F8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8" name="object 19">
              <a:extLst>
                <a:ext uri="{FF2B5EF4-FFF2-40B4-BE49-F238E27FC236}">
                  <a16:creationId xmlns:a16="http://schemas.microsoft.com/office/drawing/2014/main" id="{8D3D7894-C888-024B-3F47-CBE4C0C19BDD}"/>
                </a:ext>
              </a:extLst>
            </p:cNvPr>
            <p:cNvSpPr/>
            <p:nvPr/>
          </p:nvSpPr>
          <p:spPr>
            <a:xfrm>
              <a:off x="2038350" y="5457825"/>
              <a:ext cx="876300" cy="219075"/>
            </a:xfrm>
            <a:custGeom>
              <a:avLst/>
              <a:gdLst/>
              <a:ahLst/>
              <a:cxnLst/>
              <a:rect l="l" t="t" r="r" b="b"/>
              <a:pathLst>
                <a:path w="876300" h="219075">
                  <a:moveTo>
                    <a:pt x="438150" y="0"/>
                  </a:moveTo>
                  <a:lnTo>
                    <a:pt x="367091" y="1433"/>
                  </a:lnTo>
                  <a:lnTo>
                    <a:pt x="299679" y="5582"/>
                  </a:lnTo>
                  <a:lnTo>
                    <a:pt x="236816" y="12224"/>
                  </a:lnTo>
                  <a:lnTo>
                    <a:pt x="179405" y="21132"/>
                  </a:lnTo>
                  <a:lnTo>
                    <a:pt x="128349" y="32083"/>
                  </a:lnTo>
                  <a:lnTo>
                    <a:pt x="84551" y="44851"/>
                  </a:lnTo>
                  <a:lnTo>
                    <a:pt x="48914" y="59211"/>
                  </a:lnTo>
                  <a:lnTo>
                    <a:pt x="5735" y="91811"/>
                  </a:lnTo>
                  <a:lnTo>
                    <a:pt x="0" y="109600"/>
                  </a:lnTo>
                  <a:lnTo>
                    <a:pt x="5735" y="127353"/>
                  </a:lnTo>
                  <a:lnTo>
                    <a:pt x="48914" y="159901"/>
                  </a:lnTo>
                  <a:lnTo>
                    <a:pt x="84551" y="174245"/>
                  </a:lnTo>
                  <a:lnTo>
                    <a:pt x="128349" y="187002"/>
                  </a:lnTo>
                  <a:lnTo>
                    <a:pt x="179405" y="197946"/>
                  </a:lnTo>
                  <a:lnTo>
                    <a:pt x="236816" y="206851"/>
                  </a:lnTo>
                  <a:lnTo>
                    <a:pt x="299679" y="213491"/>
                  </a:lnTo>
                  <a:lnTo>
                    <a:pt x="367091" y="217641"/>
                  </a:lnTo>
                  <a:lnTo>
                    <a:pt x="438150" y="219075"/>
                  </a:lnTo>
                  <a:lnTo>
                    <a:pt x="509208" y="217641"/>
                  </a:lnTo>
                  <a:lnTo>
                    <a:pt x="576620" y="213491"/>
                  </a:lnTo>
                  <a:lnTo>
                    <a:pt x="639483" y="206851"/>
                  </a:lnTo>
                  <a:lnTo>
                    <a:pt x="696894" y="197946"/>
                  </a:lnTo>
                  <a:lnTo>
                    <a:pt x="747950" y="187002"/>
                  </a:lnTo>
                  <a:lnTo>
                    <a:pt x="791748" y="174245"/>
                  </a:lnTo>
                  <a:lnTo>
                    <a:pt x="827385" y="159901"/>
                  </a:lnTo>
                  <a:lnTo>
                    <a:pt x="870564" y="127353"/>
                  </a:lnTo>
                  <a:lnTo>
                    <a:pt x="876300" y="109600"/>
                  </a:lnTo>
                  <a:lnTo>
                    <a:pt x="870564" y="91811"/>
                  </a:lnTo>
                  <a:lnTo>
                    <a:pt x="827385" y="59211"/>
                  </a:lnTo>
                  <a:lnTo>
                    <a:pt x="791748" y="44851"/>
                  </a:lnTo>
                  <a:lnTo>
                    <a:pt x="747950" y="32083"/>
                  </a:lnTo>
                  <a:lnTo>
                    <a:pt x="696894" y="21132"/>
                  </a:lnTo>
                  <a:lnTo>
                    <a:pt x="639483" y="12224"/>
                  </a:lnTo>
                  <a:lnTo>
                    <a:pt x="576620" y="5582"/>
                  </a:lnTo>
                  <a:lnTo>
                    <a:pt x="509208" y="1433"/>
                  </a:lnTo>
                  <a:lnTo>
                    <a:pt x="438150" y="0"/>
                  </a:lnTo>
                  <a:close/>
                </a:path>
              </a:pathLst>
            </a:custGeom>
            <a:solidFill>
              <a:srgbClr val="739FB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9" name="object 20">
              <a:extLst>
                <a:ext uri="{FF2B5EF4-FFF2-40B4-BE49-F238E27FC236}">
                  <a16:creationId xmlns:a16="http://schemas.microsoft.com/office/drawing/2014/main" id="{3CE11844-DBE1-FF43-4A9E-979B98877D74}"/>
                </a:ext>
              </a:extLst>
            </p:cNvPr>
            <p:cNvSpPr/>
            <p:nvPr/>
          </p:nvSpPr>
          <p:spPr>
            <a:xfrm>
              <a:off x="2038350" y="5457825"/>
              <a:ext cx="876300" cy="914400"/>
            </a:xfrm>
            <a:custGeom>
              <a:avLst/>
              <a:gdLst/>
              <a:ahLst/>
              <a:cxnLst/>
              <a:rect l="l" t="t" r="r" b="b"/>
              <a:pathLst>
                <a:path w="876300" h="914400">
                  <a:moveTo>
                    <a:pt x="876300" y="109600"/>
                  </a:moveTo>
                  <a:lnTo>
                    <a:pt x="853958" y="144194"/>
                  </a:lnTo>
                  <a:lnTo>
                    <a:pt x="791748" y="174245"/>
                  </a:lnTo>
                  <a:lnTo>
                    <a:pt x="747950" y="187002"/>
                  </a:lnTo>
                  <a:lnTo>
                    <a:pt x="696894" y="197946"/>
                  </a:lnTo>
                  <a:lnTo>
                    <a:pt x="639483" y="206851"/>
                  </a:lnTo>
                  <a:lnTo>
                    <a:pt x="576620" y="213491"/>
                  </a:lnTo>
                  <a:lnTo>
                    <a:pt x="509208" y="217641"/>
                  </a:lnTo>
                  <a:lnTo>
                    <a:pt x="438150" y="219075"/>
                  </a:lnTo>
                  <a:lnTo>
                    <a:pt x="367091" y="217641"/>
                  </a:lnTo>
                  <a:lnTo>
                    <a:pt x="299679" y="213491"/>
                  </a:lnTo>
                  <a:lnTo>
                    <a:pt x="236816" y="206851"/>
                  </a:lnTo>
                  <a:lnTo>
                    <a:pt x="179405" y="197946"/>
                  </a:lnTo>
                  <a:lnTo>
                    <a:pt x="128349" y="187002"/>
                  </a:lnTo>
                  <a:lnTo>
                    <a:pt x="84551" y="174245"/>
                  </a:lnTo>
                  <a:lnTo>
                    <a:pt x="48914" y="159901"/>
                  </a:lnTo>
                  <a:lnTo>
                    <a:pt x="5735" y="127353"/>
                  </a:lnTo>
                  <a:lnTo>
                    <a:pt x="0" y="109600"/>
                  </a:lnTo>
                  <a:lnTo>
                    <a:pt x="5735" y="91811"/>
                  </a:lnTo>
                  <a:lnTo>
                    <a:pt x="48914" y="59211"/>
                  </a:lnTo>
                  <a:lnTo>
                    <a:pt x="84551" y="44851"/>
                  </a:lnTo>
                  <a:lnTo>
                    <a:pt x="128349" y="32083"/>
                  </a:lnTo>
                  <a:lnTo>
                    <a:pt x="179405" y="21132"/>
                  </a:lnTo>
                  <a:lnTo>
                    <a:pt x="236816" y="12224"/>
                  </a:lnTo>
                  <a:lnTo>
                    <a:pt x="299679" y="5582"/>
                  </a:lnTo>
                  <a:lnTo>
                    <a:pt x="367091" y="1433"/>
                  </a:lnTo>
                  <a:lnTo>
                    <a:pt x="438150" y="0"/>
                  </a:lnTo>
                  <a:lnTo>
                    <a:pt x="509208" y="1433"/>
                  </a:lnTo>
                  <a:lnTo>
                    <a:pt x="576620" y="5582"/>
                  </a:lnTo>
                  <a:lnTo>
                    <a:pt x="639483" y="12224"/>
                  </a:lnTo>
                  <a:lnTo>
                    <a:pt x="696894" y="21132"/>
                  </a:lnTo>
                  <a:lnTo>
                    <a:pt x="747950" y="32083"/>
                  </a:lnTo>
                  <a:lnTo>
                    <a:pt x="791748" y="44851"/>
                  </a:lnTo>
                  <a:lnTo>
                    <a:pt x="827385" y="59211"/>
                  </a:lnTo>
                  <a:lnTo>
                    <a:pt x="870564" y="91811"/>
                  </a:lnTo>
                  <a:lnTo>
                    <a:pt x="876300" y="109600"/>
                  </a:lnTo>
                  <a:lnTo>
                    <a:pt x="876300" y="804862"/>
                  </a:lnTo>
                  <a:lnTo>
                    <a:pt x="853958" y="839487"/>
                  </a:lnTo>
                  <a:lnTo>
                    <a:pt x="791748" y="869556"/>
                  </a:lnTo>
                  <a:lnTo>
                    <a:pt x="747950" y="882319"/>
                  </a:lnTo>
                  <a:lnTo>
                    <a:pt x="696894" y="893267"/>
                  </a:lnTo>
                  <a:lnTo>
                    <a:pt x="639483" y="902174"/>
                  </a:lnTo>
                  <a:lnTo>
                    <a:pt x="576620" y="908816"/>
                  </a:lnTo>
                  <a:lnTo>
                    <a:pt x="509208" y="912966"/>
                  </a:lnTo>
                  <a:lnTo>
                    <a:pt x="438150" y="914400"/>
                  </a:lnTo>
                  <a:lnTo>
                    <a:pt x="367091" y="912966"/>
                  </a:lnTo>
                  <a:lnTo>
                    <a:pt x="299679" y="908816"/>
                  </a:lnTo>
                  <a:lnTo>
                    <a:pt x="236816" y="902174"/>
                  </a:lnTo>
                  <a:lnTo>
                    <a:pt x="179405" y="893267"/>
                  </a:lnTo>
                  <a:lnTo>
                    <a:pt x="128349" y="882319"/>
                  </a:lnTo>
                  <a:lnTo>
                    <a:pt x="84551" y="869556"/>
                  </a:lnTo>
                  <a:lnTo>
                    <a:pt x="48914" y="855204"/>
                  </a:lnTo>
                  <a:lnTo>
                    <a:pt x="5735" y="822631"/>
                  </a:lnTo>
                  <a:lnTo>
                    <a:pt x="0" y="804862"/>
                  </a:lnTo>
                  <a:lnTo>
                    <a:pt x="0" y="109600"/>
                  </a:lnTo>
                </a:path>
              </a:pathLst>
            </a:custGeom>
            <a:ln w="19050">
              <a:solidFill>
                <a:srgbClr val="042333"/>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0" name="object 21">
            <a:extLst>
              <a:ext uri="{FF2B5EF4-FFF2-40B4-BE49-F238E27FC236}">
                <a16:creationId xmlns:a16="http://schemas.microsoft.com/office/drawing/2014/main" id="{D266A040-8B53-DEBE-DB61-0124F2F6F949}"/>
              </a:ext>
            </a:extLst>
          </p:cNvPr>
          <p:cNvSpPr txBox="1"/>
          <p:nvPr/>
        </p:nvSpPr>
        <p:spPr>
          <a:xfrm>
            <a:off x="1961610" y="5986804"/>
            <a:ext cx="665480" cy="20891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0" i="0" u="none" strike="noStrike" kern="1200" cap="none" spc="-55" normalizeH="0" baseline="0" noProof="0">
                <a:ln>
                  <a:noFill/>
                </a:ln>
                <a:solidFill>
                  <a:srgbClr val="FFFFFF"/>
                </a:solidFill>
                <a:effectLst/>
                <a:uLnTx/>
                <a:uFillTx/>
                <a:latin typeface="Trebuchet MS"/>
                <a:ea typeface="+mn-ea"/>
                <a:cs typeface="Trebuchet MS"/>
              </a:rPr>
              <a:t>Telemetry</a:t>
            </a:r>
            <a:endParaRPr kumimoji="0" sz="1200" b="0" i="0" u="none" strike="noStrike" kern="1200" cap="none" spc="0" normalizeH="0" baseline="0" noProof="0">
              <a:ln>
                <a:noFill/>
              </a:ln>
              <a:solidFill>
                <a:prstClr val="black"/>
              </a:solidFill>
              <a:effectLst/>
              <a:uLnTx/>
              <a:uFillTx/>
              <a:latin typeface="Trebuchet MS"/>
              <a:ea typeface="+mn-ea"/>
              <a:cs typeface="Trebuchet MS"/>
            </a:endParaRPr>
          </a:p>
        </p:txBody>
      </p:sp>
      <p:grpSp>
        <p:nvGrpSpPr>
          <p:cNvPr id="31" name="object 22">
            <a:extLst>
              <a:ext uri="{FF2B5EF4-FFF2-40B4-BE49-F238E27FC236}">
                <a16:creationId xmlns:a16="http://schemas.microsoft.com/office/drawing/2014/main" id="{12B1D893-0035-B2A3-7415-F5ABD0C09647}"/>
              </a:ext>
            </a:extLst>
          </p:cNvPr>
          <p:cNvGrpSpPr/>
          <p:nvPr/>
        </p:nvGrpSpPr>
        <p:grpSpPr>
          <a:xfrm>
            <a:off x="2945606" y="5593739"/>
            <a:ext cx="876300" cy="914781"/>
            <a:chOff x="3124200" y="5467350"/>
            <a:chExt cx="876300" cy="914781"/>
          </a:xfrm>
        </p:grpSpPr>
        <p:sp>
          <p:nvSpPr>
            <p:cNvPr id="32" name="object 23">
              <a:extLst>
                <a:ext uri="{FF2B5EF4-FFF2-40B4-BE49-F238E27FC236}">
                  <a16:creationId xmlns:a16="http://schemas.microsoft.com/office/drawing/2014/main" id="{EE82FACE-95FB-DB64-B855-FDC81DEA72E8}"/>
                </a:ext>
              </a:extLst>
            </p:cNvPr>
            <p:cNvSpPr/>
            <p:nvPr/>
          </p:nvSpPr>
          <p:spPr>
            <a:xfrm>
              <a:off x="3124200" y="5576951"/>
              <a:ext cx="876300" cy="805180"/>
            </a:xfrm>
            <a:custGeom>
              <a:avLst/>
              <a:gdLst/>
              <a:ahLst/>
              <a:cxnLst/>
              <a:rect l="l" t="t" r="r" b="b"/>
              <a:pathLst>
                <a:path w="876300" h="805179">
                  <a:moveTo>
                    <a:pt x="876300" y="0"/>
                  </a:moveTo>
                  <a:lnTo>
                    <a:pt x="853958" y="34593"/>
                  </a:lnTo>
                  <a:lnTo>
                    <a:pt x="791748" y="64644"/>
                  </a:lnTo>
                  <a:lnTo>
                    <a:pt x="747950" y="77401"/>
                  </a:lnTo>
                  <a:lnTo>
                    <a:pt x="696894" y="88345"/>
                  </a:lnTo>
                  <a:lnTo>
                    <a:pt x="639483" y="97250"/>
                  </a:lnTo>
                  <a:lnTo>
                    <a:pt x="576620" y="103890"/>
                  </a:lnTo>
                  <a:lnTo>
                    <a:pt x="509208" y="108040"/>
                  </a:lnTo>
                  <a:lnTo>
                    <a:pt x="438150" y="109474"/>
                  </a:lnTo>
                  <a:lnTo>
                    <a:pt x="367091" y="108040"/>
                  </a:lnTo>
                  <a:lnTo>
                    <a:pt x="299679" y="103890"/>
                  </a:lnTo>
                  <a:lnTo>
                    <a:pt x="236816" y="97250"/>
                  </a:lnTo>
                  <a:lnTo>
                    <a:pt x="179405" y="88345"/>
                  </a:lnTo>
                  <a:lnTo>
                    <a:pt x="128349" y="77401"/>
                  </a:lnTo>
                  <a:lnTo>
                    <a:pt x="84551" y="64644"/>
                  </a:lnTo>
                  <a:lnTo>
                    <a:pt x="48914" y="50300"/>
                  </a:lnTo>
                  <a:lnTo>
                    <a:pt x="5735" y="17752"/>
                  </a:lnTo>
                  <a:lnTo>
                    <a:pt x="0" y="0"/>
                  </a:lnTo>
                  <a:lnTo>
                    <a:pt x="0" y="695261"/>
                  </a:lnTo>
                  <a:lnTo>
                    <a:pt x="22341" y="729886"/>
                  </a:lnTo>
                  <a:lnTo>
                    <a:pt x="84551" y="759955"/>
                  </a:lnTo>
                  <a:lnTo>
                    <a:pt x="128349" y="772718"/>
                  </a:lnTo>
                  <a:lnTo>
                    <a:pt x="179405" y="783666"/>
                  </a:lnTo>
                  <a:lnTo>
                    <a:pt x="236816" y="792573"/>
                  </a:lnTo>
                  <a:lnTo>
                    <a:pt x="299679" y="799215"/>
                  </a:lnTo>
                  <a:lnTo>
                    <a:pt x="367091" y="803365"/>
                  </a:lnTo>
                  <a:lnTo>
                    <a:pt x="438150" y="804799"/>
                  </a:lnTo>
                  <a:lnTo>
                    <a:pt x="509208" y="803365"/>
                  </a:lnTo>
                  <a:lnTo>
                    <a:pt x="576620" y="799215"/>
                  </a:lnTo>
                  <a:lnTo>
                    <a:pt x="639483" y="792573"/>
                  </a:lnTo>
                  <a:lnTo>
                    <a:pt x="696894" y="783666"/>
                  </a:lnTo>
                  <a:lnTo>
                    <a:pt x="747950" y="772718"/>
                  </a:lnTo>
                  <a:lnTo>
                    <a:pt x="791748" y="759955"/>
                  </a:lnTo>
                  <a:lnTo>
                    <a:pt x="827385" y="745603"/>
                  </a:lnTo>
                  <a:lnTo>
                    <a:pt x="870564" y="713030"/>
                  </a:lnTo>
                  <a:lnTo>
                    <a:pt x="876300" y="695261"/>
                  </a:lnTo>
                  <a:lnTo>
                    <a:pt x="876300" y="0"/>
                  </a:lnTo>
                  <a:close/>
                </a:path>
              </a:pathLst>
            </a:custGeom>
            <a:solidFill>
              <a:srgbClr val="155F8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3" name="object 24">
              <a:extLst>
                <a:ext uri="{FF2B5EF4-FFF2-40B4-BE49-F238E27FC236}">
                  <a16:creationId xmlns:a16="http://schemas.microsoft.com/office/drawing/2014/main" id="{5276F774-F94B-C60F-5B51-8F9EACE45AA6}"/>
                </a:ext>
              </a:extLst>
            </p:cNvPr>
            <p:cNvSpPr/>
            <p:nvPr/>
          </p:nvSpPr>
          <p:spPr>
            <a:xfrm>
              <a:off x="3124200" y="5467350"/>
              <a:ext cx="876300" cy="219075"/>
            </a:xfrm>
            <a:custGeom>
              <a:avLst/>
              <a:gdLst/>
              <a:ahLst/>
              <a:cxnLst/>
              <a:rect l="l" t="t" r="r" b="b"/>
              <a:pathLst>
                <a:path w="876300" h="219075">
                  <a:moveTo>
                    <a:pt x="438150" y="0"/>
                  </a:moveTo>
                  <a:lnTo>
                    <a:pt x="367091" y="1433"/>
                  </a:lnTo>
                  <a:lnTo>
                    <a:pt x="299679" y="5582"/>
                  </a:lnTo>
                  <a:lnTo>
                    <a:pt x="236816" y="12224"/>
                  </a:lnTo>
                  <a:lnTo>
                    <a:pt x="179405" y="21132"/>
                  </a:lnTo>
                  <a:lnTo>
                    <a:pt x="128349" y="32083"/>
                  </a:lnTo>
                  <a:lnTo>
                    <a:pt x="84551" y="44851"/>
                  </a:lnTo>
                  <a:lnTo>
                    <a:pt x="48914" y="59211"/>
                  </a:lnTo>
                  <a:lnTo>
                    <a:pt x="5735" y="91811"/>
                  </a:lnTo>
                  <a:lnTo>
                    <a:pt x="0" y="109600"/>
                  </a:lnTo>
                  <a:lnTo>
                    <a:pt x="5735" y="127353"/>
                  </a:lnTo>
                  <a:lnTo>
                    <a:pt x="48914" y="159901"/>
                  </a:lnTo>
                  <a:lnTo>
                    <a:pt x="84551" y="174245"/>
                  </a:lnTo>
                  <a:lnTo>
                    <a:pt x="128349" y="187002"/>
                  </a:lnTo>
                  <a:lnTo>
                    <a:pt x="179405" y="197946"/>
                  </a:lnTo>
                  <a:lnTo>
                    <a:pt x="236816" y="206851"/>
                  </a:lnTo>
                  <a:lnTo>
                    <a:pt x="299679" y="213491"/>
                  </a:lnTo>
                  <a:lnTo>
                    <a:pt x="367091" y="217641"/>
                  </a:lnTo>
                  <a:lnTo>
                    <a:pt x="438150" y="219075"/>
                  </a:lnTo>
                  <a:lnTo>
                    <a:pt x="509208" y="217641"/>
                  </a:lnTo>
                  <a:lnTo>
                    <a:pt x="576620" y="213491"/>
                  </a:lnTo>
                  <a:lnTo>
                    <a:pt x="639483" y="206851"/>
                  </a:lnTo>
                  <a:lnTo>
                    <a:pt x="696894" y="197946"/>
                  </a:lnTo>
                  <a:lnTo>
                    <a:pt x="747950" y="187002"/>
                  </a:lnTo>
                  <a:lnTo>
                    <a:pt x="791748" y="174245"/>
                  </a:lnTo>
                  <a:lnTo>
                    <a:pt x="827385" y="159901"/>
                  </a:lnTo>
                  <a:lnTo>
                    <a:pt x="870564" y="127353"/>
                  </a:lnTo>
                  <a:lnTo>
                    <a:pt x="876300" y="109600"/>
                  </a:lnTo>
                  <a:lnTo>
                    <a:pt x="870564" y="91811"/>
                  </a:lnTo>
                  <a:lnTo>
                    <a:pt x="827385" y="59211"/>
                  </a:lnTo>
                  <a:lnTo>
                    <a:pt x="791748" y="44851"/>
                  </a:lnTo>
                  <a:lnTo>
                    <a:pt x="747950" y="32083"/>
                  </a:lnTo>
                  <a:lnTo>
                    <a:pt x="696894" y="21132"/>
                  </a:lnTo>
                  <a:lnTo>
                    <a:pt x="639483" y="12224"/>
                  </a:lnTo>
                  <a:lnTo>
                    <a:pt x="576620" y="5582"/>
                  </a:lnTo>
                  <a:lnTo>
                    <a:pt x="509208" y="1433"/>
                  </a:lnTo>
                  <a:lnTo>
                    <a:pt x="438150" y="0"/>
                  </a:lnTo>
                  <a:close/>
                </a:path>
              </a:pathLst>
            </a:custGeom>
            <a:solidFill>
              <a:srgbClr val="739FB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4" name="object 25">
              <a:extLst>
                <a:ext uri="{FF2B5EF4-FFF2-40B4-BE49-F238E27FC236}">
                  <a16:creationId xmlns:a16="http://schemas.microsoft.com/office/drawing/2014/main" id="{BC722930-5F3E-9DC0-29B4-54F3CF14A2AA}"/>
                </a:ext>
              </a:extLst>
            </p:cNvPr>
            <p:cNvSpPr/>
            <p:nvPr/>
          </p:nvSpPr>
          <p:spPr>
            <a:xfrm>
              <a:off x="3124200" y="5467350"/>
              <a:ext cx="876300" cy="914400"/>
            </a:xfrm>
            <a:custGeom>
              <a:avLst/>
              <a:gdLst/>
              <a:ahLst/>
              <a:cxnLst/>
              <a:rect l="l" t="t" r="r" b="b"/>
              <a:pathLst>
                <a:path w="876300" h="914400">
                  <a:moveTo>
                    <a:pt x="876300" y="109600"/>
                  </a:moveTo>
                  <a:lnTo>
                    <a:pt x="853958" y="144194"/>
                  </a:lnTo>
                  <a:lnTo>
                    <a:pt x="791748" y="174245"/>
                  </a:lnTo>
                  <a:lnTo>
                    <a:pt x="747950" y="187002"/>
                  </a:lnTo>
                  <a:lnTo>
                    <a:pt x="696894" y="197946"/>
                  </a:lnTo>
                  <a:lnTo>
                    <a:pt x="639483" y="206851"/>
                  </a:lnTo>
                  <a:lnTo>
                    <a:pt x="576620" y="213491"/>
                  </a:lnTo>
                  <a:lnTo>
                    <a:pt x="509208" y="217641"/>
                  </a:lnTo>
                  <a:lnTo>
                    <a:pt x="438150" y="219075"/>
                  </a:lnTo>
                  <a:lnTo>
                    <a:pt x="367091" y="217641"/>
                  </a:lnTo>
                  <a:lnTo>
                    <a:pt x="299679" y="213491"/>
                  </a:lnTo>
                  <a:lnTo>
                    <a:pt x="236816" y="206851"/>
                  </a:lnTo>
                  <a:lnTo>
                    <a:pt x="179405" y="197946"/>
                  </a:lnTo>
                  <a:lnTo>
                    <a:pt x="128349" y="187002"/>
                  </a:lnTo>
                  <a:lnTo>
                    <a:pt x="84551" y="174245"/>
                  </a:lnTo>
                  <a:lnTo>
                    <a:pt x="48914" y="159901"/>
                  </a:lnTo>
                  <a:lnTo>
                    <a:pt x="5735" y="127353"/>
                  </a:lnTo>
                  <a:lnTo>
                    <a:pt x="0" y="109600"/>
                  </a:lnTo>
                  <a:lnTo>
                    <a:pt x="5735" y="91811"/>
                  </a:lnTo>
                  <a:lnTo>
                    <a:pt x="48914" y="59211"/>
                  </a:lnTo>
                  <a:lnTo>
                    <a:pt x="84551" y="44851"/>
                  </a:lnTo>
                  <a:lnTo>
                    <a:pt x="128349" y="32083"/>
                  </a:lnTo>
                  <a:lnTo>
                    <a:pt x="179405" y="21132"/>
                  </a:lnTo>
                  <a:lnTo>
                    <a:pt x="236816" y="12224"/>
                  </a:lnTo>
                  <a:lnTo>
                    <a:pt x="299679" y="5582"/>
                  </a:lnTo>
                  <a:lnTo>
                    <a:pt x="367091" y="1433"/>
                  </a:lnTo>
                  <a:lnTo>
                    <a:pt x="438150" y="0"/>
                  </a:lnTo>
                  <a:lnTo>
                    <a:pt x="509208" y="1433"/>
                  </a:lnTo>
                  <a:lnTo>
                    <a:pt x="576620" y="5582"/>
                  </a:lnTo>
                  <a:lnTo>
                    <a:pt x="639483" y="12224"/>
                  </a:lnTo>
                  <a:lnTo>
                    <a:pt x="696894" y="21132"/>
                  </a:lnTo>
                  <a:lnTo>
                    <a:pt x="747950" y="32083"/>
                  </a:lnTo>
                  <a:lnTo>
                    <a:pt x="791748" y="44851"/>
                  </a:lnTo>
                  <a:lnTo>
                    <a:pt x="827385" y="59211"/>
                  </a:lnTo>
                  <a:lnTo>
                    <a:pt x="870564" y="91811"/>
                  </a:lnTo>
                  <a:lnTo>
                    <a:pt x="876300" y="109600"/>
                  </a:lnTo>
                  <a:lnTo>
                    <a:pt x="876300" y="804862"/>
                  </a:lnTo>
                  <a:lnTo>
                    <a:pt x="853958" y="839487"/>
                  </a:lnTo>
                  <a:lnTo>
                    <a:pt x="791748" y="869556"/>
                  </a:lnTo>
                  <a:lnTo>
                    <a:pt x="747950" y="882319"/>
                  </a:lnTo>
                  <a:lnTo>
                    <a:pt x="696894" y="893267"/>
                  </a:lnTo>
                  <a:lnTo>
                    <a:pt x="639483" y="902174"/>
                  </a:lnTo>
                  <a:lnTo>
                    <a:pt x="576620" y="908816"/>
                  </a:lnTo>
                  <a:lnTo>
                    <a:pt x="509208" y="912966"/>
                  </a:lnTo>
                  <a:lnTo>
                    <a:pt x="438150" y="914400"/>
                  </a:lnTo>
                  <a:lnTo>
                    <a:pt x="367091" y="912966"/>
                  </a:lnTo>
                  <a:lnTo>
                    <a:pt x="299679" y="908816"/>
                  </a:lnTo>
                  <a:lnTo>
                    <a:pt x="236816" y="902174"/>
                  </a:lnTo>
                  <a:lnTo>
                    <a:pt x="179405" y="893267"/>
                  </a:lnTo>
                  <a:lnTo>
                    <a:pt x="128349" y="882319"/>
                  </a:lnTo>
                  <a:lnTo>
                    <a:pt x="84551" y="869556"/>
                  </a:lnTo>
                  <a:lnTo>
                    <a:pt x="48914" y="855204"/>
                  </a:lnTo>
                  <a:lnTo>
                    <a:pt x="5735" y="822631"/>
                  </a:lnTo>
                  <a:lnTo>
                    <a:pt x="0" y="804862"/>
                  </a:lnTo>
                  <a:lnTo>
                    <a:pt x="0" y="109600"/>
                  </a:lnTo>
                </a:path>
              </a:pathLst>
            </a:custGeom>
            <a:ln w="19050">
              <a:solidFill>
                <a:srgbClr val="042333"/>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5" name="object 26">
            <a:extLst>
              <a:ext uri="{FF2B5EF4-FFF2-40B4-BE49-F238E27FC236}">
                <a16:creationId xmlns:a16="http://schemas.microsoft.com/office/drawing/2014/main" id="{38AB56D2-2599-20D1-E3F4-04B330F4E762}"/>
              </a:ext>
            </a:extLst>
          </p:cNvPr>
          <p:cNvSpPr txBox="1"/>
          <p:nvPr/>
        </p:nvSpPr>
        <p:spPr>
          <a:xfrm>
            <a:off x="3086195" y="5998868"/>
            <a:ext cx="601980" cy="208279"/>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0" i="0" u="none" strike="noStrike" kern="1200" cap="none" spc="-10" normalizeH="0" baseline="0" noProof="0">
                <a:ln>
                  <a:noFill/>
                </a:ln>
                <a:solidFill>
                  <a:srgbClr val="FFFFFF"/>
                </a:solidFill>
                <a:effectLst/>
                <a:uLnTx/>
                <a:uFillTx/>
                <a:latin typeface="Trebuchet MS"/>
                <a:ea typeface="+mn-ea"/>
                <a:cs typeface="Trebuchet MS"/>
              </a:rPr>
              <a:t>Engineer</a:t>
            </a:r>
            <a:endParaRPr kumimoji="0" sz="1200" b="0" i="0" u="none" strike="noStrike" kern="1200" cap="none" spc="0" normalizeH="0" baseline="0" noProof="0">
              <a:ln>
                <a:noFill/>
              </a:ln>
              <a:solidFill>
                <a:prstClr val="black"/>
              </a:solidFill>
              <a:effectLst/>
              <a:uLnTx/>
              <a:uFillTx/>
              <a:latin typeface="Trebuchet MS"/>
              <a:ea typeface="+mn-ea"/>
              <a:cs typeface="Trebuchet MS"/>
            </a:endParaRPr>
          </a:p>
        </p:txBody>
      </p:sp>
      <p:grpSp>
        <p:nvGrpSpPr>
          <p:cNvPr id="36" name="object 27">
            <a:extLst>
              <a:ext uri="{FF2B5EF4-FFF2-40B4-BE49-F238E27FC236}">
                <a16:creationId xmlns:a16="http://schemas.microsoft.com/office/drawing/2014/main" id="{1CA5DD00-552E-4F92-0AAB-BAA71D838405}"/>
              </a:ext>
            </a:extLst>
          </p:cNvPr>
          <p:cNvGrpSpPr/>
          <p:nvPr/>
        </p:nvGrpSpPr>
        <p:grpSpPr>
          <a:xfrm>
            <a:off x="4040981" y="5593739"/>
            <a:ext cx="876300" cy="914781"/>
            <a:chOff x="4219575" y="5467350"/>
            <a:chExt cx="876300" cy="914781"/>
          </a:xfrm>
        </p:grpSpPr>
        <p:sp>
          <p:nvSpPr>
            <p:cNvPr id="37" name="object 28">
              <a:extLst>
                <a:ext uri="{FF2B5EF4-FFF2-40B4-BE49-F238E27FC236}">
                  <a16:creationId xmlns:a16="http://schemas.microsoft.com/office/drawing/2014/main" id="{F3EC960F-4BBB-E4E9-99AA-AFEF67433A42}"/>
                </a:ext>
              </a:extLst>
            </p:cNvPr>
            <p:cNvSpPr/>
            <p:nvPr/>
          </p:nvSpPr>
          <p:spPr>
            <a:xfrm>
              <a:off x="4219575" y="5576951"/>
              <a:ext cx="876300" cy="805180"/>
            </a:xfrm>
            <a:custGeom>
              <a:avLst/>
              <a:gdLst/>
              <a:ahLst/>
              <a:cxnLst/>
              <a:rect l="l" t="t" r="r" b="b"/>
              <a:pathLst>
                <a:path w="876300" h="805179">
                  <a:moveTo>
                    <a:pt x="876300" y="0"/>
                  </a:moveTo>
                  <a:lnTo>
                    <a:pt x="853958" y="34593"/>
                  </a:lnTo>
                  <a:lnTo>
                    <a:pt x="791748" y="64644"/>
                  </a:lnTo>
                  <a:lnTo>
                    <a:pt x="747950" y="77401"/>
                  </a:lnTo>
                  <a:lnTo>
                    <a:pt x="696894" y="88345"/>
                  </a:lnTo>
                  <a:lnTo>
                    <a:pt x="639483" y="97250"/>
                  </a:lnTo>
                  <a:lnTo>
                    <a:pt x="576620" y="103890"/>
                  </a:lnTo>
                  <a:lnTo>
                    <a:pt x="509208" y="108040"/>
                  </a:lnTo>
                  <a:lnTo>
                    <a:pt x="438150" y="109474"/>
                  </a:lnTo>
                  <a:lnTo>
                    <a:pt x="367091" y="108040"/>
                  </a:lnTo>
                  <a:lnTo>
                    <a:pt x="299679" y="103890"/>
                  </a:lnTo>
                  <a:lnTo>
                    <a:pt x="236816" y="97250"/>
                  </a:lnTo>
                  <a:lnTo>
                    <a:pt x="179405" y="88345"/>
                  </a:lnTo>
                  <a:lnTo>
                    <a:pt x="128349" y="77401"/>
                  </a:lnTo>
                  <a:lnTo>
                    <a:pt x="84551" y="64644"/>
                  </a:lnTo>
                  <a:lnTo>
                    <a:pt x="48914" y="50300"/>
                  </a:lnTo>
                  <a:lnTo>
                    <a:pt x="5735" y="17752"/>
                  </a:lnTo>
                  <a:lnTo>
                    <a:pt x="0" y="0"/>
                  </a:lnTo>
                  <a:lnTo>
                    <a:pt x="0" y="695261"/>
                  </a:lnTo>
                  <a:lnTo>
                    <a:pt x="22341" y="729886"/>
                  </a:lnTo>
                  <a:lnTo>
                    <a:pt x="84551" y="759955"/>
                  </a:lnTo>
                  <a:lnTo>
                    <a:pt x="128349" y="772718"/>
                  </a:lnTo>
                  <a:lnTo>
                    <a:pt x="179405" y="783666"/>
                  </a:lnTo>
                  <a:lnTo>
                    <a:pt x="236816" y="792573"/>
                  </a:lnTo>
                  <a:lnTo>
                    <a:pt x="299679" y="799215"/>
                  </a:lnTo>
                  <a:lnTo>
                    <a:pt x="367091" y="803365"/>
                  </a:lnTo>
                  <a:lnTo>
                    <a:pt x="438150" y="804799"/>
                  </a:lnTo>
                  <a:lnTo>
                    <a:pt x="509208" y="803365"/>
                  </a:lnTo>
                  <a:lnTo>
                    <a:pt x="576620" y="799215"/>
                  </a:lnTo>
                  <a:lnTo>
                    <a:pt x="639483" y="792573"/>
                  </a:lnTo>
                  <a:lnTo>
                    <a:pt x="696894" y="783666"/>
                  </a:lnTo>
                  <a:lnTo>
                    <a:pt x="747950" y="772718"/>
                  </a:lnTo>
                  <a:lnTo>
                    <a:pt x="791748" y="759955"/>
                  </a:lnTo>
                  <a:lnTo>
                    <a:pt x="827385" y="745603"/>
                  </a:lnTo>
                  <a:lnTo>
                    <a:pt x="870564" y="713030"/>
                  </a:lnTo>
                  <a:lnTo>
                    <a:pt x="876300" y="695261"/>
                  </a:lnTo>
                  <a:lnTo>
                    <a:pt x="876300" y="0"/>
                  </a:lnTo>
                  <a:close/>
                </a:path>
              </a:pathLst>
            </a:custGeom>
            <a:solidFill>
              <a:srgbClr val="155F8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8" name="object 29">
              <a:extLst>
                <a:ext uri="{FF2B5EF4-FFF2-40B4-BE49-F238E27FC236}">
                  <a16:creationId xmlns:a16="http://schemas.microsoft.com/office/drawing/2014/main" id="{D6774C37-D7B5-2837-8EAA-890DC14A5D09}"/>
                </a:ext>
              </a:extLst>
            </p:cNvPr>
            <p:cNvSpPr/>
            <p:nvPr/>
          </p:nvSpPr>
          <p:spPr>
            <a:xfrm>
              <a:off x="4219575" y="5467350"/>
              <a:ext cx="876300" cy="219075"/>
            </a:xfrm>
            <a:custGeom>
              <a:avLst/>
              <a:gdLst/>
              <a:ahLst/>
              <a:cxnLst/>
              <a:rect l="l" t="t" r="r" b="b"/>
              <a:pathLst>
                <a:path w="876300" h="219075">
                  <a:moveTo>
                    <a:pt x="438150" y="0"/>
                  </a:moveTo>
                  <a:lnTo>
                    <a:pt x="367091" y="1433"/>
                  </a:lnTo>
                  <a:lnTo>
                    <a:pt x="299679" y="5582"/>
                  </a:lnTo>
                  <a:lnTo>
                    <a:pt x="236816" y="12224"/>
                  </a:lnTo>
                  <a:lnTo>
                    <a:pt x="179405" y="21132"/>
                  </a:lnTo>
                  <a:lnTo>
                    <a:pt x="128349" y="32083"/>
                  </a:lnTo>
                  <a:lnTo>
                    <a:pt x="84551" y="44851"/>
                  </a:lnTo>
                  <a:lnTo>
                    <a:pt x="48914" y="59211"/>
                  </a:lnTo>
                  <a:lnTo>
                    <a:pt x="5735" y="91811"/>
                  </a:lnTo>
                  <a:lnTo>
                    <a:pt x="0" y="109600"/>
                  </a:lnTo>
                  <a:lnTo>
                    <a:pt x="5735" y="127353"/>
                  </a:lnTo>
                  <a:lnTo>
                    <a:pt x="48914" y="159901"/>
                  </a:lnTo>
                  <a:lnTo>
                    <a:pt x="84551" y="174245"/>
                  </a:lnTo>
                  <a:lnTo>
                    <a:pt x="128349" y="187002"/>
                  </a:lnTo>
                  <a:lnTo>
                    <a:pt x="179405" y="197946"/>
                  </a:lnTo>
                  <a:lnTo>
                    <a:pt x="236816" y="206851"/>
                  </a:lnTo>
                  <a:lnTo>
                    <a:pt x="299679" y="213491"/>
                  </a:lnTo>
                  <a:lnTo>
                    <a:pt x="367091" y="217641"/>
                  </a:lnTo>
                  <a:lnTo>
                    <a:pt x="438150" y="219075"/>
                  </a:lnTo>
                  <a:lnTo>
                    <a:pt x="509208" y="217641"/>
                  </a:lnTo>
                  <a:lnTo>
                    <a:pt x="576620" y="213491"/>
                  </a:lnTo>
                  <a:lnTo>
                    <a:pt x="639483" y="206851"/>
                  </a:lnTo>
                  <a:lnTo>
                    <a:pt x="696894" y="197946"/>
                  </a:lnTo>
                  <a:lnTo>
                    <a:pt x="747950" y="187002"/>
                  </a:lnTo>
                  <a:lnTo>
                    <a:pt x="791748" y="174245"/>
                  </a:lnTo>
                  <a:lnTo>
                    <a:pt x="827385" y="159901"/>
                  </a:lnTo>
                  <a:lnTo>
                    <a:pt x="870564" y="127353"/>
                  </a:lnTo>
                  <a:lnTo>
                    <a:pt x="876300" y="109600"/>
                  </a:lnTo>
                  <a:lnTo>
                    <a:pt x="870564" y="91811"/>
                  </a:lnTo>
                  <a:lnTo>
                    <a:pt x="827385" y="59211"/>
                  </a:lnTo>
                  <a:lnTo>
                    <a:pt x="791748" y="44851"/>
                  </a:lnTo>
                  <a:lnTo>
                    <a:pt x="747950" y="32083"/>
                  </a:lnTo>
                  <a:lnTo>
                    <a:pt x="696894" y="21132"/>
                  </a:lnTo>
                  <a:lnTo>
                    <a:pt x="639483" y="12224"/>
                  </a:lnTo>
                  <a:lnTo>
                    <a:pt x="576620" y="5582"/>
                  </a:lnTo>
                  <a:lnTo>
                    <a:pt x="509208" y="1433"/>
                  </a:lnTo>
                  <a:lnTo>
                    <a:pt x="438150" y="0"/>
                  </a:lnTo>
                  <a:close/>
                </a:path>
              </a:pathLst>
            </a:custGeom>
            <a:solidFill>
              <a:srgbClr val="739FB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9" name="object 30">
              <a:extLst>
                <a:ext uri="{FF2B5EF4-FFF2-40B4-BE49-F238E27FC236}">
                  <a16:creationId xmlns:a16="http://schemas.microsoft.com/office/drawing/2014/main" id="{8D29ED83-4751-3114-C62B-0DF807FF7AB7}"/>
                </a:ext>
              </a:extLst>
            </p:cNvPr>
            <p:cNvSpPr/>
            <p:nvPr/>
          </p:nvSpPr>
          <p:spPr>
            <a:xfrm>
              <a:off x="4219575" y="5467350"/>
              <a:ext cx="876300" cy="914400"/>
            </a:xfrm>
            <a:custGeom>
              <a:avLst/>
              <a:gdLst/>
              <a:ahLst/>
              <a:cxnLst/>
              <a:rect l="l" t="t" r="r" b="b"/>
              <a:pathLst>
                <a:path w="876300" h="914400">
                  <a:moveTo>
                    <a:pt x="876300" y="109600"/>
                  </a:moveTo>
                  <a:lnTo>
                    <a:pt x="853958" y="144194"/>
                  </a:lnTo>
                  <a:lnTo>
                    <a:pt x="791748" y="174245"/>
                  </a:lnTo>
                  <a:lnTo>
                    <a:pt x="747950" y="187002"/>
                  </a:lnTo>
                  <a:lnTo>
                    <a:pt x="696894" y="197946"/>
                  </a:lnTo>
                  <a:lnTo>
                    <a:pt x="639483" y="206851"/>
                  </a:lnTo>
                  <a:lnTo>
                    <a:pt x="576620" y="213491"/>
                  </a:lnTo>
                  <a:lnTo>
                    <a:pt x="509208" y="217641"/>
                  </a:lnTo>
                  <a:lnTo>
                    <a:pt x="438150" y="219075"/>
                  </a:lnTo>
                  <a:lnTo>
                    <a:pt x="367091" y="217641"/>
                  </a:lnTo>
                  <a:lnTo>
                    <a:pt x="299679" y="213491"/>
                  </a:lnTo>
                  <a:lnTo>
                    <a:pt x="236816" y="206851"/>
                  </a:lnTo>
                  <a:lnTo>
                    <a:pt x="179405" y="197946"/>
                  </a:lnTo>
                  <a:lnTo>
                    <a:pt x="128349" y="187002"/>
                  </a:lnTo>
                  <a:lnTo>
                    <a:pt x="84551" y="174245"/>
                  </a:lnTo>
                  <a:lnTo>
                    <a:pt x="48914" y="159901"/>
                  </a:lnTo>
                  <a:lnTo>
                    <a:pt x="5735" y="127353"/>
                  </a:lnTo>
                  <a:lnTo>
                    <a:pt x="0" y="109600"/>
                  </a:lnTo>
                  <a:lnTo>
                    <a:pt x="5735" y="91811"/>
                  </a:lnTo>
                  <a:lnTo>
                    <a:pt x="48914" y="59211"/>
                  </a:lnTo>
                  <a:lnTo>
                    <a:pt x="84551" y="44851"/>
                  </a:lnTo>
                  <a:lnTo>
                    <a:pt x="128349" y="32083"/>
                  </a:lnTo>
                  <a:lnTo>
                    <a:pt x="179405" y="21132"/>
                  </a:lnTo>
                  <a:lnTo>
                    <a:pt x="236816" y="12224"/>
                  </a:lnTo>
                  <a:lnTo>
                    <a:pt x="299679" y="5582"/>
                  </a:lnTo>
                  <a:lnTo>
                    <a:pt x="367091" y="1433"/>
                  </a:lnTo>
                  <a:lnTo>
                    <a:pt x="438150" y="0"/>
                  </a:lnTo>
                  <a:lnTo>
                    <a:pt x="509208" y="1433"/>
                  </a:lnTo>
                  <a:lnTo>
                    <a:pt x="576620" y="5582"/>
                  </a:lnTo>
                  <a:lnTo>
                    <a:pt x="639483" y="12224"/>
                  </a:lnTo>
                  <a:lnTo>
                    <a:pt x="696894" y="21132"/>
                  </a:lnTo>
                  <a:lnTo>
                    <a:pt x="747950" y="32083"/>
                  </a:lnTo>
                  <a:lnTo>
                    <a:pt x="791748" y="44851"/>
                  </a:lnTo>
                  <a:lnTo>
                    <a:pt x="827385" y="59211"/>
                  </a:lnTo>
                  <a:lnTo>
                    <a:pt x="870564" y="91811"/>
                  </a:lnTo>
                  <a:lnTo>
                    <a:pt x="876300" y="109600"/>
                  </a:lnTo>
                  <a:lnTo>
                    <a:pt x="876300" y="804862"/>
                  </a:lnTo>
                  <a:lnTo>
                    <a:pt x="853958" y="839487"/>
                  </a:lnTo>
                  <a:lnTo>
                    <a:pt x="791748" y="869556"/>
                  </a:lnTo>
                  <a:lnTo>
                    <a:pt x="747950" y="882319"/>
                  </a:lnTo>
                  <a:lnTo>
                    <a:pt x="696894" y="893267"/>
                  </a:lnTo>
                  <a:lnTo>
                    <a:pt x="639483" y="902174"/>
                  </a:lnTo>
                  <a:lnTo>
                    <a:pt x="576620" y="908816"/>
                  </a:lnTo>
                  <a:lnTo>
                    <a:pt x="509208" y="912966"/>
                  </a:lnTo>
                  <a:lnTo>
                    <a:pt x="438150" y="914400"/>
                  </a:lnTo>
                  <a:lnTo>
                    <a:pt x="367091" y="912966"/>
                  </a:lnTo>
                  <a:lnTo>
                    <a:pt x="299679" y="908816"/>
                  </a:lnTo>
                  <a:lnTo>
                    <a:pt x="236816" y="902174"/>
                  </a:lnTo>
                  <a:lnTo>
                    <a:pt x="179405" y="893267"/>
                  </a:lnTo>
                  <a:lnTo>
                    <a:pt x="128349" y="882319"/>
                  </a:lnTo>
                  <a:lnTo>
                    <a:pt x="84551" y="869556"/>
                  </a:lnTo>
                  <a:lnTo>
                    <a:pt x="48914" y="855204"/>
                  </a:lnTo>
                  <a:lnTo>
                    <a:pt x="5735" y="822631"/>
                  </a:lnTo>
                  <a:lnTo>
                    <a:pt x="0" y="804862"/>
                  </a:lnTo>
                  <a:lnTo>
                    <a:pt x="0" y="109600"/>
                  </a:lnTo>
                </a:path>
              </a:pathLst>
            </a:custGeom>
            <a:ln w="19050">
              <a:solidFill>
                <a:srgbClr val="042333"/>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40" name="object 31">
            <a:extLst>
              <a:ext uri="{FF2B5EF4-FFF2-40B4-BE49-F238E27FC236}">
                <a16:creationId xmlns:a16="http://schemas.microsoft.com/office/drawing/2014/main" id="{619CE345-FA1E-888B-C7DB-D5719E568EE6}"/>
              </a:ext>
            </a:extLst>
          </p:cNvPr>
          <p:cNvSpPr txBox="1"/>
          <p:nvPr/>
        </p:nvSpPr>
        <p:spPr>
          <a:xfrm>
            <a:off x="4244561" y="5998868"/>
            <a:ext cx="470534" cy="208279"/>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0" i="0" u="none" strike="noStrike" kern="1200" cap="none" spc="-10" normalizeH="0" baseline="0" noProof="0">
                <a:ln>
                  <a:noFill/>
                </a:ln>
                <a:solidFill>
                  <a:srgbClr val="FFFFFF"/>
                </a:solidFill>
                <a:effectLst/>
                <a:uLnTx/>
                <a:uFillTx/>
                <a:latin typeface="Trebuchet MS"/>
                <a:ea typeface="+mn-ea"/>
                <a:cs typeface="Trebuchet MS"/>
              </a:rPr>
              <a:t>Assets</a:t>
            </a:r>
            <a:endParaRPr kumimoji="0" sz="1200" b="0" i="0" u="none" strike="noStrike" kern="1200" cap="none" spc="0" normalizeH="0" baseline="0" noProof="0">
              <a:ln>
                <a:noFill/>
              </a:ln>
              <a:solidFill>
                <a:prstClr val="black"/>
              </a:solidFill>
              <a:effectLst/>
              <a:uLnTx/>
              <a:uFillTx/>
              <a:latin typeface="Trebuchet MS"/>
              <a:ea typeface="+mn-ea"/>
              <a:cs typeface="Trebuchet MS"/>
            </a:endParaRPr>
          </a:p>
        </p:txBody>
      </p:sp>
      <p:grpSp>
        <p:nvGrpSpPr>
          <p:cNvPr id="41" name="object 32">
            <a:extLst>
              <a:ext uri="{FF2B5EF4-FFF2-40B4-BE49-F238E27FC236}">
                <a16:creationId xmlns:a16="http://schemas.microsoft.com/office/drawing/2014/main" id="{716FD077-2DE4-ADCF-BB2A-B3932251D18D}"/>
              </a:ext>
            </a:extLst>
          </p:cNvPr>
          <p:cNvGrpSpPr/>
          <p:nvPr/>
        </p:nvGrpSpPr>
        <p:grpSpPr>
          <a:xfrm>
            <a:off x="764381" y="5565164"/>
            <a:ext cx="876300" cy="914781"/>
            <a:chOff x="942975" y="5438775"/>
            <a:chExt cx="876300" cy="914781"/>
          </a:xfrm>
        </p:grpSpPr>
        <p:sp>
          <p:nvSpPr>
            <p:cNvPr id="42" name="object 33">
              <a:extLst>
                <a:ext uri="{FF2B5EF4-FFF2-40B4-BE49-F238E27FC236}">
                  <a16:creationId xmlns:a16="http://schemas.microsoft.com/office/drawing/2014/main" id="{049C99E7-5770-A9EC-BEFE-1F68B2EB4D3E}"/>
                </a:ext>
              </a:extLst>
            </p:cNvPr>
            <p:cNvSpPr/>
            <p:nvPr/>
          </p:nvSpPr>
          <p:spPr>
            <a:xfrm>
              <a:off x="942975" y="5548376"/>
              <a:ext cx="876300" cy="805180"/>
            </a:xfrm>
            <a:custGeom>
              <a:avLst/>
              <a:gdLst/>
              <a:ahLst/>
              <a:cxnLst/>
              <a:rect l="l" t="t" r="r" b="b"/>
              <a:pathLst>
                <a:path w="876300" h="805179">
                  <a:moveTo>
                    <a:pt x="876300" y="0"/>
                  </a:moveTo>
                  <a:lnTo>
                    <a:pt x="853958" y="34593"/>
                  </a:lnTo>
                  <a:lnTo>
                    <a:pt x="791748" y="64644"/>
                  </a:lnTo>
                  <a:lnTo>
                    <a:pt x="747950" y="77401"/>
                  </a:lnTo>
                  <a:lnTo>
                    <a:pt x="696894" y="88345"/>
                  </a:lnTo>
                  <a:lnTo>
                    <a:pt x="639483" y="97250"/>
                  </a:lnTo>
                  <a:lnTo>
                    <a:pt x="576620" y="103890"/>
                  </a:lnTo>
                  <a:lnTo>
                    <a:pt x="509208" y="108040"/>
                  </a:lnTo>
                  <a:lnTo>
                    <a:pt x="438150" y="109474"/>
                  </a:lnTo>
                  <a:lnTo>
                    <a:pt x="367079" y="108040"/>
                  </a:lnTo>
                  <a:lnTo>
                    <a:pt x="299659" y="103890"/>
                  </a:lnTo>
                  <a:lnTo>
                    <a:pt x="236793" y="97250"/>
                  </a:lnTo>
                  <a:lnTo>
                    <a:pt x="179383" y="88345"/>
                  </a:lnTo>
                  <a:lnTo>
                    <a:pt x="128330" y="77401"/>
                  </a:lnTo>
                  <a:lnTo>
                    <a:pt x="84536" y="64644"/>
                  </a:lnTo>
                  <a:lnTo>
                    <a:pt x="48905" y="50300"/>
                  </a:lnTo>
                  <a:lnTo>
                    <a:pt x="5734" y="17752"/>
                  </a:lnTo>
                  <a:lnTo>
                    <a:pt x="0" y="0"/>
                  </a:lnTo>
                  <a:lnTo>
                    <a:pt x="0" y="695261"/>
                  </a:lnTo>
                  <a:lnTo>
                    <a:pt x="22336" y="729886"/>
                  </a:lnTo>
                  <a:lnTo>
                    <a:pt x="84536" y="759955"/>
                  </a:lnTo>
                  <a:lnTo>
                    <a:pt x="128330" y="772718"/>
                  </a:lnTo>
                  <a:lnTo>
                    <a:pt x="179383" y="783666"/>
                  </a:lnTo>
                  <a:lnTo>
                    <a:pt x="236793" y="792573"/>
                  </a:lnTo>
                  <a:lnTo>
                    <a:pt x="299659" y="799215"/>
                  </a:lnTo>
                  <a:lnTo>
                    <a:pt x="367079" y="803365"/>
                  </a:lnTo>
                  <a:lnTo>
                    <a:pt x="438150" y="804799"/>
                  </a:lnTo>
                  <a:lnTo>
                    <a:pt x="509208" y="803365"/>
                  </a:lnTo>
                  <a:lnTo>
                    <a:pt x="576620" y="799215"/>
                  </a:lnTo>
                  <a:lnTo>
                    <a:pt x="639483" y="792573"/>
                  </a:lnTo>
                  <a:lnTo>
                    <a:pt x="696894" y="783666"/>
                  </a:lnTo>
                  <a:lnTo>
                    <a:pt x="747950" y="772718"/>
                  </a:lnTo>
                  <a:lnTo>
                    <a:pt x="791748" y="759955"/>
                  </a:lnTo>
                  <a:lnTo>
                    <a:pt x="827385" y="745603"/>
                  </a:lnTo>
                  <a:lnTo>
                    <a:pt x="870564" y="713030"/>
                  </a:lnTo>
                  <a:lnTo>
                    <a:pt x="876300" y="695261"/>
                  </a:lnTo>
                  <a:lnTo>
                    <a:pt x="876300" y="0"/>
                  </a:lnTo>
                  <a:close/>
                </a:path>
              </a:pathLst>
            </a:custGeom>
            <a:solidFill>
              <a:srgbClr val="155F8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3" name="object 34">
              <a:extLst>
                <a:ext uri="{FF2B5EF4-FFF2-40B4-BE49-F238E27FC236}">
                  <a16:creationId xmlns:a16="http://schemas.microsoft.com/office/drawing/2014/main" id="{9B1125E3-6727-BBB2-9BAE-4A610199694C}"/>
                </a:ext>
              </a:extLst>
            </p:cNvPr>
            <p:cNvSpPr/>
            <p:nvPr/>
          </p:nvSpPr>
          <p:spPr>
            <a:xfrm>
              <a:off x="942975" y="5438775"/>
              <a:ext cx="876300" cy="219075"/>
            </a:xfrm>
            <a:custGeom>
              <a:avLst/>
              <a:gdLst/>
              <a:ahLst/>
              <a:cxnLst/>
              <a:rect l="l" t="t" r="r" b="b"/>
              <a:pathLst>
                <a:path w="876300" h="219075">
                  <a:moveTo>
                    <a:pt x="438150" y="0"/>
                  </a:moveTo>
                  <a:lnTo>
                    <a:pt x="367079" y="1433"/>
                  </a:lnTo>
                  <a:lnTo>
                    <a:pt x="299659" y="5582"/>
                  </a:lnTo>
                  <a:lnTo>
                    <a:pt x="236793" y="12224"/>
                  </a:lnTo>
                  <a:lnTo>
                    <a:pt x="179383" y="21132"/>
                  </a:lnTo>
                  <a:lnTo>
                    <a:pt x="128330" y="32083"/>
                  </a:lnTo>
                  <a:lnTo>
                    <a:pt x="84536" y="44851"/>
                  </a:lnTo>
                  <a:lnTo>
                    <a:pt x="48905" y="59211"/>
                  </a:lnTo>
                  <a:lnTo>
                    <a:pt x="5734" y="91811"/>
                  </a:lnTo>
                  <a:lnTo>
                    <a:pt x="0" y="109600"/>
                  </a:lnTo>
                  <a:lnTo>
                    <a:pt x="5734" y="127353"/>
                  </a:lnTo>
                  <a:lnTo>
                    <a:pt x="48905" y="159901"/>
                  </a:lnTo>
                  <a:lnTo>
                    <a:pt x="84536" y="174245"/>
                  </a:lnTo>
                  <a:lnTo>
                    <a:pt x="128330" y="187002"/>
                  </a:lnTo>
                  <a:lnTo>
                    <a:pt x="179383" y="197946"/>
                  </a:lnTo>
                  <a:lnTo>
                    <a:pt x="236793" y="206851"/>
                  </a:lnTo>
                  <a:lnTo>
                    <a:pt x="299659" y="213491"/>
                  </a:lnTo>
                  <a:lnTo>
                    <a:pt x="367079" y="217641"/>
                  </a:lnTo>
                  <a:lnTo>
                    <a:pt x="438150" y="219075"/>
                  </a:lnTo>
                  <a:lnTo>
                    <a:pt x="509208" y="217641"/>
                  </a:lnTo>
                  <a:lnTo>
                    <a:pt x="576620" y="213491"/>
                  </a:lnTo>
                  <a:lnTo>
                    <a:pt x="639483" y="206851"/>
                  </a:lnTo>
                  <a:lnTo>
                    <a:pt x="696894" y="197946"/>
                  </a:lnTo>
                  <a:lnTo>
                    <a:pt x="747950" y="187002"/>
                  </a:lnTo>
                  <a:lnTo>
                    <a:pt x="791748" y="174245"/>
                  </a:lnTo>
                  <a:lnTo>
                    <a:pt x="827385" y="159901"/>
                  </a:lnTo>
                  <a:lnTo>
                    <a:pt x="870564" y="127353"/>
                  </a:lnTo>
                  <a:lnTo>
                    <a:pt x="876300" y="109600"/>
                  </a:lnTo>
                  <a:lnTo>
                    <a:pt x="870564" y="91811"/>
                  </a:lnTo>
                  <a:lnTo>
                    <a:pt x="827385" y="59211"/>
                  </a:lnTo>
                  <a:lnTo>
                    <a:pt x="791748" y="44851"/>
                  </a:lnTo>
                  <a:lnTo>
                    <a:pt x="747950" y="32083"/>
                  </a:lnTo>
                  <a:lnTo>
                    <a:pt x="696894" y="21132"/>
                  </a:lnTo>
                  <a:lnTo>
                    <a:pt x="639483" y="12224"/>
                  </a:lnTo>
                  <a:lnTo>
                    <a:pt x="576620" y="5582"/>
                  </a:lnTo>
                  <a:lnTo>
                    <a:pt x="509208" y="1433"/>
                  </a:lnTo>
                  <a:lnTo>
                    <a:pt x="438150" y="0"/>
                  </a:lnTo>
                  <a:close/>
                </a:path>
              </a:pathLst>
            </a:custGeom>
            <a:solidFill>
              <a:srgbClr val="739FB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4" name="object 35">
              <a:extLst>
                <a:ext uri="{FF2B5EF4-FFF2-40B4-BE49-F238E27FC236}">
                  <a16:creationId xmlns:a16="http://schemas.microsoft.com/office/drawing/2014/main" id="{C30D28E4-B51C-1646-8AE0-7C0F5F57F73B}"/>
                </a:ext>
              </a:extLst>
            </p:cNvPr>
            <p:cNvSpPr/>
            <p:nvPr/>
          </p:nvSpPr>
          <p:spPr>
            <a:xfrm>
              <a:off x="942975" y="5438775"/>
              <a:ext cx="876300" cy="914400"/>
            </a:xfrm>
            <a:custGeom>
              <a:avLst/>
              <a:gdLst/>
              <a:ahLst/>
              <a:cxnLst/>
              <a:rect l="l" t="t" r="r" b="b"/>
              <a:pathLst>
                <a:path w="876300" h="914400">
                  <a:moveTo>
                    <a:pt x="876300" y="109600"/>
                  </a:moveTo>
                  <a:lnTo>
                    <a:pt x="853958" y="144194"/>
                  </a:lnTo>
                  <a:lnTo>
                    <a:pt x="791748" y="174245"/>
                  </a:lnTo>
                  <a:lnTo>
                    <a:pt x="747950" y="187002"/>
                  </a:lnTo>
                  <a:lnTo>
                    <a:pt x="696894" y="197946"/>
                  </a:lnTo>
                  <a:lnTo>
                    <a:pt x="639483" y="206851"/>
                  </a:lnTo>
                  <a:lnTo>
                    <a:pt x="576620" y="213491"/>
                  </a:lnTo>
                  <a:lnTo>
                    <a:pt x="509208" y="217641"/>
                  </a:lnTo>
                  <a:lnTo>
                    <a:pt x="438150" y="219075"/>
                  </a:lnTo>
                  <a:lnTo>
                    <a:pt x="367079" y="217641"/>
                  </a:lnTo>
                  <a:lnTo>
                    <a:pt x="299659" y="213491"/>
                  </a:lnTo>
                  <a:lnTo>
                    <a:pt x="236793" y="206851"/>
                  </a:lnTo>
                  <a:lnTo>
                    <a:pt x="179383" y="197946"/>
                  </a:lnTo>
                  <a:lnTo>
                    <a:pt x="128330" y="187002"/>
                  </a:lnTo>
                  <a:lnTo>
                    <a:pt x="84536" y="174245"/>
                  </a:lnTo>
                  <a:lnTo>
                    <a:pt x="48905" y="159901"/>
                  </a:lnTo>
                  <a:lnTo>
                    <a:pt x="5734" y="127353"/>
                  </a:lnTo>
                  <a:lnTo>
                    <a:pt x="0" y="109600"/>
                  </a:lnTo>
                  <a:lnTo>
                    <a:pt x="5734" y="91811"/>
                  </a:lnTo>
                  <a:lnTo>
                    <a:pt x="48905" y="59211"/>
                  </a:lnTo>
                  <a:lnTo>
                    <a:pt x="84536" y="44851"/>
                  </a:lnTo>
                  <a:lnTo>
                    <a:pt x="128330" y="32083"/>
                  </a:lnTo>
                  <a:lnTo>
                    <a:pt x="179383" y="21132"/>
                  </a:lnTo>
                  <a:lnTo>
                    <a:pt x="236793" y="12224"/>
                  </a:lnTo>
                  <a:lnTo>
                    <a:pt x="299659" y="5582"/>
                  </a:lnTo>
                  <a:lnTo>
                    <a:pt x="367079" y="1433"/>
                  </a:lnTo>
                  <a:lnTo>
                    <a:pt x="438150" y="0"/>
                  </a:lnTo>
                  <a:lnTo>
                    <a:pt x="509208" y="1433"/>
                  </a:lnTo>
                  <a:lnTo>
                    <a:pt x="576620" y="5582"/>
                  </a:lnTo>
                  <a:lnTo>
                    <a:pt x="639483" y="12224"/>
                  </a:lnTo>
                  <a:lnTo>
                    <a:pt x="696894" y="21132"/>
                  </a:lnTo>
                  <a:lnTo>
                    <a:pt x="747950" y="32083"/>
                  </a:lnTo>
                  <a:lnTo>
                    <a:pt x="791748" y="44851"/>
                  </a:lnTo>
                  <a:lnTo>
                    <a:pt x="827385" y="59211"/>
                  </a:lnTo>
                  <a:lnTo>
                    <a:pt x="870564" y="91811"/>
                  </a:lnTo>
                  <a:lnTo>
                    <a:pt x="876300" y="109600"/>
                  </a:lnTo>
                  <a:lnTo>
                    <a:pt x="876300" y="804862"/>
                  </a:lnTo>
                  <a:lnTo>
                    <a:pt x="853958" y="839487"/>
                  </a:lnTo>
                  <a:lnTo>
                    <a:pt x="791748" y="869556"/>
                  </a:lnTo>
                  <a:lnTo>
                    <a:pt x="747950" y="882319"/>
                  </a:lnTo>
                  <a:lnTo>
                    <a:pt x="696894" y="893267"/>
                  </a:lnTo>
                  <a:lnTo>
                    <a:pt x="639483" y="902174"/>
                  </a:lnTo>
                  <a:lnTo>
                    <a:pt x="576620" y="908816"/>
                  </a:lnTo>
                  <a:lnTo>
                    <a:pt x="509208" y="912966"/>
                  </a:lnTo>
                  <a:lnTo>
                    <a:pt x="438150" y="914400"/>
                  </a:lnTo>
                  <a:lnTo>
                    <a:pt x="367079" y="912966"/>
                  </a:lnTo>
                  <a:lnTo>
                    <a:pt x="299659" y="908816"/>
                  </a:lnTo>
                  <a:lnTo>
                    <a:pt x="236793" y="902174"/>
                  </a:lnTo>
                  <a:lnTo>
                    <a:pt x="179383" y="893267"/>
                  </a:lnTo>
                  <a:lnTo>
                    <a:pt x="128330" y="882319"/>
                  </a:lnTo>
                  <a:lnTo>
                    <a:pt x="84536" y="869556"/>
                  </a:lnTo>
                  <a:lnTo>
                    <a:pt x="48905" y="855204"/>
                  </a:lnTo>
                  <a:lnTo>
                    <a:pt x="5734" y="822631"/>
                  </a:lnTo>
                  <a:lnTo>
                    <a:pt x="0" y="804862"/>
                  </a:lnTo>
                  <a:lnTo>
                    <a:pt x="0" y="109600"/>
                  </a:lnTo>
                </a:path>
              </a:pathLst>
            </a:custGeom>
            <a:ln w="19050">
              <a:solidFill>
                <a:srgbClr val="042333"/>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45" name="object 36">
            <a:extLst>
              <a:ext uri="{FF2B5EF4-FFF2-40B4-BE49-F238E27FC236}">
                <a16:creationId xmlns:a16="http://schemas.microsoft.com/office/drawing/2014/main" id="{3C0B9C0D-5370-2E21-E886-486E3F6A4B81}"/>
              </a:ext>
            </a:extLst>
          </p:cNvPr>
          <p:cNvSpPr txBox="1"/>
          <p:nvPr/>
        </p:nvSpPr>
        <p:spPr>
          <a:xfrm>
            <a:off x="996473" y="5975056"/>
            <a:ext cx="417830" cy="208279"/>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0" i="0" u="none" strike="noStrike" kern="1200" cap="none" spc="-10" normalizeH="0" baseline="0" noProof="0">
                <a:ln>
                  <a:noFill/>
                </a:ln>
                <a:solidFill>
                  <a:srgbClr val="FFFFFF"/>
                </a:solidFill>
                <a:effectLst/>
                <a:uLnTx/>
                <a:uFillTx/>
                <a:latin typeface="Trebuchet MS"/>
                <a:ea typeface="+mn-ea"/>
                <a:cs typeface="Trebuchet MS"/>
              </a:rPr>
              <a:t>Client</a:t>
            </a:r>
            <a:endParaRPr kumimoji="0" sz="1200" b="0" i="0" u="none" strike="noStrike" kern="1200" cap="none" spc="0" normalizeH="0" baseline="0" noProof="0">
              <a:ln>
                <a:noFill/>
              </a:ln>
              <a:solidFill>
                <a:prstClr val="black"/>
              </a:solidFill>
              <a:effectLst/>
              <a:uLnTx/>
              <a:uFillTx/>
              <a:latin typeface="Trebuchet MS"/>
              <a:ea typeface="+mn-ea"/>
              <a:cs typeface="Trebuchet MS"/>
            </a:endParaRPr>
          </a:p>
        </p:txBody>
      </p:sp>
      <p:pic>
        <p:nvPicPr>
          <p:cNvPr id="47" name="Picture 46">
            <a:extLst>
              <a:ext uri="{FF2B5EF4-FFF2-40B4-BE49-F238E27FC236}">
                <a16:creationId xmlns:a16="http://schemas.microsoft.com/office/drawing/2014/main" id="{E5361F5A-8777-2F10-7D4E-2CEBB2E87BF1}"/>
              </a:ext>
            </a:extLst>
          </p:cNvPr>
          <p:cNvPicPr>
            <a:picLocks noChangeAspect="1"/>
          </p:cNvPicPr>
          <p:nvPr/>
        </p:nvPicPr>
        <p:blipFill>
          <a:blip r:embed="rId2"/>
          <a:stretch>
            <a:fillRect/>
          </a:stretch>
        </p:blipFill>
        <p:spPr>
          <a:xfrm>
            <a:off x="9367772" y="4292801"/>
            <a:ext cx="2800057" cy="2409971"/>
          </a:xfrm>
          <a:prstGeom prst="rect">
            <a:avLst/>
          </a:prstGeom>
        </p:spPr>
      </p:pic>
      <p:sp>
        <p:nvSpPr>
          <p:cNvPr id="48" name="object 13">
            <a:extLst>
              <a:ext uri="{FF2B5EF4-FFF2-40B4-BE49-F238E27FC236}">
                <a16:creationId xmlns:a16="http://schemas.microsoft.com/office/drawing/2014/main" id="{F3B4E05D-65B0-8F92-2D17-26B6948E300D}"/>
              </a:ext>
            </a:extLst>
          </p:cNvPr>
          <p:cNvSpPr/>
          <p:nvPr/>
        </p:nvSpPr>
        <p:spPr>
          <a:xfrm>
            <a:off x="5510148" y="1711059"/>
            <a:ext cx="24130" cy="4855845"/>
          </a:xfrm>
          <a:custGeom>
            <a:avLst/>
            <a:gdLst/>
            <a:ahLst/>
            <a:cxnLst/>
            <a:rect l="l" t="t" r="r" b="b"/>
            <a:pathLst>
              <a:path w="24129" h="4855845">
                <a:moveTo>
                  <a:pt x="0" y="0"/>
                </a:moveTo>
                <a:lnTo>
                  <a:pt x="23749" y="4855337"/>
                </a:lnTo>
              </a:path>
            </a:pathLst>
          </a:custGeom>
          <a:ln w="19050">
            <a:solidFill>
              <a:srgbClr val="000000"/>
            </a:solidFill>
            <a:prstDash val="sys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 name="Rectangle 3">
            <a:extLst>
              <a:ext uri="{FF2B5EF4-FFF2-40B4-BE49-F238E27FC236}">
                <a16:creationId xmlns:a16="http://schemas.microsoft.com/office/drawing/2014/main" id="{20254295-05A0-588F-222A-6A7DD1D6E990}"/>
              </a:ext>
            </a:extLst>
          </p:cNvPr>
          <p:cNvSpPr/>
          <p:nvPr/>
        </p:nvSpPr>
        <p:spPr>
          <a:xfrm>
            <a:off x="0" y="0"/>
            <a:ext cx="12191969" cy="859536"/>
          </a:xfrm>
          <a:prstGeom prst="rect">
            <a:avLst/>
          </a:prstGeom>
          <a:solidFill>
            <a:srgbClr val="1E27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3B43CCDA-BDD6-FC70-B613-C286DDD65BB3}"/>
              </a:ext>
            </a:extLst>
          </p:cNvPr>
          <p:cNvSpPr txBox="1"/>
          <p:nvPr/>
        </p:nvSpPr>
        <p:spPr>
          <a:xfrm>
            <a:off x="328559" y="342236"/>
            <a:ext cx="11734769" cy="658368"/>
          </a:xfrm>
          <a:prstGeom prst="rect">
            <a:avLst/>
          </a:prstGeom>
          <a:noFill/>
        </p:spPr>
        <p:txBody>
          <a:bodyPr wrap="square" lIns="91440" tIns="45720" rIns="91440" bIns="45720" anchor="t"/>
          <a:lstStyle/>
          <a:p>
            <a:pPr marL="0" marR="0" lvl="0" indent="0" algn="l" defTabSz="914400">
              <a:lnSpc>
                <a:spcPct val="100000"/>
              </a:lnSpc>
              <a:spcBef>
                <a:spcPts val="0"/>
              </a:spcBef>
              <a:spcAft>
                <a:spcPts val="0"/>
              </a:spcAft>
              <a:buNone/>
              <a:tabLst/>
              <a:defRPr/>
            </a:pPr>
            <a:r>
              <a:rPr kumimoji="0" lang="en-US" sz="2800" b="1" i="0" u="none" strike="noStrike" kern="0" cap="none" spc="0" normalizeH="0" baseline="0" noProof="0">
                <a:ln>
                  <a:noFill/>
                </a:ln>
                <a:solidFill>
                  <a:srgbClr val="FFFFFF"/>
                </a:solidFill>
                <a:effectLst/>
                <a:uLnTx/>
                <a:uFillTx/>
                <a:latin typeface="Georgia"/>
                <a:ea typeface="+mn-ea"/>
                <a:cs typeface="+mn-cs"/>
              </a:rPr>
              <a:t>SLA Breach </a:t>
            </a:r>
            <a:r>
              <a:rPr lang="en-US" sz="2800" b="1">
                <a:solidFill>
                  <a:srgbClr val="FFFFFF"/>
                </a:solidFill>
                <a:latin typeface="Georgia"/>
                <a:ea typeface="+mn-ea"/>
                <a:cs typeface="+mn-cs"/>
              </a:rPr>
              <a:t>Model</a:t>
            </a:r>
            <a:endParaRPr lang="en-US">
              <a:ea typeface="+mn-ea"/>
              <a:cs typeface="+mn-cs"/>
            </a:endParaRPr>
          </a:p>
        </p:txBody>
      </p:sp>
      <p:sp>
        <p:nvSpPr>
          <p:cNvPr id="11" name="TextBox 10">
            <a:extLst>
              <a:ext uri="{FF2B5EF4-FFF2-40B4-BE49-F238E27FC236}">
                <a16:creationId xmlns:a16="http://schemas.microsoft.com/office/drawing/2014/main" id="{EF689F4B-0574-D6EC-C32C-0D6385094E54}"/>
              </a:ext>
            </a:extLst>
          </p:cNvPr>
          <p:cNvSpPr txBox="1"/>
          <p:nvPr/>
        </p:nvSpPr>
        <p:spPr>
          <a:xfrm>
            <a:off x="326604" y="35798"/>
            <a:ext cx="9929446" cy="230832"/>
          </a:xfrm>
          <a:prstGeom prst="rect">
            <a:avLst/>
          </a:prstGeom>
          <a:noFill/>
        </p:spPr>
        <p:txBody>
          <a:bodyPr wrap="square" lIns="91440" tIns="45720" rIns="91440" bIns="45720" anchor="t">
            <a:spAutoFit/>
          </a:bodyPr>
          <a:lstStyle/>
          <a:p>
            <a:pPr algn="l" rtl="0">
              <a:defRPr/>
            </a:pPr>
            <a:r>
              <a:rPr kumimoji="0" lang="en-US" sz="900" b="0" i="0" u="none" strike="noStrike" kern="0" cap="none" spc="0" normalizeH="0" baseline="0" noProof="0">
                <a:ln>
                  <a:noFill/>
                </a:ln>
                <a:solidFill>
                  <a:srgbClr val="8AAEC4"/>
                </a:solidFill>
                <a:effectLst/>
                <a:uLnTx/>
                <a:uFillTx/>
                <a:latin typeface="Trebuchet MS"/>
                <a:ea typeface="+mn-ea"/>
                <a:cs typeface="+mn-cs"/>
              </a:rPr>
              <a:t>Proactive SLA</a:t>
            </a:r>
            <a:r>
              <a:rPr lang="en-US" sz="900">
                <a:solidFill>
                  <a:srgbClr val="8AAEC4"/>
                </a:solidFill>
                <a:latin typeface="Trebuchet MS"/>
                <a:ea typeface="+mn-ea"/>
                <a:cs typeface="+mn-cs"/>
              </a:rPr>
              <a:t> Governance - Data Processing and Feature Engineering </a:t>
            </a:r>
            <a:endParaRPr lang="en-US">
              <a:ea typeface="+mn-ea"/>
              <a:cs typeface="+mn-cs"/>
            </a:endParaRPr>
          </a:p>
        </p:txBody>
      </p:sp>
      <p:sp>
        <p:nvSpPr>
          <p:cNvPr id="15" name="TextBox 14">
            <a:extLst>
              <a:ext uri="{FF2B5EF4-FFF2-40B4-BE49-F238E27FC236}">
                <a16:creationId xmlns:a16="http://schemas.microsoft.com/office/drawing/2014/main" id="{00C13C13-1657-CBEC-6646-B54272C59DF4}"/>
              </a:ext>
            </a:extLst>
          </p:cNvPr>
          <p:cNvSpPr txBox="1"/>
          <p:nvPr/>
        </p:nvSpPr>
        <p:spPr>
          <a:xfrm>
            <a:off x="10363169" y="45720"/>
            <a:ext cx="1737360" cy="475488"/>
          </a:xfrm>
          <a:prstGeom prst="rect">
            <a:avLst/>
          </a:prstGeom>
          <a:noFill/>
        </p:spPr>
        <p:txBody>
          <a:bodyPr wrap="square" lIns="91440" tIns="45720" rIns="91440" bIns="4572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0" cap="none" spc="0" normalizeH="0" baseline="0" noProof="0">
                <a:ln>
                  <a:noFill/>
                </a:ln>
                <a:solidFill>
                  <a:schemeClr val="bg1"/>
                </a:solidFill>
                <a:effectLst/>
                <a:uLnTx/>
                <a:uFillTx/>
                <a:latin typeface="Trebuchet MS"/>
                <a:ea typeface="+mn-ea"/>
                <a:cs typeface="+mn-cs"/>
              </a:rPr>
              <a:t>Expected Time Spent: </a:t>
            </a:r>
            <a:r>
              <a:rPr kumimoji="0" sz="900" b="0" i="0" u="none" strike="noStrike" kern="0" cap="none" spc="0" normalizeH="0" baseline="0" noProof="0">
                <a:ln>
                  <a:noFill/>
                </a:ln>
                <a:solidFill>
                  <a:schemeClr val="bg1"/>
                </a:solidFill>
                <a:effectLst/>
                <a:uLnTx/>
                <a:uFillTx/>
                <a:latin typeface="Trebuchet MS"/>
                <a:ea typeface="+mn-ea"/>
                <a:cs typeface="+mn-cs"/>
              </a:rPr>
              <a:t>1 w</a:t>
            </a:r>
            <a:endParaRPr lang="en-US" sz="900" b="0" i="0" u="none" strike="noStrike" kern="0" cap="none" spc="0" normalizeH="0" baseline="0" noProof="0">
              <a:ln>
                <a:noFill/>
              </a:ln>
              <a:solidFill>
                <a:schemeClr val="bg1"/>
              </a:solidFill>
              <a:effectLst/>
              <a:uLnTx/>
              <a:uFillTx/>
              <a:latin typeface="Trebuchet M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0" cap="none" spc="0" normalizeH="0" baseline="0" noProof="0">
                <a:ln>
                  <a:noFill/>
                </a:ln>
                <a:solidFill>
                  <a:schemeClr val="bg1"/>
                </a:solidFill>
                <a:effectLst/>
                <a:uLnTx/>
                <a:uFillTx/>
                <a:latin typeface="Trebuchet MS"/>
                <a:ea typeface="+mn-ea"/>
                <a:cs typeface="+mn-cs"/>
              </a:rPr>
              <a:t>Actual Time Spent: </a:t>
            </a:r>
            <a:r>
              <a:rPr kumimoji="0" sz="900" b="0" i="0" u="none" strike="noStrike" kern="0" cap="none" spc="0" normalizeH="0" baseline="0" noProof="0">
                <a:ln>
                  <a:noFill/>
                </a:ln>
                <a:solidFill>
                  <a:schemeClr val="bg1"/>
                </a:solidFill>
                <a:effectLst/>
                <a:uLnTx/>
                <a:uFillTx/>
                <a:latin typeface="Trebuchet MS"/>
                <a:ea typeface="+mn-ea"/>
                <a:cs typeface="+mn-cs"/>
              </a:rPr>
              <a:t>1 w</a:t>
            </a:r>
            <a:endParaRPr sz="900" b="0" i="0" u="none" strike="noStrike" kern="0" cap="none" spc="0" normalizeH="0" baseline="0" noProof="0">
              <a:ln>
                <a:noFill/>
              </a:ln>
              <a:solidFill>
                <a:schemeClr val="bg1"/>
              </a:solidFill>
              <a:effectLst/>
              <a:uLnTx/>
              <a:uFillTx/>
              <a:latin typeface="Trebuchet MS"/>
              <a:ea typeface="+mn-ea"/>
              <a:cs typeface="+mn-cs"/>
            </a:endParaRPr>
          </a:p>
        </p:txBody>
      </p:sp>
      <p:sp>
        <p:nvSpPr>
          <p:cNvPr id="2" name="TextBox 1">
            <a:extLst>
              <a:ext uri="{FF2B5EF4-FFF2-40B4-BE49-F238E27FC236}">
                <a16:creationId xmlns:a16="http://schemas.microsoft.com/office/drawing/2014/main" id="{84437CA8-1FF0-BE87-55EF-C9FF01843CEC}"/>
              </a:ext>
            </a:extLst>
          </p:cNvPr>
          <p:cNvSpPr txBox="1"/>
          <p:nvPr/>
        </p:nvSpPr>
        <p:spPr>
          <a:xfrm>
            <a:off x="323589" y="2082452"/>
            <a:ext cx="5166986"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r>
              <a:rPr lang="en-IN" sz="1400" b="1" i="0" u="none" strike="noStrike" baseline="0">
                <a:solidFill>
                  <a:srgbClr val="000000"/>
                </a:solidFill>
                <a:latin typeface="Calibri"/>
                <a:ea typeface="Segoe UI"/>
                <a:cs typeface="Segoe UI"/>
              </a:rPr>
              <a:t>Handled missing operational</a:t>
            </a:r>
            <a:r>
              <a:rPr lang="en-IN" sz="1400" b="0" i="0" u="none" strike="noStrike" baseline="0">
                <a:solidFill>
                  <a:srgbClr val="000000"/>
                </a:solidFill>
                <a:latin typeface="Calibri"/>
                <a:ea typeface="Segoe UI"/>
                <a:cs typeface="Segoe UI"/>
              </a:rPr>
              <a:t> signals using median imputation </a:t>
            </a:r>
            <a:r>
              <a:rPr lang="en-IN" sz="1400">
                <a:solidFill>
                  <a:srgbClr val="000000"/>
                </a:solidFill>
                <a:latin typeface="Calibri"/>
                <a:ea typeface="Segoe UI"/>
                <a:cs typeface="Segoe UI"/>
              </a:rPr>
              <a:t>for numeric</a:t>
            </a:r>
            <a:r>
              <a:rPr lang="en-IN" sz="1400" b="0" i="0" u="none" strike="noStrike" baseline="0">
                <a:solidFill>
                  <a:srgbClr val="000000"/>
                </a:solidFill>
                <a:latin typeface="Calibri"/>
                <a:ea typeface="Segoe UI"/>
                <a:cs typeface="Segoe UI"/>
              </a:rPr>
              <a:t> (CPU, memory, disk) and mode for categorical fields,</a:t>
            </a:r>
            <a:r>
              <a:rPr lang="en-IN" sz="1400">
                <a:solidFill>
                  <a:srgbClr val="000000"/>
                </a:solidFill>
                <a:latin typeface="Calibri"/>
                <a:ea typeface="Segoe UI"/>
                <a:cs typeface="Segoe UI"/>
              </a:rPr>
              <a:t> </a:t>
            </a:r>
            <a:r>
              <a:rPr lang="en-IN" sz="1400" b="0" i="0" u="none" strike="noStrike" baseline="0">
                <a:solidFill>
                  <a:srgbClr val="000000"/>
                </a:solidFill>
                <a:latin typeface="Calibri"/>
                <a:ea typeface="Segoe UI"/>
                <a:cs typeface="Segoe UI"/>
              </a:rPr>
              <a:t>preserving consistency across client, asset, engineer, </a:t>
            </a:r>
            <a:r>
              <a:rPr lang="en-IN" sz="1400">
                <a:solidFill>
                  <a:srgbClr val="000000"/>
                </a:solidFill>
                <a:latin typeface="Calibri"/>
                <a:ea typeface="Segoe UI"/>
                <a:cs typeface="Segoe UI"/>
              </a:rPr>
              <a:t>and telemetry</a:t>
            </a:r>
            <a:r>
              <a:rPr lang="en-IN" sz="1400" b="0" i="0" u="none" strike="noStrike" baseline="0">
                <a:solidFill>
                  <a:srgbClr val="000000"/>
                </a:solidFill>
                <a:latin typeface="Calibri"/>
                <a:ea typeface="Segoe UI"/>
                <a:cs typeface="Segoe UI"/>
              </a:rPr>
              <a:t> datasets. Encoded </a:t>
            </a:r>
            <a:r>
              <a:rPr lang="en-IN" sz="1400" b="0" i="0" u="none" strike="noStrike" baseline="0" err="1">
                <a:solidFill>
                  <a:srgbClr val="000000"/>
                </a:solidFill>
                <a:latin typeface="Calibri"/>
                <a:ea typeface="Segoe UI"/>
                <a:cs typeface="Segoe UI"/>
              </a:rPr>
              <a:t>categoricals</a:t>
            </a:r>
            <a:r>
              <a:rPr lang="en-IN" sz="1400" b="0" i="0" u="none" strike="noStrike" baseline="0">
                <a:solidFill>
                  <a:srgbClr val="000000"/>
                </a:solidFill>
                <a:latin typeface="Calibri"/>
                <a:ea typeface="Segoe UI"/>
                <a:cs typeface="Segoe UI"/>
              </a:rPr>
              <a:t> with OHE </a:t>
            </a:r>
            <a:r>
              <a:rPr lang="en-IN" sz="1400">
                <a:solidFill>
                  <a:srgbClr val="000000"/>
                </a:solidFill>
                <a:latin typeface="Calibri"/>
                <a:ea typeface="Segoe UI"/>
                <a:cs typeface="Segoe UI"/>
              </a:rPr>
              <a:t>or </a:t>
            </a:r>
            <a:r>
              <a:rPr lang="en-IN" sz="1400" err="1">
                <a:solidFill>
                  <a:srgbClr val="000000"/>
                </a:solidFill>
                <a:latin typeface="Calibri"/>
                <a:ea typeface="Segoe UI"/>
                <a:cs typeface="Segoe UI"/>
              </a:rPr>
              <a:t>TargetEncoder</a:t>
            </a:r>
            <a:r>
              <a:rPr lang="en-IN" sz="1400" b="0" i="0" u="none" strike="noStrike" baseline="0">
                <a:solidFill>
                  <a:srgbClr val="000000"/>
                </a:solidFill>
                <a:latin typeface="Calibri"/>
                <a:ea typeface="Segoe UI"/>
                <a:cs typeface="Segoe UI"/>
              </a:rPr>
              <a:t> for model compatibility.</a:t>
            </a:r>
            <a:r>
              <a:rPr lang="en-IN" sz="1400" b="0" i="0">
                <a:solidFill>
                  <a:srgbClr val="000000"/>
                </a:solidFill>
                <a:latin typeface="Calibri"/>
                <a:ea typeface="Segoe UI"/>
                <a:cs typeface="Segoe UI"/>
              </a:rPr>
              <a:t>​</a:t>
            </a:r>
            <a:endParaRPr lang="en-US"/>
          </a:p>
        </p:txBody>
      </p:sp>
      <p:sp>
        <p:nvSpPr>
          <p:cNvPr id="7" name="TextBox 6">
            <a:extLst>
              <a:ext uri="{FF2B5EF4-FFF2-40B4-BE49-F238E27FC236}">
                <a16:creationId xmlns:a16="http://schemas.microsoft.com/office/drawing/2014/main" id="{B1BA2C3D-04FF-4BE1-EFCC-F3E9BC6E27AC}"/>
              </a:ext>
            </a:extLst>
          </p:cNvPr>
          <p:cNvSpPr txBox="1"/>
          <p:nvPr/>
        </p:nvSpPr>
        <p:spPr>
          <a:xfrm>
            <a:off x="323589" y="3157602"/>
            <a:ext cx="5156548"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indent="0" algn="l" rtl="0"/>
            <a:r>
              <a:rPr lang="en-US" sz="1400" b="1" kern="1200">
                <a:solidFill>
                  <a:srgbClr val="1E293B"/>
                </a:solidFill>
                <a:latin typeface="Calibri"/>
                <a:ea typeface="+mn-ea"/>
                <a:cs typeface="+mn-cs"/>
              </a:rPr>
              <a:t>Implemented time-based train-test split </a:t>
            </a:r>
            <a:r>
              <a:rPr lang="en-US" sz="1400" kern="1200">
                <a:solidFill>
                  <a:srgbClr val="1E293B"/>
                </a:solidFill>
                <a:latin typeface="Calibri"/>
                <a:ea typeface="+mn-ea"/>
                <a:cs typeface="+mn-cs"/>
              </a:rPr>
              <a:t>(2023–2024 train: 15,002 rows | 2025 test: 7,474 rows) to preserve real-world prediction integrity and avoid temporal leakage.</a:t>
            </a:r>
            <a:endParaRPr lang="en-US" sz="1400" kern="1200">
              <a:solidFill>
                <a:srgbClr val="1E293B"/>
              </a:solidFill>
              <a:latin typeface="Calibri"/>
              <a:ea typeface="Calibri"/>
              <a:cs typeface="Calibri"/>
            </a:endParaRPr>
          </a:p>
        </p:txBody>
      </p:sp>
      <p:sp>
        <p:nvSpPr>
          <p:cNvPr id="9" name="TextBox 8">
            <a:extLst>
              <a:ext uri="{FF2B5EF4-FFF2-40B4-BE49-F238E27FC236}">
                <a16:creationId xmlns:a16="http://schemas.microsoft.com/office/drawing/2014/main" id="{9010FE0C-4545-3CAE-8E61-5722A3948714}"/>
              </a:ext>
            </a:extLst>
          </p:cNvPr>
          <p:cNvSpPr txBox="1"/>
          <p:nvPr/>
        </p:nvSpPr>
        <p:spPr>
          <a:xfrm>
            <a:off x="323589" y="3836097"/>
            <a:ext cx="5156548"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indent="0" algn="l" rtl="0"/>
            <a:r>
              <a:rPr lang="en-US" sz="1400" b="1" kern="1200">
                <a:solidFill>
                  <a:srgbClr val="1E293B"/>
                </a:solidFill>
                <a:latin typeface="Calibri"/>
                <a:ea typeface="+mn-ea"/>
                <a:cs typeface="+mn-cs"/>
              </a:rPr>
              <a:t>Excluded five leakage columns </a:t>
            </a:r>
            <a:r>
              <a:rPr lang="en-US" sz="1400" kern="1200">
                <a:solidFill>
                  <a:srgbClr val="1E293B"/>
                </a:solidFill>
                <a:latin typeface="Calibri"/>
                <a:ea typeface="+mn-ea"/>
                <a:cs typeface="+mn-cs"/>
              </a:rPr>
              <a:t>(</a:t>
            </a:r>
            <a:r>
              <a:rPr lang="en-US" sz="1400" i="1" kern="1200" err="1">
                <a:solidFill>
                  <a:srgbClr val="1E293B"/>
                </a:solidFill>
                <a:latin typeface="Calibri"/>
                <a:ea typeface="+mn-ea"/>
                <a:cs typeface="+mn-cs"/>
              </a:rPr>
              <a:t>resolution_time</a:t>
            </a:r>
            <a:r>
              <a:rPr lang="en-US" sz="1400" i="1" kern="1200">
                <a:solidFill>
                  <a:srgbClr val="1E293B"/>
                </a:solidFill>
                <a:latin typeface="Calibri"/>
                <a:ea typeface="+mn-ea"/>
                <a:cs typeface="+mn-cs"/>
              </a:rPr>
              <a:t>, </a:t>
            </a:r>
            <a:r>
              <a:rPr lang="en-US" sz="1400" i="1" kern="1200" err="1">
                <a:solidFill>
                  <a:srgbClr val="1E293B"/>
                </a:solidFill>
                <a:latin typeface="Calibri"/>
                <a:ea typeface="+mn-ea"/>
                <a:cs typeface="+mn-cs"/>
              </a:rPr>
              <a:t>escalation_flag</a:t>
            </a:r>
            <a:r>
              <a:rPr lang="en-US" sz="1400" i="1" kern="1200">
                <a:solidFill>
                  <a:srgbClr val="1E293B"/>
                </a:solidFill>
                <a:latin typeface="Calibri"/>
                <a:ea typeface="+mn-ea"/>
                <a:cs typeface="+mn-cs"/>
              </a:rPr>
              <a:t>, </a:t>
            </a:r>
            <a:r>
              <a:rPr lang="en-US" sz="1400" i="1" kern="1200" err="1">
                <a:solidFill>
                  <a:srgbClr val="1E293B"/>
                </a:solidFill>
                <a:latin typeface="Calibri"/>
                <a:ea typeface="+mn-ea"/>
                <a:cs typeface="+mn-cs"/>
              </a:rPr>
              <a:t>reopen_flag</a:t>
            </a:r>
            <a:r>
              <a:rPr lang="en-US" sz="1400" i="1" kern="1200">
                <a:solidFill>
                  <a:srgbClr val="1E293B"/>
                </a:solidFill>
                <a:latin typeface="Calibri"/>
                <a:ea typeface="+mn-ea"/>
                <a:cs typeface="+mn-cs"/>
              </a:rPr>
              <a:t>, </a:t>
            </a:r>
            <a:r>
              <a:rPr lang="en-US" sz="1400" i="1" kern="1200" err="1">
                <a:solidFill>
                  <a:srgbClr val="1E293B"/>
                </a:solidFill>
                <a:latin typeface="Calibri"/>
                <a:ea typeface="+mn-ea"/>
                <a:cs typeface="+mn-cs"/>
              </a:rPr>
              <a:t>resolution_notes</a:t>
            </a:r>
            <a:r>
              <a:rPr lang="en-US" sz="1400" i="1" kern="1200">
                <a:solidFill>
                  <a:srgbClr val="1E293B"/>
                </a:solidFill>
                <a:latin typeface="Calibri"/>
                <a:ea typeface="+mn-ea"/>
                <a:cs typeface="+mn-cs"/>
              </a:rPr>
              <a:t>, </a:t>
            </a:r>
            <a:r>
              <a:rPr lang="en-US" sz="1400" i="1" kern="1200" err="1">
                <a:solidFill>
                  <a:srgbClr val="1E293B"/>
                </a:solidFill>
                <a:latin typeface="Calibri"/>
                <a:ea typeface="+mn-ea"/>
                <a:cs typeface="+mn-cs"/>
              </a:rPr>
              <a:t>first_response_time</a:t>
            </a:r>
            <a:r>
              <a:rPr lang="en-US" sz="1400" kern="1200">
                <a:solidFill>
                  <a:srgbClr val="1E293B"/>
                </a:solidFill>
                <a:latin typeface="Calibri"/>
                <a:ea typeface="+mn-ea"/>
                <a:cs typeface="+mn-cs"/>
              </a:rPr>
              <a:t>) to ensure stable model learning across heterogeneous ticket and telemetry patterns.</a:t>
            </a:r>
            <a:endParaRPr lang="en-US" sz="1400" kern="1200">
              <a:solidFill>
                <a:srgbClr val="1E293B"/>
              </a:solidFill>
              <a:latin typeface="Calibri"/>
              <a:ea typeface="Calibri"/>
              <a:cs typeface="Calibri"/>
            </a:endParaRPr>
          </a:p>
        </p:txBody>
      </p:sp>
      <p:sp>
        <p:nvSpPr>
          <p:cNvPr id="12" name="TextBox 11">
            <a:extLst>
              <a:ext uri="{FF2B5EF4-FFF2-40B4-BE49-F238E27FC236}">
                <a16:creationId xmlns:a16="http://schemas.microsoft.com/office/drawing/2014/main" id="{34EC43D9-6848-4825-E072-6A741D6260EC}"/>
              </a:ext>
            </a:extLst>
          </p:cNvPr>
          <p:cNvSpPr txBox="1"/>
          <p:nvPr/>
        </p:nvSpPr>
        <p:spPr>
          <a:xfrm>
            <a:off x="323589" y="4702480"/>
            <a:ext cx="5156548"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indent="0" algn="l" rtl="0"/>
            <a:r>
              <a:rPr lang="en-US" sz="1400" b="1" kern="1200">
                <a:solidFill>
                  <a:srgbClr val="1E293B"/>
                </a:solidFill>
                <a:latin typeface="Calibri"/>
                <a:ea typeface="+mn-ea"/>
                <a:cs typeface="+mn-cs"/>
              </a:rPr>
              <a:t>Validated target distribution and class balance </a:t>
            </a:r>
            <a:r>
              <a:rPr lang="en-US" sz="1400" kern="1200">
                <a:solidFill>
                  <a:srgbClr val="1E293B"/>
                </a:solidFill>
                <a:latin typeface="Calibri"/>
                <a:ea typeface="+mn-ea"/>
                <a:cs typeface="+mn-cs"/>
              </a:rPr>
              <a:t>across train/test datasets: 39.4% and 40.1% breach rate respectively — confirming near-uniform synthetic data.</a:t>
            </a:r>
            <a:endParaRPr lang="en-US" sz="1400" kern="1200">
              <a:solidFill>
                <a:srgbClr val="1E293B"/>
              </a:solidFill>
              <a:latin typeface="Calibri"/>
              <a:ea typeface="Calibri"/>
              <a:cs typeface="Calibri"/>
            </a:endParaRPr>
          </a:p>
        </p:txBody>
      </p:sp>
      <p:sp>
        <p:nvSpPr>
          <p:cNvPr id="16" name="TextBox 15">
            <a:extLst>
              <a:ext uri="{FF2B5EF4-FFF2-40B4-BE49-F238E27FC236}">
                <a16:creationId xmlns:a16="http://schemas.microsoft.com/office/drawing/2014/main" id="{C10B9937-75C0-F309-A35A-B19C707B5134}"/>
              </a:ext>
            </a:extLst>
          </p:cNvPr>
          <p:cNvSpPr txBox="1"/>
          <p:nvPr/>
        </p:nvSpPr>
        <p:spPr>
          <a:xfrm>
            <a:off x="5542767" y="1706671"/>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indent="0" algn="l" rtl="0"/>
            <a:r>
              <a:rPr lang="en-US" b="1" u="sng" kern="1200">
                <a:solidFill>
                  <a:srgbClr val="0F172A"/>
                </a:solidFill>
                <a:latin typeface="Calibri"/>
                <a:ea typeface="+mn-ea"/>
                <a:cs typeface="+mn-cs"/>
              </a:rPr>
              <a:t>Operationally-Aware Feature Engineering</a:t>
            </a:r>
            <a:endParaRPr lang="en-US" b="1" u="sng" kern="1200">
              <a:solidFill>
                <a:srgbClr val="0F172A"/>
              </a:solidFill>
              <a:latin typeface="Calibri"/>
              <a:ea typeface="Calibri"/>
              <a:cs typeface="Calibri"/>
            </a:endParaRPr>
          </a:p>
        </p:txBody>
      </p:sp>
      <p:sp>
        <p:nvSpPr>
          <p:cNvPr id="17" name="TextBox 16">
            <a:extLst>
              <a:ext uri="{FF2B5EF4-FFF2-40B4-BE49-F238E27FC236}">
                <a16:creationId xmlns:a16="http://schemas.microsoft.com/office/drawing/2014/main" id="{6C80A419-AB25-09A9-EDBF-92362B412895}"/>
              </a:ext>
            </a:extLst>
          </p:cNvPr>
          <p:cNvSpPr txBox="1"/>
          <p:nvPr/>
        </p:nvSpPr>
        <p:spPr>
          <a:xfrm>
            <a:off x="5532329" y="2082452"/>
            <a:ext cx="653440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indent="0" algn="l" rtl="0"/>
            <a:r>
              <a:rPr lang="en-US" sz="1400" b="1" kern="1200">
                <a:solidFill>
                  <a:srgbClr val="1E293B"/>
                </a:solidFill>
                <a:latin typeface="Calibri"/>
                <a:ea typeface="+mn-ea"/>
                <a:cs typeface="+mn-cs"/>
              </a:rPr>
              <a:t>Engineered temporal congestion </a:t>
            </a:r>
            <a:r>
              <a:rPr lang="en-US" sz="1400" kern="1200">
                <a:solidFill>
                  <a:srgbClr val="1E293B"/>
                </a:solidFill>
                <a:latin typeface="Calibri"/>
                <a:ea typeface="+mn-ea"/>
                <a:cs typeface="+mn-cs"/>
              </a:rPr>
              <a:t>indicators: after-hours (58.2% of tickets), weekends (28.2%), month-end (9.7%), quarter-end (33.0%), and peak-hours operational patterns.</a:t>
            </a:r>
            <a:endParaRPr lang="en-US" sz="1400" kern="1200">
              <a:solidFill>
                <a:srgbClr val="1E293B"/>
              </a:solidFill>
              <a:latin typeface="Calibri"/>
              <a:ea typeface="Calibri"/>
              <a:cs typeface="Calibri"/>
            </a:endParaRPr>
          </a:p>
        </p:txBody>
      </p:sp>
      <p:sp>
        <p:nvSpPr>
          <p:cNvPr id="49" name="TextBox 48">
            <a:extLst>
              <a:ext uri="{FF2B5EF4-FFF2-40B4-BE49-F238E27FC236}">
                <a16:creationId xmlns:a16="http://schemas.microsoft.com/office/drawing/2014/main" id="{AD97C049-9CDE-A942-6C09-CBEBCAD2F485}"/>
              </a:ext>
            </a:extLst>
          </p:cNvPr>
          <p:cNvSpPr txBox="1"/>
          <p:nvPr/>
        </p:nvSpPr>
        <p:spPr>
          <a:xfrm>
            <a:off x="323589" y="1706671"/>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i="0" u="sng" baseline="0">
                <a:solidFill>
                  <a:srgbClr val="000000"/>
                </a:solidFill>
                <a:latin typeface="Calibri"/>
              </a:rPr>
              <a:t>Data Processing</a:t>
            </a:r>
            <a:r>
              <a:rPr lang="en-US" sz="1800" b="0" i="0" u="none" strike="noStrike" baseline="0">
                <a:solidFill>
                  <a:srgbClr val="000000"/>
                </a:solidFill>
                <a:latin typeface="Calibri"/>
              </a:rPr>
              <a:t>​</a:t>
            </a:r>
            <a:endParaRPr lang="en-US"/>
          </a:p>
        </p:txBody>
      </p:sp>
      <p:sp>
        <p:nvSpPr>
          <p:cNvPr id="50" name="TextBox 49">
            <a:extLst>
              <a:ext uri="{FF2B5EF4-FFF2-40B4-BE49-F238E27FC236}">
                <a16:creationId xmlns:a16="http://schemas.microsoft.com/office/drawing/2014/main" id="{2BABFFC0-8CE6-23B4-0B02-C4EE136F24EA}"/>
              </a:ext>
            </a:extLst>
          </p:cNvPr>
          <p:cNvSpPr txBox="1"/>
          <p:nvPr/>
        </p:nvSpPr>
        <p:spPr>
          <a:xfrm>
            <a:off x="5542768" y="2562617"/>
            <a:ext cx="653440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indent="0" algn="l" rtl="0"/>
            <a:r>
              <a:rPr lang="en-US" sz="1400" b="1" kern="1200">
                <a:solidFill>
                  <a:srgbClr val="1E293B"/>
                </a:solidFill>
                <a:latin typeface="Calibri"/>
                <a:ea typeface="+mn-ea"/>
                <a:cs typeface="+mn-cs"/>
              </a:rPr>
              <a:t>Created SLA stress indicators </a:t>
            </a:r>
            <a:r>
              <a:rPr lang="en-US" sz="1400" kern="1200">
                <a:solidFill>
                  <a:srgbClr val="1E293B"/>
                </a:solidFill>
                <a:latin typeface="Calibri"/>
                <a:ea typeface="+mn-ea"/>
                <a:cs typeface="+mn-cs"/>
              </a:rPr>
              <a:t>using </a:t>
            </a:r>
            <a:r>
              <a:rPr lang="en-US" sz="1400" i="1" kern="1200" err="1">
                <a:solidFill>
                  <a:srgbClr val="1E293B"/>
                </a:solidFill>
                <a:latin typeface="Calibri"/>
                <a:ea typeface="+mn-ea"/>
                <a:cs typeface="+mn-cs"/>
              </a:rPr>
              <a:t>tier_priority_risk</a:t>
            </a:r>
            <a:r>
              <a:rPr lang="en-US" sz="1400" kern="1200">
                <a:solidFill>
                  <a:srgbClr val="1E293B"/>
                </a:solidFill>
                <a:latin typeface="Calibri"/>
                <a:ea typeface="+mn-ea"/>
                <a:cs typeface="+mn-cs"/>
              </a:rPr>
              <a:t>, </a:t>
            </a:r>
            <a:r>
              <a:rPr lang="en-US" sz="1400" i="1" kern="1200" err="1">
                <a:solidFill>
                  <a:srgbClr val="1E293B"/>
                </a:solidFill>
                <a:latin typeface="Calibri"/>
                <a:ea typeface="+mn-ea"/>
                <a:cs typeface="+mn-cs"/>
              </a:rPr>
              <a:t>sla_resolution_tightness</a:t>
            </a:r>
            <a:r>
              <a:rPr lang="en-US" sz="1400" kern="1200">
                <a:solidFill>
                  <a:srgbClr val="1E293B"/>
                </a:solidFill>
                <a:latin typeface="Calibri"/>
                <a:ea typeface="+mn-ea"/>
                <a:cs typeface="+mn-cs"/>
              </a:rPr>
              <a:t>, and </a:t>
            </a:r>
            <a:r>
              <a:rPr lang="en-US" sz="1400" i="1" kern="1200" err="1">
                <a:solidFill>
                  <a:srgbClr val="1E293B"/>
                </a:solidFill>
                <a:latin typeface="Calibri"/>
                <a:ea typeface="+mn-ea"/>
                <a:cs typeface="+mn-cs"/>
              </a:rPr>
              <a:t>log_resolution_target</a:t>
            </a:r>
            <a:r>
              <a:rPr lang="en-US" sz="1400" kern="1200">
                <a:solidFill>
                  <a:srgbClr val="1E293B"/>
                </a:solidFill>
                <a:latin typeface="Calibri"/>
                <a:ea typeface="+mn-ea"/>
                <a:cs typeface="+mn-cs"/>
              </a:rPr>
              <a:t> derived from SLA rules at ticket creation time.</a:t>
            </a:r>
            <a:endParaRPr lang="en-US" sz="1400" kern="1200">
              <a:solidFill>
                <a:srgbClr val="1E293B"/>
              </a:solidFill>
              <a:latin typeface="Calibri"/>
              <a:ea typeface="Calibri"/>
              <a:cs typeface="Calibri"/>
            </a:endParaRPr>
          </a:p>
        </p:txBody>
      </p:sp>
      <p:sp>
        <p:nvSpPr>
          <p:cNvPr id="51" name="TextBox 50">
            <a:extLst>
              <a:ext uri="{FF2B5EF4-FFF2-40B4-BE49-F238E27FC236}">
                <a16:creationId xmlns:a16="http://schemas.microsoft.com/office/drawing/2014/main" id="{97F6974E-305E-B5BB-A68C-856558FD8B38}"/>
              </a:ext>
            </a:extLst>
          </p:cNvPr>
          <p:cNvSpPr txBox="1"/>
          <p:nvPr/>
        </p:nvSpPr>
        <p:spPr>
          <a:xfrm>
            <a:off x="5553206" y="3094971"/>
            <a:ext cx="653441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indent="0" algn="l" rtl="0"/>
            <a:r>
              <a:rPr lang="en-US" sz="1400" b="1" kern="1200">
                <a:solidFill>
                  <a:srgbClr val="1E293B"/>
                </a:solidFill>
                <a:latin typeface="Calibri"/>
                <a:ea typeface="+mn-ea"/>
                <a:cs typeface="+mn-cs"/>
              </a:rPr>
              <a:t>Modelled client operational context </a:t>
            </a:r>
            <a:r>
              <a:rPr lang="en-US" sz="1400" kern="1200">
                <a:solidFill>
                  <a:srgbClr val="1E293B"/>
                </a:solidFill>
                <a:latin typeface="Calibri"/>
                <a:ea typeface="+mn-ea"/>
                <a:cs typeface="+mn-cs"/>
              </a:rPr>
              <a:t>including service tier, industry, region, </a:t>
            </a:r>
            <a:r>
              <a:rPr lang="en-US" sz="1400" i="1" kern="1200" err="1">
                <a:solidFill>
                  <a:srgbClr val="1E293B"/>
                </a:solidFill>
                <a:latin typeface="Calibri"/>
                <a:ea typeface="+mn-ea"/>
                <a:cs typeface="+mn-cs"/>
              </a:rPr>
              <a:t>client_hist_breach_rate</a:t>
            </a:r>
            <a:r>
              <a:rPr lang="en-US" sz="1400" kern="1200">
                <a:solidFill>
                  <a:srgbClr val="1E293B"/>
                </a:solidFill>
                <a:latin typeface="Calibri"/>
                <a:ea typeface="+mn-ea"/>
                <a:cs typeface="+mn-cs"/>
              </a:rPr>
              <a:t> and contract exposure features from Client Master.</a:t>
            </a:r>
          </a:p>
        </p:txBody>
      </p:sp>
      <p:sp>
        <p:nvSpPr>
          <p:cNvPr id="52" name="TextBox 51">
            <a:extLst>
              <a:ext uri="{FF2B5EF4-FFF2-40B4-BE49-F238E27FC236}">
                <a16:creationId xmlns:a16="http://schemas.microsoft.com/office/drawing/2014/main" id="{E0DAF8AA-9EE2-97A1-5462-D41DE27E2FF9}"/>
              </a:ext>
            </a:extLst>
          </p:cNvPr>
          <p:cNvSpPr txBox="1"/>
          <p:nvPr/>
        </p:nvSpPr>
        <p:spPr>
          <a:xfrm>
            <a:off x="5563644" y="3616890"/>
            <a:ext cx="653440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indent="0" algn="l" rtl="0"/>
            <a:r>
              <a:rPr lang="en-US" sz="1400" b="1" kern="1200">
                <a:solidFill>
                  <a:srgbClr val="1E293B"/>
                </a:solidFill>
                <a:latin typeface="Calibri"/>
                <a:ea typeface="+mn-ea"/>
                <a:cs typeface="+mn-cs"/>
              </a:rPr>
              <a:t>Captured engineer workload intelligence </a:t>
            </a:r>
            <a:r>
              <a:rPr lang="en-US" sz="1400" kern="1200">
                <a:solidFill>
                  <a:srgbClr val="1E293B"/>
                </a:solidFill>
                <a:latin typeface="Calibri"/>
                <a:ea typeface="+mn-ea"/>
                <a:cs typeface="+mn-cs"/>
              </a:rPr>
              <a:t>through specialization match (49.9%), </a:t>
            </a:r>
            <a:r>
              <a:rPr lang="en-US" sz="1400" i="1" kern="1200">
                <a:solidFill>
                  <a:srgbClr val="1E293B"/>
                </a:solidFill>
                <a:latin typeface="Calibri"/>
                <a:ea typeface="+mn-ea"/>
                <a:cs typeface="+mn-cs"/>
              </a:rPr>
              <a:t>eng_tickets_7d</a:t>
            </a:r>
            <a:r>
              <a:rPr lang="en-US" sz="1400" kern="1200">
                <a:solidFill>
                  <a:srgbClr val="1E293B"/>
                </a:solidFill>
                <a:latin typeface="Calibri"/>
                <a:ea typeface="+mn-ea"/>
                <a:cs typeface="+mn-cs"/>
              </a:rPr>
              <a:t> (mean 7.2), </a:t>
            </a:r>
            <a:r>
              <a:rPr lang="en-US" sz="1400" i="1" kern="1200">
                <a:solidFill>
                  <a:srgbClr val="1E293B"/>
                </a:solidFill>
                <a:latin typeface="Calibri"/>
                <a:ea typeface="+mn-ea"/>
                <a:cs typeface="+mn-cs"/>
              </a:rPr>
              <a:t>eng_tickets_30d</a:t>
            </a:r>
            <a:r>
              <a:rPr lang="en-US" sz="1400" kern="1200">
                <a:solidFill>
                  <a:srgbClr val="1E293B"/>
                </a:solidFill>
                <a:latin typeface="Calibri"/>
                <a:ea typeface="+mn-ea"/>
                <a:cs typeface="+mn-cs"/>
              </a:rPr>
              <a:t> (mean 30.4), and experience tier features.</a:t>
            </a:r>
          </a:p>
        </p:txBody>
      </p:sp>
      <p:sp>
        <p:nvSpPr>
          <p:cNvPr id="53" name="TextBox 52">
            <a:extLst>
              <a:ext uri="{FF2B5EF4-FFF2-40B4-BE49-F238E27FC236}">
                <a16:creationId xmlns:a16="http://schemas.microsoft.com/office/drawing/2014/main" id="{7F31E3CE-60B5-A9F6-E334-5D6AC70A3033}"/>
              </a:ext>
            </a:extLst>
          </p:cNvPr>
          <p:cNvSpPr txBox="1"/>
          <p:nvPr/>
        </p:nvSpPr>
        <p:spPr>
          <a:xfrm>
            <a:off x="5542767" y="4076177"/>
            <a:ext cx="3841313"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indent="0" algn="l" rtl="0"/>
            <a:r>
              <a:rPr lang="en-US" sz="1400" b="1" kern="1200">
                <a:solidFill>
                  <a:srgbClr val="1E293B"/>
                </a:solidFill>
                <a:latin typeface="Calibri"/>
                <a:ea typeface="+mn-ea"/>
                <a:cs typeface="+mn-cs"/>
              </a:rPr>
              <a:t>Integrated asset criticality, </a:t>
            </a:r>
            <a:r>
              <a:rPr lang="en-US" sz="1400" kern="1200">
                <a:solidFill>
                  <a:srgbClr val="1E293B"/>
                </a:solidFill>
                <a:latin typeface="Calibri"/>
                <a:ea typeface="+mn-ea"/>
                <a:cs typeface="+mn-cs"/>
              </a:rPr>
              <a:t>warranty status, </a:t>
            </a:r>
            <a:r>
              <a:rPr lang="en-US" sz="1400" i="1" kern="1200" err="1">
                <a:solidFill>
                  <a:srgbClr val="1E293B"/>
                </a:solidFill>
                <a:latin typeface="Calibri"/>
                <a:ea typeface="+mn-ea"/>
                <a:cs typeface="+mn-cs"/>
              </a:rPr>
              <a:t>telemetry_stress_score</a:t>
            </a:r>
            <a:r>
              <a:rPr lang="en-US" sz="1400" kern="1200">
                <a:solidFill>
                  <a:srgbClr val="1E293B"/>
                </a:solidFill>
                <a:latin typeface="Calibri"/>
                <a:ea typeface="+mn-ea"/>
                <a:cs typeface="+mn-cs"/>
              </a:rPr>
              <a:t> (mean 61.0), and infrastructure dependency indicators from asset and telemetry data.</a:t>
            </a:r>
          </a:p>
        </p:txBody>
      </p:sp>
      <p:sp>
        <p:nvSpPr>
          <p:cNvPr id="54" name="TextBox 53">
            <a:extLst>
              <a:ext uri="{FF2B5EF4-FFF2-40B4-BE49-F238E27FC236}">
                <a16:creationId xmlns:a16="http://schemas.microsoft.com/office/drawing/2014/main" id="{57D3028C-7901-A118-4C51-2EB7B7D9EBA1}"/>
              </a:ext>
            </a:extLst>
          </p:cNvPr>
          <p:cNvSpPr txBox="1"/>
          <p:nvPr/>
        </p:nvSpPr>
        <p:spPr>
          <a:xfrm>
            <a:off x="5563644" y="4900810"/>
            <a:ext cx="4008327"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indent="0" algn="l" rtl="0"/>
            <a:r>
              <a:rPr lang="en-US" sz="1400" b="1" kern="1200">
                <a:solidFill>
                  <a:srgbClr val="1E293B"/>
                </a:solidFill>
                <a:latin typeface="Calibri"/>
                <a:ea typeface="+mn-ea"/>
                <a:cs typeface="+mn-cs"/>
              </a:rPr>
              <a:t>Aggregated infrastructure stress </a:t>
            </a:r>
            <a:r>
              <a:rPr lang="en-US" sz="1400" kern="1200">
                <a:solidFill>
                  <a:srgbClr val="1E293B"/>
                </a:solidFill>
                <a:latin typeface="Calibri"/>
                <a:ea typeface="+mn-ea"/>
                <a:cs typeface="+mn-cs"/>
              </a:rPr>
              <a:t>signals: CPU, memory, disk, temperature, latency means and error-count contributing to SLA delays across asset-level telemetry.</a:t>
            </a:r>
          </a:p>
        </p:txBody>
      </p:sp>
      <p:sp>
        <p:nvSpPr>
          <p:cNvPr id="55" name="TextBox 54">
            <a:extLst>
              <a:ext uri="{FF2B5EF4-FFF2-40B4-BE49-F238E27FC236}">
                <a16:creationId xmlns:a16="http://schemas.microsoft.com/office/drawing/2014/main" id="{5D831D91-AF81-F41C-6309-3BD4D06CD4F4}"/>
              </a:ext>
            </a:extLst>
          </p:cNvPr>
          <p:cNvSpPr txBox="1"/>
          <p:nvPr/>
        </p:nvSpPr>
        <p:spPr>
          <a:xfrm>
            <a:off x="5542767" y="5767194"/>
            <a:ext cx="4018767" cy="97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indent="0" algn="l" rtl="0"/>
            <a:r>
              <a:rPr lang="en-US" sz="1400" b="1" kern="1200">
                <a:solidFill>
                  <a:srgbClr val="1E293B"/>
                </a:solidFill>
                <a:latin typeface="Calibri"/>
                <a:ea typeface="+mn-ea"/>
                <a:cs typeface="+mn-cs"/>
              </a:rPr>
              <a:t>Implemented leakage-safe historical </a:t>
            </a:r>
            <a:r>
              <a:rPr lang="en-US" sz="1400" kern="1200" err="1">
                <a:solidFill>
                  <a:srgbClr val="1E293B"/>
                </a:solidFill>
                <a:latin typeface="Calibri"/>
                <a:ea typeface="+mn-ea"/>
                <a:cs typeface="+mn-cs"/>
              </a:rPr>
              <a:t>behaviour</a:t>
            </a:r>
            <a:r>
              <a:rPr lang="en-US" sz="1400" kern="1200">
                <a:solidFill>
                  <a:srgbClr val="1E293B"/>
                </a:solidFill>
                <a:latin typeface="Calibri"/>
                <a:ea typeface="+mn-ea"/>
                <a:cs typeface="+mn-cs"/>
              </a:rPr>
              <a:t> features (.shift(1).expanding()) for asset, client, and engineer breach rates to preserve real-world prediction reliability.</a:t>
            </a:r>
          </a:p>
        </p:txBody>
      </p:sp>
    </p:spTree>
    <p:extLst>
      <p:ext uri="{BB962C8B-B14F-4D97-AF65-F5344CB8AC3E}">
        <p14:creationId xmlns:p14="http://schemas.microsoft.com/office/powerpoint/2010/main" val="2679569856"/>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859536"/>
          </a:xfrm>
          <a:prstGeom prst="rect">
            <a:avLst/>
          </a:prstGeom>
          <a:solidFill>
            <a:srgbClr val="1E27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328559" y="236728"/>
            <a:ext cx="11734769" cy="658368"/>
          </a:xfrm>
          <a:prstGeom prst="rect">
            <a:avLst/>
          </a:prstGeom>
          <a:noFill/>
        </p:spPr>
        <p:txBody>
          <a:bodyPr wrap="square" lIns="91440" tIns="45720" rIns="91440" bIns="4572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800" b="1" i="0" u="none" strike="noStrike" kern="0" cap="none" spc="0" normalizeH="0" baseline="0" noProof="0">
                <a:ln>
                  <a:noFill/>
                </a:ln>
                <a:solidFill>
                  <a:srgbClr val="FFFFFF"/>
                </a:solidFill>
                <a:effectLst/>
                <a:uLnTx/>
                <a:uFillTx/>
                <a:latin typeface="Georgia"/>
                <a:ea typeface="+mn-ea"/>
                <a:cs typeface="+mn-cs"/>
              </a:rPr>
              <a:t>SLA Breach – Operational Risk Prediction</a:t>
            </a:r>
            <a:endParaRPr lang="en-US" sz="2800" b="1" i="0" u="none" strike="noStrike" kern="0" cap="none" spc="0" normalizeH="0" baseline="0" noProof="0">
              <a:ln>
                <a:noFill/>
              </a:ln>
              <a:solidFill>
                <a:srgbClr val="FFFFFF"/>
              </a:solidFill>
              <a:effectLst/>
              <a:uLnTx/>
              <a:uFillTx/>
              <a:latin typeface="Georgia"/>
              <a:ea typeface="+mn-ea"/>
              <a:cs typeface="+mn-cs"/>
            </a:endParaRPr>
          </a:p>
        </p:txBody>
      </p:sp>
      <p:sp>
        <p:nvSpPr>
          <p:cNvPr id="4" name="TextBox 3"/>
          <p:cNvSpPr txBox="1"/>
          <p:nvPr/>
        </p:nvSpPr>
        <p:spPr>
          <a:xfrm>
            <a:off x="338327" y="629"/>
            <a:ext cx="8229600" cy="230832"/>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8AAEC4"/>
                </a:solidFill>
                <a:effectLst/>
                <a:uLnTx/>
                <a:uFillTx/>
                <a:latin typeface="Trebuchet MS"/>
                <a:ea typeface="+mn-ea"/>
                <a:cs typeface="+mn-cs"/>
              </a:rPr>
              <a:t>Proactive SLA Governance</a:t>
            </a:r>
            <a:endParaRPr lang="en-US" sz="900" b="0" i="0" u="none" strike="noStrike" kern="0" cap="none" spc="0" normalizeH="0" baseline="0" noProof="0">
              <a:ln>
                <a:noFill/>
              </a:ln>
              <a:solidFill>
                <a:srgbClr val="8AAEC4"/>
              </a:solidFill>
              <a:effectLst/>
              <a:uLnTx/>
              <a:uFillTx/>
              <a:latin typeface="Trebuchet MS"/>
              <a:ea typeface="+mn-ea"/>
              <a:cs typeface="+mn-cs"/>
            </a:endParaRPr>
          </a:p>
        </p:txBody>
      </p:sp>
      <p:sp>
        <p:nvSpPr>
          <p:cNvPr id="5" name="TextBox 4"/>
          <p:cNvSpPr txBox="1"/>
          <p:nvPr/>
        </p:nvSpPr>
        <p:spPr>
          <a:xfrm>
            <a:off x="10363169" y="45720"/>
            <a:ext cx="1737360" cy="475488"/>
          </a:xfrm>
          <a:prstGeom prst="rect">
            <a:avLst/>
          </a:prstGeom>
          <a:noFill/>
        </p:spPr>
        <p:txBody>
          <a:bodyPr wrap="square" lIns="91440" tIns="45720" rIns="91440" bIns="4572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0" cap="none" spc="0" normalizeH="0" baseline="0" noProof="0">
                <a:ln>
                  <a:noFill/>
                </a:ln>
                <a:solidFill>
                  <a:schemeClr val="bg1"/>
                </a:solidFill>
                <a:effectLst/>
                <a:uLnTx/>
                <a:uFillTx/>
                <a:latin typeface="Trebuchet MS"/>
                <a:ea typeface="+mn-ea"/>
                <a:cs typeface="+mn-cs"/>
              </a:rPr>
              <a:t>Expected Time Spent: </a:t>
            </a:r>
            <a:r>
              <a:rPr kumimoji="0" sz="900" b="0" i="0" u="none" strike="noStrike" kern="0" cap="none" spc="0" normalizeH="0" baseline="0" noProof="0">
                <a:ln>
                  <a:noFill/>
                </a:ln>
                <a:solidFill>
                  <a:schemeClr val="bg1"/>
                </a:solidFill>
                <a:effectLst/>
                <a:uLnTx/>
                <a:uFillTx/>
                <a:latin typeface="Trebuchet MS"/>
                <a:ea typeface="+mn-ea"/>
                <a:cs typeface="+mn-cs"/>
              </a:rPr>
              <a:t>1 w</a:t>
            </a:r>
            <a:endParaRPr lang="en-US" sz="900" b="0" i="0" u="none" strike="noStrike" kern="0" cap="none" spc="0" normalizeH="0" baseline="0" noProof="0">
              <a:ln>
                <a:noFill/>
              </a:ln>
              <a:solidFill>
                <a:schemeClr val="bg1"/>
              </a:solidFill>
              <a:effectLst/>
              <a:uLnTx/>
              <a:uFillTx/>
              <a:latin typeface="Trebuchet M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0" cap="none" spc="0" normalizeH="0" baseline="0" noProof="0">
                <a:ln>
                  <a:noFill/>
                </a:ln>
                <a:solidFill>
                  <a:schemeClr val="bg1"/>
                </a:solidFill>
                <a:effectLst/>
                <a:uLnTx/>
                <a:uFillTx/>
                <a:latin typeface="Trebuchet MS"/>
                <a:ea typeface="+mn-ea"/>
                <a:cs typeface="+mn-cs"/>
              </a:rPr>
              <a:t>Actual Time Spent: </a:t>
            </a:r>
            <a:r>
              <a:rPr kumimoji="0" sz="900" b="0" i="0" u="none" strike="noStrike" kern="0" cap="none" spc="0" normalizeH="0" baseline="0" noProof="0">
                <a:ln>
                  <a:noFill/>
                </a:ln>
                <a:solidFill>
                  <a:schemeClr val="bg1"/>
                </a:solidFill>
                <a:effectLst/>
                <a:uLnTx/>
                <a:uFillTx/>
                <a:latin typeface="Trebuchet MS"/>
                <a:ea typeface="+mn-ea"/>
                <a:cs typeface="+mn-cs"/>
              </a:rPr>
              <a:t>1 w</a:t>
            </a:r>
            <a:endParaRPr sz="900" b="0" i="0" u="none" strike="noStrike" kern="0" cap="none" spc="0" normalizeH="0" baseline="0" noProof="0">
              <a:ln>
                <a:noFill/>
              </a:ln>
              <a:solidFill>
                <a:schemeClr val="bg1"/>
              </a:solidFill>
              <a:effectLst/>
              <a:uLnTx/>
              <a:uFillTx/>
              <a:latin typeface="Trebuchet MS"/>
              <a:ea typeface="+mn-ea"/>
              <a:cs typeface="+mn-cs"/>
            </a:endParaRPr>
          </a:p>
        </p:txBody>
      </p:sp>
      <p:sp>
        <p:nvSpPr>
          <p:cNvPr id="6" name="TextBox 5"/>
          <p:cNvSpPr txBox="1"/>
          <p:nvPr/>
        </p:nvSpPr>
        <p:spPr>
          <a:xfrm>
            <a:off x="338328" y="896737"/>
            <a:ext cx="13278306" cy="710808"/>
          </a:xfrm>
          <a:prstGeom prst="rect">
            <a:avLst/>
          </a:prstGeom>
          <a:noFill/>
        </p:spPr>
        <p:txBody>
          <a:bodyPr wrap="square" lIns="91440" tIns="45720" rIns="91440" bIns="45720" anchor="t"/>
          <a:lstStyle/>
          <a:p>
            <a:pPr algn="l" rtl="0">
              <a:defRPr/>
            </a:pPr>
            <a:r>
              <a:rPr kumimoji="0" lang="en-US" b="1" i="0" u="none" strike="noStrike" kern="0" cap="none" spc="0" normalizeH="0" baseline="0" noProof="0">
                <a:ln>
                  <a:noFill/>
                </a:ln>
                <a:solidFill>
                  <a:srgbClr val="1E293A"/>
                </a:solidFill>
                <a:effectLst/>
                <a:uLnTx/>
                <a:uFillTx/>
                <a:latin typeface="Trebuchet MS"/>
                <a:ea typeface="+mn-ea"/>
                <a:cs typeface="+mn-cs"/>
              </a:rPr>
              <a:t>Objective: </a:t>
            </a:r>
            <a:r>
              <a:rPr lang="en-US">
                <a:solidFill>
                  <a:srgbClr val="1E293A"/>
                </a:solidFill>
              </a:rPr>
              <a:t> To find operational SLA risk patterns and enable proactive escalation by predicting potential SLA breaches. </a:t>
            </a:r>
            <a:endParaRPr lang="en-US">
              <a:solidFill>
                <a:srgbClr val="1E293A"/>
              </a:solidFill>
              <a:latin typeface="Trebuchet MS"/>
            </a:endParaRPr>
          </a:p>
          <a:p>
            <a:pPr algn="l">
              <a:defRPr/>
            </a:pPr>
            <a:r>
              <a:rPr lang="en-US" b="1">
                <a:solidFill>
                  <a:srgbClr val="1E293A"/>
                </a:solidFill>
              </a:rPr>
              <a:t>Recall was prioritized as the primary evaluation metric</a:t>
            </a:r>
            <a:r>
              <a:rPr lang="en-US">
                <a:solidFill>
                  <a:srgbClr val="1E293A"/>
                </a:solidFill>
              </a:rPr>
              <a:t> to minimize missed breaches in high-stakes IT operations.</a:t>
            </a:r>
            <a:endParaRPr lang="en-US">
              <a:solidFill>
                <a:srgbClr val="1E293A"/>
              </a:solidFill>
              <a:latin typeface="Trebuchet MS"/>
              <a:ea typeface="+mn-ea"/>
              <a:cs typeface="+mn-cs"/>
            </a:endParaRPr>
          </a:p>
        </p:txBody>
      </p:sp>
      <p:sp>
        <p:nvSpPr>
          <p:cNvPr id="7" name="TextBox 6"/>
          <p:cNvSpPr txBox="1"/>
          <p:nvPr/>
        </p:nvSpPr>
        <p:spPr>
          <a:xfrm>
            <a:off x="328559" y="1682042"/>
            <a:ext cx="5486400" cy="2743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1" i="0" u="none" strike="noStrike" kern="0" cap="none" spc="0" normalizeH="0" baseline="0" noProof="0">
                <a:ln>
                  <a:noFill/>
                </a:ln>
                <a:solidFill>
                  <a:srgbClr val="3A82F6"/>
                </a:solidFill>
                <a:effectLst/>
                <a:uLnTx/>
                <a:uFillTx/>
                <a:latin typeface="Calibri"/>
                <a:ea typeface="+mn-ea"/>
                <a:cs typeface="+mn-cs"/>
              </a:rPr>
              <a:t>Model Selection and Evaluation</a:t>
            </a:r>
          </a:p>
        </p:txBody>
      </p:sp>
      <p:sp>
        <p:nvSpPr>
          <p:cNvPr id="8" name="TextBox 7"/>
          <p:cNvSpPr txBox="1"/>
          <p:nvPr/>
        </p:nvSpPr>
        <p:spPr>
          <a:xfrm>
            <a:off x="348765" y="1944217"/>
            <a:ext cx="5470325" cy="1384995"/>
          </a:xfrm>
          <a:prstGeom prst="rect">
            <a:avLst/>
          </a:prstGeom>
          <a:noFill/>
        </p:spPr>
        <p:txBody>
          <a:bodyPr wrap="square" lIns="91440" tIns="45720" rIns="91440" bIns="45720" anchor="t">
            <a:spAutoFit/>
          </a:bodyPr>
          <a:lstStyle/>
          <a:p>
            <a:pPr algn="l">
              <a:defRPr/>
            </a:pPr>
            <a:r>
              <a:rPr lang="en-US" sz="1200">
                <a:solidFill>
                  <a:srgbClr val="1E293A"/>
                </a:solidFill>
              </a:rPr>
              <a:t>Evaluated Logistic Regression, Random Forest, Gradient Boosting, </a:t>
            </a:r>
            <a:r>
              <a:rPr lang="en-US" sz="1200" err="1">
                <a:solidFill>
                  <a:srgbClr val="1E293A"/>
                </a:solidFill>
              </a:rPr>
              <a:t>XGBoost</a:t>
            </a:r>
            <a:r>
              <a:rPr lang="en-US" sz="1200">
                <a:solidFill>
                  <a:srgbClr val="1E293A"/>
                </a:solidFill>
              </a:rPr>
              <a:t>, and </a:t>
            </a:r>
            <a:r>
              <a:rPr lang="en-US" sz="1200" err="1">
                <a:solidFill>
                  <a:srgbClr val="1E293A"/>
                </a:solidFill>
              </a:rPr>
              <a:t>CatBoost</a:t>
            </a:r>
            <a:r>
              <a:rPr lang="en-US" sz="1200">
                <a:solidFill>
                  <a:srgbClr val="1E293A"/>
                </a:solidFill>
              </a:rPr>
              <a:t> models for operational SLA risk prediction.</a:t>
            </a:r>
            <a:endParaRPr lang="en-US">
              <a:solidFill>
                <a:srgbClr val="000000"/>
              </a:solidFill>
            </a:endParaRPr>
          </a:p>
          <a:p>
            <a:pPr algn="l">
              <a:defRPr/>
            </a:pPr>
            <a:r>
              <a:rPr lang="en-US" sz="1200">
                <a:solidFill>
                  <a:srgbClr val="1E293A"/>
                </a:solidFill>
              </a:rPr>
              <a:t>Tree-based ensemble models delivered the most stable performance. </a:t>
            </a:r>
            <a:r>
              <a:rPr lang="en-US" sz="1200" b="1" err="1">
                <a:solidFill>
                  <a:srgbClr val="1E293A"/>
                </a:solidFill>
              </a:rPr>
              <a:t>CatBoost</a:t>
            </a:r>
            <a:r>
              <a:rPr lang="en-US" sz="1200" b="1">
                <a:solidFill>
                  <a:srgbClr val="1E293A"/>
                </a:solidFill>
              </a:rPr>
              <a:t> achieved the highest Recall for the breach class (94.7%)</a:t>
            </a:r>
            <a:r>
              <a:rPr lang="en-US" sz="1200">
                <a:solidFill>
                  <a:srgbClr val="1E293A"/>
                </a:solidFill>
              </a:rPr>
              <a:t> at </a:t>
            </a:r>
            <a:r>
              <a:rPr lang="en-US" sz="1200" err="1">
                <a:solidFill>
                  <a:srgbClr val="1E293A"/>
                </a:solidFill>
              </a:rPr>
              <a:t>optimised</a:t>
            </a:r>
            <a:r>
              <a:rPr lang="en-US" sz="1200">
                <a:solidFill>
                  <a:srgbClr val="1E293A"/>
                </a:solidFill>
              </a:rPr>
              <a:t> threshold 0.4922 — with Precision 40.3%. </a:t>
            </a:r>
            <a:r>
              <a:rPr lang="en-US" sz="1200" b="1" i="1">
                <a:solidFill>
                  <a:srgbClr val="1E293A"/>
                </a:solidFill>
                <a:highlight>
                  <a:srgbClr val="FFFF00"/>
                </a:highlight>
              </a:rPr>
              <a:t>[Note: AUC = 0.5 is expected on synthetic data because breach rates are uniform across limiting discriminative signals.]</a:t>
            </a:r>
            <a:endParaRPr lang="en-US" sz="1200" b="1" i="1">
              <a:highlight>
                <a:srgbClr val="FFFF00"/>
              </a:highlight>
            </a:endParaRPr>
          </a:p>
        </p:txBody>
      </p:sp>
      <p:sp>
        <p:nvSpPr>
          <p:cNvPr id="9" name="TextBox 8"/>
          <p:cNvSpPr txBox="1"/>
          <p:nvPr/>
        </p:nvSpPr>
        <p:spPr>
          <a:xfrm>
            <a:off x="338328" y="3211342"/>
            <a:ext cx="5486400" cy="2743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1" i="0" u="none" strike="noStrike" kern="0" cap="none" spc="0" normalizeH="0" baseline="0" noProof="0">
                <a:ln>
                  <a:noFill/>
                </a:ln>
                <a:solidFill>
                  <a:srgbClr val="3A82F6"/>
                </a:solidFill>
                <a:effectLst/>
                <a:uLnTx/>
                <a:uFillTx/>
                <a:latin typeface="Calibri"/>
                <a:ea typeface="+mn-ea"/>
                <a:cs typeface="+mn-cs"/>
              </a:rPr>
              <a:t>Key Predictive Features</a:t>
            </a:r>
          </a:p>
        </p:txBody>
      </p:sp>
      <p:sp>
        <p:nvSpPr>
          <p:cNvPr id="10" name="TextBox 9"/>
          <p:cNvSpPr txBox="1"/>
          <p:nvPr/>
        </p:nvSpPr>
        <p:spPr>
          <a:xfrm>
            <a:off x="330982" y="3493587"/>
            <a:ext cx="5769707" cy="646331"/>
          </a:xfrm>
          <a:prstGeom prst="rect">
            <a:avLst/>
          </a:prstGeom>
          <a:noFill/>
        </p:spPr>
        <p:txBody>
          <a:bodyPr wrap="square" lIns="91440" tIns="45720" rIns="91440" bIns="45720" anchor="t">
            <a:spAutoFit/>
          </a:bodyPr>
          <a:lstStyle/>
          <a:p>
            <a:pPr algn="l">
              <a:defRPr/>
            </a:pPr>
            <a:r>
              <a:rPr lang="en-US" sz="1200">
                <a:solidFill>
                  <a:srgbClr val="1E293A"/>
                </a:solidFill>
              </a:rPr>
              <a:t>Response margin, SLA </a:t>
            </a:r>
            <a:r>
              <a:rPr lang="en-US" sz="1200" err="1">
                <a:solidFill>
                  <a:srgbClr val="1E293A"/>
                </a:solidFill>
              </a:rPr>
              <a:t>utilisation</a:t>
            </a:r>
            <a:r>
              <a:rPr lang="en-US" sz="1200">
                <a:solidFill>
                  <a:srgbClr val="1E293A"/>
                </a:solidFill>
              </a:rPr>
              <a:t> pressure, and warranty exposure appeared as the strongest operational SLA risk indicators </a:t>
            </a:r>
            <a:r>
              <a:rPr lang="en-US" sz="1200" i="1">
                <a:solidFill>
                  <a:srgbClr val="1E293A"/>
                </a:solidFill>
              </a:rPr>
              <a:t>(response margin, created hour, warranty remaining days, response utilization pct, eng breach rate)</a:t>
            </a:r>
            <a:r>
              <a:rPr lang="en-US" sz="1200">
                <a:solidFill>
                  <a:srgbClr val="1E293A"/>
                </a:solidFill>
              </a:rPr>
              <a:t>.</a:t>
            </a:r>
            <a:endParaRPr lang="en-US"/>
          </a:p>
        </p:txBody>
      </p:sp>
      <p:sp>
        <p:nvSpPr>
          <p:cNvPr id="11" name="TextBox 10"/>
          <p:cNvSpPr txBox="1"/>
          <p:nvPr/>
        </p:nvSpPr>
        <p:spPr>
          <a:xfrm>
            <a:off x="338328" y="4288693"/>
            <a:ext cx="5486400" cy="2743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1" i="0" u="none" strike="noStrike" kern="0" cap="none" spc="0" normalizeH="0" baseline="0" noProof="0">
                <a:ln>
                  <a:noFill/>
                </a:ln>
                <a:solidFill>
                  <a:srgbClr val="DC2525"/>
                </a:solidFill>
                <a:effectLst/>
                <a:uLnTx/>
                <a:uFillTx/>
                <a:latin typeface="Calibri"/>
                <a:ea typeface="+mn-ea"/>
                <a:cs typeface="+mn-cs"/>
              </a:rPr>
              <a:t>Why Recall? — Metric Selection Rationale</a:t>
            </a:r>
          </a:p>
        </p:txBody>
      </p:sp>
      <p:sp>
        <p:nvSpPr>
          <p:cNvPr id="12" name="TextBox 11"/>
          <p:cNvSpPr txBox="1"/>
          <p:nvPr/>
        </p:nvSpPr>
        <p:spPr>
          <a:xfrm>
            <a:off x="328559" y="4553243"/>
            <a:ext cx="5623169" cy="1015663"/>
          </a:xfrm>
          <a:prstGeom prst="rect">
            <a:avLst/>
          </a:prstGeom>
          <a:noFill/>
        </p:spPr>
        <p:txBody>
          <a:bodyPr wrap="square" lIns="91440" tIns="45720" rIns="91440" bIns="45720" anchor="t">
            <a:spAutoFit/>
          </a:bodyPr>
          <a:lstStyle/>
          <a:p>
            <a:pPr marL="342900" indent="-342900" algn="l">
              <a:buChar char="•"/>
              <a:defRPr/>
            </a:pPr>
            <a:r>
              <a:rPr kumimoji="0" lang="en-US" sz="1200" b="0" i="0" u="none" strike="noStrike" kern="0" cap="none" spc="0" normalizeH="0" baseline="0" noProof="0">
                <a:ln>
                  <a:noFill/>
                </a:ln>
                <a:solidFill>
                  <a:srgbClr val="1E293A"/>
                </a:solidFill>
                <a:effectLst/>
                <a:uLnTx/>
                <a:uFillTx/>
              </a:rPr>
              <a:t>A missed SLA breach (False Negative) has higher business </a:t>
            </a:r>
            <a:r>
              <a:rPr lang="en-US" sz="1200">
                <a:solidFill>
                  <a:srgbClr val="1E293A"/>
                </a:solidFill>
              </a:rPr>
              <a:t>impact </a:t>
            </a:r>
            <a:r>
              <a:rPr kumimoji="0" lang="en-US" sz="1200" b="0" i="0" u="none" strike="noStrike" kern="0" cap="none" spc="0" normalizeH="0" baseline="0" noProof="0">
                <a:ln>
                  <a:noFill/>
                </a:ln>
                <a:solidFill>
                  <a:srgbClr val="1E293A"/>
                </a:solidFill>
                <a:effectLst/>
                <a:uLnTx/>
                <a:uFillTx/>
              </a:rPr>
              <a:t>than a false alarm </a:t>
            </a:r>
            <a:endParaRPr lang="en-US"/>
          </a:p>
          <a:p>
            <a:pPr marL="342900" indent="-342900" algn="l">
              <a:buChar char="•"/>
              <a:defRPr/>
            </a:pPr>
            <a:r>
              <a:rPr kumimoji="0" lang="en-US" sz="1200" b="0" i="0" u="none" strike="noStrike" kern="0" cap="none" spc="0" normalizeH="0" baseline="0" noProof="0">
                <a:ln>
                  <a:noFill/>
                </a:ln>
                <a:solidFill>
                  <a:srgbClr val="1E293A"/>
                </a:solidFill>
                <a:effectLst/>
                <a:uLnTx/>
                <a:uFillTx/>
              </a:rPr>
              <a:t>ROC-AUC </a:t>
            </a:r>
            <a:r>
              <a:rPr lang="en-US" sz="1200">
                <a:solidFill>
                  <a:srgbClr val="1E293A"/>
                </a:solidFill>
              </a:rPr>
              <a:t>differences </a:t>
            </a:r>
            <a:r>
              <a:rPr kumimoji="0" lang="en-US" sz="1200" b="0" i="0" u="none" strike="noStrike" kern="0" cap="none" spc="0" normalizeH="0" baseline="0" noProof="0">
                <a:ln>
                  <a:noFill/>
                </a:ln>
                <a:solidFill>
                  <a:srgbClr val="1E293A"/>
                </a:solidFill>
                <a:effectLst/>
                <a:uLnTx/>
                <a:uFillTx/>
              </a:rPr>
              <a:t>across models</a:t>
            </a:r>
            <a:r>
              <a:rPr lang="en-US" sz="1200">
                <a:solidFill>
                  <a:srgbClr val="1E293A"/>
                </a:solidFill>
              </a:rPr>
              <a:t> were limited</a:t>
            </a:r>
            <a:r>
              <a:rPr kumimoji="0" lang="en-US" sz="1200" b="0" i="0" u="none" strike="noStrike" kern="0" cap="none" spc="0" normalizeH="0" baseline="0" noProof="0">
                <a:ln>
                  <a:noFill/>
                </a:ln>
                <a:solidFill>
                  <a:srgbClr val="1E293A"/>
                </a:solidFill>
                <a:effectLst/>
                <a:uLnTx/>
                <a:uFillTx/>
              </a:rPr>
              <a:t>, making Recall the more actionable operational discriminator</a:t>
            </a:r>
            <a:r>
              <a:rPr lang="en-US" sz="1200">
                <a:solidFill>
                  <a:srgbClr val="1E293A"/>
                </a:solidFill>
              </a:rPr>
              <a:t> </a:t>
            </a:r>
            <a:endParaRPr>
              <a:ea typeface="+mn-ea"/>
              <a:cs typeface="+mn-cs"/>
            </a:endParaRPr>
          </a:p>
          <a:p>
            <a:pPr marL="342900" indent="-342900" algn="l">
              <a:buChar char="•"/>
              <a:defRPr/>
            </a:pPr>
            <a:r>
              <a:rPr lang="en-US" sz="1200">
                <a:solidFill>
                  <a:srgbClr val="1E293A"/>
                </a:solidFill>
              </a:rPr>
              <a:t>Recall-optimized</a:t>
            </a:r>
            <a:r>
              <a:rPr kumimoji="0" lang="en-US" sz="1200" b="0" i="0" u="none" strike="noStrike" kern="0" cap="none" spc="0" normalizeH="0" baseline="0" noProof="0">
                <a:ln>
                  <a:noFill/>
                </a:ln>
                <a:solidFill>
                  <a:srgbClr val="1E293A"/>
                </a:solidFill>
                <a:effectLst/>
                <a:uLnTx/>
                <a:uFillTx/>
              </a:rPr>
              <a:t> threshold tuning selected on </a:t>
            </a:r>
            <a:r>
              <a:rPr kumimoji="0" lang="en-US" sz="1200" b="0" i="0" u="none" strike="noStrike" kern="0" cap="none" spc="0" normalizeH="0" baseline="0" noProof="0" err="1">
                <a:ln>
                  <a:noFill/>
                </a:ln>
                <a:solidFill>
                  <a:srgbClr val="1E293A"/>
                </a:solidFill>
                <a:effectLst/>
                <a:uLnTx/>
                <a:uFillTx/>
              </a:rPr>
              <a:t>CatBoost</a:t>
            </a:r>
            <a:endParaRPr lang="en-US" err="1"/>
          </a:p>
        </p:txBody>
      </p:sp>
      <p:sp>
        <p:nvSpPr>
          <p:cNvPr id="13" name="TextBox 12"/>
          <p:cNvSpPr txBox="1"/>
          <p:nvPr/>
        </p:nvSpPr>
        <p:spPr>
          <a:xfrm>
            <a:off x="338328" y="5560646"/>
            <a:ext cx="5486400" cy="2743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1" i="0" u="none" strike="noStrike" kern="0" cap="none" spc="0" normalizeH="0" baseline="0" noProof="0">
                <a:ln>
                  <a:noFill/>
                </a:ln>
                <a:solidFill>
                  <a:srgbClr val="049569"/>
                </a:solidFill>
                <a:effectLst/>
                <a:uLnTx/>
                <a:uFillTx/>
                <a:latin typeface="Calibri"/>
                <a:ea typeface="+mn-ea"/>
                <a:cs typeface="+mn-cs"/>
              </a:rPr>
              <a:t>Operational Interpretation</a:t>
            </a:r>
          </a:p>
        </p:txBody>
      </p:sp>
      <p:sp>
        <p:nvSpPr>
          <p:cNvPr id="14" name="TextBox 13"/>
          <p:cNvSpPr txBox="1"/>
          <p:nvPr/>
        </p:nvSpPr>
        <p:spPr>
          <a:xfrm>
            <a:off x="338328" y="5834966"/>
            <a:ext cx="5486400" cy="646331"/>
          </a:xfrm>
          <a:prstGeom prst="rect">
            <a:avLst/>
          </a:prstGeom>
          <a:noFill/>
        </p:spPr>
        <p:txBody>
          <a:bodyPr wrap="square" lIns="91440" tIns="45720" rIns="91440" bIns="45720" anchor="t">
            <a:spAutoFit/>
          </a:bodyPr>
          <a:lstStyle/>
          <a:p>
            <a:pPr marL="342900" indent="-342900" algn="l">
              <a:buChar char="•"/>
              <a:defRPr/>
            </a:pPr>
            <a:r>
              <a:rPr kumimoji="0" lang="en-US" sz="1200" b="0" i="0" u="none" strike="noStrike" kern="0" cap="none" spc="0" normalizeH="0" baseline="0" noProof="0">
                <a:ln>
                  <a:noFill/>
                </a:ln>
                <a:solidFill>
                  <a:srgbClr val="1E293A"/>
                </a:solidFill>
                <a:effectLst/>
                <a:uLnTx/>
                <a:uFillTx/>
              </a:rPr>
              <a:t>Escalated and reopened tickets → significantly higher SLA risk</a:t>
            </a:r>
            <a:r>
              <a:rPr lang="en-US" sz="1200">
                <a:solidFill>
                  <a:srgbClr val="1E293A"/>
                </a:solidFill>
              </a:rPr>
              <a:t> </a:t>
            </a:r>
            <a:endParaRPr lang="en-US">
              <a:ea typeface="+mn-ea"/>
              <a:cs typeface="+mn-cs"/>
            </a:endParaRPr>
          </a:p>
          <a:p>
            <a:pPr marL="342900" indent="-342900" algn="l">
              <a:buChar char="•"/>
              <a:defRPr/>
            </a:pPr>
            <a:r>
              <a:rPr kumimoji="0" lang="en-US" sz="1200" b="0" i="0" u="none" strike="noStrike" kern="0" cap="none" spc="0" normalizeH="0" baseline="0" noProof="0">
                <a:ln>
                  <a:noFill/>
                </a:ln>
                <a:solidFill>
                  <a:srgbClr val="1E293A"/>
                </a:solidFill>
                <a:effectLst/>
                <a:uLnTx/>
                <a:uFillTx/>
              </a:rPr>
              <a:t>Workload &amp; temporal congestion patterns influenced breach probability</a:t>
            </a:r>
            <a:r>
              <a:rPr lang="en-US" sz="1200">
                <a:solidFill>
                  <a:srgbClr val="1E293A"/>
                </a:solidFill>
              </a:rPr>
              <a:t> </a:t>
            </a:r>
            <a:endParaRPr>
              <a:ea typeface="+mn-ea"/>
              <a:cs typeface="+mn-cs"/>
            </a:endParaRPr>
          </a:p>
          <a:p>
            <a:pPr marL="342900" indent="-342900" algn="l">
              <a:buChar char="•"/>
              <a:defRPr/>
            </a:pPr>
            <a:r>
              <a:rPr kumimoji="0" lang="en-US" sz="1200" b="0" i="0" u="none" strike="noStrike" kern="0" cap="none" spc="0" normalizeH="0" baseline="0" noProof="0">
                <a:ln>
                  <a:noFill/>
                </a:ln>
                <a:solidFill>
                  <a:srgbClr val="1E293A"/>
                </a:solidFill>
                <a:effectLst/>
                <a:uLnTx/>
                <a:uFillTx/>
              </a:rPr>
              <a:t>Historical client/engineer </a:t>
            </a:r>
            <a:r>
              <a:rPr lang="en-US" sz="1200">
                <a:solidFill>
                  <a:srgbClr val="1E293A"/>
                </a:solidFill>
              </a:rPr>
              <a:t>behavior </a:t>
            </a:r>
            <a:r>
              <a:rPr kumimoji="0" lang="en-US" sz="1200" b="0" i="0" u="none" strike="noStrike" kern="0" cap="none" spc="0" normalizeH="0" baseline="0" noProof="0">
                <a:ln>
                  <a:noFill/>
                </a:ln>
                <a:solidFill>
                  <a:srgbClr val="1E293A"/>
                </a:solidFill>
                <a:effectLst/>
                <a:uLnTx/>
                <a:uFillTx/>
              </a:rPr>
              <a:t>improved risk identification</a:t>
            </a:r>
            <a:endParaRPr lang="en-US"/>
          </a:p>
        </p:txBody>
      </p:sp>
      <p:cxnSp>
        <p:nvCxnSpPr>
          <p:cNvPr id="15" name="Connector 14"/>
          <p:cNvCxnSpPr/>
          <p:nvPr/>
        </p:nvCxnSpPr>
        <p:spPr>
          <a:xfrm>
            <a:off x="5943370" y="1608018"/>
            <a:ext cx="10438" cy="4949201"/>
          </a:xfrm>
          <a:prstGeom prst="curvedConnector3">
            <a:avLst/>
          </a:prstGeom>
          <a:ln w="12700">
            <a:solidFill>
              <a:schemeClr val="tx1">
                <a:lumMod val="50000"/>
                <a:lumOff val="50000"/>
              </a:schemeClr>
            </a:solidFill>
            <a:prstDash val="dash"/>
          </a:ln>
        </p:spPr>
        <p:style>
          <a:lnRef idx="2">
            <a:schemeClr val="accent1"/>
          </a:lnRef>
          <a:fillRef idx="0">
            <a:schemeClr val="accent1"/>
          </a:fillRef>
          <a:effectRef idx="1">
            <a:schemeClr val="accent1"/>
          </a:effectRef>
          <a:fontRef idx="minor">
            <a:schemeClr val="tx1"/>
          </a:fontRef>
        </p:style>
      </p:cxnSp>
      <p:pic>
        <p:nvPicPr>
          <p:cNvPr id="47" name="Picture 46">
            <a:extLst>
              <a:ext uri="{FF2B5EF4-FFF2-40B4-BE49-F238E27FC236}">
                <a16:creationId xmlns:a16="http://schemas.microsoft.com/office/drawing/2014/main" id="{59C5348A-F25A-0E33-29A7-A57855C9FAAB}"/>
              </a:ext>
            </a:extLst>
          </p:cNvPr>
          <p:cNvPicPr>
            <a:picLocks noChangeAspect="1"/>
          </p:cNvPicPr>
          <p:nvPr/>
        </p:nvPicPr>
        <p:blipFill>
          <a:blip r:embed="rId2"/>
          <a:stretch>
            <a:fillRect/>
          </a:stretch>
        </p:blipFill>
        <p:spPr>
          <a:xfrm>
            <a:off x="6348027" y="3873456"/>
            <a:ext cx="5303623" cy="2838710"/>
          </a:xfrm>
          <a:prstGeom prst="rect">
            <a:avLst/>
          </a:prstGeom>
        </p:spPr>
      </p:pic>
      <p:cxnSp>
        <p:nvCxnSpPr>
          <p:cNvPr id="53" name="Straight Arrow Connector 52">
            <a:extLst>
              <a:ext uri="{FF2B5EF4-FFF2-40B4-BE49-F238E27FC236}">
                <a16:creationId xmlns:a16="http://schemas.microsoft.com/office/drawing/2014/main" id="{FEE51C5F-5A30-DB0E-636C-0D5285DF6F1C}"/>
              </a:ext>
            </a:extLst>
          </p:cNvPr>
          <p:cNvCxnSpPr/>
          <p:nvPr/>
        </p:nvCxnSpPr>
        <p:spPr>
          <a:xfrm flipV="1">
            <a:off x="344107" y="3252780"/>
            <a:ext cx="5476414" cy="6931"/>
          </a:xfrm>
          <a:prstGeom prst="straightConnector1">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4DBC0005-4A53-12C6-913F-620F858DB997}"/>
              </a:ext>
            </a:extLst>
          </p:cNvPr>
          <p:cNvCxnSpPr>
            <a:cxnSpLocks/>
          </p:cNvCxnSpPr>
          <p:nvPr/>
        </p:nvCxnSpPr>
        <p:spPr>
          <a:xfrm flipV="1">
            <a:off x="344107" y="4233663"/>
            <a:ext cx="5476414" cy="6931"/>
          </a:xfrm>
          <a:prstGeom prst="straightConnector1">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EB86343C-0174-963D-36D6-8C7E206FD831}"/>
              </a:ext>
            </a:extLst>
          </p:cNvPr>
          <p:cNvCxnSpPr>
            <a:cxnSpLocks/>
          </p:cNvCxnSpPr>
          <p:nvPr/>
        </p:nvCxnSpPr>
        <p:spPr>
          <a:xfrm flipV="1">
            <a:off x="334337" y="5562278"/>
            <a:ext cx="5476414" cy="6931"/>
          </a:xfrm>
          <a:prstGeom prst="straightConnector1">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48" name="Table 47">
            <a:extLst>
              <a:ext uri="{FF2B5EF4-FFF2-40B4-BE49-F238E27FC236}">
                <a16:creationId xmlns:a16="http://schemas.microsoft.com/office/drawing/2014/main" id="{B3820EE0-0F23-A37C-2DD9-E4CB674B9928}"/>
              </a:ext>
            </a:extLst>
          </p:cNvPr>
          <p:cNvGraphicFramePr>
            <a:graphicFrameLocks noGrp="1"/>
          </p:cNvGraphicFramePr>
          <p:nvPr>
            <p:extLst>
              <p:ext uri="{D42A27DB-BD31-4B8C-83A1-F6EECF244321}">
                <p14:modId xmlns:p14="http://schemas.microsoft.com/office/powerpoint/2010/main" val="1297815935"/>
              </p:ext>
            </p:extLst>
          </p:nvPr>
        </p:nvGraphicFramePr>
        <p:xfrm>
          <a:off x="6344367" y="1603630"/>
          <a:ext cx="5498857" cy="2184750"/>
        </p:xfrm>
        <a:graphic>
          <a:graphicData uri="http://schemas.openxmlformats.org/drawingml/2006/table">
            <a:tbl>
              <a:tblPr bandRow="1">
                <a:tableStyleId>{5C22544A-7EE6-4342-B048-85BDC9FD1C3A}</a:tableStyleId>
              </a:tblPr>
              <a:tblGrid>
                <a:gridCol w="1882829">
                  <a:extLst>
                    <a:ext uri="{9D8B030D-6E8A-4147-A177-3AD203B41FA5}">
                      <a16:colId xmlns:a16="http://schemas.microsoft.com/office/drawing/2014/main" val="1275481638"/>
                    </a:ext>
                  </a:extLst>
                </a:gridCol>
                <a:gridCol w="922711">
                  <a:extLst>
                    <a:ext uri="{9D8B030D-6E8A-4147-A177-3AD203B41FA5}">
                      <a16:colId xmlns:a16="http://schemas.microsoft.com/office/drawing/2014/main" val="791760631"/>
                    </a:ext>
                  </a:extLst>
                </a:gridCol>
                <a:gridCol w="860365">
                  <a:extLst>
                    <a:ext uri="{9D8B030D-6E8A-4147-A177-3AD203B41FA5}">
                      <a16:colId xmlns:a16="http://schemas.microsoft.com/office/drawing/2014/main" val="457288847"/>
                    </a:ext>
                  </a:extLst>
                </a:gridCol>
                <a:gridCol w="972587">
                  <a:extLst>
                    <a:ext uri="{9D8B030D-6E8A-4147-A177-3AD203B41FA5}">
                      <a16:colId xmlns:a16="http://schemas.microsoft.com/office/drawing/2014/main" val="3812638745"/>
                    </a:ext>
                  </a:extLst>
                </a:gridCol>
                <a:gridCol w="860365">
                  <a:extLst>
                    <a:ext uri="{9D8B030D-6E8A-4147-A177-3AD203B41FA5}">
                      <a16:colId xmlns:a16="http://schemas.microsoft.com/office/drawing/2014/main" val="3288816880"/>
                    </a:ext>
                  </a:extLst>
                </a:gridCol>
              </a:tblGrid>
              <a:tr h="364125">
                <a:tc>
                  <a:txBody>
                    <a:bodyPr/>
                    <a:lstStyle/>
                    <a:p>
                      <a:pPr marL="0" indent="0" algn="ctr" fontAlgn="base">
                        <a:lnSpc>
                          <a:spcPts val="1050"/>
                        </a:lnSpc>
                        <a:buNone/>
                      </a:pPr>
                      <a:r>
                        <a:rPr lang="en-US" sz="1400" b="1" i="0">
                          <a:solidFill>
                            <a:srgbClr val="FFFFFF"/>
                          </a:solidFill>
                          <a:effectLst/>
                          <a:latin typeface="Calibri"/>
                        </a:rPr>
                        <a:t>Model</a:t>
                      </a:r>
                      <a:endParaRPr lang="en-US" sz="1400" b="0" i="0">
                        <a:solidFill>
                          <a:srgbClr val="000000"/>
                        </a:solidFill>
                        <a:effectLst/>
                        <a:latin typeface="Calibri"/>
                      </a:endParaRPr>
                    </a:p>
                  </a:txBody>
                  <a:tcPr marR="50797" marT="3810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E2841"/>
                    </a:solidFill>
                  </a:tcPr>
                </a:tc>
                <a:tc>
                  <a:txBody>
                    <a:bodyPr/>
                    <a:lstStyle/>
                    <a:p>
                      <a:pPr marL="0" indent="0" algn="ctr" fontAlgn="base">
                        <a:lnSpc>
                          <a:spcPts val="1050"/>
                        </a:lnSpc>
                        <a:buNone/>
                      </a:pPr>
                      <a:r>
                        <a:rPr lang="en-US" sz="1400" b="1" i="0">
                          <a:solidFill>
                            <a:srgbClr val="FFFFFF"/>
                          </a:solidFill>
                          <a:effectLst/>
                          <a:latin typeface="Calibri"/>
                        </a:rPr>
                        <a:t>ROC-AUC</a:t>
                      </a:r>
                      <a:endParaRPr lang="en-US" sz="1400" b="0" i="0">
                        <a:solidFill>
                          <a:srgbClr val="000000"/>
                        </a:solidFill>
                        <a:effectLst/>
                        <a:latin typeface="Calibri"/>
                      </a:endParaRPr>
                    </a:p>
                  </a:txBody>
                  <a:tcPr marR="50797" marT="3810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E2841"/>
                    </a:solidFill>
                  </a:tcPr>
                </a:tc>
                <a:tc>
                  <a:txBody>
                    <a:bodyPr/>
                    <a:lstStyle/>
                    <a:p>
                      <a:pPr marL="0" indent="0" algn="ctr" fontAlgn="base">
                        <a:lnSpc>
                          <a:spcPts val="1050"/>
                        </a:lnSpc>
                        <a:buNone/>
                      </a:pPr>
                      <a:r>
                        <a:rPr lang="en-US" sz="1400" b="1" i="0">
                          <a:solidFill>
                            <a:srgbClr val="FFFFFF"/>
                          </a:solidFill>
                          <a:effectLst/>
                          <a:latin typeface="Calibri"/>
                        </a:rPr>
                        <a:t>PR-AUC</a:t>
                      </a:r>
                      <a:endParaRPr lang="en-US" sz="1400" b="0" i="0">
                        <a:solidFill>
                          <a:srgbClr val="000000"/>
                        </a:solidFill>
                        <a:effectLst/>
                        <a:latin typeface="Calibri"/>
                      </a:endParaRPr>
                    </a:p>
                  </a:txBody>
                  <a:tcPr marR="50797" marT="3810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E2841"/>
                    </a:solidFill>
                  </a:tcPr>
                </a:tc>
                <a:tc>
                  <a:txBody>
                    <a:bodyPr/>
                    <a:lstStyle/>
                    <a:p>
                      <a:pPr marL="0" indent="0" algn="ctr" fontAlgn="base">
                        <a:lnSpc>
                          <a:spcPts val="1050"/>
                        </a:lnSpc>
                        <a:buNone/>
                      </a:pPr>
                      <a:r>
                        <a:rPr lang="en-US" sz="1400" b="1" i="0">
                          <a:solidFill>
                            <a:srgbClr val="FFFFFF"/>
                          </a:solidFill>
                          <a:effectLst/>
                          <a:latin typeface="Calibri"/>
                        </a:rPr>
                        <a:t>Recall†</a:t>
                      </a:r>
                      <a:endParaRPr lang="en-US" sz="1400" b="0" i="0">
                        <a:solidFill>
                          <a:srgbClr val="000000"/>
                        </a:solidFill>
                        <a:effectLst/>
                        <a:latin typeface="Calibri"/>
                      </a:endParaRPr>
                    </a:p>
                  </a:txBody>
                  <a:tcPr marR="50797" marT="3810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E2841"/>
                    </a:solidFill>
                  </a:tcPr>
                </a:tc>
                <a:tc>
                  <a:txBody>
                    <a:bodyPr/>
                    <a:lstStyle/>
                    <a:p>
                      <a:pPr marL="0" indent="0" algn="ctr" fontAlgn="base">
                        <a:lnSpc>
                          <a:spcPts val="1050"/>
                        </a:lnSpc>
                        <a:buNone/>
                      </a:pPr>
                      <a:r>
                        <a:rPr lang="en-US" sz="1400" b="1" i="0">
                          <a:solidFill>
                            <a:srgbClr val="FFFFFF"/>
                          </a:solidFill>
                          <a:effectLst/>
                          <a:latin typeface="Calibri"/>
                        </a:rPr>
                        <a:t>F1</a:t>
                      </a:r>
                      <a:endParaRPr lang="en-US" sz="1400" b="0" i="0">
                        <a:solidFill>
                          <a:srgbClr val="000000"/>
                        </a:solidFill>
                        <a:effectLst/>
                        <a:latin typeface="Calibri"/>
                      </a:endParaRPr>
                    </a:p>
                  </a:txBody>
                  <a:tcPr marR="50797" marT="3810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E2841"/>
                    </a:solidFill>
                  </a:tcPr>
                </a:tc>
                <a:extLst>
                  <a:ext uri="{0D108BD9-81ED-4DB2-BD59-A6C34878D82A}">
                    <a16:rowId xmlns:a16="http://schemas.microsoft.com/office/drawing/2014/main" val="3582619611"/>
                  </a:ext>
                </a:extLst>
              </a:tr>
              <a:tr h="364125">
                <a:tc>
                  <a:txBody>
                    <a:bodyPr/>
                    <a:lstStyle/>
                    <a:p>
                      <a:pPr marL="0" indent="0" algn="l" fontAlgn="base">
                        <a:lnSpc>
                          <a:spcPts val="1050"/>
                        </a:lnSpc>
                        <a:buNone/>
                      </a:pPr>
                      <a:r>
                        <a:rPr lang="en-US" sz="1400" b="1" i="0" err="1">
                          <a:solidFill>
                            <a:srgbClr val="0F172A"/>
                          </a:solidFill>
                          <a:effectLst/>
                          <a:latin typeface="Calibri"/>
                        </a:rPr>
                        <a:t>CatBoost</a:t>
                      </a:r>
                      <a:r>
                        <a:rPr lang="en-US" sz="1400" b="1" i="0">
                          <a:solidFill>
                            <a:srgbClr val="0F172A"/>
                          </a:solidFill>
                          <a:effectLst/>
                          <a:latin typeface="Calibri"/>
                        </a:rPr>
                        <a:t> ★</a:t>
                      </a:r>
                      <a:endParaRPr lang="en-US" sz="1400" b="0" i="0">
                        <a:solidFill>
                          <a:srgbClr val="000000"/>
                        </a:solidFill>
                        <a:effectLst/>
                        <a:latin typeface="Calibri"/>
                      </a:endParaRPr>
                    </a:p>
                  </a:txBody>
                  <a:tcPr marR="50797" marT="3810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FF6FF"/>
                    </a:solidFill>
                  </a:tcPr>
                </a:tc>
                <a:tc>
                  <a:txBody>
                    <a:bodyPr/>
                    <a:lstStyle/>
                    <a:p>
                      <a:pPr marL="0" indent="0" algn="ctr" fontAlgn="base">
                        <a:lnSpc>
                          <a:spcPts val="1050"/>
                        </a:lnSpc>
                        <a:buNone/>
                      </a:pPr>
                      <a:r>
                        <a:rPr lang="en-US" sz="1400" b="0" i="0">
                          <a:solidFill>
                            <a:srgbClr val="64748B"/>
                          </a:solidFill>
                          <a:effectLst/>
                          <a:latin typeface="Calibri"/>
                        </a:rPr>
                        <a:t>0.5058</a:t>
                      </a:r>
                      <a:endParaRPr lang="en-US" sz="1400" b="0" i="0">
                        <a:solidFill>
                          <a:srgbClr val="000000"/>
                        </a:solidFill>
                        <a:effectLst/>
                        <a:latin typeface="Calibri"/>
                      </a:endParaRPr>
                    </a:p>
                  </a:txBody>
                  <a:tcPr marR="50797" marT="3810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FF6FF"/>
                    </a:solidFill>
                  </a:tcPr>
                </a:tc>
                <a:tc>
                  <a:txBody>
                    <a:bodyPr/>
                    <a:lstStyle/>
                    <a:p>
                      <a:pPr marL="0" indent="0" algn="ctr" fontAlgn="base">
                        <a:lnSpc>
                          <a:spcPts val="1050"/>
                        </a:lnSpc>
                        <a:buNone/>
                      </a:pPr>
                      <a:r>
                        <a:rPr lang="en-US" sz="1400" b="0" i="0">
                          <a:solidFill>
                            <a:srgbClr val="64748B"/>
                          </a:solidFill>
                          <a:effectLst/>
                          <a:latin typeface="Calibri"/>
                        </a:rPr>
                        <a:t>0.3985</a:t>
                      </a:r>
                      <a:endParaRPr lang="en-US" sz="1400" b="0" i="0">
                        <a:solidFill>
                          <a:srgbClr val="000000"/>
                        </a:solidFill>
                        <a:effectLst/>
                        <a:latin typeface="Calibri"/>
                      </a:endParaRPr>
                    </a:p>
                  </a:txBody>
                  <a:tcPr marR="50797" marT="3810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FF6FF"/>
                    </a:solidFill>
                  </a:tcPr>
                </a:tc>
                <a:tc>
                  <a:txBody>
                    <a:bodyPr/>
                    <a:lstStyle/>
                    <a:p>
                      <a:pPr marL="0" indent="0" algn="ctr" fontAlgn="base">
                        <a:lnSpc>
                          <a:spcPts val="1050"/>
                        </a:lnSpc>
                        <a:buNone/>
                      </a:pPr>
                      <a:r>
                        <a:rPr lang="en-US" sz="1400" b="1" i="0">
                          <a:solidFill>
                            <a:srgbClr val="22C55E"/>
                          </a:solidFill>
                          <a:effectLst/>
                          <a:latin typeface="Calibri"/>
                        </a:rPr>
                        <a:t>94.7%</a:t>
                      </a:r>
                      <a:endParaRPr lang="en-US" sz="1400" b="0" i="0">
                        <a:solidFill>
                          <a:srgbClr val="000000"/>
                        </a:solidFill>
                        <a:effectLst/>
                        <a:latin typeface="Calibri"/>
                      </a:endParaRPr>
                    </a:p>
                  </a:txBody>
                  <a:tcPr marR="50797" marT="3810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FF6FF"/>
                    </a:solidFill>
                  </a:tcPr>
                </a:tc>
                <a:tc>
                  <a:txBody>
                    <a:bodyPr/>
                    <a:lstStyle/>
                    <a:p>
                      <a:pPr marL="0" indent="0" algn="ctr" fontAlgn="base">
                        <a:lnSpc>
                          <a:spcPts val="1050"/>
                        </a:lnSpc>
                        <a:buNone/>
                      </a:pPr>
                      <a:r>
                        <a:rPr lang="en-US" sz="1400" b="0" i="0">
                          <a:solidFill>
                            <a:srgbClr val="0F172A"/>
                          </a:solidFill>
                          <a:effectLst/>
                          <a:latin typeface="Calibri"/>
                        </a:rPr>
                        <a:t>0.566</a:t>
                      </a:r>
                      <a:endParaRPr lang="en-US" sz="1400" b="0" i="0">
                        <a:solidFill>
                          <a:srgbClr val="000000"/>
                        </a:solidFill>
                        <a:effectLst/>
                        <a:latin typeface="Calibri"/>
                      </a:endParaRPr>
                    </a:p>
                  </a:txBody>
                  <a:tcPr marR="50797" marT="3810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FF6FF"/>
                    </a:solidFill>
                  </a:tcPr>
                </a:tc>
                <a:extLst>
                  <a:ext uri="{0D108BD9-81ED-4DB2-BD59-A6C34878D82A}">
                    <a16:rowId xmlns:a16="http://schemas.microsoft.com/office/drawing/2014/main" val="1654333892"/>
                  </a:ext>
                </a:extLst>
              </a:tr>
              <a:tr h="364125">
                <a:tc>
                  <a:txBody>
                    <a:bodyPr/>
                    <a:lstStyle/>
                    <a:p>
                      <a:pPr marL="0" indent="0" algn="l" fontAlgn="base">
                        <a:lnSpc>
                          <a:spcPts val="1050"/>
                        </a:lnSpc>
                        <a:buNone/>
                      </a:pPr>
                      <a:r>
                        <a:rPr lang="en-US" sz="1400" b="0" i="0">
                          <a:solidFill>
                            <a:srgbClr val="0F172A"/>
                          </a:solidFill>
                          <a:effectLst/>
                          <a:latin typeface="Calibri"/>
                        </a:rPr>
                        <a:t>Logistic Regression</a:t>
                      </a:r>
                      <a:endParaRPr lang="en-US" sz="1400" b="0" i="0">
                        <a:solidFill>
                          <a:srgbClr val="000000"/>
                        </a:solidFill>
                        <a:effectLst/>
                        <a:latin typeface="Calibri"/>
                      </a:endParaRPr>
                    </a:p>
                  </a:txBody>
                  <a:tcPr marR="50797" marT="3810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fontAlgn="base">
                        <a:lnSpc>
                          <a:spcPts val="1050"/>
                        </a:lnSpc>
                        <a:buNone/>
                      </a:pPr>
                      <a:r>
                        <a:rPr lang="en-US" sz="1400" b="0" i="0">
                          <a:solidFill>
                            <a:srgbClr val="64748B"/>
                          </a:solidFill>
                          <a:effectLst/>
                          <a:latin typeface="Calibri"/>
                        </a:rPr>
                        <a:t>0.5048</a:t>
                      </a:r>
                      <a:endParaRPr lang="en-US" sz="1400" b="0" i="0">
                        <a:solidFill>
                          <a:srgbClr val="000000"/>
                        </a:solidFill>
                        <a:effectLst/>
                        <a:latin typeface="Calibri"/>
                      </a:endParaRPr>
                    </a:p>
                  </a:txBody>
                  <a:tcPr marR="50797" marT="3810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fontAlgn="base">
                        <a:lnSpc>
                          <a:spcPts val="1050"/>
                        </a:lnSpc>
                        <a:buNone/>
                      </a:pPr>
                      <a:r>
                        <a:rPr lang="en-US" sz="1400" b="0" i="0">
                          <a:solidFill>
                            <a:srgbClr val="64748B"/>
                          </a:solidFill>
                          <a:effectLst/>
                          <a:latin typeface="Calibri"/>
                        </a:rPr>
                        <a:t>0.4037</a:t>
                      </a:r>
                      <a:endParaRPr lang="en-US" sz="1400" b="0" i="0">
                        <a:solidFill>
                          <a:srgbClr val="000000"/>
                        </a:solidFill>
                        <a:effectLst/>
                        <a:latin typeface="Calibri"/>
                      </a:endParaRPr>
                    </a:p>
                  </a:txBody>
                  <a:tcPr marR="50797" marT="3810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fontAlgn="base">
                        <a:lnSpc>
                          <a:spcPts val="1050"/>
                        </a:lnSpc>
                        <a:buNone/>
                      </a:pPr>
                      <a:r>
                        <a:rPr lang="en-US" sz="1400" b="0" i="0">
                          <a:solidFill>
                            <a:srgbClr val="E97132"/>
                          </a:solidFill>
                          <a:effectLst/>
                          <a:latin typeface="Calibri"/>
                        </a:rPr>
                        <a:t>57.3%</a:t>
                      </a:r>
                      <a:endParaRPr lang="en-US" sz="1400" b="0" i="0">
                        <a:solidFill>
                          <a:srgbClr val="000000"/>
                        </a:solidFill>
                        <a:effectLst/>
                        <a:latin typeface="Calibri"/>
                      </a:endParaRPr>
                    </a:p>
                  </a:txBody>
                  <a:tcPr marR="50797" marT="3810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fontAlgn="base">
                        <a:lnSpc>
                          <a:spcPts val="1050"/>
                        </a:lnSpc>
                        <a:buNone/>
                      </a:pPr>
                      <a:r>
                        <a:rPr lang="en-US" sz="1400" b="0" i="0">
                          <a:solidFill>
                            <a:srgbClr val="0F172A"/>
                          </a:solidFill>
                          <a:effectLst/>
                          <a:latin typeface="Calibri"/>
                        </a:rPr>
                        <a:t>0.472</a:t>
                      </a:r>
                      <a:endParaRPr lang="en-US" sz="1400" b="0" i="0">
                        <a:solidFill>
                          <a:srgbClr val="000000"/>
                        </a:solidFill>
                        <a:effectLst/>
                        <a:latin typeface="Calibri"/>
                      </a:endParaRPr>
                    </a:p>
                  </a:txBody>
                  <a:tcPr marR="50797" marT="3810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3802855751"/>
                  </a:ext>
                </a:extLst>
              </a:tr>
              <a:tr h="364125">
                <a:tc>
                  <a:txBody>
                    <a:bodyPr/>
                    <a:lstStyle/>
                    <a:p>
                      <a:pPr marL="0" indent="0" algn="l" fontAlgn="base">
                        <a:lnSpc>
                          <a:spcPts val="1050"/>
                        </a:lnSpc>
                        <a:buNone/>
                      </a:pPr>
                      <a:r>
                        <a:rPr lang="en-US" sz="1400" b="0" i="0" err="1">
                          <a:solidFill>
                            <a:srgbClr val="0F172A"/>
                          </a:solidFill>
                          <a:effectLst/>
                          <a:latin typeface="Calibri"/>
                        </a:rPr>
                        <a:t>RF+TargetEncoder</a:t>
                      </a:r>
                      <a:endParaRPr lang="en-US" sz="1400" b="0" i="0" err="1">
                        <a:solidFill>
                          <a:srgbClr val="000000"/>
                        </a:solidFill>
                        <a:effectLst/>
                        <a:latin typeface="Calibri"/>
                      </a:endParaRPr>
                    </a:p>
                  </a:txBody>
                  <a:tcPr marR="50797" marT="3810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fontAlgn="base">
                        <a:lnSpc>
                          <a:spcPts val="1050"/>
                        </a:lnSpc>
                        <a:buNone/>
                      </a:pPr>
                      <a:r>
                        <a:rPr lang="en-US" sz="1400" b="0" i="0">
                          <a:solidFill>
                            <a:srgbClr val="64748B"/>
                          </a:solidFill>
                          <a:effectLst/>
                          <a:latin typeface="Calibri"/>
                        </a:rPr>
                        <a:t>0.4974</a:t>
                      </a:r>
                      <a:endParaRPr lang="en-US" sz="1400" b="0" i="0">
                        <a:solidFill>
                          <a:srgbClr val="000000"/>
                        </a:solidFill>
                        <a:effectLst/>
                        <a:latin typeface="Calibri"/>
                      </a:endParaRPr>
                    </a:p>
                  </a:txBody>
                  <a:tcPr marR="50797" marT="3810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fontAlgn="base">
                        <a:lnSpc>
                          <a:spcPts val="1050"/>
                        </a:lnSpc>
                        <a:buNone/>
                      </a:pPr>
                      <a:r>
                        <a:rPr lang="en-US" sz="1400" b="0" i="0">
                          <a:solidFill>
                            <a:srgbClr val="64748B"/>
                          </a:solidFill>
                          <a:effectLst/>
                          <a:latin typeface="Calibri"/>
                        </a:rPr>
                        <a:t>0.4007</a:t>
                      </a:r>
                      <a:endParaRPr lang="en-US" sz="1400" b="0" i="0">
                        <a:solidFill>
                          <a:srgbClr val="000000"/>
                        </a:solidFill>
                        <a:effectLst/>
                        <a:latin typeface="Calibri"/>
                      </a:endParaRPr>
                    </a:p>
                  </a:txBody>
                  <a:tcPr marR="50797" marT="3810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fontAlgn="base">
                        <a:lnSpc>
                          <a:spcPts val="1050"/>
                        </a:lnSpc>
                        <a:buNone/>
                      </a:pPr>
                      <a:r>
                        <a:rPr lang="en-US" sz="1400" b="0" i="0">
                          <a:solidFill>
                            <a:srgbClr val="94A3B8"/>
                          </a:solidFill>
                          <a:effectLst/>
                          <a:latin typeface="Calibri"/>
                        </a:rPr>
                        <a:t>18.9%</a:t>
                      </a:r>
                      <a:endParaRPr lang="en-US" sz="1400" b="0" i="0">
                        <a:solidFill>
                          <a:srgbClr val="000000"/>
                        </a:solidFill>
                        <a:effectLst/>
                        <a:latin typeface="Calibri"/>
                      </a:endParaRPr>
                    </a:p>
                  </a:txBody>
                  <a:tcPr marR="50797" marT="3810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fontAlgn="base">
                        <a:lnSpc>
                          <a:spcPts val="1050"/>
                        </a:lnSpc>
                        <a:buNone/>
                      </a:pPr>
                      <a:r>
                        <a:rPr lang="en-US" sz="1400" b="0" i="0">
                          <a:solidFill>
                            <a:srgbClr val="0F172A"/>
                          </a:solidFill>
                          <a:effectLst/>
                          <a:latin typeface="Calibri"/>
                        </a:rPr>
                        <a:t>0.255</a:t>
                      </a:r>
                      <a:endParaRPr lang="en-US" sz="1400" b="0" i="0">
                        <a:solidFill>
                          <a:srgbClr val="000000"/>
                        </a:solidFill>
                        <a:effectLst/>
                        <a:latin typeface="Calibri"/>
                      </a:endParaRPr>
                    </a:p>
                  </a:txBody>
                  <a:tcPr marR="50797" marT="3810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145203619"/>
                  </a:ext>
                </a:extLst>
              </a:tr>
              <a:tr h="364125">
                <a:tc>
                  <a:txBody>
                    <a:bodyPr/>
                    <a:lstStyle/>
                    <a:p>
                      <a:pPr marL="0" indent="0" algn="l" fontAlgn="base">
                        <a:lnSpc>
                          <a:spcPts val="1050"/>
                        </a:lnSpc>
                        <a:buNone/>
                      </a:pPr>
                      <a:r>
                        <a:rPr lang="en-US" sz="1400" b="0" i="0" err="1">
                          <a:solidFill>
                            <a:srgbClr val="0F172A"/>
                          </a:solidFill>
                          <a:effectLst/>
                          <a:latin typeface="Calibri"/>
                        </a:rPr>
                        <a:t>LightGBM+TE</a:t>
                      </a:r>
                      <a:endParaRPr lang="en-US" sz="1400" b="0" i="0" err="1">
                        <a:solidFill>
                          <a:srgbClr val="000000"/>
                        </a:solidFill>
                        <a:effectLst/>
                        <a:latin typeface="Calibri"/>
                      </a:endParaRPr>
                    </a:p>
                  </a:txBody>
                  <a:tcPr marR="50797" marT="3810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fontAlgn="base">
                        <a:lnSpc>
                          <a:spcPts val="1050"/>
                        </a:lnSpc>
                        <a:buNone/>
                      </a:pPr>
                      <a:r>
                        <a:rPr lang="en-US" sz="1400" b="0" i="0">
                          <a:solidFill>
                            <a:srgbClr val="64748B"/>
                          </a:solidFill>
                          <a:effectLst/>
                          <a:latin typeface="Calibri"/>
                        </a:rPr>
                        <a:t>0.4928</a:t>
                      </a:r>
                      <a:endParaRPr lang="en-US" sz="1400" b="0" i="0">
                        <a:solidFill>
                          <a:srgbClr val="000000"/>
                        </a:solidFill>
                        <a:effectLst/>
                        <a:latin typeface="Calibri"/>
                      </a:endParaRPr>
                    </a:p>
                  </a:txBody>
                  <a:tcPr marR="50797" marT="3810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fontAlgn="base">
                        <a:lnSpc>
                          <a:spcPts val="1050"/>
                        </a:lnSpc>
                        <a:buNone/>
                      </a:pPr>
                      <a:r>
                        <a:rPr lang="en-US" sz="1400" b="0" i="0">
                          <a:solidFill>
                            <a:srgbClr val="64748B"/>
                          </a:solidFill>
                          <a:effectLst/>
                          <a:latin typeface="Calibri"/>
                        </a:rPr>
                        <a:t>0.3998</a:t>
                      </a:r>
                      <a:endParaRPr lang="en-US" sz="1400" b="0" i="0">
                        <a:solidFill>
                          <a:srgbClr val="000000"/>
                        </a:solidFill>
                        <a:effectLst/>
                        <a:latin typeface="Calibri"/>
                      </a:endParaRPr>
                    </a:p>
                  </a:txBody>
                  <a:tcPr marR="50797" marT="3810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fontAlgn="base">
                        <a:lnSpc>
                          <a:spcPts val="1050"/>
                        </a:lnSpc>
                        <a:buNone/>
                      </a:pPr>
                      <a:r>
                        <a:rPr lang="en-US" sz="1400" b="0" i="0">
                          <a:solidFill>
                            <a:srgbClr val="94A3B8"/>
                          </a:solidFill>
                          <a:effectLst/>
                          <a:latin typeface="Calibri"/>
                        </a:rPr>
                        <a:t>45.2%</a:t>
                      </a:r>
                      <a:endParaRPr lang="en-US" sz="1400" b="0" i="0">
                        <a:solidFill>
                          <a:srgbClr val="000000"/>
                        </a:solidFill>
                        <a:effectLst/>
                        <a:latin typeface="Calibri"/>
                      </a:endParaRPr>
                    </a:p>
                  </a:txBody>
                  <a:tcPr marR="50797" marT="3810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fontAlgn="base">
                        <a:lnSpc>
                          <a:spcPts val="1050"/>
                        </a:lnSpc>
                        <a:buNone/>
                      </a:pPr>
                      <a:r>
                        <a:rPr lang="en-US" sz="1400" b="0" i="0">
                          <a:solidFill>
                            <a:srgbClr val="0F172A"/>
                          </a:solidFill>
                          <a:effectLst/>
                          <a:latin typeface="Calibri"/>
                        </a:rPr>
                        <a:t>0.422</a:t>
                      </a:r>
                      <a:endParaRPr lang="en-US" sz="1400" b="0" i="0">
                        <a:solidFill>
                          <a:srgbClr val="000000"/>
                        </a:solidFill>
                        <a:effectLst/>
                        <a:latin typeface="Calibri"/>
                      </a:endParaRPr>
                    </a:p>
                  </a:txBody>
                  <a:tcPr marR="50797" marT="3810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2034073688"/>
                  </a:ext>
                </a:extLst>
              </a:tr>
              <a:tr h="364125">
                <a:tc>
                  <a:txBody>
                    <a:bodyPr/>
                    <a:lstStyle/>
                    <a:p>
                      <a:pPr marL="0" indent="0" algn="l" fontAlgn="base">
                        <a:lnSpc>
                          <a:spcPts val="1050"/>
                        </a:lnSpc>
                        <a:buNone/>
                      </a:pPr>
                      <a:r>
                        <a:rPr lang="en-US" sz="1400" b="0" i="0" err="1">
                          <a:solidFill>
                            <a:srgbClr val="0F172A"/>
                          </a:solidFill>
                          <a:effectLst/>
                          <a:latin typeface="Calibri"/>
                        </a:rPr>
                        <a:t>LightGBM-Optuna</a:t>
                      </a:r>
                      <a:endParaRPr lang="en-US" sz="1400" b="0" i="0" err="1">
                        <a:solidFill>
                          <a:srgbClr val="000000"/>
                        </a:solidFill>
                        <a:effectLst/>
                        <a:latin typeface="Calibri"/>
                      </a:endParaRPr>
                    </a:p>
                  </a:txBody>
                  <a:tcPr marR="50797" marT="3810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fontAlgn="base">
                        <a:lnSpc>
                          <a:spcPts val="1050"/>
                        </a:lnSpc>
                        <a:buNone/>
                      </a:pPr>
                      <a:r>
                        <a:rPr lang="en-US" sz="1400" b="0" i="0">
                          <a:solidFill>
                            <a:srgbClr val="64748B"/>
                          </a:solidFill>
                          <a:effectLst/>
                          <a:latin typeface="Calibri"/>
                        </a:rPr>
                        <a:t>0.4942</a:t>
                      </a:r>
                      <a:endParaRPr lang="en-US" sz="1400" b="0" i="0">
                        <a:solidFill>
                          <a:srgbClr val="000000"/>
                        </a:solidFill>
                        <a:effectLst/>
                        <a:latin typeface="Calibri"/>
                      </a:endParaRPr>
                    </a:p>
                  </a:txBody>
                  <a:tcPr marR="50797" marT="3810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fontAlgn="base">
                        <a:lnSpc>
                          <a:spcPts val="1050"/>
                        </a:lnSpc>
                        <a:buNone/>
                      </a:pPr>
                      <a:r>
                        <a:rPr lang="en-US" sz="1400" b="0" i="0">
                          <a:solidFill>
                            <a:srgbClr val="64748B"/>
                          </a:solidFill>
                          <a:effectLst/>
                          <a:latin typeface="Calibri"/>
                        </a:rPr>
                        <a:t>0.3957</a:t>
                      </a:r>
                      <a:endParaRPr lang="en-US" sz="1400" b="0" i="0">
                        <a:solidFill>
                          <a:srgbClr val="000000"/>
                        </a:solidFill>
                        <a:effectLst/>
                        <a:latin typeface="Calibri"/>
                      </a:endParaRPr>
                    </a:p>
                  </a:txBody>
                  <a:tcPr marR="50797" marT="3810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fontAlgn="base">
                        <a:lnSpc>
                          <a:spcPts val="1050"/>
                        </a:lnSpc>
                        <a:buNone/>
                      </a:pPr>
                      <a:r>
                        <a:rPr lang="en-US" sz="1400" b="0" i="0">
                          <a:solidFill>
                            <a:srgbClr val="94A3B8"/>
                          </a:solidFill>
                          <a:effectLst/>
                          <a:latin typeface="Calibri"/>
                        </a:rPr>
                        <a:t>18.1%</a:t>
                      </a:r>
                      <a:endParaRPr lang="en-US" sz="1400" b="0" i="0">
                        <a:solidFill>
                          <a:srgbClr val="000000"/>
                        </a:solidFill>
                        <a:effectLst/>
                        <a:latin typeface="Calibri"/>
                      </a:endParaRPr>
                    </a:p>
                  </a:txBody>
                  <a:tcPr marR="50797" marT="3810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fontAlgn="base">
                        <a:lnSpc>
                          <a:spcPts val="1050"/>
                        </a:lnSpc>
                        <a:buNone/>
                      </a:pPr>
                      <a:r>
                        <a:rPr lang="en-US" sz="1400" b="0" i="0">
                          <a:solidFill>
                            <a:srgbClr val="0F172A"/>
                          </a:solidFill>
                          <a:effectLst/>
                          <a:latin typeface="Calibri"/>
                        </a:rPr>
                        <a:t>0.247</a:t>
                      </a:r>
                      <a:endParaRPr lang="en-US" sz="1400" b="0" i="0">
                        <a:solidFill>
                          <a:srgbClr val="000000"/>
                        </a:solidFill>
                        <a:effectLst/>
                        <a:latin typeface="Calibri"/>
                      </a:endParaRPr>
                    </a:p>
                  </a:txBody>
                  <a:tcPr marR="50797" marT="3810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824174778"/>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06DAB-9D84-6474-4676-220654086EC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F896CDF-B0AD-9D7E-DCE4-0DF4AD3F797A}"/>
              </a:ext>
            </a:extLst>
          </p:cNvPr>
          <p:cNvSpPr/>
          <p:nvPr/>
        </p:nvSpPr>
        <p:spPr>
          <a:xfrm>
            <a:off x="0" y="0"/>
            <a:ext cx="12188952" cy="6858000"/>
          </a:xfrm>
          <a:prstGeom prst="rect">
            <a:avLst/>
          </a:prstGeom>
          <a:solidFill>
            <a:srgbClr val="071524"/>
          </a:solidFill>
          <a:ln w="12700">
            <a:solidFill>
              <a:srgbClr val="07152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a:extLst>
              <a:ext uri="{FF2B5EF4-FFF2-40B4-BE49-F238E27FC236}">
                <a16:creationId xmlns:a16="http://schemas.microsoft.com/office/drawing/2014/main" id="{0EA17C15-F945-6D0B-1320-080AA1374F4D}"/>
              </a:ext>
            </a:extLst>
          </p:cNvPr>
          <p:cNvSpPr/>
          <p:nvPr/>
        </p:nvSpPr>
        <p:spPr>
          <a:xfrm>
            <a:off x="0" y="360947"/>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C216BC4D-1D4C-E1B1-7CDF-8FA74C6A14B5}"/>
              </a:ext>
            </a:extLst>
          </p:cNvPr>
          <p:cNvSpPr/>
          <p:nvPr/>
        </p:nvSpPr>
        <p:spPr>
          <a:xfrm>
            <a:off x="0" y="721895"/>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D6798145-C275-1B8D-C07F-16A2F760AE14}"/>
              </a:ext>
            </a:extLst>
          </p:cNvPr>
          <p:cNvSpPr/>
          <p:nvPr/>
        </p:nvSpPr>
        <p:spPr>
          <a:xfrm>
            <a:off x="0" y="1082842"/>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a:extLst>
              <a:ext uri="{FF2B5EF4-FFF2-40B4-BE49-F238E27FC236}">
                <a16:creationId xmlns:a16="http://schemas.microsoft.com/office/drawing/2014/main" id="{355C9826-9C86-B031-8C46-4B12FB100897}"/>
              </a:ext>
            </a:extLst>
          </p:cNvPr>
          <p:cNvSpPr/>
          <p:nvPr/>
        </p:nvSpPr>
        <p:spPr>
          <a:xfrm>
            <a:off x="0" y="1443789"/>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a:extLst>
              <a:ext uri="{FF2B5EF4-FFF2-40B4-BE49-F238E27FC236}">
                <a16:creationId xmlns:a16="http://schemas.microsoft.com/office/drawing/2014/main" id="{1EA8839E-F59C-0516-E1F5-D8326F285B66}"/>
              </a:ext>
            </a:extLst>
          </p:cNvPr>
          <p:cNvSpPr/>
          <p:nvPr/>
        </p:nvSpPr>
        <p:spPr>
          <a:xfrm>
            <a:off x="0" y="1804737"/>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a:extLst>
              <a:ext uri="{FF2B5EF4-FFF2-40B4-BE49-F238E27FC236}">
                <a16:creationId xmlns:a16="http://schemas.microsoft.com/office/drawing/2014/main" id="{693703FB-C2E2-715E-2D49-CB36A76DE3DA}"/>
              </a:ext>
            </a:extLst>
          </p:cNvPr>
          <p:cNvSpPr/>
          <p:nvPr/>
        </p:nvSpPr>
        <p:spPr>
          <a:xfrm>
            <a:off x="0" y="2808621"/>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a:extLst>
              <a:ext uri="{FF2B5EF4-FFF2-40B4-BE49-F238E27FC236}">
                <a16:creationId xmlns:a16="http://schemas.microsoft.com/office/drawing/2014/main" id="{A4862985-EA9D-5D51-3A10-D9817E64D3BC}"/>
              </a:ext>
            </a:extLst>
          </p:cNvPr>
          <p:cNvSpPr/>
          <p:nvPr/>
        </p:nvSpPr>
        <p:spPr>
          <a:xfrm>
            <a:off x="0" y="2526632"/>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a:extLst>
              <a:ext uri="{FF2B5EF4-FFF2-40B4-BE49-F238E27FC236}">
                <a16:creationId xmlns:a16="http://schemas.microsoft.com/office/drawing/2014/main" id="{2A570A1B-750C-54A5-36CB-46F442A07523}"/>
              </a:ext>
            </a:extLst>
          </p:cNvPr>
          <p:cNvSpPr/>
          <p:nvPr/>
        </p:nvSpPr>
        <p:spPr>
          <a:xfrm>
            <a:off x="0" y="2887579"/>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a:extLst>
              <a:ext uri="{FF2B5EF4-FFF2-40B4-BE49-F238E27FC236}">
                <a16:creationId xmlns:a16="http://schemas.microsoft.com/office/drawing/2014/main" id="{D08A028E-BC30-8F23-5431-B8B5F8FC3FDD}"/>
              </a:ext>
            </a:extLst>
          </p:cNvPr>
          <p:cNvSpPr/>
          <p:nvPr/>
        </p:nvSpPr>
        <p:spPr>
          <a:xfrm>
            <a:off x="0" y="3248526"/>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a:extLst>
              <a:ext uri="{FF2B5EF4-FFF2-40B4-BE49-F238E27FC236}">
                <a16:creationId xmlns:a16="http://schemas.microsoft.com/office/drawing/2014/main" id="{71DEABE5-6638-90BF-415E-3350ACD3D0C8}"/>
              </a:ext>
            </a:extLst>
          </p:cNvPr>
          <p:cNvSpPr/>
          <p:nvPr/>
        </p:nvSpPr>
        <p:spPr>
          <a:xfrm>
            <a:off x="0" y="3609474"/>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a:extLst>
              <a:ext uri="{FF2B5EF4-FFF2-40B4-BE49-F238E27FC236}">
                <a16:creationId xmlns:a16="http://schemas.microsoft.com/office/drawing/2014/main" id="{51AE1EE8-2629-BD40-64E9-776DEA8E204F}"/>
              </a:ext>
            </a:extLst>
          </p:cNvPr>
          <p:cNvSpPr/>
          <p:nvPr/>
        </p:nvSpPr>
        <p:spPr>
          <a:xfrm>
            <a:off x="0" y="3970421"/>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a:extLst>
              <a:ext uri="{FF2B5EF4-FFF2-40B4-BE49-F238E27FC236}">
                <a16:creationId xmlns:a16="http://schemas.microsoft.com/office/drawing/2014/main" id="{E1BE4409-8C4B-B9B5-1787-1087FA04E670}"/>
              </a:ext>
            </a:extLst>
          </p:cNvPr>
          <p:cNvSpPr/>
          <p:nvPr/>
        </p:nvSpPr>
        <p:spPr>
          <a:xfrm>
            <a:off x="0" y="4331368"/>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a:extLst>
              <a:ext uri="{FF2B5EF4-FFF2-40B4-BE49-F238E27FC236}">
                <a16:creationId xmlns:a16="http://schemas.microsoft.com/office/drawing/2014/main" id="{DEDCCF82-7B75-8F41-CDC0-CE3F20EA60F9}"/>
              </a:ext>
            </a:extLst>
          </p:cNvPr>
          <p:cNvSpPr/>
          <p:nvPr/>
        </p:nvSpPr>
        <p:spPr>
          <a:xfrm>
            <a:off x="0" y="4692316"/>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a:extLst>
              <a:ext uri="{FF2B5EF4-FFF2-40B4-BE49-F238E27FC236}">
                <a16:creationId xmlns:a16="http://schemas.microsoft.com/office/drawing/2014/main" id="{C312A46E-C53A-A34F-2B22-2306A4023F0F}"/>
              </a:ext>
            </a:extLst>
          </p:cNvPr>
          <p:cNvSpPr/>
          <p:nvPr/>
        </p:nvSpPr>
        <p:spPr>
          <a:xfrm>
            <a:off x="0" y="5053263"/>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a:extLst>
              <a:ext uri="{FF2B5EF4-FFF2-40B4-BE49-F238E27FC236}">
                <a16:creationId xmlns:a16="http://schemas.microsoft.com/office/drawing/2014/main" id="{5AF2A3BC-5654-20E9-0EE8-92944B2FFF1D}"/>
              </a:ext>
            </a:extLst>
          </p:cNvPr>
          <p:cNvSpPr/>
          <p:nvPr/>
        </p:nvSpPr>
        <p:spPr>
          <a:xfrm>
            <a:off x="0" y="5414211"/>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a:extLst>
              <a:ext uri="{FF2B5EF4-FFF2-40B4-BE49-F238E27FC236}">
                <a16:creationId xmlns:a16="http://schemas.microsoft.com/office/drawing/2014/main" id="{82903BD4-0B96-F96B-8036-A242335F7635}"/>
              </a:ext>
            </a:extLst>
          </p:cNvPr>
          <p:cNvSpPr/>
          <p:nvPr/>
        </p:nvSpPr>
        <p:spPr>
          <a:xfrm>
            <a:off x="0" y="5775158"/>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a:extLst>
              <a:ext uri="{FF2B5EF4-FFF2-40B4-BE49-F238E27FC236}">
                <a16:creationId xmlns:a16="http://schemas.microsoft.com/office/drawing/2014/main" id="{251293C8-BEA6-C8DE-1E42-02450F4807EA}"/>
              </a:ext>
            </a:extLst>
          </p:cNvPr>
          <p:cNvSpPr/>
          <p:nvPr/>
        </p:nvSpPr>
        <p:spPr>
          <a:xfrm>
            <a:off x="0" y="6136105"/>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a:extLst>
              <a:ext uri="{FF2B5EF4-FFF2-40B4-BE49-F238E27FC236}">
                <a16:creationId xmlns:a16="http://schemas.microsoft.com/office/drawing/2014/main" id="{06760E90-AD03-8C70-16E6-28059966911F}"/>
              </a:ext>
            </a:extLst>
          </p:cNvPr>
          <p:cNvSpPr/>
          <p:nvPr/>
        </p:nvSpPr>
        <p:spPr>
          <a:xfrm>
            <a:off x="0" y="6497053"/>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a:extLst>
              <a:ext uri="{FF2B5EF4-FFF2-40B4-BE49-F238E27FC236}">
                <a16:creationId xmlns:a16="http://schemas.microsoft.com/office/drawing/2014/main" id="{269F1E19-85B1-DB0C-4FCE-1BB2B6BF244E}"/>
              </a:ext>
            </a:extLst>
          </p:cNvPr>
          <p:cNvSpPr/>
          <p:nvPr/>
        </p:nvSpPr>
        <p:spPr>
          <a:xfrm>
            <a:off x="487558"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a:extLst>
              <a:ext uri="{FF2B5EF4-FFF2-40B4-BE49-F238E27FC236}">
                <a16:creationId xmlns:a16="http://schemas.microsoft.com/office/drawing/2014/main" id="{53F8AA7A-0816-087D-FFDD-D5D97CA504FC}"/>
              </a:ext>
            </a:extLst>
          </p:cNvPr>
          <p:cNvSpPr/>
          <p:nvPr/>
        </p:nvSpPr>
        <p:spPr>
          <a:xfrm>
            <a:off x="975116"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a:extLst>
              <a:ext uri="{FF2B5EF4-FFF2-40B4-BE49-F238E27FC236}">
                <a16:creationId xmlns:a16="http://schemas.microsoft.com/office/drawing/2014/main" id="{A1D4032F-E026-8937-35AB-14B45913B6E8}"/>
              </a:ext>
            </a:extLst>
          </p:cNvPr>
          <p:cNvSpPr/>
          <p:nvPr/>
        </p:nvSpPr>
        <p:spPr>
          <a:xfrm>
            <a:off x="1462674"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a:extLst>
              <a:ext uri="{FF2B5EF4-FFF2-40B4-BE49-F238E27FC236}">
                <a16:creationId xmlns:a16="http://schemas.microsoft.com/office/drawing/2014/main" id="{B460CB31-265E-2FE6-9D3E-331493CF4538}"/>
              </a:ext>
            </a:extLst>
          </p:cNvPr>
          <p:cNvSpPr/>
          <p:nvPr/>
        </p:nvSpPr>
        <p:spPr>
          <a:xfrm>
            <a:off x="1950232"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a:extLst>
              <a:ext uri="{FF2B5EF4-FFF2-40B4-BE49-F238E27FC236}">
                <a16:creationId xmlns:a16="http://schemas.microsoft.com/office/drawing/2014/main" id="{844FE5FF-17F1-2DF6-6501-1574E03D3D2B}"/>
              </a:ext>
            </a:extLst>
          </p:cNvPr>
          <p:cNvSpPr/>
          <p:nvPr/>
        </p:nvSpPr>
        <p:spPr>
          <a:xfrm>
            <a:off x="2437790"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4">
            <a:extLst>
              <a:ext uri="{FF2B5EF4-FFF2-40B4-BE49-F238E27FC236}">
                <a16:creationId xmlns:a16="http://schemas.microsoft.com/office/drawing/2014/main" id="{1B18CC1D-E11F-0961-C2A5-44B3D98E39DF}"/>
              </a:ext>
            </a:extLst>
          </p:cNvPr>
          <p:cNvSpPr/>
          <p:nvPr/>
        </p:nvSpPr>
        <p:spPr>
          <a:xfrm>
            <a:off x="2925348"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5">
            <a:extLst>
              <a:ext uri="{FF2B5EF4-FFF2-40B4-BE49-F238E27FC236}">
                <a16:creationId xmlns:a16="http://schemas.microsoft.com/office/drawing/2014/main" id="{7EE38850-9627-2FB3-6F52-FE321391F13D}"/>
              </a:ext>
            </a:extLst>
          </p:cNvPr>
          <p:cNvSpPr/>
          <p:nvPr/>
        </p:nvSpPr>
        <p:spPr>
          <a:xfrm>
            <a:off x="3412907"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6">
            <a:extLst>
              <a:ext uri="{FF2B5EF4-FFF2-40B4-BE49-F238E27FC236}">
                <a16:creationId xmlns:a16="http://schemas.microsoft.com/office/drawing/2014/main" id="{4A390E02-6F24-B963-D43F-6A1C51F3E088}"/>
              </a:ext>
            </a:extLst>
          </p:cNvPr>
          <p:cNvSpPr/>
          <p:nvPr/>
        </p:nvSpPr>
        <p:spPr>
          <a:xfrm>
            <a:off x="3900465"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7">
            <a:extLst>
              <a:ext uri="{FF2B5EF4-FFF2-40B4-BE49-F238E27FC236}">
                <a16:creationId xmlns:a16="http://schemas.microsoft.com/office/drawing/2014/main" id="{01A5B0DC-2038-C1D5-DBE1-20AA8A272EFC}"/>
              </a:ext>
            </a:extLst>
          </p:cNvPr>
          <p:cNvSpPr/>
          <p:nvPr/>
        </p:nvSpPr>
        <p:spPr>
          <a:xfrm>
            <a:off x="4388023"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a:extLst>
              <a:ext uri="{FF2B5EF4-FFF2-40B4-BE49-F238E27FC236}">
                <a16:creationId xmlns:a16="http://schemas.microsoft.com/office/drawing/2014/main" id="{E7FC26C4-AE7D-608F-61DA-E91E6C1D3DF5}"/>
              </a:ext>
            </a:extLst>
          </p:cNvPr>
          <p:cNvSpPr/>
          <p:nvPr/>
        </p:nvSpPr>
        <p:spPr>
          <a:xfrm>
            <a:off x="4875581"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9">
            <a:extLst>
              <a:ext uri="{FF2B5EF4-FFF2-40B4-BE49-F238E27FC236}">
                <a16:creationId xmlns:a16="http://schemas.microsoft.com/office/drawing/2014/main" id="{2C8016C8-0D55-7EBC-6C23-EF5478378A47}"/>
              </a:ext>
            </a:extLst>
          </p:cNvPr>
          <p:cNvSpPr/>
          <p:nvPr/>
        </p:nvSpPr>
        <p:spPr>
          <a:xfrm>
            <a:off x="5363139"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30">
            <a:extLst>
              <a:ext uri="{FF2B5EF4-FFF2-40B4-BE49-F238E27FC236}">
                <a16:creationId xmlns:a16="http://schemas.microsoft.com/office/drawing/2014/main" id="{817FE5E1-B02E-59EC-5D57-2818BF239564}"/>
              </a:ext>
            </a:extLst>
          </p:cNvPr>
          <p:cNvSpPr/>
          <p:nvPr/>
        </p:nvSpPr>
        <p:spPr>
          <a:xfrm>
            <a:off x="5850697"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31">
            <a:extLst>
              <a:ext uri="{FF2B5EF4-FFF2-40B4-BE49-F238E27FC236}">
                <a16:creationId xmlns:a16="http://schemas.microsoft.com/office/drawing/2014/main" id="{58C02C86-79A1-6F4E-BD26-292ED999CCE4}"/>
              </a:ext>
            </a:extLst>
          </p:cNvPr>
          <p:cNvSpPr/>
          <p:nvPr/>
        </p:nvSpPr>
        <p:spPr>
          <a:xfrm>
            <a:off x="6338255"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Shape 32">
            <a:extLst>
              <a:ext uri="{FF2B5EF4-FFF2-40B4-BE49-F238E27FC236}">
                <a16:creationId xmlns:a16="http://schemas.microsoft.com/office/drawing/2014/main" id="{77B2723B-38AB-70CA-4128-E3712FB5C613}"/>
              </a:ext>
            </a:extLst>
          </p:cNvPr>
          <p:cNvSpPr/>
          <p:nvPr/>
        </p:nvSpPr>
        <p:spPr>
          <a:xfrm>
            <a:off x="6825813"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Shape 33">
            <a:extLst>
              <a:ext uri="{FF2B5EF4-FFF2-40B4-BE49-F238E27FC236}">
                <a16:creationId xmlns:a16="http://schemas.microsoft.com/office/drawing/2014/main" id="{DA33A6D3-F331-51CF-70B9-A4007CD9E362}"/>
              </a:ext>
            </a:extLst>
          </p:cNvPr>
          <p:cNvSpPr/>
          <p:nvPr/>
        </p:nvSpPr>
        <p:spPr>
          <a:xfrm>
            <a:off x="7313371"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34">
            <a:extLst>
              <a:ext uri="{FF2B5EF4-FFF2-40B4-BE49-F238E27FC236}">
                <a16:creationId xmlns:a16="http://schemas.microsoft.com/office/drawing/2014/main" id="{FA124B69-6BC6-B9FC-DE3C-4BE9F74E85CF}"/>
              </a:ext>
            </a:extLst>
          </p:cNvPr>
          <p:cNvSpPr/>
          <p:nvPr/>
        </p:nvSpPr>
        <p:spPr>
          <a:xfrm>
            <a:off x="7800929"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5">
            <a:extLst>
              <a:ext uri="{FF2B5EF4-FFF2-40B4-BE49-F238E27FC236}">
                <a16:creationId xmlns:a16="http://schemas.microsoft.com/office/drawing/2014/main" id="{59E7233C-5C42-C86A-7F67-2B696C9E6322}"/>
              </a:ext>
            </a:extLst>
          </p:cNvPr>
          <p:cNvSpPr/>
          <p:nvPr/>
        </p:nvSpPr>
        <p:spPr>
          <a:xfrm>
            <a:off x="8288487"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6">
            <a:extLst>
              <a:ext uri="{FF2B5EF4-FFF2-40B4-BE49-F238E27FC236}">
                <a16:creationId xmlns:a16="http://schemas.microsoft.com/office/drawing/2014/main" id="{5268263B-BFE0-5C2F-8940-40084E6E9690}"/>
              </a:ext>
            </a:extLst>
          </p:cNvPr>
          <p:cNvSpPr/>
          <p:nvPr/>
        </p:nvSpPr>
        <p:spPr>
          <a:xfrm>
            <a:off x="8776045"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Shape 37">
            <a:extLst>
              <a:ext uri="{FF2B5EF4-FFF2-40B4-BE49-F238E27FC236}">
                <a16:creationId xmlns:a16="http://schemas.microsoft.com/office/drawing/2014/main" id="{7AE2C541-9658-2C19-6F15-E8D1C8CB1BD0}"/>
              </a:ext>
            </a:extLst>
          </p:cNvPr>
          <p:cNvSpPr/>
          <p:nvPr/>
        </p:nvSpPr>
        <p:spPr>
          <a:xfrm>
            <a:off x="9263604"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Shape 38">
            <a:extLst>
              <a:ext uri="{FF2B5EF4-FFF2-40B4-BE49-F238E27FC236}">
                <a16:creationId xmlns:a16="http://schemas.microsoft.com/office/drawing/2014/main" id="{437FA687-AC10-59F2-0F23-88C0431E3A23}"/>
              </a:ext>
            </a:extLst>
          </p:cNvPr>
          <p:cNvSpPr/>
          <p:nvPr/>
        </p:nvSpPr>
        <p:spPr>
          <a:xfrm>
            <a:off x="9751162"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Shape 39">
            <a:extLst>
              <a:ext uri="{FF2B5EF4-FFF2-40B4-BE49-F238E27FC236}">
                <a16:creationId xmlns:a16="http://schemas.microsoft.com/office/drawing/2014/main" id="{B8273177-5BC8-FD5F-1CBA-2DA59E176677}"/>
              </a:ext>
            </a:extLst>
          </p:cNvPr>
          <p:cNvSpPr/>
          <p:nvPr/>
        </p:nvSpPr>
        <p:spPr>
          <a:xfrm>
            <a:off x="10238720"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Shape 40">
            <a:extLst>
              <a:ext uri="{FF2B5EF4-FFF2-40B4-BE49-F238E27FC236}">
                <a16:creationId xmlns:a16="http://schemas.microsoft.com/office/drawing/2014/main" id="{FF7EB7D2-D136-AC7A-EC00-2DC3576A501F}"/>
              </a:ext>
            </a:extLst>
          </p:cNvPr>
          <p:cNvSpPr/>
          <p:nvPr/>
        </p:nvSpPr>
        <p:spPr>
          <a:xfrm>
            <a:off x="10726278"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Shape 41">
            <a:extLst>
              <a:ext uri="{FF2B5EF4-FFF2-40B4-BE49-F238E27FC236}">
                <a16:creationId xmlns:a16="http://schemas.microsoft.com/office/drawing/2014/main" id="{0AEF108F-9DFD-A2BE-699F-602114CCED04}"/>
              </a:ext>
            </a:extLst>
          </p:cNvPr>
          <p:cNvSpPr/>
          <p:nvPr/>
        </p:nvSpPr>
        <p:spPr>
          <a:xfrm>
            <a:off x="11213836"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Shape 42">
            <a:extLst>
              <a:ext uri="{FF2B5EF4-FFF2-40B4-BE49-F238E27FC236}">
                <a16:creationId xmlns:a16="http://schemas.microsoft.com/office/drawing/2014/main" id="{9FF7DEAF-D2C3-C392-EB45-FB29115A1639}"/>
              </a:ext>
            </a:extLst>
          </p:cNvPr>
          <p:cNvSpPr/>
          <p:nvPr/>
        </p:nvSpPr>
        <p:spPr>
          <a:xfrm>
            <a:off x="11701394"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43">
            <a:extLst>
              <a:ext uri="{FF2B5EF4-FFF2-40B4-BE49-F238E27FC236}">
                <a16:creationId xmlns:a16="http://schemas.microsoft.com/office/drawing/2014/main" id="{07959AA2-D65F-5886-7AF0-1F7EE8DBA140}"/>
              </a:ext>
            </a:extLst>
          </p:cNvPr>
          <p:cNvSpPr/>
          <p:nvPr/>
        </p:nvSpPr>
        <p:spPr>
          <a:xfrm>
            <a:off x="0" y="0"/>
            <a:ext cx="475488" cy="6858000"/>
          </a:xfrm>
          <a:prstGeom prst="rect">
            <a:avLst/>
          </a:prstGeom>
          <a:solidFill>
            <a:srgbClr val="156082"/>
          </a:solidFill>
          <a:ln w="12700">
            <a:solidFill>
              <a:srgbClr val="15608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Shape 44">
            <a:extLst>
              <a:ext uri="{FF2B5EF4-FFF2-40B4-BE49-F238E27FC236}">
                <a16:creationId xmlns:a16="http://schemas.microsoft.com/office/drawing/2014/main" id="{212304C9-E678-B0FC-EA44-B2D767BDD83B}"/>
              </a:ext>
            </a:extLst>
          </p:cNvPr>
          <p:cNvSpPr/>
          <p:nvPr/>
        </p:nvSpPr>
        <p:spPr>
          <a:xfrm>
            <a:off x="475488" y="0"/>
            <a:ext cx="0" cy="6858000"/>
          </a:xfrm>
          <a:prstGeom prst="line">
            <a:avLst/>
          </a:prstGeom>
          <a:noFill/>
          <a:ln w="1905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Shape 45">
            <a:extLst>
              <a:ext uri="{FF2B5EF4-FFF2-40B4-BE49-F238E27FC236}">
                <a16:creationId xmlns:a16="http://schemas.microsoft.com/office/drawing/2014/main" id="{5B7D4CA8-B98B-6D8F-89C8-C632DB7D995E}"/>
              </a:ext>
            </a:extLst>
          </p:cNvPr>
          <p:cNvSpPr/>
          <p:nvPr/>
        </p:nvSpPr>
        <p:spPr>
          <a:xfrm>
            <a:off x="8412480" y="-1371600"/>
            <a:ext cx="6035040" cy="6035040"/>
          </a:xfrm>
          <a:prstGeom prst="ellipse">
            <a:avLst/>
          </a:prstGeom>
          <a:solidFill>
            <a:srgbClr val="071524">
              <a:alpha val="0"/>
            </a:srgbClr>
          </a:solidFill>
          <a:ln w="12700">
            <a:solidFill>
              <a:srgbClr val="0F9ED5">
                <a:alpha val="12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Shape 46">
            <a:extLst>
              <a:ext uri="{FF2B5EF4-FFF2-40B4-BE49-F238E27FC236}">
                <a16:creationId xmlns:a16="http://schemas.microsoft.com/office/drawing/2014/main" id="{68564CC9-5BB0-8B38-775E-C79DB377F749}"/>
              </a:ext>
            </a:extLst>
          </p:cNvPr>
          <p:cNvSpPr/>
          <p:nvPr/>
        </p:nvSpPr>
        <p:spPr>
          <a:xfrm>
            <a:off x="9235440" y="-548640"/>
            <a:ext cx="4389120" cy="4389120"/>
          </a:xfrm>
          <a:prstGeom prst="ellipse">
            <a:avLst/>
          </a:prstGeom>
          <a:solidFill>
            <a:srgbClr val="071524">
              <a:alpha val="0"/>
            </a:srgbClr>
          </a:solidFill>
          <a:ln w="12700">
            <a:solidFill>
              <a:srgbClr val="0F9ED5">
                <a:alpha val="22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Shape 47">
            <a:extLst>
              <a:ext uri="{FF2B5EF4-FFF2-40B4-BE49-F238E27FC236}">
                <a16:creationId xmlns:a16="http://schemas.microsoft.com/office/drawing/2014/main" id="{E82A9F62-4C8A-F262-AE6E-29F24821C5F8}"/>
              </a:ext>
            </a:extLst>
          </p:cNvPr>
          <p:cNvSpPr/>
          <p:nvPr/>
        </p:nvSpPr>
        <p:spPr>
          <a:xfrm>
            <a:off x="10058400" y="274320"/>
            <a:ext cx="2743200" cy="2743200"/>
          </a:xfrm>
          <a:prstGeom prst="ellipse">
            <a:avLst/>
          </a:prstGeom>
          <a:solidFill>
            <a:srgbClr val="071524">
              <a:alpha val="0"/>
            </a:srgbClr>
          </a:solidFill>
          <a:ln w="12700">
            <a:solidFill>
              <a:srgbClr val="0F9ED5">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48">
            <a:extLst>
              <a:ext uri="{FF2B5EF4-FFF2-40B4-BE49-F238E27FC236}">
                <a16:creationId xmlns:a16="http://schemas.microsoft.com/office/drawing/2014/main" id="{41A8F9AE-DB49-C472-93C3-73AD1976802E}"/>
              </a:ext>
            </a:extLst>
          </p:cNvPr>
          <p:cNvSpPr/>
          <p:nvPr/>
        </p:nvSpPr>
        <p:spPr>
          <a:xfrm>
            <a:off x="10881360" y="1097280"/>
            <a:ext cx="1097280" cy="1097280"/>
          </a:xfrm>
          <a:prstGeom prst="ellipse">
            <a:avLst/>
          </a:prstGeom>
          <a:solidFill>
            <a:srgbClr val="071524">
              <a:alpha val="0"/>
            </a:srgbClr>
          </a:solidFill>
          <a:ln w="12700">
            <a:solidFill>
              <a:srgbClr val="0F9ED5">
                <a:alpha val="5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9">
            <a:extLst>
              <a:ext uri="{FF2B5EF4-FFF2-40B4-BE49-F238E27FC236}">
                <a16:creationId xmlns:a16="http://schemas.microsoft.com/office/drawing/2014/main" id="{B4DBB3B0-4FC3-4555-8EBA-3D1A6E15A4F4}"/>
              </a:ext>
            </a:extLst>
          </p:cNvPr>
          <p:cNvSpPr/>
          <p:nvPr/>
        </p:nvSpPr>
        <p:spPr>
          <a:xfrm>
            <a:off x="11292840" y="1508760"/>
            <a:ext cx="274320" cy="274320"/>
          </a:xfrm>
          <a:prstGeom prst="ellipse">
            <a:avLst/>
          </a:prstGeom>
          <a:solidFill>
            <a:srgbClr val="0F9ED5">
              <a:alpha val="60000"/>
            </a:srgbClr>
          </a:solidFill>
          <a:ln w="1270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Shape 50">
            <a:extLst>
              <a:ext uri="{FF2B5EF4-FFF2-40B4-BE49-F238E27FC236}">
                <a16:creationId xmlns:a16="http://schemas.microsoft.com/office/drawing/2014/main" id="{498639D7-9449-F80E-76C0-8D9FFF73DAD8}"/>
              </a:ext>
            </a:extLst>
          </p:cNvPr>
          <p:cNvSpPr/>
          <p:nvPr/>
        </p:nvSpPr>
        <p:spPr>
          <a:xfrm>
            <a:off x="155448" y="1179576"/>
            <a:ext cx="201168" cy="201168"/>
          </a:xfrm>
          <a:prstGeom prst="ellipse">
            <a:avLst/>
          </a:prstGeom>
          <a:solidFill>
            <a:srgbClr val="E97132"/>
          </a:solidFill>
          <a:ln w="1270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Shape 51">
            <a:extLst>
              <a:ext uri="{FF2B5EF4-FFF2-40B4-BE49-F238E27FC236}">
                <a16:creationId xmlns:a16="http://schemas.microsoft.com/office/drawing/2014/main" id="{C6F21A90-4E49-1CC7-FBFB-CFC3CC24ADB3}"/>
              </a:ext>
            </a:extLst>
          </p:cNvPr>
          <p:cNvSpPr/>
          <p:nvPr/>
        </p:nvSpPr>
        <p:spPr>
          <a:xfrm>
            <a:off x="155448" y="2002536"/>
            <a:ext cx="201168" cy="201168"/>
          </a:xfrm>
          <a:prstGeom prst="ellipse">
            <a:avLst/>
          </a:prstGeom>
          <a:solidFill>
            <a:srgbClr val="0F9ED5"/>
          </a:solidFill>
          <a:ln w="1270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Shape 52">
            <a:extLst>
              <a:ext uri="{FF2B5EF4-FFF2-40B4-BE49-F238E27FC236}">
                <a16:creationId xmlns:a16="http://schemas.microsoft.com/office/drawing/2014/main" id="{E55DC9F3-CC5E-0EEB-DEFF-46CEE62C6298}"/>
              </a:ext>
            </a:extLst>
          </p:cNvPr>
          <p:cNvSpPr/>
          <p:nvPr/>
        </p:nvSpPr>
        <p:spPr>
          <a:xfrm>
            <a:off x="155448" y="2825496"/>
            <a:ext cx="201168" cy="201168"/>
          </a:xfrm>
          <a:prstGeom prst="ellipse">
            <a:avLst/>
          </a:prstGeom>
          <a:solidFill>
            <a:srgbClr val="196B24"/>
          </a:solidFill>
          <a:ln w="12700">
            <a:solidFill>
              <a:srgbClr val="196B2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Shape 53">
            <a:extLst>
              <a:ext uri="{FF2B5EF4-FFF2-40B4-BE49-F238E27FC236}">
                <a16:creationId xmlns:a16="http://schemas.microsoft.com/office/drawing/2014/main" id="{EA988143-6ECD-2A0F-864B-891D39A7870D}"/>
              </a:ext>
            </a:extLst>
          </p:cNvPr>
          <p:cNvSpPr/>
          <p:nvPr/>
        </p:nvSpPr>
        <p:spPr>
          <a:xfrm>
            <a:off x="155448" y="3648456"/>
            <a:ext cx="201168" cy="201168"/>
          </a:xfrm>
          <a:prstGeom prst="ellipse">
            <a:avLst/>
          </a:prstGeom>
          <a:solidFill>
            <a:srgbClr val="0F9ED5"/>
          </a:solidFill>
          <a:ln w="1270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Shape 54">
            <a:extLst>
              <a:ext uri="{FF2B5EF4-FFF2-40B4-BE49-F238E27FC236}">
                <a16:creationId xmlns:a16="http://schemas.microsoft.com/office/drawing/2014/main" id="{D0283DFB-E7E4-62D6-3FFD-00F606223DD8}"/>
              </a:ext>
            </a:extLst>
          </p:cNvPr>
          <p:cNvSpPr/>
          <p:nvPr/>
        </p:nvSpPr>
        <p:spPr>
          <a:xfrm>
            <a:off x="155448" y="4471416"/>
            <a:ext cx="201168" cy="201168"/>
          </a:xfrm>
          <a:prstGeom prst="ellipse">
            <a:avLst/>
          </a:prstGeom>
          <a:solidFill>
            <a:srgbClr val="E97132"/>
          </a:solidFill>
          <a:ln w="1270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Text 56">
            <a:extLst>
              <a:ext uri="{FF2B5EF4-FFF2-40B4-BE49-F238E27FC236}">
                <a16:creationId xmlns:a16="http://schemas.microsoft.com/office/drawing/2014/main" id="{394015B2-F137-7B6E-E789-48FD5A6B17DF}"/>
              </a:ext>
            </a:extLst>
          </p:cNvPr>
          <p:cNvSpPr/>
          <p:nvPr/>
        </p:nvSpPr>
        <p:spPr>
          <a:xfrm>
            <a:off x="658368" y="2050541"/>
            <a:ext cx="10314146" cy="731520"/>
          </a:xfrm>
          <a:prstGeom prst="rect">
            <a:avLst/>
          </a:prstGeom>
          <a:noFill/>
          <a:ln/>
        </p:spPr>
        <p:txBody>
          <a:bodyPr wrap="square"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600" b="1" i="0" u="none" strike="noStrike" kern="0" cap="none" spc="-50" normalizeH="0" baseline="0" noProof="0">
                <a:ln>
                  <a:noFill/>
                </a:ln>
                <a:solidFill>
                  <a:srgbClr val="FFFFFF"/>
                </a:solidFill>
                <a:effectLst/>
                <a:uLnTx/>
                <a:uFillTx/>
                <a:latin typeface="Aptos Display"/>
                <a:ea typeface="+mn-ea"/>
                <a:cs typeface="+mn-cs"/>
              </a:rPr>
              <a:t>Survival Model for Asset Failure</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Text 57">
            <a:extLst>
              <a:ext uri="{FF2B5EF4-FFF2-40B4-BE49-F238E27FC236}">
                <a16:creationId xmlns:a16="http://schemas.microsoft.com/office/drawing/2014/main" id="{3785EC49-018D-BDB2-6943-DD3F4A97C5EE}"/>
              </a:ext>
            </a:extLst>
          </p:cNvPr>
          <p:cNvSpPr/>
          <p:nvPr/>
        </p:nvSpPr>
        <p:spPr>
          <a:xfrm>
            <a:off x="658368" y="2051113"/>
            <a:ext cx="8961120" cy="512064"/>
          </a:xfrm>
          <a:prstGeom prst="rect">
            <a:avLst/>
          </a:prstGeom>
          <a:noFill/>
          <a:ln/>
        </p:spPr>
        <p:txBody>
          <a:bodyPr wrap="square"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srgbClr val="0F9ED5"/>
              </a:solidFill>
              <a:effectLst/>
              <a:uLnTx/>
              <a:uFillTx/>
              <a:latin typeface="Calibri" panose="020F0502020204030204"/>
              <a:ea typeface="Calibri"/>
              <a:cs typeface="Calibri"/>
            </a:endParaRPr>
          </a:p>
        </p:txBody>
      </p:sp>
      <p:sp>
        <p:nvSpPr>
          <p:cNvPr id="60" name="Shape 58">
            <a:extLst>
              <a:ext uri="{FF2B5EF4-FFF2-40B4-BE49-F238E27FC236}">
                <a16:creationId xmlns:a16="http://schemas.microsoft.com/office/drawing/2014/main" id="{96D964A5-3F4E-9BCE-FB2A-F1C9FFF55E4D}"/>
              </a:ext>
            </a:extLst>
          </p:cNvPr>
          <p:cNvSpPr/>
          <p:nvPr/>
        </p:nvSpPr>
        <p:spPr>
          <a:xfrm>
            <a:off x="658368" y="2768155"/>
            <a:ext cx="8229600" cy="0"/>
          </a:xfrm>
          <a:prstGeom prst="line">
            <a:avLst/>
          </a:prstGeom>
          <a:noFill/>
          <a:ln w="3175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62">
            <a:extLst>
              <a:ext uri="{FF2B5EF4-FFF2-40B4-BE49-F238E27FC236}">
                <a16:creationId xmlns:a16="http://schemas.microsoft.com/office/drawing/2014/main" id="{10E1A262-8651-2C17-5E8A-50929963CE58}"/>
              </a:ext>
            </a:extLst>
          </p:cNvPr>
          <p:cNvSpPr/>
          <p:nvPr/>
        </p:nvSpPr>
        <p:spPr>
          <a:xfrm>
            <a:off x="658368" y="2724912"/>
            <a:ext cx="10515600" cy="0"/>
          </a:xfrm>
          <a:prstGeom prst="line">
            <a:avLst/>
          </a:prstGeom>
          <a:noFill/>
          <a:ln w="1016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Shape 66">
            <a:extLst>
              <a:ext uri="{FF2B5EF4-FFF2-40B4-BE49-F238E27FC236}">
                <a16:creationId xmlns:a16="http://schemas.microsoft.com/office/drawing/2014/main" id="{799524A2-03D3-D296-2C2E-E1B5FDDEB50C}"/>
              </a:ext>
            </a:extLst>
          </p:cNvPr>
          <p:cNvSpPr/>
          <p:nvPr/>
        </p:nvSpPr>
        <p:spPr>
          <a:xfrm>
            <a:off x="658368" y="3383280"/>
            <a:ext cx="10515600" cy="0"/>
          </a:xfrm>
          <a:prstGeom prst="line">
            <a:avLst/>
          </a:prstGeom>
          <a:noFill/>
          <a:ln w="1016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Shape 70">
            <a:extLst>
              <a:ext uri="{FF2B5EF4-FFF2-40B4-BE49-F238E27FC236}">
                <a16:creationId xmlns:a16="http://schemas.microsoft.com/office/drawing/2014/main" id="{3D82B4FF-4A8F-D156-947B-FFACA7ECC6BB}"/>
              </a:ext>
            </a:extLst>
          </p:cNvPr>
          <p:cNvSpPr/>
          <p:nvPr/>
        </p:nvSpPr>
        <p:spPr>
          <a:xfrm>
            <a:off x="658368" y="4041648"/>
            <a:ext cx="10515600" cy="0"/>
          </a:xfrm>
          <a:prstGeom prst="line">
            <a:avLst/>
          </a:prstGeom>
          <a:noFill/>
          <a:ln w="1016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Shape 74">
            <a:extLst>
              <a:ext uri="{FF2B5EF4-FFF2-40B4-BE49-F238E27FC236}">
                <a16:creationId xmlns:a16="http://schemas.microsoft.com/office/drawing/2014/main" id="{02B58267-25D1-4585-6AF2-6470BFE260A8}"/>
              </a:ext>
            </a:extLst>
          </p:cNvPr>
          <p:cNvSpPr/>
          <p:nvPr/>
        </p:nvSpPr>
        <p:spPr>
          <a:xfrm>
            <a:off x="475488" y="4956048"/>
            <a:ext cx="11713464" cy="0"/>
          </a:xfrm>
          <a:prstGeom prst="line">
            <a:avLst/>
          </a:prstGeom>
          <a:noFill/>
          <a:ln w="2540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Shape 75">
            <a:extLst>
              <a:ext uri="{FF2B5EF4-FFF2-40B4-BE49-F238E27FC236}">
                <a16:creationId xmlns:a16="http://schemas.microsoft.com/office/drawing/2014/main" id="{6AEEB878-0784-8DEE-9264-C267F6C4768D}"/>
              </a:ext>
            </a:extLst>
          </p:cNvPr>
          <p:cNvSpPr/>
          <p:nvPr/>
        </p:nvSpPr>
        <p:spPr>
          <a:xfrm>
            <a:off x="475488" y="4956048"/>
            <a:ext cx="2928366" cy="1773936"/>
          </a:xfrm>
          <a:prstGeom prst="rect">
            <a:avLst/>
          </a:prstGeom>
          <a:solidFill>
            <a:srgbClr val="0E2841"/>
          </a:solidFill>
          <a:ln w="12700">
            <a:solidFill>
              <a:srgbClr val="0E28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Shape 76">
            <a:extLst>
              <a:ext uri="{FF2B5EF4-FFF2-40B4-BE49-F238E27FC236}">
                <a16:creationId xmlns:a16="http://schemas.microsoft.com/office/drawing/2014/main" id="{69039DAA-0B1B-B76E-6635-8423EC339876}"/>
              </a:ext>
            </a:extLst>
          </p:cNvPr>
          <p:cNvSpPr/>
          <p:nvPr/>
        </p:nvSpPr>
        <p:spPr>
          <a:xfrm>
            <a:off x="475488" y="4956048"/>
            <a:ext cx="2928366" cy="50292"/>
          </a:xfrm>
          <a:prstGeom prst="rect">
            <a:avLst/>
          </a:prstGeom>
          <a:solidFill>
            <a:srgbClr val="E97132"/>
          </a:solidFill>
          <a:ln w="1270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Shape 77">
            <a:extLst>
              <a:ext uri="{FF2B5EF4-FFF2-40B4-BE49-F238E27FC236}">
                <a16:creationId xmlns:a16="http://schemas.microsoft.com/office/drawing/2014/main" id="{E780E92C-E9B2-7E95-4A06-E6650F4361D6}"/>
              </a:ext>
            </a:extLst>
          </p:cNvPr>
          <p:cNvSpPr/>
          <p:nvPr/>
        </p:nvSpPr>
        <p:spPr>
          <a:xfrm>
            <a:off x="3403854" y="4956048"/>
            <a:ext cx="0" cy="1773936"/>
          </a:xfrm>
          <a:prstGeom prst="line">
            <a:avLst/>
          </a:prstGeom>
          <a:noFill/>
          <a:ln w="1270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Shape 81">
            <a:extLst>
              <a:ext uri="{FF2B5EF4-FFF2-40B4-BE49-F238E27FC236}">
                <a16:creationId xmlns:a16="http://schemas.microsoft.com/office/drawing/2014/main" id="{44EDECDB-EB05-FA11-818A-50F304F78666}"/>
              </a:ext>
            </a:extLst>
          </p:cNvPr>
          <p:cNvSpPr/>
          <p:nvPr/>
        </p:nvSpPr>
        <p:spPr>
          <a:xfrm>
            <a:off x="3403854" y="4956048"/>
            <a:ext cx="2928366" cy="1773936"/>
          </a:xfrm>
          <a:prstGeom prst="rect">
            <a:avLst/>
          </a:prstGeom>
          <a:solidFill>
            <a:srgbClr val="0E2841"/>
          </a:solidFill>
          <a:ln w="12700">
            <a:solidFill>
              <a:srgbClr val="0E28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Shape 82">
            <a:extLst>
              <a:ext uri="{FF2B5EF4-FFF2-40B4-BE49-F238E27FC236}">
                <a16:creationId xmlns:a16="http://schemas.microsoft.com/office/drawing/2014/main" id="{89ED40D4-3F32-A271-C622-D36E756D765A}"/>
              </a:ext>
            </a:extLst>
          </p:cNvPr>
          <p:cNvSpPr/>
          <p:nvPr/>
        </p:nvSpPr>
        <p:spPr>
          <a:xfrm>
            <a:off x="3403854" y="4956048"/>
            <a:ext cx="2928366" cy="50292"/>
          </a:xfrm>
          <a:prstGeom prst="rect">
            <a:avLst/>
          </a:prstGeom>
          <a:solidFill>
            <a:srgbClr val="0F9ED5"/>
          </a:solidFill>
          <a:ln w="1270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Shape 83">
            <a:extLst>
              <a:ext uri="{FF2B5EF4-FFF2-40B4-BE49-F238E27FC236}">
                <a16:creationId xmlns:a16="http://schemas.microsoft.com/office/drawing/2014/main" id="{7C86BDBE-AA73-40C1-60EA-C6250E93A0FE}"/>
              </a:ext>
            </a:extLst>
          </p:cNvPr>
          <p:cNvSpPr/>
          <p:nvPr/>
        </p:nvSpPr>
        <p:spPr>
          <a:xfrm>
            <a:off x="6332220" y="4956048"/>
            <a:ext cx="0" cy="1773936"/>
          </a:xfrm>
          <a:prstGeom prst="line">
            <a:avLst/>
          </a:prstGeom>
          <a:noFill/>
          <a:ln w="1270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Shape 87">
            <a:extLst>
              <a:ext uri="{FF2B5EF4-FFF2-40B4-BE49-F238E27FC236}">
                <a16:creationId xmlns:a16="http://schemas.microsoft.com/office/drawing/2014/main" id="{D721FE3B-12F9-55CE-1CFB-A6B3991D43A3}"/>
              </a:ext>
            </a:extLst>
          </p:cNvPr>
          <p:cNvSpPr/>
          <p:nvPr/>
        </p:nvSpPr>
        <p:spPr>
          <a:xfrm>
            <a:off x="6332220" y="4956048"/>
            <a:ext cx="2928366" cy="1773936"/>
          </a:xfrm>
          <a:prstGeom prst="rect">
            <a:avLst/>
          </a:prstGeom>
          <a:solidFill>
            <a:srgbClr val="0E2841"/>
          </a:solidFill>
          <a:ln w="12700">
            <a:solidFill>
              <a:srgbClr val="0E28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Shape 88">
            <a:extLst>
              <a:ext uri="{FF2B5EF4-FFF2-40B4-BE49-F238E27FC236}">
                <a16:creationId xmlns:a16="http://schemas.microsoft.com/office/drawing/2014/main" id="{F7E2BEF8-4A50-22B0-FE06-2F0FA9970FE7}"/>
              </a:ext>
            </a:extLst>
          </p:cNvPr>
          <p:cNvSpPr/>
          <p:nvPr/>
        </p:nvSpPr>
        <p:spPr>
          <a:xfrm>
            <a:off x="6332220" y="4956048"/>
            <a:ext cx="2928366" cy="50292"/>
          </a:xfrm>
          <a:prstGeom prst="rect">
            <a:avLst/>
          </a:prstGeom>
          <a:solidFill>
            <a:srgbClr val="196B24"/>
          </a:solidFill>
          <a:ln w="12700">
            <a:solidFill>
              <a:srgbClr val="196B2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Shape 89">
            <a:extLst>
              <a:ext uri="{FF2B5EF4-FFF2-40B4-BE49-F238E27FC236}">
                <a16:creationId xmlns:a16="http://schemas.microsoft.com/office/drawing/2014/main" id="{4D24C166-2AE3-19A8-9B42-9B8597BC5BB1}"/>
              </a:ext>
            </a:extLst>
          </p:cNvPr>
          <p:cNvSpPr/>
          <p:nvPr/>
        </p:nvSpPr>
        <p:spPr>
          <a:xfrm>
            <a:off x="9260586" y="4956048"/>
            <a:ext cx="0" cy="1773936"/>
          </a:xfrm>
          <a:prstGeom prst="line">
            <a:avLst/>
          </a:prstGeom>
          <a:noFill/>
          <a:ln w="1270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Shape 93">
            <a:extLst>
              <a:ext uri="{FF2B5EF4-FFF2-40B4-BE49-F238E27FC236}">
                <a16:creationId xmlns:a16="http://schemas.microsoft.com/office/drawing/2014/main" id="{ED18673D-C98F-0C12-E2B7-B48E7979F5A2}"/>
              </a:ext>
            </a:extLst>
          </p:cNvPr>
          <p:cNvSpPr/>
          <p:nvPr/>
        </p:nvSpPr>
        <p:spPr>
          <a:xfrm>
            <a:off x="9260586" y="4956048"/>
            <a:ext cx="2928366" cy="1773936"/>
          </a:xfrm>
          <a:prstGeom prst="rect">
            <a:avLst/>
          </a:prstGeom>
          <a:solidFill>
            <a:srgbClr val="0E2841"/>
          </a:solidFill>
          <a:ln w="12700">
            <a:solidFill>
              <a:srgbClr val="0E28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Shape 94">
            <a:extLst>
              <a:ext uri="{FF2B5EF4-FFF2-40B4-BE49-F238E27FC236}">
                <a16:creationId xmlns:a16="http://schemas.microsoft.com/office/drawing/2014/main" id="{FC243750-5855-1DE0-121E-2AEBB6512FB6}"/>
              </a:ext>
            </a:extLst>
          </p:cNvPr>
          <p:cNvSpPr/>
          <p:nvPr/>
        </p:nvSpPr>
        <p:spPr>
          <a:xfrm>
            <a:off x="9260586" y="4956048"/>
            <a:ext cx="2928366" cy="50292"/>
          </a:xfrm>
          <a:prstGeom prst="rect">
            <a:avLst/>
          </a:prstGeom>
          <a:solidFill>
            <a:srgbClr val="8BAFC4"/>
          </a:solidFill>
          <a:ln w="12700">
            <a:solidFill>
              <a:srgbClr val="8BAFC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777580"/>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9A9C9-5D0F-F9AF-3B86-94776C229836}"/>
              </a:ext>
            </a:extLst>
          </p:cNvPr>
          <p:cNvSpPr>
            <a:spLocks noGrp="1"/>
          </p:cNvSpPr>
          <p:nvPr>
            <p:ph type="title"/>
          </p:nvPr>
        </p:nvSpPr>
        <p:spPr>
          <a:xfrm>
            <a:off x="332199" y="853034"/>
            <a:ext cx="10515600" cy="458056"/>
          </a:xfrm>
        </p:spPr>
        <p:txBody>
          <a:bodyPr>
            <a:normAutofit/>
          </a:bodyPr>
          <a:lstStyle/>
          <a:p>
            <a:r>
              <a:rPr lang="en-US" sz="2000" b="1"/>
              <a:t>Objective</a:t>
            </a:r>
            <a:r>
              <a:rPr lang="en-US" sz="2000"/>
              <a:t>: to predict Assets with Client that are going to fail in next lead-time window</a:t>
            </a:r>
          </a:p>
        </p:txBody>
      </p:sp>
      <p:grpSp>
        <p:nvGrpSpPr>
          <p:cNvPr id="20" name="Group 19">
            <a:extLst>
              <a:ext uri="{FF2B5EF4-FFF2-40B4-BE49-F238E27FC236}">
                <a16:creationId xmlns:a16="http://schemas.microsoft.com/office/drawing/2014/main" id="{8BFEAAFE-940E-DDB2-4BC4-220152810000}"/>
              </a:ext>
            </a:extLst>
          </p:cNvPr>
          <p:cNvGrpSpPr/>
          <p:nvPr/>
        </p:nvGrpSpPr>
        <p:grpSpPr>
          <a:xfrm>
            <a:off x="333400" y="1542118"/>
            <a:ext cx="3987802" cy="4798290"/>
            <a:chOff x="274785" y="1870364"/>
            <a:chExt cx="3987802" cy="4798290"/>
          </a:xfrm>
        </p:grpSpPr>
        <p:sp>
          <p:nvSpPr>
            <p:cNvPr id="4" name="Can 3">
              <a:extLst>
                <a:ext uri="{FF2B5EF4-FFF2-40B4-BE49-F238E27FC236}">
                  <a16:creationId xmlns:a16="http://schemas.microsoft.com/office/drawing/2014/main" id="{AC4AC1DD-C5CA-EE7E-733B-6E871FF6ED8B}"/>
                </a:ext>
              </a:extLst>
            </p:cNvPr>
            <p:cNvSpPr/>
            <p:nvPr/>
          </p:nvSpPr>
          <p:spPr>
            <a:xfrm>
              <a:off x="879762" y="1870364"/>
              <a:ext cx="877455" cy="914400"/>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ptos" panose="02110004020202020204"/>
                  <a:ea typeface="+mn-ea"/>
                  <a:cs typeface="+mn-cs"/>
                </a:rPr>
                <a:t>Telemetry</a:t>
              </a:r>
            </a:p>
          </p:txBody>
        </p:sp>
        <p:sp>
          <p:nvSpPr>
            <p:cNvPr id="5" name="Can 4">
              <a:extLst>
                <a:ext uri="{FF2B5EF4-FFF2-40B4-BE49-F238E27FC236}">
                  <a16:creationId xmlns:a16="http://schemas.microsoft.com/office/drawing/2014/main" id="{73BF017A-A5D7-803C-C93A-EB3E9FFA287A}"/>
                </a:ext>
              </a:extLst>
            </p:cNvPr>
            <p:cNvSpPr/>
            <p:nvPr/>
          </p:nvSpPr>
          <p:spPr>
            <a:xfrm>
              <a:off x="1969653" y="1881906"/>
              <a:ext cx="877455" cy="914400"/>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ptos" panose="02110004020202020204"/>
                  <a:ea typeface="+mn-ea"/>
                  <a:cs typeface="+mn-cs"/>
                </a:rPr>
                <a:t>Tickets</a:t>
              </a:r>
            </a:p>
          </p:txBody>
        </p:sp>
        <p:sp>
          <p:nvSpPr>
            <p:cNvPr id="6" name="Can 5">
              <a:extLst>
                <a:ext uri="{FF2B5EF4-FFF2-40B4-BE49-F238E27FC236}">
                  <a16:creationId xmlns:a16="http://schemas.microsoft.com/office/drawing/2014/main" id="{C5385CC0-D90B-9DE7-3412-4D2B825B5E3C}"/>
                </a:ext>
              </a:extLst>
            </p:cNvPr>
            <p:cNvSpPr/>
            <p:nvPr/>
          </p:nvSpPr>
          <p:spPr>
            <a:xfrm>
              <a:off x="3061812" y="1881906"/>
              <a:ext cx="877455" cy="914400"/>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ptos" panose="02110004020202020204"/>
                  <a:ea typeface="+mn-ea"/>
                  <a:cs typeface="+mn-cs"/>
                </a:rPr>
                <a:t>Assets</a:t>
              </a:r>
            </a:p>
          </p:txBody>
        </p:sp>
        <p:sp>
          <p:nvSpPr>
            <p:cNvPr id="9" name="Cube 8">
              <a:extLst>
                <a:ext uri="{FF2B5EF4-FFF2-40B4-BE49-F238E27FC236}">
                  <a16:creationId xmlns:a16="http://schemas.microsoft.com/office/drawing/2014/main" id="{0821E9B6-1B53-BAE3-3248-02B495C86CCF}"/>
                </a:ext>
              </a:extLst>
            </p:cNvPr>
            <p:cNvSpPr/>
            <p:nvPr/>
          </p:nvSpPr>
          <p:spPr>
            <a:xfrm>
              <a:off x="274785" y="5107712"/>
              <a:ext cx="995220" cy="1062181"/>
            </a:xfrm>
            <a:prstGeom prst="cub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110004020202020204"/>
                  <a:ea typeface="+mn-ea"/>
                  <a:cs typeface="+mn-cs"/>
                </a:rPr>
                <a:t>ADS</a:t>
              </a:r>
            </a:p>
          </p:txBody>
        </p:sp>
        <p:sp>
          <p:nvSpPr>
            <p:cNvPr id="10" name="Cube 9">
              <a:extLst>
                <a:ext uri="{FF2B5EF4-FFF2-40B4-BE49-F238E27FC236}">
                  <a16:creationId xmlns:a16="http://schemas.microsoft.com/office/drawing/2014/main" id="{0A851CD3-41F7-D690-8B85-307703C348CE}"/>
                </a:ext>
              </a:extLst>
            </p:cNvPr>
            <p:cNvSpPr/>
            <p:nvPr/>
          </p:nvSpPr>
          <p:spPr>
            <a:xfrm>
              <a:off x="1027549" y="5107711"/>
              <a:ext cx="995220" cy="1062181"/>
            </a:xfrm>
            <a:prstGeom prst="cub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ptos" panose="02110004020202020204"/>
                  <a:ea typeface="+mn-ea"/>
                  <a:cs typeface="+mn-cs"/>
                </a:rPr>
                <a:t>Rolling Window</a:t>
              </a:r>
            </a:p>
          </p:txBody>
        </p:sp>
        <p:sp>
          <p:nvSpPr>
            <p:cNvPr id="11" name="Cube 10">
              <a:extLst>
                <a:ext uri="{FF2B5EF4-FFF2-40B4-BE49-F238E27FC236}">
                  <a16:creationId xmlns:a16="http://schemas.microsoft.com/office/drawing/2014/main" id="{C3FDF257-5F81-ADBC-A69E-CB87D433988B}"/>
                </a:ext>
              </a:extLst>
            </p:cNvPr>
            <p:cNvSpPr/>
            <p:nvPr/>
          </p:nvSpPr>
          <p:spPr>
            <a:xfrm>
              <a:off x="1771076" y="5107711"/>
              <a:ext cx="995220" cy="1062181"/>
            </a:xfrm>
            <a:prstGeom prst="cub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ptos" panose="02110004020202020204"/>
                  <a:ea typeface="+mn-ea"/>
                  <a:cs typeface="+mn-cs"/>
                </a:rPr>
                <a:t>Trends</a:t>
              </a:r>
            </a:p>
          </p:txBody>
        </p:sp>
        <p:sp>
          <p:nvSpPr>
            <p:cNvPr id="12" name="Cube 11">
              <a:extLst>
                <a:ext uri="{FF2B5EF4-FFF2-40B4-BE49-F238E27FC236}">
                  <a16:creationId xmlns:a16="http://schemas.microsoft.com/office/drawing/2014/main" id="{9D70216A-C885-884B-2B6A-543544F20B63}"/>
                </a:ext>
              </a:extLst>
            </p:cNvPr>
            <p:cNvSpPr/>
            <p:nvPr/>
          </p:nvSpPr>
          <p:spPr>
            <a:xfrm>
              <a:off x="2523840" y="5107710"/>
              <a:ext cx="995220" cy="1062181"/>
            </a:xfrm>
            <a:prstGeom prst="cub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ptos" panose="02110004020202020204"/>
                  <a:ea typeface="+mn-ea"/>
                  <a:cs typeface="+mn-cs"/>
                </a:rPr>
                <a:t>Lag</a:t>
              </a:r>
            </a:p>
          </p:txBody>
        </p:sp>
        <p:sp>
          <p:nvSpPr>
            <p:cNvPr id="14" name="Cube 13">
              <a:extLst>
                <a:ext uri="{FF2B5EF4-FFF2-40B4-BE49-F238E27FC236}">
                  <a16:creationId xmlns:a16="http://schemas.microsoft.com/office/drawing/2014/main" id="{D430D20D-D542-D1A3-5CF9-473E3849C4D3}"/>
                </a:ext>
              </a:extLst>
            </p:cNvPr>
            <p:cNvSpPr/>
            <p:nvPr/>
          </p:nvSpPr>
          <p:spPr>
            <a:xfrm>
              <a:off x="1878443" y="3475182"/>
              <a:ext cx="995220" cy="1062181"/>
            </a:xfrm>
            <a:prstGeom prst="cub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solidFill>
                  <a:effectLst/>
                  <a:uLnTx/>
                  <a:uFillTx/>
                  <a:latin typeface="Aptos" panose="02110004020202020204"/>
                  <a:ea typeface="+mn-ea"/>
                  <a:cs typeface="+mn-cs"/>
                </a:rPr>
                <a:t>Combined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solidFill>
                  <a:effectLst/>
                  <a:uLnTx/>
                  <a:uFillTx/>
                  <a:latin typeface="Aptos" panose="02110004020202020204"/>
                  <a:ea typeface="+mn-ea"/>
                  <a:cs typeface="+mn-cs"/>
                </a:rPr>
                <a:t>Final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solidFill>
                  <a:effectLst/>
                  <a:uLnTx/>
                  <a:uFillTx/>
                  <a:latin typeface="Aptos" panose="02110004020202020204"/>
                  <a:ea typeface="+mn-ea"/>
                  <a:cs typeface="+mn-cs"/>
                </a:rPr>
                <a:t>ADS</a:t>
              </a:r>
            </a:p>
          </p:txBody>
        </p:sp>
        <p:sp>
          <p:nvSpPr>
            <p:cNvPr id="15" name="Left Brace 14">
              <a:extLst>
                <a:ext uri="{FF2B5EF4-FFF2-40B4-BE49-F238E27FC236}">
                  <a16:creationId xmlns:a16="http://schemas.microsoft.com/office/drawing/2014/main" id="{6C625BE8-590C-815B-B26F-2061C45DABA7}"/>
                </a:ext>
              </a:extLst>
            </p:cNvPr>
            <p:cNvSpPr/>
            <p:nvPr/>
          </p:nvSpPr>
          <p:spPr>
            <a:xfrm rot="16200000">
              <a:off x="2073567" y="2029688"/>
              <a:ext cx="690417" cy="2200567"/>
            </a:xfrm>
            <a:prstGeom prst="leftBrace">
              <a:avLst>
                <a:gd name="adj1" fmla="val 8333"/>
                <a:gd name="adj2" fmla="val 48686"/>
              </a:avLst>
            </a:prstGeom>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17" name="Straight Connector 16">
              <a:extLst>
                <a:ext uri="{FF2B5EF4-FFF2-40B4-BE49-F238E27FC236}">
                  <a16:creationId xmlns:a16="http://schemas.microsoft.com/office/drawing/2014/main" id="{CA2C7DD7-6BB8-C01F-1BF9-C0F12780CBDC}"/>
                </a:ext>
              </a:extLst>
            </p:cNvPr>
            <p:cNvCxnSpPr>
              <a:cxnSpLocks/>
              <a:stCxn id="5" idx="3"/>
              <a:endCxn id="15" idx="1"/>
            </p:cNvCxnSpPr>
            <p:nvPr/>
          </p:nvCxnSpPr>
          <p:spPr>
            <a:xfrm flipH="1">
              <a:off x="2389860" y="2796306"/>
              <a:ext cx="18521" cy="678874"/>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A2E85798-7924-D36C-A78A-C0F2336A90A5}"/>
                </a:ext>
              </a:extLst>
            </p:cNvPr>
            <p:cNvCxnSpPr>
              <a:cxnSpLocks/>
              <a:stCxn id="14" idx="3"/>
              <a:endCxn id="9" idx="0"/>
            </p:cNvCxnSpPr>
            <p:nvPr/>
          </p:nvCxnSpPr>
          <p:spPr>
            <a:xfrm flipH="1">
              <a:off x="896798" y="4537363"/>
              <a:ext cx="1354853" cy="5703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Right Arrow 24">
              <a:extLst>
                <a:ext uri="{FF2B5EF4-FFF2-40B4-BE49-F238E27FC236}">
                  <a16:creationId xmlns:a16="http://schemas.microsoft.com/office/drawing/2014/main" id="{9AC38240-95D3-83D2-5362-D6693B7D729E}"/>
                </a:ext>
              </a:extLst>
            </p:cNvPr>
            <p:cNvSpPr/>
            <p:nvPr/>
          </p:nvSpPr>
          <p:spPr>
            <a:xfrm>
              <a:off x="1173019" y="6277980"/>
              <a:ext cx="2918690" cy="39067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ptos" panose="02110004020202020204"/>
                  <a:ea typeface="+mn-ea"/>
                  <a:cs typeface="+mn-cs"/>
                </a:rPr>
                <a:t>New Features</a:t>
              </a:r>
            </a:p>
          </p:txBody>
        </p:sp>
        <p:sp>
          <p:nvSpPr>
            <p:cNvPr id="26" name="Cube 25">
              <a:extLst>
                <a:ext uri="{FF2B5EF4-FFF2-40B4-BE49-F238E27FC236}">
                  <a16:creationId xmlns:a16="http://schemas.microsoft.com/office/drawing/2014/main" id="{A7E228D4-EBF7-92D9-00DD-04D403A25A7A}"/>
                </a:ext>
              </a:extLst>
            </p:cNvPr>
            <p:cNvSpPr/>
            <p:nvPr/>
          </p:nvSpPr>
          <p:spPr>
            <a:xfrm>
              <a:off x="3267367" y="5107709"/>
              <a:ext cx="995220" cy="1062181"/>
            </a:xfrm>
            <a:prstGeom prst="cub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ptos" panose="02110004020202020204"/>
                  <a:ea typeface="+mn-ea"/>
                  <a:cs typeface="+mn-cs"/>
                </a:rPr>
                <a:t>Event and Duration</a:t>
              </a:r>
            </a:p>
          </p:txBody>
        </p:sp>
      </p:grpSp>
      <p:sp>
        <p:nvSpPr>
          <p:cNvPr id="31" name="TextBox 30">
            <a:extLst>
              <a:ext uri="{FF2B5EF4-FFF2-40B4-BE49-F238E27FC236}">
                <a16:creationId xmlns:a16="http://schemas.microsoft.com/office/drawing/2014/main" id="{21AACE1F-E26D-2AE2-3C70-D2D8827A5C29}"/>
              </a:ext>
            </a:extLst>
          </p:cNvPr>
          <p:cNvSpPr txBox="1"/>
          <p:nvPr/>
        </p:nvSpPr>
        <p:spPr>
          <a:xfrm>
            <a:off x="4681887" y="1545803"/>
            <a:ext cx="6782318" cy="1354217"/>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a:ln>
                  <a:noFill/>
                </a:ln>
                <a:solidFill>
                  <a:prstClr val="black"/>
                </a:solidFill>
                <a:effectLst/>
                <a:uLnTx/>
                <a:uFillTx/>
                <a:latin typeface="Aptos" panose="02110004020202020204"/>
                <a:ea typeface="+mn-ea"/>
                <a:cs typeface="+mn-cs"/>
              </a:rPr>
              <a:t>We clean up the Individual Base fact tables</a:t>
            </a:r>
            <a:r>
              <a:rPr kumimoji="0" lang="en-US" sz="1600" b="1" i="0" u="none" strike="noStrike" kern="1200" cap="none" spc="0" normalizeH="0" baseline="0" noProof="0">
                <a:ln>
                  <a:noFill/>
                </a:ln>
                <a:solidFill>
                  <a:prstClr val="black"/>
                </a:solidFill>
                <a:effectLst/>
                <a:uLnTx/>
                <a:uFillTx/>
                <a:latin typeface="Aptos" panose="02110004020202020204"/>
                <a:ea typeface="+mn-ea"/>
                <a:cs typeface="+mn-cs"/>
              </a:rPr>
              <a:t> </a:t>
            </a:r>
            <a:r>
              <a:rPr kumimoji="0" lang="en-US" sz="1600" b="0" i="0" u="none" strike="noStrike" kern="1200" cap="none" spc="0" normalizeH="0" baseline="0" noProof="0">
                <a:ln>
                  <a:noFill/>
                </a:ln>
                <a:solidFill>
                  <a:prstClr val="black"/>
                </a:solidFill>
                <a:effectLst/>
                <a:uLnTx/>
                <a:uFillTx/>
                <a:latin typeface="Aptos" panose="02110004020202020204"/>
                <a:ea typeface="+mn-ea"/>
                <a:cs typeface="+mn-cs"/>
              </a:rPr>
              <a:t>by removing duplicate and Null record. We record a drop of 1.8% rows in Tickets and Telemetry data, so we go ahead with removal instead of imputation of the records. Moreover, Telemetry value Imputed would have cause bias in the model training data</a:t>
            </a:r>
            <a:endParaRPr lang="en-US" sz="16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2" name="TextBox 31">
            <a:extLst>
              <a:ext uri="{FF2B5EF4-FFF2-40B4-BE49-F238E27FC236}">
                <a16:creationId xmlns:a16="http://schemas.microsoft.com/office/drawing/2014/main" id="{D348AC90-F7DC-7729-99BB-E808AE6C5FCC}"/>
              </a:ext>
            </a:extLst>
          </p:cNvPr>
          <p:cNvSpPr txBox="1"/>
          <p:nvPr/>
        </p:nvSpPr>
        <p:spPr>
          <a:xfrm>
            <a:off x="4694527" y="3127315"/>
            <a:ext cx="6782308" cy="1138773"/>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a:ln>
                  <a:noFill/>
                </a:ln>
                <a:solidFill>
                  <a:prstClr val="black"/>
                </a:solidFill>
                <a:effectLst/>
                <a:uLnTx/>
                <a:uFillTx/>
                <a:latin typeface="Aptos" panose="02110004020202020204"/>
                <a:ea typeface="+mn-ea"/>
                <a:cs typeface="+mn-cs"/>
              </a:rPr>
              <a:t>We marry cleaned Telemetry, Tickets and Assets Data at Asset Client ID Level</a:t>
            </a:r>
            <a:r>
              <a:rPr kumimoji="0" lang="en-US" sz="1600" b="0" i="0" u="none" strike="noStrike" kern="1200" cap="none" spc="0" normalizeH="0" baseline="0" noProof="0">
                <a:ln>
                  <a:noFill/>
                </a:ln>
                <a:solidFill>
                  <a:prstClr val="black"/>
                </a:solidFill>
                <a:effectLst/>
                <a:uLnTx/>
                <a:uFillTx/>
                <a:latin typeface="Aptos" panose="02110004020202020204"/>
                <a:ea typeface="+mn-ea"/>
                <a:cs typeface="+mn-cs"/>
              </a:rPr>
              <a:t> to create a Timeline story of which Telemetry where recorded leading up to the tickets raised for the asset. We create a 40K row of data frame</a:t>
            </a:r>
            <a:endParaRPr lang="en-US" sz="16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3" name="TextBox 32">
            <a:extLst>
              <a:ext uri="{FF2B5EF4-FFF2-40B4-BE49-F238E27FC236}">
                <a16:creationId xmlns:a16="http://schemas.microsoft.com/office/drawing/2014/main" id="{3E038F47-8E1C-FDBA-D4CC-FCC2AFBA4D9B}"/>
              </a:ext>
            </a:extLst>
          </p:cNvPr>
          <p:cNvSpPr txBox="1"/>
          <p:nvPr/>
        </p:nvSpPr>
        <p:spPr>
          <a:xfrm>
            <a:off x="4706799" y="4589013"/>
            <a:ext cx="6547834" cy="1384995"/>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a:ln>
                  <a:noFill/>
                </a:ln>
                <a:solidFill>
                  <a:prstClr val="black"/>
                </a:solidFill>
                <a:effectLst/>
                <a:uLnTx/>
                <a:uFillTx/>
                <a:latin typeface="Aptos" panose="02110004020202020204"/>
                <a:ea typeface="+mn-ea"/>
                <a:cs typeface="+mn-cs"/>
              </a:rPr>
              <a:t>We create various features to test for the impact they have on the failure event</a:t>
            </a:r>
            <a:r>
              <a:rPr kumimoji="0" lang="en-US" sz="1600" b="1" i="0" u="none" strike="noStrike" kern="1200" cap="none" spc="0" normalizeH="0" baseline="0" noProof="0">
                <a:ln>
                  <a:noFill/>
                </a:ln>
                <a:solidFill>
                  <a:prstClr val="black"/>
                </a:solidFill>
                <a:effectLst/>
                <a:uLnTx/>
                <a:uFillTx/>
                <a:latin typeface="Aptos" panose="02110004020202020204"/>
                <a:ea typeface="+mn-ea"/>
                <a:cs typeface="+mn-cs"/>
              </a:rPr>
              <a:t> </a:t>
            </a:r>
            <a:r>
              <a:rPr kumimoji="0" lang="en-US" sz="1600" b="0" i="0" u="none" strike="noStrike" kern="1200" cap="none" spc="0" normalizeH="0" baseline="0" noProof="0">
                <a:ln>
                  <a:noFill/>
                </a:ln>
                <a:solidFill>
                  <a:prstClr val="black"/>
                </a:solidFill>
                <a:effectLst/>
                <a:uLnTx/>
                <a:uFillTx/>
                <a:latin typeface="Aptos" panose="02110004020202020204"/>
                <a:ea typeface="+mn-ea"/>
                <a:cs typeface="+mn-cs"/>
              </a:rPr>
              <a:t>which we define as a combination of recorded Failure flags from Tickets and Telemetry logs and addition Business logic of Warranty </a:t>
            </a:r>
            <a:r>
              <a:rPr lang="en-US" sz="1600" kern="1200">
                <a:solidFill>
                  <a:prstClr val="black"/>
                </a:solidFill>
                <a:latin typeface="Aptos" panose="02110004020202020204"/>
                <a:ea typeface="+mn-ea"/>
                <a:cs typeface="+mn-cs"/>
              </a:rPr>
              <a:t>end</a:t>
            </a:r>
            <a:r>
              <a:rPr kumimoji="0" lang="en-US" sz="1600" b="0" i="0" u="none" strike="noStrike" kern="1200" cap="none" spc="0" normalizeH="0" baseline="0" noProof="0">
                <a:ln>
                  <a:noFill/>
                </a:ln>
                <a:solidFill>
                  <a:prstClr val="black"/>
                </a:solidFill>
                <a:effectLst/>
                <a:uLnTx/>
                <a:uFillTx/>
                <a:latin typeface="Aptos" panose="02110004020202020204"/>
                <a:ea typeface="+mn-ea"/>
                <a:cs typeface="+mn-cs"/>
              </a:rPr>
              <a:t> of the assets to trigger replacement order before the failure event in the lead time of the assets</a:t>
            </a:r>
            <a:endParaRPr lang="en-US" sz="16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34" name="Straight Connector 33">
            <a:extLst>
              <a:ext uri="{FF2B5EF4-FFF2-40B4-BE49-F238E27FC236}">
                <a16:creationId xmlns:a16="http://schemas.microsoft.com/office/drawing/2014/main" id="{BF02CBC6-AAAC-1A9D-769E-1765701FB61D}"/>
              </a:ext>
            </a:extLst>
          </p:cNvPr>
          <p:cNvCxnSpPr>
            <a:cxnSpLocks/>
          </p:cNvCxnSpPr>
          <p:nvPr/>
        </p:nvCxnSpPr>
        <p:spPr>
          <a:xfrm>
            <a:off x="4636654" y="1541407"/>
            <a:ext cx="0" cy="4765286"/>
          </a:xfrm>
          <a:prstGeom prst="line">
            <a:avLst/>
          </a:prstGeom>
          <a:ln>
            <a:prstDash val="dash"/>
          </a:ln>
        </p:spPr>
        <p:style>
          <a:lnRef idx="2">
            <a:schemeClr val="dk1"/>
          </a:lnRef>
          <a:fillRef idx="0">
            <a:schemeClr val="dk1"/>
          </a:fillRef>
          <a:effectRef idx="1">
            <a:schemeClr val="dk1"/>
          </a:effectRef>
          <a:fontRef idx="minor">
            <a:schemeClr val="tx1"/>
          </a:fontRef>
        </p:style>
      </p:cxnSp>
      <p:cxnSp>
        <p:nvCxnSpPr>
          <p:cNvPr id="35" name="Straight Connector 34">
            <a:extLst>
              <a:ext uri="{FF2B5EF4-FFF2-40B4-BE49-F238E27FC236}">
                <a16:creationId xmlns:a16="http://schemas.microsoft.com/office/drawing/2014/main" id="{6D1F2058-906B-EBCB-B4AF-ACE74618FE6B}"/>
              </a:ext>
            </a:extLst>
          </p:cNvPr>
          <p:cNvCxnSpPr>
            <a:cxnSpLocks/>
          </p:cNvCxnSpPr>
          <p:nvPr/>
        </p:nvCxnSpPr>
        <p:spPr>
          <a:xfrm>
            <a:off x="4695260" y="2953724"/>
            <a:ext cx="7043737" cy="0"/>
          </a:xfrm>
          <a:prstGeom prst="line">
            <a:avLst/>
          </a:prstGeom>
          <a:ln>
            <a:prstDash val="dash"/>
          </a:ln>
        </p:spPr>
        <p:style>
          <a:lnRef idx="2">
            <a:schemeClr val="dk1"/>
          </a:lnRef>
          <a:fillRef idx="0">
            <a:schemeClr val="dk1"/>
          </a:fillRef>
          <a:effectRef idx="1">
            <a:schemeClr val="dk1"/>
          </a:effectRef>
          <a:fontRef idx="minor">
            <a:schemeClr val="tx1"/>
          </a:fontRef>
        </p:style>
      </p:cxnSp>
      <p:cxnSp>
        <p:nvCxnSpPr>
          <p:cNvPr id="40" name="Straight Connector 39">
            <a:extLst>
              <a:ext uri="{FF2B5EF4-FFF2-40B4-BE49-F238E27FC236}">
                <a16:creationId xmlns:a16="http://schemas.microsoft.com/office/drawing/2014/main" id="{E5450333-3DC2-C95A-9712-6E48DD502536}"/>
              </a:ext>
            </a:extLst>
          </p:cNvPr>
          <p:cNvCxnSpPr>
            <a:cxnSpLocks/>
          </p:cNvCxnSpPr>
          <p:nvPr/>
        </p:nvCxnSpPr>
        <p:spPr>
          <a:xfrm flipV="1">
            <a:off x="4706983" y="4321945"/>
            <a:ext cx="7043920" cy="105690"/>
          </a:xfrm>
          <a:prstGeom prst="line">
            <a:avLst/>
          </a:prstGeom>
          <a:ln>
            <a:prstDash val="dash"/>
          </a:ln>
        </p:spPr>
        <p:style>
          <a:lnRef idx="2">
            <a:schemeClr val="dk1"/>
          </a:lnRef>
          <a:fillRef idx="0">
            <a:schemeClr val="dk1"/>
          </a:fillRef>
          <a:effectRef idx="1">
            <a:schemeClr val="dk1"/>
          </a:effectRef>
          <a:fontRef idx="minor">
            <a:schemeClr val="tx1"/>
          </a:fontRef>
        </p:style>
      </p:cxnSp>
      <p:sp>
        <p:nvSpPr>
          <p:cNvPr id="13" name="Rectangle 12">
            <a:extLst>
              <a:ext uri="{FF2B5EF4-FFF2-40B4-BE49-F238E27FC236}">
                <a16:creationId xmlns:a16="http://schemas.microsoft.com/office/drawing/2014/main" id="{0D2CBD3F-5D51-4EB9-F8E0-CE0B92782822}"/>
              </a:ext>
            </a:extLst>
          </p:cNvPr>
          <p:cNvSpPr/>
          <p:nvPr/>
        </p:nvSpPr>
        <p:spPr>
          <a:xfrm>
            <a:off x="0" y="0"/>
            <a:ext cx="12191969" cy="859536"/>
          </a:xfrm>
          <a:prstGeom prst="rect">
            <a:avLst/>
          </a:prstGeom>
          <a:solidFill>
            <a:srgbClr val="1E27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0" name="TextBox 29">
            <a:extLst>
              <a:ext uri="{FF2B5EF4-FFF2-40B4-BE49-F238E27FC236}">
                <a16:creationId xmlns:a16="http://schemas.microsoft.com/office/drawing/2014/main" id="{54083BB1-39E4-E7B2-2229-59B000562F45}"/>
              </a:ext>
            </a:extLst>
          </p:cNvPr>
          <p:cNvSpPr txBox="1"/>
          <p:nvPr/>
        </p:nvSpPr>
        <p:spPr>
          <a:xfrm>
            <a:off x="329698" y="48828"/>
            <a:ext cx="7521301" cy="230832"/>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kern="1200">
                <a:solidFill>
                  <a:srgbClr val="8AAEC4"/>
                </a:solidFill>
                <a:latin typeface="Trebuchet MS"/>
                <a:ea typeface="+mn-ea"/>
                <a:cs typeface="+mn-cs"/>
              </a:rPr>
              <a:t>Predictive Maintenance - Data Processing and Feature Engineering</a:t>
            </a:r>
          </a:p>
        </p:txBody>
      </p:sp>
      <p:sp>
        <p:nvSpPr>
          <p:cNvPr id="29" name="TextBox 28">
            <a:extLst>
              <a:ext uri="{FF2B5EF4-FFF2-40B4-BE49-F238E27FC236}">
                <a16:creationId xmlns:a16="http://schemas.microsoft.com/office/drawing/2014/main" id="{7CBAE73E-5824-298A-9BA4-30ACF3BAE8B3}"/>
              </a:ext>
            </a:extLst>
          </p:cNvPr>
          <p:cNvSpPr txBox="1"/>
          <p:nvPr/>
        </p:nvSpPr>
        <p:spPr>
          <a:xfrm>
            <a:off x="10427947" y="48828"/>
            <a:ext cx="1672045" cy="369332"/>
          </a:xfrm>
          <a:prstGeom prst="rect">
            <a:avLst/>
          </a:prstGeom>
          <a:noFill/>
        </p:spPr>
        <p:txBody>
          <a:bodyPr wrap="square" lIns="91440" tIns="45720" rIns="91440" bIns="45720" rtlCol="0" anchor="t">
            <a:spAutoFit/>
          </a:bodyPr>
          <a:lstStyle/>
          <a:p>
            <a:pPr algn="l" rtl="0">
              <a:defRPr/>
            </a:pPr>
            <a:r>
              <a:rPr lang="en-US" sz="900" b="1" kern="1200">
                <a:solidFill>
                  <a:schemeClr val="bg1"/>
                </a:solidFill>
                <a:latin typeface="Trebuchet MS"/>
                <a:ea typeface="+mn-ea"/>
                <a:cs typeface="+mn-cs"/>
              </a:rPr>
              <a:t>Expected Time Spent : 1 w</a:t>
            </a:r>
          </a:p>
          <a:p>
            <a:pPr algn="l" rtl="0">
              <a:defRPr/>
            </a:pPr>
            <a:r>
              <a:rPr lang="en-US" sz="900" b="1" kern="1200">
                <a:solidFill>
                  <a:schemeClr val="bg1"/>
                </a:solidFill>
                <a:latin typeface="Trebuchet MS"/>
                <a:ea typeface="+mn-ea"/>
                <a:cs typeface="+mn-cs"/>
              </a:rPr>
              <a:t>Actual Time Spent : 1 w</a:t>
            </a:r>
          </a:p>
        </p:txBody>
      </p:sp>
      <p:sp>
        <p:nvSpPr>
          <p:cNvPr id="18" name="TextBox 17">
            <a:extLst>
              <a:ext uri="{FF2B5EF4-FFF2-40B4-BE49-F238E27FC236}">
                <a16:creationId xmlns:a16="http://schemas.microsoft.com/office/drawing/2014/main" id="{2B9F78F0-77E6-E749-DD0F-16D2893A1477}"/>
              </a:ext>
            </a:extLst>
          </p:cNvPr>
          <p:cNvSpPr txBox="1"/>
          <p:nvPr/>
        </p:nvSpPr>
        <p:spPr>
          <a:xfrm>
            <a:off x="328559" y="287528"/>
            <a:ext cx="11734769" cy="658368"/>
          </a:xfrm>
          <a:prstGeom prst="rect">
            <a:avLst/>
          </a:prstGeom>
          <a:noFill/>
        </p:spPr>
        <p:txBody>
          <a:bodyPr wrap="square" lIns="91440" tIns="45720" rIns="91440" bIns="45720" anchor="t"/>
          <a:lstStyle/>
          <a:p>
            <a:pPr algn="l">
              <a:defRPr/>
            </a:pPr>
            <a:r>
              <a:rPr lang="en-US" sz="2400" b="1" kern="1200">
                <a:solidFill>
                  <a:schemeClr val="bg1"/>
                </a:solidFill>
                <a:latin typeface="Calibri"/>
                <a:ea typeface="Calibri"/>
                <a:cs typeface="Calibri"/>
              </a:rPr>
              <a:t>Survival Model for Asset Failure Prediction</a:t>
            </a:r>
            <a:endParaRPr lang="en-US"/>
          </a:p>
        </p:txBody>
      </p:sp>
    </p:spTree>
    <p:extLst>
      <p:ext uri="{BB962C8B-B14F-4D97-AF65-F5344CB8AC3E}">
        <p14:creationId xmlns:p14="http://schemas.microsoft.com/office/powerpoint/2010/main" val="1804817718"/>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E83227-04E8-C44B-6A67-0DFAA4FD96FE}"/>
              </a:ext>
            </a:extLst>
          </p:cNvPr>
          <p:cNvSpPr>
            <a:spLocks noGrp="1"/>
          </p:cNvSpPr>
          <p:nvPr>
            <p:ph idx="1"/>
          </p:nvPr>
        </p:nvSpPr>
        <p:spPr>
          <a:xfrm>
            <a:off x="330363" y="1401233"/>
            <a:ext cx="6173199" cy="3591537"/>
          </a:xfrm>
        </p:spPr>
        <p:txBody>
          <a:bodyPr vert="horz" lIns="91440" tIns="45720" rIns="91440" bIns="45720" rtlCol="0" anchor="t">
            <a:normAutofit fontScale="92500" lnSpcReduction="20000"/>
          </a:bodyPr>
          <a:lstStyle/>
          <a:p>
            <a:pPr marL="0" indent="0">
              <a:buNone/>
            </a:pPr>
            <a:r>
              <a:rPr lang="en-IN" sz="1700" b="1"/>
              <a:t>Stages of Model Training and Prediction</a:t>
            </a:r>
            <a:r>
              <a:rPr lang="en-IN" sz="1900"/>
              <a:t>:</a:t>
            </a:r>
          </a:p>
          <a:p>
            <a:pPr marL="457200" indent="-457200">
              <a:buFont typeface="+mj-lt"/>
              <a:buAutoNum type="arabicPeriod"/>
            </a:pPr>
            <a:r>
              <a:rPr lang="en-IN" sz="1500" b="1"/>
              <a:t>Variance filter</a:t>
            </a:r>
            <a:r>
              <a:rPr lang="en-IN" sz="1500"/>
              <a:t>: Remove features with no variation</a:t>
            </a:r>
          </a:p>
          <a:p>
            <a:pPr marL="457200" indent="-457200">
              <a:buFont typeface="+mj-lt"/>
              <a:buAutoNum type="arabicPeriod"/>
            </a:pPr>
            <a:r>
              <a:rPr lang="en-IN" sz="1500" b="1"/>
              <a:t>Correlation filter</a:t>
            </a:r>
            <a:r>
              <a:rPr lang="en-IN" sz="1500"/>
              <a:t>: Remove highly correlated features to avoid multicollinearity</a:t>
            </a:r>
          </a:p>
          <a:p>
            <a:pPr marL="457200" indent="-457200">
              <a:buFont typeface="+mj-lt"/>
              <a:buAutoNum type="arabicPeriod"/>
            </a:pPr>
            <a:r>
              <a:rPr lang="en-IN" sz="1500" b="1"/>
              <a:t>Kaplan-Meier filter</a:t>
            </a:r>
            <a:r>
              <a:rPr lang="en-IN" sz="1500"/>
              <a:t>: Keep features with significant survival differences</a:t>
            </a:r>
          </a:p>
          <a:p>
            <a:pPr marL="457200" indent="-457200">
              <a:buFont typeface="+mj-lt"/>
              <a:buAutoNum type="arabicPeriod"/>
            </a:pPr>
            <a:r>
              <a:rPr lang="en-IN" sz="1500" b="1"/>
              <a:t>Cox regression filter</a:t>
            </a:r>
            <a:r>
              <a:rPr lang="en-IN" sz="1500"/>
              <a:t>: Keep features with significant hazard ratios</a:t>
            </a:r>
          </a:p>
          <a:p>
            <a:pPr marL="457200" indent="-457200">
              <a:buFont typeface="+mj-lt"/>
              <a:buAutoNum type="arabicPeriod"/>
            </a:pPr>
            <a:r>
              <a:rPr lang="en-IN" sz="1500" b="1"/>
              <a:t>Random Forest importance</a:t>
            </a:r>
            <a:r>
              <a:rPr lang="en-IN" sz="1500"/>
              <a:t>: Select top features by predictive power</a:t>
            </a:r>
          </a:p>
          <a:p>
            <a:pPr marL="457200" indent="-457200">
              <a:buFont typeface="+mj-lt"/>
              <a:buAutoNum type="arabicPeriod"/>
            </a:pPr>
            <a:r>
              <a:rPr lang="en-IN" sz="1500"/>
              <a:t>Train </a:t>
            </a:r>
            <a:r>
              <a:rPr lang="en-IN" sz="1500" b="1"/>
              <a:t>Random Survival Forrest with the top features Identified</a:t>
            </a:r>
          </a:p>
          <a:p>
            <a:pPr marL="457200" indent="-457200">
              <a:buFont typeface="+mj-lt"/>
              <a:buAutoNum type="arabicPeriod"/>
            </a:pPr>
            <a:r>
              <a:rPr lang="en-IN" sz="1500"/>
              <a:t>Predict the Failure Event along with the Window of failure</a:t>
            </a:r>
          </a:p>
          <a:p>
            <a:pPr marL="457200" indent="-457200">
              <a:buFont typeface="+mj-lt"/>
              <a:buAutoNum type="arabicPeriod"/>
            </a:pPr>
            <a:r>
              <a:rPr lang="en-IN" sz="1500"/>
              <a:t>Log the C-Index to evaluate the Model performance</a:t>
            </a:r>
          </a:p>
          <a:p>
            <a:pPr marL="457200" indent="-457200">
              <a:buFont typeface="+mj-lt"/>
              <a:buAutoNum type="arabicPeriod"/>
            </a:pPr>
            <a:r>
              <a:rPr lang="en-IN" sz="1500" b="1"/>
              <a:t>Merge the prediction with Lead time and Inventory data </a:t>
            </a:r>
          </a:p>
          <a:p>
            <a:pPr marL="457200" indent="-457200">
              <a:buFont typeface="+mj-lt"/>
              <a:buAutoNum type="arabicPeriod"/>
            </a:pPr>
            <a:r>
              <a:rPr lang="en-IN" sz="1500" b="1"/>
              <a:t>Calculate number of Assets are set to failure within the assets level lead times and needs to be ordered right now</a:t>
            </a:r>
          </a:p>
          <a:p>
            <a:pPr marL="0" indent="0">
              <a:buNone/>
            </a:pPr>
            <a:endParaRPr lang="en-IN" sz="1900"/>
          </a:p>
          <a:p>
            <a:pPr marL="0" indent="0">
              <a:buNone/>
            </a:pPr>
            <a:endParaRPr lang="en-IN" sz="1900"/>
          </a:p>
          <a:p>
            <a:pPr marL="0" indent="0">
              <a:buNone/>
            </a:pPr>
            <a:endParaRPr lang="en-US"/>
          </a:p>
        </p:txBody>
      </p:sp>
      <p:pic>
        <p:nvPicPr>
          <p:cNvPr id="10" name="Picture 9" descr="A screenshot of a computer program&#10;&#10;Description automatically generated">
            <a:extLst>
              <a:ext uri="{FF2B5EF4-FFF2-40B4-BE49-F238E27FC236}">
                <a16:creationId xmlns:a16="http://schemas.microsoft.com/office/drawing/2014/main" id="{4565328A-ACF5-35EF-B698-CD20CED1D3A1}"/>
              </a:ext>
            </a:extLst>
          </p:cNvPr>
          <p:cNvPicPr>
            <a:picLocks noChangeAspect="1"/>
          </p:cNvPicPr>
          <p:nvPr/>
        </p:nvPicPr>
        <p:blipFill>
          <a:blip r:embed="rId2"/>
          <a:stretch>
            <a:fillRect/>
          </a:stretch>
        </p:blipFill>
        <p:spPr>
          <a:xfrm>
            <a:off x="7058891" y="1302198"/>
            <a:ext cx="4738253" cy="2557961"/>
          </a:xfrm>
          <a:prstGeom prst="rect">
            <a:avLst/>
          </a:prstGeom>
        </p:spPr>
      </p:pic>
      <p:cxnSp>
        <p:nvCxnSpPr>
          <p:cNvPr id="11" name="Straight Connector 10">
            <a:extLst>
              <a:ext uri="{FF2B5EF4-FFF2-40B4-BE49-F238E27FC236}">
                <a16:creationId xmlns:a16="http://schemas.microsoft.com/office/drawing/2014/main" id="{AE283C50-066B-7FAF-CF5B-F631BF07A3CA}"/>
              </a:ext>
            </a:extLst>
          </p:cNvPr>
          <p:cNvCxnSpPr>
            <a:cxnSpLocks/>
          </p:cNvCxnSpPr>
          <p:nvPr/>
        </p:nvCxnSpPr>
        <p:spPr>
          <a:xfrm>
            <a:off x="6791902" y="1304397"/>
            <a:ext cx="0" cy="5294452"/>
          </a:xfrm>
          <a:prstGeom prst="line">
            <a:avLst/>
          </a:prstGeom>
          <a:ln>
            <a:prstDash val="dash"/>
          </a:ln>
        </p:spPr>
        <p:style>
          <a:lnRef idx="2">
            <a:schemeClr val="dk1"/>
          </a:lnRef>
          <a:fillRef idx="0">
            <a:schemeClr val="dk1"/>
          </a:fillRef>
          <a:effectRef idx="1">
            <a:schemeClr val="dk1"/>
          </a:effectRef>
          <a:fontRef idx="minor">
            <a:schemeClr val="tx1"/>
          </a:fontRef>
        </p:style>
      </p:cxnSp>
      <p:pic>
        <p:nvPicPr>
          <p:cNvPr id="13" name="Picture 12" descr="A screenshot of a computer&#10;&#10;Description automatically generated">
            <a:extLst>
              <a:ext uri="{FF2B5EF4-FFF2-40B4-BE49-F238E27FC236}">
                <a16:creationId xmlns:a16="http://schemas.microsoft.com/office/drawing/2014/main" id="{05C35F0E-6A1C-0ADB-0CE9-A3E5DD0A3421}"/>
              </a:ext>
            </a:extLst>
          </p:cNvPr>
          <p:cNvPicPr>
            <a:picLocks noChangeAspect="1"/>
          </p:cNvPicPr>
          <p:nvPr/>
        </p:nvPicPr>
        <p:blipFill>
          <a:blip r:embed="rId3"/>
          <a:srcRect t="83668" r="67164"/>
          <a:stretch/>
        </p:blipFill>
        <p:spPr>
          <a:xfrm>
            <a:off x="3727846" y="5003700"/>
            <a:ext cx="2772415" cy="1342916"/>
          </a:xfrm>
          <a:prstGeom prst="rect">
            <a:avLst/>
          </a:prstGeom>
        </p:spPr>
      </p:pic>
      <p:pic>
        <p:nvPicPr>
          <p:cNvPr id="15" name="Picture 14" descr="A screenshot of a computer&#10;&#10;Description automatically generated">
            <a:extLst>
              <a:ext uri="{FF2B5EF4-FFF2-40B4-BE49-F238E27FC236}">
                <a16:creationId xmlns:a16="http://schemas.microsoft.com/office/drawing/2014/main" id="{0D4647A6-2BE5-3580-3080-A47EA237CC76}"/>
              </a:ext>
            </a:extLst>
          </p:cNvPr>
          <p:cNvPicPr>
            <a:picLocks noChangeAspect="1"/>
          </p:cNvPicPr>
          <p:nvPr/>
        </p:nvPicPr>
        <p:blipFill>
          <a:blip r:embed="rId4"/>
          <a:stretch>
            <a:fillRect/>
          </a:stretch>
        </p:blipFill>
        <p:spPr>
          <a:xfrm>
            <a:off x="7063160" y="4049430"/>
            <a:ext cx="4733985" cy="2300834"/>
          </a:xfrm>
          <a:prstGeom prst="rect">
            <a:avLst/>
          </a:prstGeom>
        </p:spPr>
      </p:pic>
      <p:pic>
        <p:nvPicPr>
          <p:cNvPr id="17" name="Picture 16" descr="A screenshot of a computer program&#10;&#10;Description automatically generated">
            <a:extLst>
              <a:ext uri="{FF2B5EF4-FFF2-40B4-BE49-F238E27FC236}">
                <a16:creationId xmlns:a16="http://schemas.microsoft.com/office/drawing/2014/main" id="{035EFFEB-4BD6-3B14-09AE-B3867F64F358}"/>
              </a:ext>
            </a:extLst>
          </p:cNvPr>
          <p:cNvPicPr>
            <a:picLocks noChangeAspect="1"/>
          </p:cNvPicPr>
          <p:nvPr/>
        </p:nvPicPr>
        <p:blipFill>
          <a:blip r:embed="rId5"/>
          <a:stretch>
            <a:fillRect/>
          </a:stretch>
        </p:blipFill>
        <p:spPr>
          <a:xfrm>
            <a:off x="449736" y="5003702"/>
            <a:ext cx="3160625" cy="1342915"/>
          </a:xfrm>
          <a:prstGeom prst="rect">
            <a:avLst/>
          </a:prstGeom>
        </p:spPr>
      </p:pic>
      <p:sp>
        <p:nvSpPr>
          <p:cNvPr id="20" name="Title 1">
            <a:extLst>
              <a:ext uri="{FF2B5EF4-FFF2-40B4-BE49-F238E27FC236}">
                <a16:creationId xmlns:a16="http://schemas.microsoft.com/office/drawing/2014/main" id="{F00453BE-4D79-CF60-A1D9-767D580FB3FD}"/>
              </a:ext>
            </a:extLst>
          </p:cNvPr>
          <p:cNvSpPr>
            <a:spLocks noGrp="1"/>
          </p:cNvSpPr>
          <p:nvPr>
            <p:ph type="title"/>
          </p:nvPr>
        </p:nvSpPr>
        <p:spPr>
          <a:xfrm>
            <a:off x="332199" y="853034"/>
            <a:ext cx="10515600" cy="458056"/>
          </a:xfrm>
        </p:spPr>
        <p:txBody>
          <a:bodyPr>
            <a:normAutofit/>
          </a:bodyPr>
          <a:lstStyle/>
          <a:p>
            <a:r>
              <a:rPr lang="en-US" sz="2000" b="1"/>
              <a:t>Objective</a:t>
            </a:r>
            <a:r>
              <a:rPr lang="en-US" sz="2000"/>
              <a:t>: to predict Assets with Client that are going to fail in next lead-time window</a:t>
            </a:r>
          </a:p>
        </p:txBody>
      </p:sp>
      <p:sp>
        <p:nvSpPr>
          <p:cNvPr id="22" name="Rectangle 21">
            <a:extLst>
              <a:ext uri="{FF2B5EF4-FFF2-40B4-BE49-F238E27FC236}">
                <a16:creationId xmlns:a16="http://schemas.microsoft.com/office/drawing/2014/main" id="{F7636ED4-57BF-C1A4-A8FF-0443DF3B1353}"/>
              </a:ext>
            </a:extLst>
          </p:cNvPr>
          <p:cNvSpPr/>
          <p:nvPr/>
        </p:nvSpPr>
        <p:spPr>
          <a:xfrm>
            <a:off x="0" y="0"/>
            <a:ext cx="12191969" cy="859536"/>
          </a:xfrm>
          <a:prstGeom prst="rect">
            <a:avLst/>
          </a:prstGeom>
          <a:solidFill>
            <a:srgbClr val="1E27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TextBox 23">
            <a:extLst>
              <a:ext uri="{FF2B5EF4-FFF2-40B4-BE49-F238E27FC236}">
                <a16:creationId xmlns:a16="http://schemas.microsoft.com/office/drawing/2014/main" id="{D4CC113B-6A84-B6CF-1EE7-71EBB544737D}"/>
              </a:ext>
            </a:extLst>
          </p:cNvPr>
          <p:cNvSpPr txBox="1"/>
          <p:nvPr/>
        </p:nvSpPr>
        <p:spPr>
          <a:xfrm>
            <a:off x="329698" y="48828"/>
            <a:ext cx="7521301" cy="230832"/>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kern="1200">
                <a:solidFill>
                  <a:srgbClr val="8AAEC4"/>
                </a:solidFill>
                <a:latin typeface="Trebuchet MS"/>
                <a:ea typeface="+mn-ea"/>
                <a:cs typeface="+mn-cs"/>
              </a:rPr>
              <a:t>Predictive Maintenance - Model</a:t>
            </a:r>
          </a:p>
        </p:txBody>
      </p:sp>
      <p:sp>
        <p:nvSpPr>
          <p:cNvPr id="26" name="TextBox 25">
            <a:extLst>
              <a:ext uri="{FF2B5EF4-FFF2-40B4-BE49-F238E27FC236}">
                <a16:creationId xmlns:a16="http://schemas.microsoft.com/office/drawing/2014/main" id="{DB46E191-C03F-E5B9-A8FA-FF633EAA3B96}"/>
              </a:ext>
            </a:extLst>
          </p:cNvPr>
          <p:cNvSpPr txBox="1"/>
          <p:nvPr/>
        </p:nvSpPr>
        <p:spPr>
          <a:xfrm>
            <a:off x="10427947" y="48828"/>
            <a:ext cx="1672045" cy="369332"/>
          </a:xfrm>
          <a:prstGeom prst="rect">
            <a:avLst/>
          </a:prstGeom>
          <a:noFill/>
        </p:spPr>
        <p:txBody>
          <a:bodyPr wrap="square" lIns="91440" tIns="45720" rIns="91440" bIns="45720" rtlCol="0" anchor="t">
            <a:spAutoFit/>
          </a:bodyPr>
          <a:lstStyle/>
          <a:p>
            <a:pPr algn="l" rtl="0">
              <a:defRPr/>
            </a:pPr>
            <a:r>
              <a:rPr lang="en-US" sz="900" b="1" kern="1200">
                <a:solidFill>
                  <a:schemeClr val="bg1"/>
                </a:solidFill>
                <a:latin typeface="Trebuchet MS"/>
                <a:ea typeface="+mn-ea"/>
                <a:cs typeface="+mn-cs"/>
              </a:rPr>
              <a:t>Expected Time Spent : 1 w</a:t>
            </a:r>
          </a:p>
          <a:p>
            <a:pPr algn="l" rtl="0">
              <a:defRPr/>
            </a:pPr>
            <a:r>
              <a:rPr lang="en-US" sz="900" b="1" kern="1200">
                <a:solidFill>
                  <a:schemeClr val="bg1"/>
                </a:solidFill>
                <a:latin typeface="Trebuchet MS"/>
                <a:ea typeface="+mn-ea"/>
                <a:cs typeface="+mn-cs"/>
              </a:rPr>
              <a:t>Actual Time Spent : 1 w</a:t>
            </a:r>
          </a:p>
        </p:txBody>
      </p:sp>
      <p:sp>
        <p:nvSpPr>
          <p:cNvPr id="28" name="TextBox 27">
            <a:extLst>
              <a:ext uri="{FF2B5EF4-FFF2-40B4-BE49-F238E27FC236}">
                <a16:creationId xmlns:a16="http://schemas.microsoft.com/office/drawing/2014/main" id="{B978C3D2-932B-BF49-0351-27F662C3023F}"/>
              </a:ext>
            </a:extLst>
          </p:cNvPr>
          <p:cNvSpPr txBox="1"/>
          <p:nvPr/>
        </p:nvSpPr>
        <p:spPr>
          <a:xfrm>
            <a:off x="328559" y="287528"/>
            <a:ext cx="11734769" cy="658368"/>
          </a:xfrm>
          <a:prstGeom prst="rect">
            <a:avLst/>
          </a:prstGeom>
          <a:noFill/>
        </p:spPr>
        <p:txBody>
          <a:bodyPr wrap="square" lIns="91440" tIns="45720" rIns="91440" bIns="45720" anchor="t"/>
          <a:lstStyle/>
          <a:p>
            <a:pPr algn="l">
              <a:defRPr/>
            </a:pPr>
            <a:r>
              <a:rPr lang="en-US" sz="2400" b="1" kern="1200">
                <a:solidFill>
                  <a:schemeClr val="bg1"/>
                </a:solidFill>
                <a:latin typeface="Calibri"/>
                <a:ea typeface="Calibri"/>
                <a:cs typeface="Calibri"/>
              </a:rPr>
              <a:t>Survival Model for Asset Failure Prediction</a:t>
            </a:r>
            <a:endParaRPr lang="en-US"/>
          </a:p>
        </p:txBody>
      </p:sp>
    </p:spTree>
    <p:extLst>
      <p:ext uri="{BB962C8B-B14F-4D97-AF65-F5344CB8AC3E}">
        <p14:creationId xmlns:p14="http://schemas.microsoft.com/office/powerpoint/2010/main" val="1167849744"/>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24E8C-D9D1-13CD-8346-A6B985FB7C3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C2CFC17-3A62-8E31-69FB-37D70971BFA8}"/>
              </a:ext>
            </a:extLst>
          </p:cNvPr>
          <p:cNvSpPr/>
          <p:nvPr/>
        </p:nvSpPr>
        <p:spPr>
          <a:xfrm>
            <a:off x="0" y="0"/>
            <a:ext cx="12188952" cy="6858000"/>
          </a:xfrm>
          <a:prstGeom prst="rect">
            <a:avLst/>
          </a:prstGeom>
          <a:solidFill>
            <a:srgbClr val="071524"/>
          </a:solidFill>
          <a:ln w="12700">
            <a:solidFill>
              <a:srgbClr val="07152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a:extLst>
              <a:ext uri="{FF2B5EF4-FFF2-40B4-BE49-F238E27FC236}">
                <a16:creationId xmlns:a16="http://schemas.microsoft.com/office/drawing/2014/main" id="{D8D69479-BD98-F194-4353-74A58EF12180}"/>
              </a:ext>
            </a:extLst>
          </p:cNvPr>
          <p:cNvSpPr/>
          <p:nvPr/>
        </p:nvSpPr>
        <p:spPr>
          <a:xfrm>
            <a:off x="0" y="360947"/>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E26C4EE8-53DB-6994-2BD0-BCA373775552}"/>
              </a:ext>
            </a:extLst>
          </p:cNvPr>
          <p:cNvSpPr/>
          <p:nvPr/>
        </p:nvSpPr>
        <p:spPr>
          <a:xfrm>
            <a:off x="0" y="721895"/>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66897D2F-2D90-8B82-E1E5-0834E4BD21C0}"/>
              </a:ext>
            </a:extLst>
          </p:cNvPr>
          <p:cNvSpPr/>
          <p:nvPr/>
        </p:nvSpPr>
        <p:spPr>
          <a:xfrm>
            <a:off x="0" y="1082842"/>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a:extLst>
              <a:ext uri="{FF2B5EF4-FFF2-40B4-BE49-F238E27FC236}">
                <a16:creationId xmlns:a16="http://schemas.microsoft.com/office/drawing/2014/main" id="{85EF29A5-1272-7074-DD89-937BA9D798B2}"/>
              </a:ext>
            </a:extLst>
          </p:cNvPr>
          <p:cNvSpPr/>
          <p:nvPr/>
        </p:nvSpPr>
        <p:spPr>
          <a:xfrm>
            <a:off x="0" y="1443789"/>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a:extLst>
              <a:ext uri="{FF2B5EF4-FFF2-40B4-BE49-F238E27FC236}">
                <a16:creationId xmlns:a16="http://schemas.microsoft.com/office/drawing/2014/main" id="{4611FD7C-1E9A-12AC-AAA0-0E87622703DC}"/>
              </a:ext>
            </a:extLst>
          </p:cNvPr>
          <p:cNvSpPr/>
          <p:nvPr/>
        </p:nvSpPr>
        <p:spPr>
          <a:xfrm>
            <a:off x="0" y="1804737"/>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a:extLst>
              <a:ext uri="{FF2B5EF4-FFF2-40B4-BE49-F238E27FC236}">
                <a16:creationId xmlns:a16="http://schemas.microsoft.com/office/drawing/2014/main" id="{1B9EDD91-C57E-5BA1-9645-A4B89951EEA4}"/>
              </a:ext>
            </a:extLst>
          </p:cNvPr>
          <p:cNvSpPr/>
          <p:nvPr/>
        </p:nvSpPr>
        <p:spPr>
          <a:xfrm>
            <a:off x="0" y="2808621"/>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a:extLst>
              <a:ext uri="{FF2B5EF4-FFF2-40B4-BE49-F238E27FC236}">
                <a16:creationId xmlns:a16="http://schemas.microsoft.com/office/drawing/2014/main" id="{ED87826E-7C27-B40F-4FA2-D23E834F26F8}"/>
              </a:ext>
            </a:extLst>
          </p:cNvPr>
          <p:cNvSpPr/>
          <p:nvPr/>
        </p:nvSpPr>
        <p:spPr>
          <a:xfrm>
            <a:off x="0" y="2526632"/>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a:extLst>
              <a:ext uri="{FF2B5EF4-FFF2-40B4-BE49-F238E27FC236}">
                <a16:creationId xmlns:a16="http://schemas.microsoft.com/office/drawing/2014/main" id="{7765423F-DCC7-EE1A-2F49-BF45CFA03514}"/>
              </a:ext>
            </a:extLst>
          </p:cNvPr>
          <p:cNvSpPr/>
          <p:nvPr/>
        </p:nvSpPr>
        <p:spPr>
          <a:xfrm>
            <a:off x="0" y="2887579"/>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a:extLst>
              <a:ext uri="{FF2B5EF4-FFF2-40B4-BE49-F238E27FC236}">
                <a16:creationId xmlns:a16="http://schemas.microsoft.com/office/drawing/2014/main" id="{934EB492-7C94-6D34-B61E-9C2D2F8CF327}"/>
              </a:ext>
            </a:extLst>
          </p:cNvPr>
          <p:cNvSpPr/>
          <p:nvPr/>
        </p:nvSpPr>
        <p:spPr>
          <a:xfrm>
            <a:off x="0" y="3248526"/>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a:extLst>
              <a:ext uri="{FF2B5EF4-FFF2-40B4-BE49-F238E27FC236}">
                <a16:creationId xmlns:a16="http://schemas.microsoft.com/office/drawing/2014/main" id="{9B9F8137-4275-34C6-D0C0-F1B9106FE1AC}"/>
              </a:ext>
            </a:extLst>
          </p:cNvPr>
          <p:cNvSpPr/>
          <p:nvPr/>
        </p:nvSpPr>
        <p:spPr>
          <a:xfrm>
            <a:off x="0" y="3609474"/>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a:extLst>
              <a:ext uri="{FF2B5EF4-FFF2-40B4-BE49-F238E27FC236}">
                <a16:creationId xmlns:a16="http://schemas.microsoft.com/office/drawing/2014/main" id="{1ED5C47E-05EB-9AA2-E3EE-5B22F8CAC4A5}"/>
              </a:ext>
            </a:extLst>
          </p:cNvPr>
          <p:cNvSpPr/>
          <p:nvPr/>
        </p:nvSpPr>
        <p:spPr>
          <a:xfrm>
            <a:off x="0" y="3970421"/>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a:extLst>
              <a:ext uri="{FF2B5EF4-FFF2-40B4-BE49-F238E27FC236}">
                <a16:creationId xmlns:a16="http://schemas.microsoft.com/office/drawing/2014/main" id="{CC0FEAC6-A673-95C9-DFC3-73F02788B965}"/>
              </a:ext>
            </a:extLst>
          </p:cNvPr>
          <p:cNvSpPr/>
          <p:nvPr/>
        </p:nvSpPr>
        <p:spPr>
          <a:xfrm>
            <a:off x="0" y="4331368"/>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a:extLst>
              <a:ext uri="{FF2B5EF4-FFF2-40B4-BE49-F238E27FC236}">
                <a16:creationId xmlns:a16="http://schemas.microsoft.com/office/drawing/2014/main" id="{9D8ACFA8-9D68-77D2-AED3-D85545E9F2CB}"/>
              </a:ext>
            </a:extLst>
          </p:cNvPr>
          <p:cNvSpPr/>
          <p:nvPr/>
        </p:nvSpPr>
        <p:spPr>
          <a:xfrm>
            <a:off x="0" y="4692316"/>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a:extLst>
              <a:ext uri="{FF2B5EF4-FFF2-40B4-BE49-F238E27FC236}">
                <a16:creationId xmlns:a16="http://schemas.microsoft.com/office/drawing/2014/main" id="{8B53F377-B640-F331-A5D8-4854513B5639}"/>
              </a:ext>
            </a:extLst>
          </p:cNvPr>
          <p:cNvSpPr/>
          <p:nvPr/>
        </p:nvSpPr>
        <p:spPr>
          <a:xfrm>
            <a:off x="0" y="5053263"/>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a:extLst>
              <a:ext uri="{FF2B5EF4-FFF2-40B4-BE49-F238E27FC236}">
                <a16:creationId xmlns:a16="http://schemas.microsoft.com/office/drawing/2014/main" id="{D05B7725-10FB-1B16-F254-6949750F1F21}"/>
              </a:ext>
            </a:extLst>
          </p:cNvPr>
          <p:cNvSpPr/>
          <p:nvPr/>
        </p:nvSpPr>
        <p:spPr>
          <a:xfrm>
            <a:off x="0" y="5414211"/>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a:extLst>
              <a:ext uri="{FF2B5EF4-FFF2-40B4-BE49-F238E27FC236}">
                <a16:creationId xmlns:a16="http://schemas.microsoft.com/office/drawing/2014/main" id="{07BC7BAB-ABB1-78B7-86C8-55D4476AB83A}"/>
              </a:ext>
            </a:extLst>
          </p:cNvPr>
          <p:cNvSpPr/>
          <p:nvPr/>
        </p:nvSpPr>
        <p:spPr>
          <a:xfrm>
            <a:off x="0" y="5775158"/>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a:extLst>
              <a:ext uri="{FF2B5EF4-FFF2-40B4-BE49-F238E27FC236}">
                <a16:creationId xmlns:a16="http://schemas.microsoft.com/office/drawing/2014/main" id="{65C7A9AD-F2D8-B598-38F8-ADFFE5D98219}"/>
              </a:ext>
            </a:extLst>
          </p:cNvPr>
          <p:cNvSpPr/>
          <p:nvPr/>
        </p:nvSpPr>
        <p:spPr>
          <a:xfrm>
            <a:off x="0" y="6136105"/>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a:extLst>
              <a:ext uri="{FF2B5EF4-FFF2-40B4-BE49-F238E27FC236}">
                <a16:creationId xmlns:a16="http://schemas.microsoft.com/office/drawing/2014/main" id="{189C11FD-33AE-2AF6-CD1E-0C8DB9E901DA}"/>
              </a:ext>
            </a:extLst>
          </p:cNvPr>
          <p:cNvSpPr/>
          <p:nvPr/>
        </p:nvSpPr>
        <p:spPr>
          <a:xfrm>
            <a:off x="0" y="6497053"/>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a:extLst>
              <a:ext uri="{FF2B5EF4-FFF2-40B4-BE49-F238E27FC236}">
                <a16:creationId xmlns:a16="http://schemas.microsoft.com/office/drawing/2014/main" id="{7410A8E8-09E6-558D-F0DF-24FAEDAC8680}"/>
              </a:ext>
            </a:extLst>
          </p:cNvPr>
          <p:cNvSpPr/>
          <p:nvPr/>
        </p:nvSpPr>
        <p:spPr>
          <a:xfrm>
            <a:off x="487558"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a:extLst>
              <a:ext uri="{FF2B5EF4-FFF2-40B4-BE49-F238E27FC236}">
                <a16:creationId xmlns:a16="http://schemas.microsoft.com/office/drawing/2014/main" id="{4A30BE2D-2C05-5B09-FA78-BDAC99752C42}"/>
              </a:ext>
            </a:extLst>
          </p:cNvPr>
          <p:cNvSpPr/>
          <p:nvPr/>
        </p:nvSpPr>
        <p:spPr>
          <a:xfrm>
            <a:off x="975116"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a:extLst>
              <a:ext uri="{FF2B5EF4-FFF2-40B4-BE49-F238E27FC236}">
                <a16:creationId xmlns:a16="http://schemas.microsoft.com/office/drawing/2014/main" id="{13077B81-3211-CB87-BA0C-E0E9300E7829}"/>
              </a:ext>
            </a:extLst>
          </p:cNvPr>
          <p:cNvSpPr/>
          <p:nvPr/>
        </p:nvSpPr>
        <p:spPr>
          <a:xfrm>
            <a:off x="1462674"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a:extLst>
              <a:ext uri="{FF2B5EF4-FFF2-40B4-BE49-F238E27FC236}">
                <a16:creationId xmlns:a16="http://schemas.microsoft.com/office/drawing/2014/main" id="{2C3CCF42-BDC4-D959-B842-467F93113E58}"/>
              </a:ext>
            </a:extLst>
          </p:cNvPr>
          <p:cNvSpPr/>
          <p:nvPr/>
        </p:nvSpPr>
        <p:spPr>
          <a:xfrm>
            <a:off x="1950232"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a:extLst>
              <a:ext uri="{FF2B5EF4-FFF2-40B4-BE49-F238E27FC236}">
                <a16:creationId xmlns:a16="http://schemas.microsoft.com/office/drawing/2014/main" id="{6DF2E3D9-EAD2-EF8A-0573-7254FD2057B8}"/>
              </a:ext>
            </a:extLst>
          </p:cNvPr>
          <p:cNvSpPr/>
          <p:nvPr/>
        </p:nvSpPr>
        <p:spPr>
          <a:xfrm>
            <a:off x="2437790"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4">
            <a:extLst>
              <a:ext uri="{FF2B5EF4-FFF2-40B4-BE49-F238E27FC236}">
                <a16:creationId xmlns:a16="http://schemas.microsoft.com/office/drawing/2014/main" id="{F84AFB68-45C4-30F2-BEEB-A6406CBA27D5}"/>
              </a:ext>
            </a:extLst>
          </p:cNvPr>
          <p:cNvSpPr/>
          <p:nvPr/>
        </p:nvSpPr>
        <p:spPr>
          <a:xfrm>
            <a:off x="2925348"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5">
            <a:extLst>
              <a:ext uri="{FF2B5EF4-FFF2-40B4-BE49-F238E27FC236}">
                <a16:creationId xmlns:a16="http://schemas.microsoft.com/office/drawing/2014/main" id="{CC9E7EB8-AE22-6189-5760-71758B784C47}"/>
              </a:ext>
            </a:extLst>
          </p:cNvPr>
          <p:cNvSpPr/>
          <p:nvPr/>
        </p:nvSpPr>
        <p:spPr>
          <a:xfrm>
            <a:off x="3412907"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6">
            <a:extLst>
              <a:ext uri="{FF2B5EF4-FFF2-40B4-BE49-F238E27FC236}">
                <a16:creationId xmlns:a16="http://schemas.microsoft.com/office/drawing/2014/main" id="{DDADFECD-7BB8-14D7-E726-ABB16C9EEE50}"/>
              </a:ext>
            </a:extLst>
          </p:cNvPr>
          <p:cNvSpPr/>
          <p:nvPr/>
        </p:nvSpPr>
        <p:spPr>
          <a:xfrm>
            <a:off x="3900465"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7">
            <a:extLst>
              <a:ext uri="{FF2B5EF4-FFF2-40B4-BE49-F238E27FC236}">
                <a16:creationId xmlns:a16="http://schemas.microsoft.com/office/drawing/2014/main" id="{39E1E699-36F9-9E6D-4747-2F8F084097D8}"/>
              </a:ext>
            </a:extLst>
          </p:cNvPr>
          <p:cNvSpPr/>
          <p:nvPr/>
        </p:nvSpPr>
        <p:spPr>
          <a:xfrm>
            <a:off x="4388023"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a:extLst>
              <a:ext uri="{FF2B5EF4-FFF2-40B4-BE49-F238E27FC236}">
                <a16:creationId xmlns:a16="http://schemas.microsoft.com/office/drawing/2014/main" id="{00C51E55-3C87-AF58-A886-79FF2C77BC62}"/>
              </a:ext>
            </a:extLst>
          </p:cNvPr>
          <p:cNvSpPr/>
          <p:nvPr/>
        </p:nvSpPr>
        <p:spPr>
          <a:xfrm>
            <a:off x="4875581"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9">
            <a:extLst>
              <a:ext uri="{FF2B5EF4-FFF2-40B4-BE49-F238E27FC236}">
                <a16:creationId xmlns:a16="http://schemas.microsoft.com/office/drawing/2014/main" id="{0F1BCE97-578E-3C11-848D-4B0F49AD7201}"/>
              </a:ext>
            </a:extLst>
          </p:cNvPr>
          <p:cNvSpPr/>
          <p:nvPr/>
        </p:nvSpPr>
        <p:spPr>
          <a:xfrm>
            <a:off x="5363139"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30">
            <a:extLst>
              <a:ext uri="{FF2B5EF4-FFF2-40B4-BE49-F238E27FC236}">
                <a16:creationId xmlns:a16="http://schemas.microsoft.com/office/drawing/2014/main" id="{9C64820F-2CC2-BC78-55BA-55C5A1E0961B}"/>
              </a:ext>
            </a:extLst>
          </p:cNvPr>
          <p:cNvSpPr/>
          <p:nvPr/>
        </p:nvSpPr>
        <p:spPr>
          <a:xfrm>
            <a:off x="5850697"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31">
            <a:extLst>
              <a:ext uri="{FF2B5EF4-FFF2-40B4-BE49-F238E27FC236}">
                <a16:creationId xmlns:a16="http://schemas.microsoft.com/office/drawing/2014/main" id="{FE4E13A5-7919-C040-E20E-A75208DACD9B}"/>
              </a:ext>
            </a:extLst>
          </p:cNvPr>
          <p:cNvSpPr/>
          <p:nvPr/>
        </p:nvSpPr>
        <p:spPr>
          <a:xfrm>
            <a:off x="6338255"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Shape 32">
            <a:extLst>
              <a:ext uri="{FF2B5EF4-FFF2-40B4-BE49-F238E27FC236}">
                <a16:creationId xmlns:a16="http://schemas.microsoft.com/office/drawing/2014/main" id="{B513CA21-596E-6C3D-00FF-65F4A467673E}"/>
              </a:ext>
            </a:extLst>
          </p:cNvPr>
          <p:cNvSpPr/>
          <p:nvPr/>
        </p:nvSpPr>
        <p:spPr>
          <a:xfrm>
            <a:off x="6825813"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Shape 33">
            <a:extLst>
              <a:ext uri="{FF2B5EF4-FFF2-40B4-BE49-F238E27FC236}">
                <a16:creationId xmlns:a16="http://schemas.microsoft.com/office/drawing/2014/main" id="{210657C3-4A65-133D-5990-E18390C0BEEF}"/>
              </a:ext>
            </a:extLst>
          </p:cNvPr>
          <p:cNvSpPr/>
          <p:nvPr/>
        </p:nvSpPr>
        <p:spPr>
          <a:xfrm>
            <a:off x="7313371"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34">
            <a:extLst>
              <a:ext uri="{FF2B5EF4-FFF2-40B4-BE49-F238E27FC236}">
                <a16:creationId xmlns:a16="http://schemas.microsoft.com/office/drawing/2014/main" id="{F97421FC-ADBB-8107-59FB-0E41A03F52E5}"/>
              </a:ext>
            </a:extLst>
          </p:cNvPr>
          <p:cNvSpPr/>
          <p:nvPr/>
        </p:nvSpPr>
        <p:spPr>
          <a:xfrm>
            <a:off x="7800929"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5">
            <a:extLst>
              <a:ext uri="{FF2B5EF4-FFF2-40B4-BE49-F238E27FC236}">
                <a16:creationId xmlns:a16="http://schemas.microsoft.com/office/drawing/2014/main" id="{30FBB86E-0FA9-D7A0-F1C1-55D26E7371FB}"/>
              </a:ext>
            </a:extLst>
          </p:cNvPr>
          <p:cNvSpPr/>
          <p:nvPr/>
        </p:nvSpPr>
        <p:spPr>
          <a:xfrm>
            <a:off x="8288487"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6">
            <a:extLst>
              <a:ext uri="{FF2B5EF4-FFF2-40B4-BE49-F238E27FC236}">
                <a16:creationId xmlns:a16="http://schemas.microsoft.com/office/drawing/2014/main" id="{0F26815A-02AA-4A8E-EA32-829C871AB031}"/>
              </a:ext>
            </a:extLst>
          </p:cNvPr>
          <p:cNvSpPr/>
          <p:nvPr/>
        </p:nvSpPr>
        <p:spPr>
          <a:xfrm>
            <a:off x="8776045"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Shape 37">
            <a:extLst>
              <a:ext uri="{FF2B5EF4-FFF2-40B4-BE49-F238E27FC236}">
                <a16:creationId xmlns:a16="http://schemas.microsoft.com/office/drawing/2014/main" id="{6429E2A2-C406-58B7-01CA-305CD943F9A0}"/>
              </a:ext>
            </a:extLst>
          </p:cNvPr>
          <p:cNvSpPr/>
          <p:nvPr/>
        </p:nvSpPr>
        <p:spPr>
          <a:xfrm>
            <a:off x="9263604"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Shape 38">
            <a:extLst>
              <a:ext uri="{FF2B5EF4-FFF2-40B4-BE49-F238E27FC236}">
                <a16:creationId xmlns:a16="http://schemas.microsoft.com/office/drawing/2014/main" id="{8EBDB317-65A2-758F-068E-EFA236BD5CB4}"/>
              </a:ext>
            </a:extLst>
          </p:cNvPr>
          <p:cNvSpPr/>
          <p:nvPr/>
        </p:nvSpPr>
        <p:spPr>
          <a:xfrm>
            <a:off x="9751162"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Shape 39">
            <a:extLst>
              <a:ext uri="{FF2B5EF4-FFF2-40B4-BE49-F238E27FC236}">
                <a16:creationId xmlns:a16="http://schemas.microsoft.com/office/drawing/2014/main" id="{4A83BC28-F353-2871-F395-BE6C5C4E13EE}"/>
              </a:ext>
            </a:extLst>
          </p:cNvPr>
          <p:cNvSpPr/>
          <p:nvPr/>
        </p:nvSpPr>
        <p:spPr>
          <a:xfrm>
            <a:off x="10238720"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Shape 40">
            <a:extLst>
              <a:ext uri="{FF2B5EF4-FFF2-40B4-BE49-F238E27FC236}">
                <a16:creationId xmlns:a16="http://schemas.microsoft.com/office/drawing/2014/main" id="{358E47B8-3C6B-BCAA-908C-BB510F9D2BA3}"/>
              </a:ext>
            </a:extLst>
          </p:cNvPr>
          <p:cNvSpPr/>
          <p:nvPr/>
        </p:nvSpPr>
        <p:spPr>
          <a:xfrm>
            <a:off x="10726278"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Shape 41">
            <a:extLst>
              <a:ext uri="{FF2B5EF4-FFF2-40B4-BE49-F238E27FC236}">
                <a16:creationId xmlns:a16="http://schemas.microsoft.com/office/drawing/2014/main" id="{F261EC42-524B-A712-6872-61946AFC7C60}"/>
              </a:ext>
            </a:extLst>
          </p:cNvPr>
          <p:cNvSpPr/>
          <p:nvPr/>
        </p:nvSpPr>
        <p:spPr>
          <a:xfrm>
            <a:off x="11213836"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Shape 42">
            <a:extLst>
              <a:ext uri="{FF2B5EF4-FFF2-40B4-BE49-F238E27FC236}">
                <a16:creationId xmlns:a16="http://schemas.microsoft.com/office/drawing/2014/main" id="{0373CB40-B955-F51F-D613-668B02908D73}"/>
              </a:ext>
            </a:extLst>
          </p:cNvPr>
          <p:cNvSpPr/>
          <p:nvPr/>
        </p:nvSpPr>
        <p:spPr>
          <a:xfrm>
            <a:off x="11701394"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43">
            <a:extLst>
              <a:ext uri="{FF2B5EF4-FFF2-40B4-BE49-F238E27FC236}">
                <a16:creationId xmlns:a16="http://schemas.microsoft.com/office/drawing/2014/main" id="{5DE58A33-0790-1C67-4D43-7AA3663F2B9E}"/>
              </a:ext>
            </a:extLst>
          </p:cNvPr>
          <p:cNvSpPr/>
          <p:nvPr/>
        </p:nvSpPr>
        <p:spPr>
          <a:xfrm>
            <a:off x="0" y="0"/>
            <a:ext cx="475488" cy="6858000"/>
          </a:xfrm>
          <a:prstGeom prst="rect">
            <a:avLst/>
          </a:prstGeom>
          <a:solidFill>
            <a:srgbClr val="156082"/>
          </a:solidFill>
          <a:ln w="12700">
            <a:solidFill>
              <a:srgbClr val="15608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Shape 44">
            <a:extLst>
              <a:ext uri="{FF2B5EF4-FFF2-40B4-BE49-F238E27FC236}">
                <a16:creationId xmlns:a16="http://schemas.microsoft.com/office/drawing/2014/main" id="{A2AC2050-F6C6-6F4E-EB55-045B3C202AD6}"/>
              </a:ext>
            </a:extLst>
          </p:cNvPr>
          <p:cNvSpPr/>
          <p:nvPr/>
        </p:nvSpPr>
        <p:spPr>
          <a:xfrm>
            <a:off x="475488" y="0"/>
            <a:ext cx="0" cy="6858000"/>
          </a:xfrm>
          <a:prstGeom prst="line">
            <a:avLst/>
          </a:prstGeom>
          <a:noFill/>
          <a:ln w="1905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Shape 45">
            <a:extLst>
              <a:ext uri="{FF2B5EF4-FFF2-40B4-BE49-F238E27FC236}">
                <a16:creationId xmlns:a16="http://schemas.microsoft.com/office/drawing/2014/main" id="{7AE569A4-40BB-93B9-A98E-123E902C8595}"/>
              </a:ext>
            </a:extLst>
          </p:cNvPr>
          <p:cNvSpPr/>
          <p:nvPr/>
        </p:nvSpPr>
        <p:spPr>
          <a:xfrm>
            <a:off x="8412480" y="-1371600"/>
            <a:ext cx="6035040" cy="6035040"/>
          </a:xfrm>
          <a:prstGeom prst="ellipse">
            <a:avLst/>
          </a:prstGeom>
          <a:solidFill>
            <a:srgbClr val="071524">
              <a:alpha val="0"/>
            </a:srgbClr>
          </a:solidFill>
          <a:ln w="12700">
            <a:solidFill>
              <a:srgbClr val="0F9ED5">
                <a:alpha val="12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Shape 46">
            <a:extLst>
              <a:ext uri="{FF2B5EF4-FFF2-40B4-BE49-F238E27FC236}">
                <a16:creationId xmlns:a16="http://schemas.microsoft.com/office/drawing/2014/main" id="{DC922CC2-425F-C003-947E-C4834AF9BD8E}"/>
              </a:ext>
            </a:extLst>
          </p:cNvPr>
          <p:cNvSpPr/>
          <p:nvPr/>
        </p:nvSpPr>
        <p:spPr>
          <a:xfrm>
            <a:off x="9235440" y="-548640"/>
            <a:ext cx="4389120" cy="4389120"/>
          </a:xfrm>
          <a:prstGeom prst="ellipse">
            <a:avLst/>
          </a:prstGeom>
          <a:solidFill>
            <a:srgbClr val="071524">
              <a:alpha val="0"/>
            </a:srgbClr>
          </a:solidFill>
          <a:ln w="12700">
            <a:solidFill>
              <a:srgbClr val="0F9ED5">
                <a:alpha val="22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Shape 47">
            <a:extLst>
              <a:ext uri="{FF2B5EF4-FFF2-40B4-BE49-F238E27FC236}">
                <a16:creationId xmlns:a16="http://schemas.microsoft.com/office/drawing/2014/main" id="{A283E632-A1A6-7B41-F121-5FFCD74CFA82}"/>
              </a:ext>
            </a:extLst>
          </p:cNvPr>
          <p:cNvSpPr/>
          <p:nvPr/>
        </p:nvSpPr>
        <p:spPr>
          <a:xfrm>
            <a:off x="10058400" y="274320"/>
            <a:ext cx="2743200" cy="2743200"/>
          </a:xfrm>
          <a:prstGeom prst="ellipse">
            <a:avLst/>
          </a:prstGeom>
          <a:solidFill>
            <a:srgbClr val="071524">
              <a:alpha val="0"/>
            </a:srgbClr>
          </a:solidFill>
          <a:ln w="12700">
            <a:solidFill>
              <a:srgbClr val="0F9ED5">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48">
            <a:extLst>
              <a:ext uri="{FF2B5EF4-FFF2-40B4-BE49-F238E27FC236}">
                <a16:creationId xmlns:a16="http://schemas.microsoft.com/office/drawing/2014/main" id="{B3B82084-4857-DBCC-CA35-AEFB2E94DFF6}"/>
              </a:ext>
            </a:extLst>
          </p:cNvPr>
          <p:cNvSpPr/>
          <p:nvPr/>
        </p:nvSpPr>
        <p:spPr>
          <a:xfrm>
            <a:off x="10881360" y="1097280"/>
            <a:ext cx="1097280" cy="1097280"/>
          </a:xfrm>
          <a:prstGeom prst="ellipse">
            <a:avLst/>
          </a:prstGeom>
          <a:solidFill>
            <a:srgbClr val="071524">
              <a:alpha val="0"/>
            </a:srgbClr>
          </a:solidFill>
          <a:ln w="12700">
            <a:solidFill>
              <a:srgbClr val="0F9ED5">
                <a:alpha val="5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9">
            <a:extLst>
              <a:ext uri="{FF2B5EF4-FFF2-40B4-BE49-F238E27FC236}">
                <a16:creationId xmlns:a16="http://schemas.microsoft.com/office/drawing/2014/main" id="{D42F8FB2-31E9-E7DE-2636-B1DDF2C65448}"/>
              </a:ext>
            </a:extLst>
          </p:cNvPr>
          <p:cNvSpPr/>
          <p:nvPr/>
        </p:nvSpPr>
        <p:spPr>
          <a:xfrm>
            <a:off x="11292840" y="1508760"/>
            <a:ext cx="274320" cy="274320"/>
          </a:xfrm>
          <a:prstGeom prst="ellipse">
            <a:avLst/>
          </a:prstGeom>
          <a:solidFill>
            <a:srgbClr val="0F9ED5">
              <a:alpha val="60000"/>
            </a:srgbClr>
          </a:solidFill>
          <a:ln w="1270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Shape 50">
            <a:extLst>
              <a:ext uri="{FF2B5EF4-FFF2-40B4-BE49-F238E27FC236}">
                <a16:creationId xmlns:a16="http://schemas.microsoft.com/office/drawing/2014/main" id="{4564219C-2A53-8F2A-BEF7-AF65815B4084}"/>
              </a:ext>
            </a:extLst>
          </p:cNvPr>
          <p:cNvSpPr/>
          <p:nvPr/>
        </p:nvSpPr>
        <p:spPr>
          <a:xfrm>
            <a:off x="155448" y="1179576"/>
            <a:ext cx="201168" cy="201168"/>
          </a:xfrm>
          <a:prstGeom prst="ellipse">
            <a:avLst/>
          </a:prstGeom>
          <a:solidFill>
            <a:srgbClr val="E97132"/>
          </a:solidFill>
          <a:ln w="1270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Shape 51">
            <a:extLst>
              <a:ext uri="{FF2B5EF4-FFF2-40B4-BE49-F238E27FC236}">
                <a16:creationId xmlns:a16="http://schemas.microsoft.com/office/drawing/2014/main" id="{625AC8F2-1262-EDA1-0BEA-19818D38D0EF}"/>
              </a:ext>
            </a:extLst>
          </p:cNvPr>
          <p:cNvSpPr/>
          <p:nvPr/>
        </p:nvSpPr>
        <p:spPr>
          <a:xfrm>
            <a:off x="155448" y="2002536"/>
            <a:ext cx="201168" cy="201168"/>
          </a:xfrm>
          <a:prstGeom prst="ellipse">
            <a:avLst/>
          </a:prstGeom>
          <a:solidFill>
            <a:srgbClr val="0F9ED5"/>
          </a:solidFill>
          <a:ln w="1270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Shape 52">
            <a:extLst>
              <a:ext uri="{FF2B5EF4-FFF2-40B4-BE49-F238E27FC236}">
                <a16:creationId xmlns:a16="http://schemas.microsoft.com/office/drawing/2014/main" id="{B8613042-CDF1-8691-E128-32B1A9C241D4}"/>
              </a:ext>
            </a:extLst>
          </p:cNvPr>
          <p:cNvSpPr/>
          <p:nvPr/>
        </p:nvSpPr>
        <p:spPr>
          <a:xfrm>
            <a:off x="155448" y="2825496"/>
            <a:ext cx="201168" cy="201168"/>
          </a:xfrm>
          <a:prstGeom prst="ellipse">
            <a:avLst/>
          </a:prstGeom>
          <a:solidFill>
            <a:srgbClr val="196B24"/>
          </a:solidFill>
          <a:ln w="12700">
            <a:solidFill>
              <a:srgbClr val="196B2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Shape 53">
            <a:extLst>
              <a:ext uri="{FF2B5EF4-FFF2-40B4-BE49-F238E27FC236}">
                <a16:creationId xmlns:a16="http://schemas.microsoft.com/office/drawing/2014/main" id="{5BB51C16-124D-B26B-80BA-F0F6AF38C27A}"/>
              </a:ext>
            </a:extLst>
          </p:cNvPr>
          <p:cNvSpPr/>
          <p:nvPr/>
        </p:nvSpPr>
        <p:spPr>
          <a:xfrm>
            <a:off x="155448" y="3648456"/>
            <a:ext cx="201168" cy="201168"/>
          </a:xfrm>
          <a:prstGeom prst="ellipse">
            <a:avLst/>
          </a:prstGeom>
          <a:solidFill>
            <a:srgbClr val="0F9ED5"/>
          </a:solidFill>
          <a:ln w="1270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Shape 54">
            <a:extLst>
              <a:ext uri="{FF2B5EF4-FFF2-40B4-BE49-F238E27FC236}">
                <a16:creationId xmlns:a16="http://schemas.microsoft.com/office/drawing/2014/main" id="{3D290980-1F59-8554-5062-6A314192CB65}"/>
              </a:ext>
            </a:extLst>
          </p:cNvPr>
          <p:cNvSpPr/>
          <p:nvPr/>
        </p:nvSpPr>
        <p:spPr>
          <a:xfrm>
            <a:off x="155448" y="4471416"/>
            <a:ext cx="201168" cy="201168"/>
          </a:xfrm>
          <a:prstGeom prst="ellipse">
            <a:avLst/>
          </a:prstGeom>
          <a:solidFill>
            <a:srgbClr val="E97132"/>
          </a:solidFill>
          <a:ln w="1270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Text 56">
            <a:extLst>
              <a:ext uri="{FF2B5EF4-FFF2-40B4-BE49-F238E27FC236}">
                <a16:creationId xmlns:a16="http://schemas.microsoft.com/office/drawing/2014/main" id="{BDD316CC-3074-3ABE-C676-03DDB65691C1}"/>
              </a:ext>
            </a:extLst>
          </p:cNvPr>
          <p:cNvSpPr/>
          <p:nvPr/>
        </p:nvSpPr>
        <p:spPr>
          <a:xfrm>
            <a:off x="658368" y="2038635"/>
            <a:ext cx="8778240" cy="731520"/>
          </a:xfrm>
          <a:prstGeom prst="rect">
            <a:avLst/>
          </a:prstGeom>
          <a:noFill/>
          <a:ln/>
        </p:spPr>
        <p:txBody>
          <a:bodyPr wrap="square"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600" b="1" i="0" u="none" strike="noStrike" kern="0" cap="none" spc="-50" normalizeH="0" baseline="0" noProof="0">
                <a:ln>
                  <a:noFill/>
                </a:ln>
                <a:solidFill>
                  <a:srgbClr val="FFFFFF"/>
                </a:solidFill>
                <a:effectLst/>
                <a:uLnTx/>
                <a:uFillTx/>
                <a:latin typeface="Aptos Display"/>
                <a:ea typeface="+mn-ea"/>
                <a:cs typeface="+mn-cs"/>
              </a:rPr>
              <a:t>Procurement Algorithm</a:t>
            </a:r>
            <a:endParaRPr kumimoji="0" lang="en-US" sz="1800" b="0" i="0" u="none" strike="noStrike" kern="1200" cap="none" spc="0" normalizeH="0" baseline="0" noProof="0">
              <a:ln>
                <a:noFill/>
              </a:ln>
              <a:solidFill>
                <a:prstClr val="black"/>
              </a:solidFill>
              <a:effectLst/>
              <a:uLnTx/>
              <a:uFillTx/>
              <a:latin typeface="Calibri" panose="020F0502020204030204"/>
              <a:ea typeface="Calibri"/>
              <a:cs typeface="Calibri"/>
            </a:endParaRPr>
          </a:p>
        </p:txBody>
      </p:sp>
      <p:sp>
        <p:nvSpPr>
          <p:cNvPr id="59" name="Text 57">
            <a:extLst>
              <a:ext uri="{FF2B5EF4-FFF2-40B4-BE49-F238E27FC236}">
                <a16:creationId xmlns:a16="http://schemas.microsoft.com/office/drawing/2014/main" id="{74378656-CFA7-1B23-B69B-0A2651AF79DB}"/>
              </a:ext>
            </a:extLst>
          </p:cNvPr>
          <p:cNvSpPr/>
          <p:nvPr/>
        </p:nvSpPr>
        <p:spPr>
          <a:xfrm>
            <a:off x="658368" y="2051113"/>
            <a:ext cx="8961120" cy="512064"/>
          </a:xfrm>
          <a:prstGeom prst="rect">
            <a:avLst/>
          </a:prstGeom>
          <a:noFill/>
          <a:ln/>
        </p:spPr>
        <p:txBody>
          <a:bodyPr wrap="square"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srgbClr val="0F9ED5"/>
              </a:solidFill>
              <a:effectLst/>
              <a:uLnTx/>
              <a:uFillTx/>
              <a:latin typeface="Calibri" panose="020F0502020204030204"/>
              <a:ea typeface="Calibri"/>
              <a:cs typeface="Calibri"/>
            </a:endParaRPr>
          </a:p>
        </p:txBody>
      </p:sp>
      <p:sp>
        <p:nvSpPr>
          <p:cNvPr id="60" name="Shape 58">
            <a:extLst>
              <a:ext uri="{FF2B5EF4-FFF2-40B4-BE49-F238E27FC236}">
                <a16:creationId xmlns:a16="http://schemas.microsoft.com/office/drawing/2014/main" id="{D5CE61A9-2F54-3B02-1169-66288F67A402}"/>
              </a:ext>
            </a:extLst>
          </p:cNvPr>
          <p:cNvSpPr/>
          <p:nvPr/>
        </p:nvSpPr>
        <p:spPr>
          <a:xfrm>
            <a:off x="658368" y="2768155"/>
            <a:ext cx="8229600" cy="0"/>
          </a:xfrm>
          <a:prstGeom prst="line">
            <a:avLst/>
          </a:prstGeom>
          <a:noFill/>
          <a:ln w="3175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62">
            <a:extLst>
              <a:ext uri="{FF2B5EF4-FFF2-40B4-BE49-F238E27FC236}">
                <a16:creationId xmlns:a16="http://schemas.microsoft.com/office/drawing/2014/main" id="{69E98BCB-9EF6-337B-656E-4B0815B61F11}"/>
              </a:ext>
            </a:extLst>
          </p:cNvPr>
          <p:cNvSpPr/>
          <p:nvPr/>
        </p:nvSpPr>
        <p:spPr>
          <a:xfrm>
            <a:off x="658368" y="2724912"/>
            <a:ext cx="10515600" cy="0"/>
          </a:xfrm>
          <a:prstGeom prst="line">
            <a:avLst/>
          </a:prstGeom>
          <a:noFill/>
          <a:ln w="1016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Shape 66">
            <a:extLst>
              <a:ext uri="{FF2B5EF4-FFF2-40B4-BE49-F238E27FC236}">
                <a16:creationId xmlns:a16="http://schemas.microsoft.com/office/drawing/2014/main" id="{64049A8E-4A39-8E97-6A41-2A23754BD1BC}"/>
              </a:ext>
            </a:extLst>
          </p:cNvPr>
          <p:cNvSpPr/>
          <p:nvPr/>
        </p:nvSpPr>
        <p:spPr>
          <a:xfrm>
            <a:off x="658368" y="3383280"/>
            <a:ext cx="10515600" cy="0"/>
          </a:xfrm>
          <a:prstGeom prst="line">
            <a:avLst/>
          </a:prstGeom>
          <a:noFill/>
          <a:ln w="1016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Shape 70">
            <a:extLst>
              <a:ext uri="{FF2B5EF4-FFF2-40B4-BE49-F238E27FC236}">
                <a16:creationId xmlns:a16="http://schemas.microsoft.com/office/drawing/2014/main" id="{052A787E-8B75-F843-FC27-637D78CC2B9E}"/>
              </a:ext>
            </a:extLst>
          </p:cNvPr>
          <p:cNvSpPr/>
          <p:nvPr/>
        </p:nvSpPr>
        <p:spPr>
          <a:xfrm>
            <a:off x="658368" y="4041648"/>
            <a:ext cx="10515600" cy="0"/>
          </a:xfrm>
          <a:prstGeom prst="line">
            <a:avLst/>
          </a:prstGeom>
          <a:noFill/>
          <a:ln w="1016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Shape 74">
            <a:extLst>
              <a:ext uri="{FF2B5EF4-FFF2-40B4-BE49-F238E27FC236}">
                <a16:creationId xmlns:a16="http://schemas.microsoft.com/office/drawing/2014/main" id="{16B5E237-CCDF-DEBA-DF62-3F0DFEA5E5B8}"/>
              </a:ext>
            </a:extLst>
          </p:cNvPr>
          <p:cNvSpPr/>
          <p:nvPr/>
        </p:nvSpPr>
        <p:spPr>
          <a:xfrm>
            <a:off x="475488" y="4956048"/>
            <a:ext cx="11713464" cy="0"/>
          </a:xfrm>
          <a:prstGeom prst="line">
            <a:avLst/>
          </a:prstGeom>
          <a:noFill/>
          <a:ln w="2540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Shape 75">
            <a:extLst>
              <a:ext uri="{FF2B5EF4-FFF2-40B4-BE49-F238E27FC236}">
                <a16:creationId xmlns:a16="http://schemas.microsoft.com/office/drawing/2014/main" id="{33EA6F09-C281-A586-D6DB-22E3CA3AF777}"/>
              </a:ext>
            </a:extLst>
          </p:cNvPr>
          <p:cNvSpPr/>
          <p:nvPr/>
        </p:nvSpPr>
        <p:spPr>
          <a:xfrm>
            <a:off x="475488" y="4956048"/>
            <a:ext cx="2928366" cy="1773936"/>
          </a:xfrm>
          <a:prstGeom prst="rect">
            <a:avLst/>
          </a:prstGeom>
          <a:solidFill>
            <a:srgbClr val="0E2841"/>
          </a:solidFill>
          <a:ln w="12700">
            <a:solidFill>
              <a:srgbClr val="0E28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Shape 76">
            <a:extLst>
              <a:ext uri="{FF2B5EF4-FFF2-40B4-BE49-F238E27FC236}">
                <a16:creationId xmlns:a16="http://schemas.microsoft.com/office/drawing/2014/main" id="{A24F0AF0-B5E2-3354-A569-D70648197E63}"/>
              </a:ext>
            </a:extLst>
          </p:cNvPr>
          <p:cNvSpPr/>
          <p:nvPr/>
        </p:nvSpPr>
        <p:spPr>
          <a:xfrm>
            <a:off x="475488" y="4956048"/>
            <a:ext cx="2928366" cy="50292"/>
          </a:xfrm>
          <a:prstGeom prst="rect">
            <a:avLst/>
          </a:prstGeom>
          <a:solidFill>
            <a:srgbClr val="E97132"/>
          </a:solidFill>
          <a:ln w="1270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Shape 77">
            <a:extLst>
              <a:ext uri="{FF2B5EF4-FFF2-40B4-BE49-F238E27FC236}">
                <a16:creationId xmlns:a16="http://schemas.microsoft.com/office/drawing/2014/main" id="{41EB7757-D9FB-8F5F-0A44-1541C9C2B849}"/>
              </a:ext>
            </a:extLst>
          </p:cNvPr>
          <p:cNvSpPr/>
          <p:nvPr/>
        </p:nvSpPr>
        <p:spPr>
          <a:xfrm>
            <a:off x="3403854" y="4956048"/>
            <a:ext cx="0" cy="1773936"/>
          </a:xfrm>
          <a:prstGeom prst="line">
            <a:avLst/>
          </a:prstGeom>
          <a:noFill/>
          <a:ln w="1270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Shape 81">
            <a:extLst>
              <a:ext uri="{FF2B5EF4-FFF2-40B4-BE49-F238E27FC236}">
                <a16:creationId xmlns:a16="http://schemas.microsoft.com/office/drawing/2014/main" id="{73AD84E3-BE0A-FCD9-79C7-B0B19CC25FF1}"/>
              </a:ext>
            </a:extLst>
          </p:cNvPr>
          <p:cNvSpPr/>
          <p:nvPr/>
        </p:nvSpPr>
        <p:spPr>
          <a:xfrm>
            <a:off x="3403854" y="4956048"/>
            <a:ext cx="2928366" cy="1773936"/>
          </a:xfrm>
          <a:prstGeom prst="rect">
            <a:avLst/>
          </a:prstGeom>
          <a:solidFill>
            <a:srgbClr val="0E2841"/>
          </a:solidFill>
          <a:ln w="12700">
            <a:solidFill>
              <a:srgbClr val="0E28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Shape 82">
            <a:extLst>
              <a:ext uri="{FF2B5EF4-FFF2-40B4-BE49-F238E27FC236}">
                <a16:creationId xmlns:a16="http://schemas.microsoft.com/office/drawing/2014/main" id="{995B56EE-610E-F545-EA51-F3B14D0A4A53}"/>
              </a:ext>
            </a:extLst>
          </p:cNvPr>
          <p:cNvSpPr/>
          <p:nvPr/>
        </p:nvSpPr>
        <p:spPr>
          <a:xfrm>
            <a:off x="3403854" y="4956048"/>
            <a:ext cx="2928366" cy="50292"/>
          </a:xfrm>
          <a:prstGeom prst="rect">
            <a:avLst/>
          </a:prstGeom>
          <a:solidFill>
            <a:srgbClr val="0F9ED5"/>
          </a:solidFill>
          <a:ln w="1270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Shape 83">
            <a:extLst>
              <a:ext uri="{FF2B5EF4-FFF2-40B4-BE49-F238E27FC236}">
                <a16:creationId xmlns:a16="http://schemas.microsoft.com/office/drawing/2014/main" id="{69ADBA7A-A3A8-93B9-489D-B97BE7576452}"/>
              </a:ext>
            </a:extLst>
          </p:cNvPr>
          <p:cNvSpPr/>
          <p:nvPr/>
        </p:nvSpPr>
        <p:spPr>
          <a:xfrm>
            <a:off x="6332220" y="4956048"/>
            <a:ext cx="0" cy="1773936"/>
          </a:xfrm>
          <a:prstGeom prst="line">
            <a:avLst/>
          </a:prstGeom>
          <a:noFill/>
          <a:ln w="1270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Shape 87">
            <a:extLst>
              <a:ext uri="{FF2B5EF4-FFF2-40B4-BE49-F238E27FC236}">
                <a16:creationId xmlns:a16="http://schemas.microsoft.com/office/drawing/2014/main" id="{9262852C-8F63-3D4D-3140-88946FEEC8F3}"/>
              </a:ext>
            </a:extLst>
          </p:cNvPr>
          <p:cNvSpPr/>
          <p:nvPr/>
        </p:nvSpPr>
        <p:spPr>
          <a:xfrm>
            <a:off x="6332220" y="4956048"/>
            <a:ext cx="2928366" cy="1773936"/>
          </a:xfrm>
          <a:prstGeom prst="rect">
            <a:avLst/>
          </a:prstGeom>
          <a:solidFill>
            <a:srgbClr val="0E2841"/>
          </a:solidFill>
          <a:ln w="12700">
            <a:solidFill>
              <a:srgbClr val="0E28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Shape 88">
            <a:extLst>
              <a:ext uri="{FF2B5EF4-FFF2-40B4-BE49-F238E27FC236}">
                <a16:creationId xmlns:a16="http://schemas.microsoft.com/office/drawing/2014/main" id="{26060BE3-20AC-E44C-E2CA-AD99C30A91F8}"/>
              </a:ext>
            </a:extLst>
          </p:cNvPr>
          <p:cNvSpPr/>
          <p:nvPr/>
        </p:nvSpPr>
        <p:spPr>
          <a:xfrm>
            <a:off x="6332220" y="4956048"/>
            <a:ext cx="2928366" cy="50292"/>
          </a:xfrm>
          <a:prstGeom prst="rect">
            <a:avLst/>
          </a:prstGeom>
          <a:solidFill>
            <a:srgbClr val="196B24"/>
          </a:solidFill>
          <a:ln w="12700">
            <a:solidFill>
              <a:srgbClr val="196B2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Shape 89">
            <a:extLst>
              <a:ext uri="{FF2B5EF4-FFF2-40B4-BE49-F238E27FC236}">
                <a16:creationId xmlns:a16="http://schemas.microsoft.com/office/drawing/2014/main" id="{3E201766-4377-31B3-3196-7C35DA46C93B}"/>
              </a:ext>
            </a:extLst>
          </p:cNvPr>
          <p:cNvSpPr/>
          <p:nvPr/>
        </p:nvSpPr>
        <p:spPr>
          <a:xfrm>
            <a:off x="9260586" y="4956048"/>
            <a:ext cx="0" cy="1773936"/>
          </a:xfrm>
          <a:prstGeom prst="line">
            <a:avLst/>
          </a:prstGeom>
          <a:noFill/>
          <a:ln w="1270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Shape 93">
            <a:extLst>
              <a:ext uri="{FF2B5EF4-FFF2-40B4-BE49-F238E27FC236}">
                <a16:creationId xmlns:a16="http://schemas.microsoft.com/office/drawing/2014/main" id="{587116BA-FFD7-8FA7-99C6-F369A7D13C24}"/>
              </a:ext>
            </a:extLst>
          </p:cNvPr>
          <p:cNvSpPr/>
          <p:nvPr/>
        </p:nvSpPr>
        <p:spPr>
          <a:xfrm>
            <a:off x="9260586" y="4956048"/>
            <a:ext cx="2928366" cy="1773936"/>
          </a:xfrm>
          <a:prstGeom prst="rect">
            <a:avLst/>
          </a:prstGeom>
          <a:solidFill>
            <a:srgbClr val="0E2841"/>
          </a:solidFill>
          <a:ln w="12700">
            <a:solidFill>
              <a:srgbClr val="0E28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Shape 94">
            <a:extLst>
              <a:ext uri="{FF2B5EF4-FFF2-40B4-BE49-F238E27FC236}">
                <a16:creationId xmlns:a16="http://schemas.microsoft.com/office/drawing/2014/main" id="{67C64FBB-BD28-7CB7-B54E-7F66C2F5AA83}"/>
              </a:ext>
            </a:extLst>
          </p:cNvPr>
          <p:cNvSpPr/>
          <p:nvPr/>
        </p:nvSpPr>
        <p:spPr>
          <a:xfrm>
            <a:off x="9260586" y="4956048"/>
            <a:ext cx="2928366" cy="50292"/>
          </a:xfrm>
          <a:prstGeom prst="rect">
            <a:avLst/>
          </a:prstGeom>
          <a:solidFill>
            <a:srgbClr val="8BAFC4"/>
          </a:solidFill>
          <a:ln w="12700">
            <a:solidFill>
              <a:srgbClr val="8BAFC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83820521"/>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C0BFD-E144-8A56-19AE-109413F96AC8}"/>
              </a:ext>
            </a:extLst>
          </p:cNvPr>
          <p:cNvSpPr>
            <a:spLocks noGrp="1"/>
          </p:cNvSpPr>
          <p:nvPr>
            <p:ph type="title"/>
          </p:nvPr>
        </p:nvSpPr>
        <p:spPr>
          <a:xfrm>
            <a:off x="320476" y="938948"/>
            <a:ext cx="11261157" cy="648230"/>
          </a:xfrm>
        </p:spPr>
        <p:txBody>
          <a:bodyPr vert="horz" lIns="91440" tIns="45720" rIns="91440" bIns="45720" rtlCol="0" anchor="ctr">
            <a:noAutofit/>
          </a:bodyPr>
          <a:lstStyle/>
          <a:p>
            <a:r>
              <a:rPr lang="en-US" sz="2000" b="1"/>
              <a:t>Objective</a:t>
            </a:r>
            <a:r>
              <a:rPr lang="en-US" sz="2000"/>
              <a:t> : Based on the predicted failure from Survival Model get a Units to Order to keep the min Inventory level needed</a:t>
            </a:r>
          </a:p>
        </p:txBody>
      </p:sp>
      <p:pic>
        <p:nvPicPr>
          <p:cNvPr id="7" name="Picture 6" descr="A screenshot of a computer screen&#10;&#10;Description automatically generated">
            <a:extLst>
              <a:ext uri="{FF2B5EF4-FFF2-40B4-BE49-F238E27FC236}">
                <a16:creationId xmlns:a16="http://schemas.microsoft.com/office/drawing/2014/main" id="{308DB07C-2847-75C7-D268-76BB1C7B642B}"/>
              </a:ext>
            </a:extLst>
          </p:cNvPr>
          <p:cNvPicPr>
            <a:picLocks noChangeAspect="1"/>
          </p:cNvPicPr>
          <p:nvPr/>
        </p:nvPicPr>
        <p:blipFill>
          <a:blip r:embed="rId2"/>
          <a:srcRect b="65569"/>
          <a:stretch/>
        </p:blipFill>
        <p:spPr>
          <a:xfrm>
            <a:off x="415635" y="1842611"/>
            <a:ext cx="11272405" cy="1768810"/>
          </a:xfrm>
          <a:prstGeom prst="rect">
            <a:avLst/>
          </a:prstGeom>
        </p:spPr>
      </p:pic>
      <p:sp>
        <p:nvSpPr>
          <p:cNvPr id="8" name="TextBox 7">
            <a:extLst>
              <a:ext uri="{FF2B5EF4-FFF2-40B4-BE49-F238E27FC236}">
                <a16:creationId xmlns:a16="http://schemas.microsoft.com/office/drawing/2014/main" id="{FD5B0DC8-1E20-D2E1-5C46-789C1BD17541}"/>
              </a:ext>
            </a:extLst>
          </p:cNvPr>
          <p:cNvSpPr txBox="1"/>
          <p:nvPr/>
        </p:nvSpPr>
        <p:spPr>
          <a:xfrm>
            <a:off x="320476" y="1578209"/>
            <a:ext cx="11120582" cy="307777"/>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ptos" panose="02110004020202020204"/>
                <a:ea typeface="+mn-ea"/>
                <a:cs typeface="+mn-cs"/>
              </a:rPr>
              <a:t>We merge latest Inventory Information from base table to the asset prediction from Survival model</a:t>
            </a:r>
            <a:endParaRPr lang="en-US" sz="14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9" name="TextBox 8">
            <a:extLst>
              <a:ext uri="{FF2B5EF4-FFF2-40B4-BE49-F238E27FC236}">
                <a16:creationId xmlns:a16="http://schemas.microsoft.com/office/drawing/2014/main" id="{E590732B-E11B-E507-0326-328383A2FEDE}"/>
              </a:ext>
            </a:extLst>
          </p:cNvPr>
          <p:cNvSpPr txBox="1"/>
          <p:nvPr/>
        </p:nvSpPr>
        <p:spPr>
          <a:xfrm>
            <a:off x="352135" y="3698586"/>
            <a:ext cx="2578871" cy="2308324"/>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0" u="sng" strike="noStrike" kern="1200" cap="none" spc="0" normalizeH="0" baseline="0" noProof="0">
                <a:ln>
                  <a:noFill/>
                </a:ln>
                <a:solidFill>
                  <a:prstClr val="black"/>
                </a:solidFill>
                <a:effectLst/>
                <a:uLnTx/>
                <a:uFillTx/>
                <a:latin typeface="Aptos" panose="02110004020202020204"/>
                <a:ea typeface="+mn-ea"/>
                <a:cs typeface="+mn-cs"/>
              </a:rPr>
              <a:t>Inventory Deficit</a:t>
            </a:r>
            <a:endParaRPr lang="en-IN" sz="1200" b="1" i="0" u="sng" strike="noStrike" kern="1200" cap="none" spc="0" normalizeH="0" baseline="0" noProof="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black"/>
                </a:solidFill>
                <a:effectLst/>
                <a:uLnTx/>
                <a:uFillTx/>
                <a:latin typeface="Aptos" panose="02110004020202020204"/>
                <a:ea typeface="+mn-ea"/>
                <a:cs typeface="+mn-cs"/>
              </a:rPr>
              <a:t>Formula</a:t>
            </a:r>
            <a:r>
              <a:rPr kumimoji="0" lang="en-IN" sz="1200" b="0" i="0" u="none" strike="noStrike" kern="1200" cap="none" spc="0" normalizeH="0" baseline="0" noProof="0">
                <a:ln>
                  <a:noFill/>
                </a:ln>
                <a:solidFill>
                  <a:prstClr val="black"/>
                </a:solidFill>
                <a:effectLst/>
                <a:uLnTx/>
                <a:uFillTx/>
                <a:latin typeface="Aptos" panose="02110004020202020204"/>
                <a:ea typeface="+mn-ea"/>
                <a:cs typeface="+mn-cs"/>
              </a:rPr>
              <a:t>: Current Stock - </a:t>
            </a:r>
            <a:r>
              <a:rPr lang="en-IN" sz="1200" kern="1200">
                <a:solidFill>
                  <a:prstClr val="black"/>
                </a:solidFill>
                <a:latin typeface="Aptos" panose="02110004020202020204"/>
                <a:ea typeface="+mn-ea"/>
                <a:cs typeface="+mn-cs"/>
              </a:rPr>
              <a:t>Needed</a:t>
            </a:r>
            <a:r>
              <a:rPr kumimoji="0" lang="en-IN" sz="1200" b="0" i="0" u="none" strike="noStrike" kern="1200" cap="none" spc="0" normalizeH="0" baseline="0" noProof="0">
                <a:ln>
                  <a:noFill/>
                </a:ln>
                <a:solidFill>
                  <a:prstClr val="black"/>
                </a:solidFill>
                <a:effectLst/>
                <a:uLnTx/>
                <a:uFillTx/>
                <a:latin typeface="Aptos" panose="02110004020202020204"/>
                <a:ea typeface="+mn-ea"/>
                <a:cs typeface="+mn-cs"/>
              </a:rPr>
              <a:t> Buffer - Predicted Demand</a:t>
            </a:r>
            <a:endParaRPr lang="en-IN" sz="1200" b="0" i="0" u="none" strike="noStrike" kern="1200" cap="none" spc="0" normalizeH="0" baseline="0" noProof="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b="0" i="0" u="none" strike="noStrike" kern="1200" cap="none" spc="0" normalizeH="0" baseline="0" noProof="0">
              <a:ln>
                <a:noFill/>
              </a:ln>
              <a:solidFill>
                <a:prstClr val="black"/>
              </a:solidFill>
              <a:effectLst/>
              <a:uLnTx/>
              <a:uFillTx/>
              <a:latin typeface="Aptos" panose="02110004020202020204"/>
              <a:ea typeface="+mn-ea"/>
              <a:cs typeface="+mn-cs"/>
            </a:endParaRPr>
          </a:p>
          <a:p>
            <a:pPr algn="l" rtl="0">
              <a:defRPr/>
            </a:pPr>
            <a:r>
              <a:rPr kumimoji="0" lang="en-IN" sz="1200" b="1" i="0" u="none" strike="noStrike" kern="1200" cap="none" spc="0" normalizeH="0" baseline="0" noProof="0">
                <a:ln>
                  <a:noFill/>
                </a:ln>
                <a:solidFill>
                  <a:prstClr val="black"/>
                </a:solidFill>
                <a:effectLst/>
                <a:uLnTx/>
                <a:uFillTx/>
                <a:latin typeface="Aptos" panose="02110004020202020204"/>
                <a:ea typeface="+mn-ea"/>
                <a:cs typeface="+mn-cs"/>
              </a:rPr>
              <a:t>Logic</a:t>
            </a:r>
            <a:r>
              <a:rPr kumimoji="0" lang="en-IN" sz="1200" b="0" i="0" u="none" strike="noStrike" kern="1200" cap="none" spc="0" normalizeH="0" baseline="0" noProof="0">
                <a:ln>
                  <a:noFill/>
                </a:ln>
                <a:solidFill>
                  <a:prstClr val="black"/>
                </a:solidFill>
                <a:effectLst/>
                <a:uLnTx/>
                <a:uFillTx/>
                <a:latin typeface="Aptos" panose="02110004020202020204"/>
                <a:ea typeface="+mn-ea"/>
                <a:cs typeface="+mn-cs"/>
              </a:rPr>
              <a:t>: </a:t>
            </a:r>
            <a:r>
              <a:rPr lang="en-IN" sz="1200" kern="1200">
                <a:solidFill>
                  <a:prstClr val="black"/>
                </a:solidFill>
                <a:latin typeface="Aptos" panose="02110004020202020204"/>
                <a:ea typeface="+mn-ea"/>
                <a:cs typeface="+mn-cs"/>
              </a:rPr>
              <a:t>Figures out</a:t>
            </a:r>
            <a:r>
              <a:rPr kumimoji="0" lang="en-IN" sz="1200" b="0" i="0" u="none" strike="noStrike" kern="1200" cap="none" spc="0" normalizeH="0" baseline="0" noProof="0">
                <a:ln>
                  <a:noFill/>
                </a:ln>
                <a:solidFill>
                  <a:prstClr val="black"/>
                </a:solidFill>
                <a:effectLst/>
                <a:uLnTx/>
                <a:uFillTx/>
                <a:latin typeface="Aptos" panose="02110004020202020204"/>
                <a:ea typeface="+mn-ea"/>
                <a:cs typeface="+mn-cs"/>
              </a:rPr>
              <a:t> if current inventory can meet predicted demand while </a:t>
            </a:r>
            <a:r>
              <a:rPr lang="en-IN" sz="1200" kern="1200">
                <a:solidFill>
                  <a:prstClr val="black"/>
                </a:solidFill>
                <a:latin typeface="Aptos" panose="02110004020202020204"/>
                <a:ea typeface="+mn-ea"/>
                <a:cs typeface="+mn-cs"/>
              </a:rPr>
              <a:t>keeping</a:t>
            </a:r>
            <a:r>
              <a:rPr kumimoji="0" lang="en-IN" sz="1200" b="0" i="0" u="none" strike="noStrike" kern="1200" cap="none" spc="0" normalizeH="0" baseline="0" noProof="0">
                <a:ln>
                  <a:noFill/>
                </a:ln>
                <a:solidFill>
                  <a:prstClr val="black"/>
                </a:solidFill>
                <a:effectLst/>
                <a:uLnTx/>
                <a:uFillTx/>
                <a:latin typeface="Aptos" panose="02110004020202020204"/>
                <a:ea typeface="+mn-ea"/>
                <a:cs typeface="+mn-cs"/>
              </a:rPr>
              <a:t> safety buffers</a:t>
            </a:r>
            <a:endParaRPr lang="en-IN" sz="1200" b="0" i="0" u="none" strike="noStrike" kern="1200" cap="none" spc="0" normalizeH="0" baseline="0" noProof="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b="1" i="0" u="none" strike="noStrike" kern="1200" cap="none" spc="0" normalizeH="0" baseline="0" noProof="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black"/>
                </a:solidFill>
                <a:effectLst/>
                <a:uLnTx/>
                <a:uFillTx/>
                <a:latin typeface="Aptos" panose="02110004020202020204"/>
                <a:ea typeface="+mn-ea"/>
                <a:cs typeface="+mn-cs"/>
              </a:rPr>
              <a:t>Interpretation</a:t>
            </a:r>
            <a:r>
              <a:rPr kumimoji="0" lang="en-IN" sz="1200" b="0" i="0" u="none" strike="noStrike" kern="1200" cap="none" spc="0" normalizeH="0" baseline="0" noProof="0">
                <a:ln>
                  <a:noFill/>
                </a:ln>
                <a:solidFill>
                  <a:prstClr val="black"/>
                </a:solidFill>
                <a:effectLst/>
                <a:uLnTx/>
                <a:uFillTx/>
                <a:latin typeface="Aptos" panose="02110004020202020204"/>
                <a:ea typeface="+mn-ea"/>
                <a:cs typeface="+mn-cs"/>
              </a:rPr>
              <a:t>: Shows surplus/deficit status for each asset type</a:t>
            </a:r>
            <a:endParaRPr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0" name="TextBox 9">
            <a:extLst>
              <a:ext uri="{FF2B5EF4-FFF2-40B4-BE49-F238E27FC236}">
                <a16:creationId xmlns:a16="http://schemas.microsoft.com/office/drawing/2014/main" id="{5A711A9B-D135-CC9E-6014-A0F779395565}"/>
              </a:ext>
            </a:extLst>
          </p:cNvPr>
          <p:cNvSpPr txBox="1"/>
          <p:nvPr/>
        </p:nvSpPr>
        <p:spPr>
          <a:xfrm>
            <a:off x="2952173" y="3709169"/>
            <a:ext cx="2576945" cy="2123658"/>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0" u="sng" strike="noStrike" kern="1200" cap="none" spc="0" normalizeH="0" baseline="0" noProof="0">
                <a:ln>
                  <a:noFill/>
                </a:ln>
                <a:solidFill>
                  <a:prstClr val="black"/>
                </a:solidFill>
                <a:effectLst/>
                <a:uLnTx/>
                <a:uFillTx/>
                <a:latin typeface="Aptos" panose="02110004020202020204"/>
                <a:ea typeface="+mn-ea"/>
                <a:cs typeface="+mn-cs"/>
              </a:rPr>
              <a:t>Order Flag Determination</a:t>
            </a:r>
            <a:endParaRPr lang="en-IN" sz="1200" b="1" i="0" u="sng" strike="noStrike" kern="1200" cap="none" spc="0" normalizeH="0" baseline="0" noProof="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black"/>
                </a:solidFill>
                <a:effectLst/>
                <a:uLnTx/>
                <a:uFillTx/>
                <a:latin typeface="Aptos" panose="02110004020202020204"/>
                <a:ea typeface="+mn-ea"/>
                <a:cs typeface="+mn-cs"/>
              </a:rPr>
              <a:t>Condition: </a:t>
            </a:r>
            <a:endParaRPr lang="en-IN" sz="1200" b="1" i="0" u="none" strike="noStrike" kern="1200" cap="none" spc="0" normalizeH="0" baseline="0" noProof="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solidFill>
                <a:effectLst/>
                <a:uLnTx/>
                <a:uFillTx/>
                <a:latin typeface="Aptos" panose="02110004020202020204"/>
                <a:ea typeface="+mn-ea"/>
                <a:cs typeface="+mn-cs"/>
              </a:rPr>
              <a:t>inventory deficit &lt;= 0</a:t>
            </a:r>
            <a:endParaRPr lang="en-IN" sz="1200" b="0" i="0" u="none" strike="noStrike" kern="1200" cap="none" spc="0" normalizeH="0" baseline="0" noProof="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b="1" i="0" u="none" strike="noStrike" kern="1200" cap="none" spc="0" normalizeH="0" baseline="0" noProof="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black"/>
                </a:solidFill>
                <a:effectLst/>
                <a:uLnTx/>
                <a:uFillTx/>
                <a:latin typeface="Aptos" panose="02110004020202020204"/>
                <a:ea typeface="+mn-ea"/>
                <a:cs typeface="+mn-cs"/>
              </a:rPr>
              <a:t>Purpose: </a:t>
            </a:r>
            <a:r>
              <a:rPr kumimoji="0" lang="en-IN" sz="1200" b="0" i="0" u="none" strike="noStrike" kern="1200" cap="none" spc="0" normalizeH="0" baseline="0" noProof="0">
                <a:ln>
                  <a:noFill/>
                </a:ln>
                <a:solidFill>
                  <a:prstClr val="black"/>
                </a:solidFill>
                <a:effectLst/>
                <a:uLnTx/>
                <a:uFillTx/>
                <a:latin typeface="Aptos" panose="02110004020202020204"/>
                <a:ea typeface="+mn-ea"/>
                <a:cs typeface="+mn-cs"/>
              </a:rPr>
              <a:t>Creates </a:t>
            </a:r>
            <a:r>
              <a:rPr lang="en-IN" sz="1200" kern="1200">
                <a:solidFill>
                  <a:prstClr val="black"/>
                </a:solidFill>
                <a:latin typeface="Aptos" panose="02110004020202020204"/>
                <a:ea typeface="+mn-ea"/>
                <a:cs typeface="+mn-cs"/>
              </a:rPr>
              <a:t>Boolean</a:t>
            </a:r>
            <a:r>
              <a:rPr kumimoji="0" lang="en-IN" sz="1200" b="0" i="0" u="none" strike="noStrike" kern="1200" cap="none" spc="0" normalizeH="0" baseline="0" noProof="0">
                <a:ln>
                  <a:noFill/>
                </a:ln>
                <a:solidFill>
                  <a:prstClr val="black"/>
                </a:solidFill>
                <a:effectLst/>
                <a:uLnTx/>
                <a:uFillTx/>
                <a:latin typeface="Aptos" panose="02110004020202020204"/>
                <a:ea typeface="+mn-ea"/>
                <a:cs typeface="+mn-cs"/>
              </a:rPr>
              <a:t> filter for assets requiring immediate attention</a:t>
            </a:r>
            <a:endParaRPr lang="en-IN" sz="1200" b="0" i="0" u="none" strike="noStrike" kern="1200" cap="none" spc="0" normalizeH="0" baseline="0" noProof="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b="1" i="0" u="none" strike="noStrike" kern="1200" cap="none" spc="0" normalizeH="0" baseline="0" noProof="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black"/>
                </a:solidFill>
                <a:effectLst/>
                <a:uLnTx/>
                <a:uFillTx/>
                <a:latin typeface="Aptos" panose="02110004020202020204"/>
                <a:ea typeface="+mn-ea"/>
                <a:cs typeface="+mn-cs"/>
              </a:rPr>
              <a:t>Business Logic: </a:t>
            </a:r>
            <a:r>
              <a:rPr kumimoji="0" lang="en-IN" sz="1200" b="0" i="0" u="none" strike="noStrike" kern="1200" cap="none" spc="0" normalizeH="0" baseline="0" noProof="0">
                <a:ln>
                  <a:noFill/>
                </a:ln>
                <a:solidFill>
                  <a:prstClr val="black"/>
                </a:solidFill>
                <a:effectLst/>
                <a:uLnTx/>
                <a:uFillTx/>
                <a:latin typeface="Aptos" panose="02110004020202020204"/>
                <a:ea typeface="+mn-ea"/>
                <a:cs typeface="+mn-cs"/>
              </a:rPr>
              <a:t>Only assets with insufficient or exactly-matching inventory get flagged</a:t>
            </a:r>
            <a:endParaRPr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1" name="TextBox 10">
            <a:extLst>
              <a:ext uri="{FF2B5EF4-FFF2-40B4-BE49-F238E27FC236}">
                <a16:creationId xmlns:a16="http://schemas.microsoft.com/office/drawing/2014/main" id="{CDBD3CD5-6AEA-EA45-FBE6-C66631FC9C63}"/>
              </a:ext>
            </a:extLst>
          </p:cNvPr>
          <p:cNvSpPr txBox="1"/>
          <p:nvPr/>
        </p:nvSpPr>
        <p:spPr>
          <a:xfrm>
            <a:off x="8506308" y="3666836"/>
            <a:ext cx="3085910" cy="1981325"/>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0" u="sng" strike="noStrike" kern="1200" cap="none" spc="0" normalizeH="0" baseline="0" noProof="0">
                <a:ln>
                  <a:noFill/>
                </a:ln>
                <a:solidFill>
                  <a:prstClr val="black"/>
                </a:solidFill>
                <a:effectLst/>
                <a:uLnTx/>
                <a:uFillTx/>
                <a:latin typeface="Aptos" panose="02110004020202020204"/>
                <a:ea typeface="+mn-ea"/>
                <a:cs typeface="+mn-cs"/>
              </a:rPr>
              <a:t>Order Quantity Calculation</a:t>
            </a:r>
            <a:endParaRPr lang="en-IN" sz="1200" b="1" i="0" u="sng" strike="noStrike" kern="1200" cap="none" spc="0" normalizeH="0" baseline="0" noProof="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black"/>
                </a:solidFill>
                <a:effectLst/>
                <a:uLnTx/>
                <a:uFillTx/>
                <a:latin typeface="Aptos" panose="02110004020202020204"/>
                <a:ea typeface="+mn-ea"/>
                <a:cs typeface="+mn-cs"/>
              </a:rPr>
              <a:t>Formula: </a:t>
            </a:r>
            <a:r>
              <a:rPr kumimoji="0" lang="en-IN" sz="1200" b="0" i="0" u="none" strike="noStrike" kern="1200" cap="none" spc="0" normalizeH="0" baseline="0" noProof="0">
                <a:ln>
                  <a:noFill/>
                </a:ln>
                <a:solidFill>
                  <a:prstClr val="black"/>
                </a:solidFill>
                <a:effectLst/>
                <a:uLnTx/>
                <a:uFillTx/>
                <a:latin typeface="Aptos" panose="02110004020202020204"/>
                <a:ea typeface="+mn-ea"/>
                <a:cs typeface="+mn-cs"/>
              </a:rPr>
              <a:t>Required Buffer + Predicted Demand - Current Stock</a:t>
            </a:r>
            <a:endParaRPr lang="en-IN" sz="1200" b="0" i="0" u="none" strike="noStrike" kern="1200" cap="none" spc="0" normalizeH="0" baseline="0" noProof="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b="1" i="0" u="none" strike="noStrike" kern="1200" cap="none" spc="0" normalizeH="0" baseline="0" noProof="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black"/>
                </a:solidFill>
                <a:effectLst/>
                <a:uLnTx/>
                <a:uFillTx/>
                <a:latin typeface="Aptos" panose="02110004020202020204"/>
                <a:ea typeface="+mn-ea"/>
                <a:cs typeface="+mn-cs"/>
              </a:rPr>
              <a:t>Strategy: </a:t>
            </a:r>
            <a:r>
              <a:rPr kumimoji="0" lang="en-IN" sz="1200" b="0" i="0" u="none" strike="noStrike" kern="1200" cap="none" spc="0" normalizeH="0" baseline="0" noProof="0">
                <a:ln>
                  <a:noFill/>
                </a:ln>
                <a:solidFill>
                  <a:prstClr val="black"/>
                </a:solidFill>
                <a:effectLst/>
                <a:uLnTx/>
                <a:uFillTx/>
                <a:latin typeface="Aptos" panose="02110004020202020204"/>
                <a:ea typeface="+mn-ea"/>
                <a:cs typeface="+mn-cs"/>
              </a:rPr>
              <a:t>Orders just enough to reach target inventory levels</a:t>
            </a:r>
            <a:endParaRPr lang="en-IN" sz="1200" b="0" i="0" u="none" strike="noStrike" kern="1200" cap="none" spc="0" normalizeH="0" baseline="0" noProof="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b="1" i="0" u="none" strike="noStrike" kern="1200" cap="none" spc="0" normalizeH="0" baseline="0" noProof="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b="1" i="0" u="none" strike="noStrike" kern="1200" cap="none" spc="0" normalizeH="0" baseline="0" noProof="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black"/>
                </a:solidFill>
                <a:effectLst/>
                <a:uLnTx/>
                <a:uFillTx/>
                <a:latin typeface="Aptos" panose="02110004020202020204"/>
                <a:ea typeface="+mn-ea"/>
                <a:cs typeface="+mn-cs"/>
              </a:rPr>
              <a:t>Optimization: </a:t>
            </a:r>
            <a:r>
              <a:rPr kumimoji="0" lang="en-IN" sz="1200" b="0" i="0" u="none" strike="noStrike" kern="1200" cap="none" spc="0" normalizeH="0" baseline="0" noProof="0">
                <a:ln>
                  <a:noFill/>
                </a:ln>
                <a:solidFill>
                  <a:prstClr val="black"/>
                </a:solidFill>
                <a:effectLst/>
                <a:uLnTx/>
                <a:uFillTx/>
                <a:latin typeface="Aptos" panose="02110004020202020204"/>
                <a:ea typeface="+mn-ea"/>
                <a:cs typeface="+mn-cs"/>
              </a:rPr>
              <a:t>Prevents both stockouts and overstocking</a:t>
            </a:r>
            <a:endParaRPr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 name="TextBox 11">
            <a:extLst>
              <a:ext uri="{FF2B5EF4-FFF2-40B4-BE49-F238E27FC236}">
                <a16:creationId xmlns:a16="http://schemas.microsoft.com/office/drawing/2014/main" id="{E02149F0-8963-F119-EABC-DFA92A58C7F2}"/>
              </a:ext>
            </a:extLst>
          </p:cNvPr>
          <p:cNvSpPr txBox="1"/>
          <p:nvPr/>
        </p:nvSpPr>
        <p:spPr>
          <a:xfrm>
            <a:off x="5529118" y="3709169"/>
            <a:ext cx="2964873" cy="1938992"/>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0" u="sng" strike="noStrike" kern="1200" cap="none" spc="0" normalizeH="0" baseline="0" noProof="0">
                <a:ln>
                  <a:noFill/>
                </a:ln>
                <a:solidFill>
                  <a:prstClr val="black"/>
                </a:solidFill>
                <a:effectLst/>
                <a:uLnTx/>
                <a:uFillTx/>
                <a:latin typeface="Aptos" panose="02110004020202020204"/>
                <a:ea typeface="+mn-ea"/>
                <a:cs typeface="+mn-cs"/>
              </a:rPr>
              <a:t>Post-Lead Time Projection</a:t>
            </a:r>
            <a:endParaRPr lang="en-IN" sz="1200" b="1" i="0" u="sng" strike="noStrike" kern="1200" cap="none" spc="0" normalizeH="0" baseline="0" noProof="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black"/>
                </a:solidFill>
                <a:effectLst/>
                <a:uLnTx/>
                <a:uFillTx/>
                <a:latin typeface="Aptos" panose="02110004020202020204"/>
                <a:ea typeface="+mn-ea"/>
                <a:cs typeface="+mn-cs"/>
              </a:rPr>
              <a:t>Formula: </a:t>
            </a:r>
            <a:r>
              <a:rPr kumimoji="0" lang="en-IN" sz="1200" b="0" i="0" u="none" strike="noStrike" kern="1200" cap="none" spc="0" normalizeH="0" baseline="0" noProof="0">
                <a:ln>
                  <a:noFill/>
                </a:ln>
                <a:solidFill>
                  <a:prstClr val="black"/>
                </a:solidFill>
                <a:effectLst/>
                <a:uLnTx/>
                <a:uFillTx/>
                <a:latin typeface="Aptos" panose="02110004020202020204"/>
                <a:ea typeface="+mn-ea"/>
                <a:cs typeface="+mn-cs"/>
              </a:rPr>
              <a:t>Current Stock - Predicted Demand + Order Quantity</a:t>
            </a:r>
            <a:endParaRPr lang="en-IN" sz="1200" b="0" i="0" u="none" strike="noStrike" kern="1200" cap="none" spc="0" normalizeH="0" baseline="0" noProof="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b="1" i="0" u="none" strike="noStrike" kern="1200" cap="none" spc="0" normalizeH="0" baseline="0" noProof="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black"/>
                </a:solidFill>
                <a:effectLst/>
                <a:uLnTx/>
                <a:uFillTx/>
                <a:latin typeface="Aptos" panose="02110004020202020204"/>
                <a:ea typeface="+mn-ea"/>
                <a:cs typeface="+mn-cs"/>
              </a:rPr>
              <a:t>Purpose: </a:t>
            </a:r>
            <a:r>
              <a:rPr kumimoji="0" lang="en-IN" sz="1200" b="0" i="0" u="none" strike="noStrike" kern="1200" cap="none" spc="0" normalizeH="0" baseline="0" noProof="0">
                <a:ln>
                  <a:noFill/>
                </a:ln>
                <a:solidFill>
                  <a:prstClr val="black"/>
                </a:solidFill>
                <a:effectLst/>
                <a:uLnTx/>
                <a:uFillTx/>
                <a:latin typeface="Aptos" panose="02110004020202020204"/>
                <a:ea typeface="+mn-ea"/>
                <a:cs typeface="+mn-cs"/>
              </a:rPr>
              <a:t>Shows future inventory positions after lead time</a:t>
            </a:r>
            <a:endParaRPr lang="en-IN" sz="1200" b="0" i="0" u="none" strike="noStrike" kern="1200" cap="none" spc="0" normalizeH="0" baseline="0" noProof="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b="1" i="0" u="none" strike="noStrike" kern="1200" cap="none" spc="0" normalizeH="0" baseline="0" noProof="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b="1" i="0" u="none" strike="noStrike" kern="1200" cap="none" spc="0" normalizeH="0" baseline="0" noProof="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black"/>
                </a:solidFill>
                <a:effectLst/>
                <a:uLnTx/>
                <a:uFillTx/>
                <a:latin typeface="Aptos" panose="02110004020202020204"/>
                <a:ea typeface="+mn-ea"/>
                <a:cs typeface="+mn-cs"/>
              </a:rPr>
              <a:t>Planning Value: </a:t>
            </a:r>
            <a:r>
              <a:rPr kumimoji="0" lang="en-IN" sz="1200" b="0" i="0" u="none" strike="noStrike" kern="1200" cap="none" spc="0" normalizeH="0" baseline="0" noProof="0">
                <a:ln>
                  <a:noFill/>
                </a:ln>
                <a:solidFill>
                  <a:prstClr val="black"/>
                </a:solidFill>
                <a:effectLst/>
                <a:uLnTx/>
                <a:uFillTx/>
                <a:latin typeface="Aptos" panose="02110004020202020204"/>
                <a:ea typeface="+mn-ea"/>
                <a:cs typeface="+mn-cs"/>
              </a:rPr>
              <a:t>Supports cash flow and capacity planning</a:t>
            </a:r>
            <a:endParaRPr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useBgFill="1">
        <p:nvSpPr>
          <p:cNvPr id="13" name="Right Arrow 12">
            <a:extLst>
              <a:ext uri="{FF2B5EF4-FFF2-40B4-BE49-F238E27FC236}">
                <a16:creationId xmlns:a16="http://schemas.microsoft.com/office/drawing/2014/main" id="{64F5552C-1C21-3871-EAB8-C49FEBBB0C74}"/>
              </a:ext>
            </a:extLst>
          </p:cNvPr>
          <p:cNvSpPr/>
          <p:nvPr/>
        </p:nvSpPr>
        <p:spPr>
          <a:xfrm>
            <a:off x="516839" y="6252989"/>
            <a:ext cx="11075377" cy="168373"/>
          </a:xfrm>
          <a:prstGeom prst="rightArrow">
            <a:avLst/>
          </a:prstGeom>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Rectangle 5">
            <a:extLst>
              <a:ext uri="{FF2B5EF4-FFF2-40B4-BE49-F238E27FC236}">
                <a16:creationId xmlns:a16="http://schemas.microsoft.com/office/drawing/2014/main" id="{ED9728E3-CD2B-BDE8-0AE8-2F4620974E1A}"/>
              </a:ext>
            </a:extLst>
          </p:cNvPr>
          <p:cNvSpPr/>
          <p:nvPr/>
        </p:nvSpPr>
        <p:spPr>
          <a:xfrm>
            <a:off x="0" y="0"/>
            <a:ext cx="12191969" cy="859536"/>
          </a:xfrm>
          <a:prstGeom prst="rect">
            <a:avLst/>
          </a:prstGeom>
          <a:solidFill>
            <a:srgbClr val="1E27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TextBox 14">
            <a:extLst>
              <a:ext uri="{FF2B5EF4-FFF2-40B4-BE49-F238E27FC236}">
                <a16:creationId xmlns:a16="http://schemas.microsoft.com/office/drawing/2014/main" id="{E9C675C5-BFBB-15F9-7B1A-25C7C3DC27FA}"/>
              </a:ext>
            </a:extLst>
          </p:cNvPr>
          <p:cNvSpPr txBox="1"/>
          <p:nvPr/>
        </p:nvSpPr>
        <p:spPr>
          <a:xfrm>
            <a:off x="329698" y="48828"/>
            <a:ext cx="7521301" cy="230832"/>
          </a:xfrm>
          <a:prstGeom prst="rect">
            <a:avLst/>
          </a:prstGeom>
          <a:noFill/>
        </p:spPr>
        <p:txBody>
          <a:bodyPr wrap="square" lIns="91440" tIns="45720" rIns="91440" bIns="45720" rtlCol="0" anchor="t">
            <a:spAutoFit/>
          </a:bodyPr>
          <a:lstStyle/>
          <a:p>
            <a:pPr algn="l">
              <a:defRPr/>
            </a:pPr>
            <a:r>
              <a:rPr lang="en-US" sz="900" kern="1200">
                <a:solidFill>
                  <a:srgbClr val="8AAEC4"/>
                </a:solidFill>
                <a:latin typeface="Trebuchet MS"/>
                <a:ea typeface="+mn-ea"/>
                <a:cs typeface="+mn-cs"/>
              </a:rPr>
              <a:t>Inventory Optimization - Algorithm</a:t>
            </a:r>
          </a:p>
        </p:txBody>
      </p:sp>
      <p:sp>
        <p:nvSpPr>
          <p:cNvPr id="17" name="TextBox 16">
            <a:extLst>
              <a:ext uri="{FF2B5EF4-FFF2-40B4-BE49-F238E27FC236}">
                <a16:creationId xmlns:a16="http://schemas.microsoft.com/office/drawing/2014/main" id="{590585D5-62A1-88A9-6A35-BAC9A1BE9DC0}"/>
              </a:ext>
            </a:extLst>
          </p:cNvPr>
          <p:cNvSpPr txBox="1"/>
          <p:nvPr/>
        </p:nvSpPr>
        <p:spPr>
          <a:xfrm>
            <a:off x="10427947" y="48828"/>
            <a:ext cx="1672045" cy="369332"/>
          </a:xfrm>
          <a:prstGeom prst="rect">
            <a:avLst/>
          </a:prstGeom>
          <a:noFill/>
        </p:spPr>
        <p:txBody>
          <a:bodyPr wrap="square" lIns="91440" tIns="45720" rIns="91440" bIns="45720" rtlCol="0" anchor="t">
            <a:spAutoFit/>
          </a:bodyPr>
          <a:lstStyle/>
          <a:p>
            <a:pPr algn="l" rtl="0">
              <a:defRPr/>
            </a:pPr>
            <a:r>
              <a:rPr lang="en-US" sz="900" b="1" kern="1200">
                <a:solidFill>
                  <a:schemeClr val="bg1"/>
                </a:solidFill>
                <a:latin typeface="Trebuchet MS"/>
                <a:ea typeface="+mn-ea"/>
                <a:cs typeface="+mn-cs"/>
              </a:rPr>
              <a:t>Expected Time Spent : 1 w</a:t>
            </a:r>
          </a:p>
          <a:p>
            <a:pPr algn="l" rtl="0">
              <a:defRPr/>
            </a:pPr>
            <a:r>
              <a:rPr lang="en-US" sz="900" b="1" kern="1200">
                <a:solidFill>
                  <a:schemeClr val="bg1"/>
                </a:solidFill>
                <a:latin typeface="Trebuchet MS"/>
                <a:ea typeface="+mn-ea"/>
                <a:cs typeface="+mn-cs"/>
              </a:rPr>
              <a:t>Actual Time Spent : 1 w</a:t>
            </a:r>
          </a:p>
        </p:txBody>
      </p:sp>
      <p:sp>
        <p:nvSpPr>
          <p:cNvPr id="19" name="TextBox 18">
            <a:extLst>
              <a:ext uri="{FF2B5EF4-FFF2-40B4-BE49-F238E27FC236}">
                <a16:creationId xmlns:a16="http://schemas.microsoft.com/office/drawing/2014/main" id="{9BABDEB5-457C-B5E9-2B96-70D01BB13EF0}"/>
              </a:ext>
            </a:extLst>
          </p:cNvPr>
          <p:cNvSpPr txBox="1"/>
          <p:nvPr/>
        </p:nvSpPr>
        <p:spPr>
          <a:xfrm>
            <a:off x="328559" y="287528"/>
            <a:ext cx="11734769" cy="658368"/>
          </a:xfrm>
          <a:prstGeom prst="rect">
            <a:avLst/>
          </a:prstGeom>
          <a:noFill/>
        </p:spPr>
        <p:txBody>
          <a:bodyPr wrap="square" lIns="91440" tIns="45720" rIns="91440" bIns="45720" anchor="t"/>
          <a:lstStyle/>
          <a:p>
            <a:pPr algn="l">
              <a:defRPr/>
            </a:pPr>
            <a:r>
              <a:rPr lang="en-US" sz="2400" b="1" kern="1200">
                <a:solidFill>
                  <a:schemeClr val="bg1"/>
                </a:solidFill>
                <a:latin typeface="Calibri"/>
                <a:ea typeface="Calibri"/>
                <a:cs typeface="Calibri"/>
              </a:rPr>
              <a:t>Procurement Asset Ordering Algorithm</a:t>
            </a:r>
          </a:p>
        </p:txBody>
      </p:sp>
    </p:spTree>
    <p:extLst>
      <p:ext uri="{BB962C8B-B14F-4D97-AF65-F5344CB8AC3E}">
        <p14:creationId xmlns:p14="http://schemas.microsoft.com/office/powerpoint/2010/main" val="150181180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2248D-28F0-72AE-1CA6-829319916BA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D0E33D2-4922-5C6D-A2D2-75FFEE469CF3}"/>
              </a:ext>
            </a:extLst>
          </p:cNvPr>
          <p:cNvSpPr/>
          <p:nvPr/>
        </p:nvSpPr>
        <p:spPr>
          <a:xfrm>
            <a:off x="0" y="0"/>
            <a:ext cx="12188952" cy="6858000"/>
          </a:xfrm>
          <a:prstGeom prst="rect">
            <a:avLst/>
          </a:prstGeom>
          <a:solidFill>
            <a:srgbClr val="071524"/>
          </a:solidFill>
          <a:ln w="12700">
            <a:solidFill>
              <a:srgbClr val="07152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a:extLst>
              <a:ext uri="{FF2B5EF4-FFF2-40B4-BE49-F238E27FC236}">
                <a16:creationId xmlns:a16="http://schemas.microsoft.com/office/drawing/2014/main" id="{EE557491-B9AF-2237-0ECD-017050E411AB}"/>
              </a:ext>
            </a:extLst>
          </p:cNvPr>
          <p:cNvSpPr/>
          <p:nvPr/>
        </p:nvSpPr>
        <p:spPr>
          <a:xfrm>
            <a:off x="0" y="360947"/>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BA1569ED-F985-6327-4792-93B5FA57AC72}"/>
              </a:ext>
            </a:extLst>
          </p:cNvPr>
          <p:cNvSpPr/>
          <p:nvPr/>
        </p:nvSpPr>
        <p:spPr>
          <a:xfrm>
            <a:off x="0" y="721895"/>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0B92F699-FEDD-993E-C00C-02575ACA4A0A}"/>
              </a:ext>
            </a:extLst>
          </p:cNvPr>
          <p:cNvSpPr/>
          <p:nvPr/>
        </p:nvSpPr>
        <p:spPr>
          <a:xfrm>
            <a:off x="0" y="1082842"/>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a:extLst>
              <a:ext uri="{FF2B5EF4-FFF2-40B4-BE49-F238E27FC236}">
                <a16:creationId xmlns:a16="http://schemas.microsoft.com/office/drawing/2014/main" id="{CAA97082-C588-6344-633E-B389DAC9417E}"/>
              </a:ext>
            </a:extLst>
          </p:cNvPr>
          <p:cNvSpPr/>
          <p:nvPr/>
        </p:nvSpPr>
        <p:spPr>
          <a:xfrm>
            <a:off x="0" y="1443789"/>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a:extLst>
              <a:ext uri="{FF2B5EF4-FFF2-40B4-BE49-F238E27FC236}">
                <a16:creationId xmlns:a16="http://schemas.microsoft.com/office/drawing/2014/main" id="{88C39ABF-34F2-1082-2CB4-F3851EA9AED8}"/>
              </a:ext>
            </a:extLst>
          </p:cNvPr>
          <p:cNvSpPr/>
          <p:nvPr/>
        </p:nvSpPr>
        <p:spPr>
          <a:xfrm>
            <a:off x="0" y="1804737"/>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a:extLst>
              <a:ext uri="{FF2B5EF4-FFF2-40B4-BE49-F238E27FC236}">
                <a16:creationId xmlns:a16="http://schemas.microsoft.com/office/drawing/2014/main" id="{5FB0676C-A0A7-E5E6-2933-F20488DD10D8}"/>
              </a:ext>
            </a:extLst>
          </p:cNvPr>
          <p:cNvSpPr/>
          <p:nvPr/>
        </p:nvSpPr>
        <p:spPr>
          <a:xfrm>
            <a:off x="0" y="2808621"/>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a:extLst>
              <a:ext uri="{FF2B5EF4-FFF2-40B4-BE49-F238E27FC236}">
                <a16:creationId xmlns:a16="http://schemas.microsoft.com/office/drawing/2014/main" id="{A6BAB8FA-3452-CC2B-DBDA-A9E787476F27}"/>
              </a:ext>
            </a:extLst>
          </p:cNvPr>
          <p:cNvSpPr/>
          <p:nvPr/>
        </p:nvSpPr>
        <p:spPr>
          <a:xfrm>
            <a:off x="0" y="2526632"/>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a:extLst>
              <a:ext uri="{FF2B5EF4-FFF2-40B4-BE49-F238E27FC236}">
                <a16:creationId xmlns:a16="http://schemas.microsoft.com/office/drawing/2014/main" id="{4E1E4C8C-D7D2-A2BC-AC52-08332049E515}"/>
              </a:ext>
            </a:extLst>
          </p:cNvPr>
          <p:cNvSpPr/>
          <p:nvPr/>
        </p:nvSpPr>
        <p:spPr>
          <a:xfrm>
            <a:off x="0" y="2887579"/>
            <a:ext cx="12188952" cy="0"/>
          </a:xfrm>
          <a:prstGeom prst="line">
            <a:avLst/>
          </a:prstGeom>
          <a:noFill/>
          <a:ln w="6350">
            <a:solidFill>
              <a:srgbClr val="0C1E30"/>
            </a:solidFill>
            <a:prstDash val="solid"/>
          </a:ln>
        </p:spPr>
        <p:txBody>
          <a:bodyPr lIns="91440" tIns="45720" rIns="91440" bIns="45720" anchor="t"/>
          <a:lstStyle/>
          <a:p>
            <a:pPr algn="l" rtl="0">
              <a:defRPr/>
            </a:pPr>
            <a:endParaRPr lang="en-SG" sz="1800" b="0" i="0" u="none" strike="noStrike" kern="1200" cap="none" spc="0" normalizeH="0" baseline="0" noProof="0">
              <a:ln>
                <a:noFill/>
              </a:ln>
              <a:solidFill>
                <a:prstClr val="black"/>
              </a:solidFill>
              <a:effectLst/>
              <a:uLnTx/>
              <a:uFillTx/>
              <a:latin typeface="Calibri" panose="020F0502020204030204"/>
              <a:ea typeface="Calibri"/>
              <a:cs typeface="Calibri"/>
            </a:endParaRPr>
          </a:p>
        </p:txBody>
      </p:sp>
      <p:sp>
        <p:nvSpPr>
          <p:cNvPr id="11" name="Shape 9">
            <a:extLst>
              <a:ext uri="{FF2B5EF4-FFF2-40B4-BE49-F238E27FC236}">
                <a16:creationId xmlns:a16="http://schemas.microsoft.com/office/drawing/2014/main" id="{1479BC4A-1CEA-336E-B4D9-8696DF1BD9A8}"/>
              </a:ext>
            </a:extLst>
          </p:cNvPr>
          <p:cNvSpPr/>
          <p:nvPr/>
        </p:nvSpPr>
        <p:spPr>
          <a:xfrm>
            <a:off x="0" y="3248526"/>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a:extLst>
              <a:ext uri="{FF2B5EF4-FFF2-40B4-BE49-F238E27FC236}">
                <a16:creationId xmlns:a16="http://schemas.microsoft.com/office/drawing/2014/main" id="{E208F6FC-0797-30FE-43D6-8A7E7D287C65}"/>
              </a:ext>
            </a:extLst>
          </p:cNvPr>
          <p:cNvSpPr/>
          <p:nvPr/>
        </p:nvSpPr>
        <p:spPr>
          <a:xfrm>
            <a:off x="0" y="3609474"/>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a:extLst>
              <a:ext uri="{FF2B5EF4-FFF2-40B4-BE49-F238E27FC236}">
                <a16:creationId xmlns:a16="http://schemas.microsoft.com/office/drawing/2014/main" id="{D73631E6-4837-EA31-9A29-01F97F91C330}"/>
              </a:ext>
            </a:extLst>
          </p:cNvPr>
          <p:cNvSpPr/>
          <p:nvPr/>
        </p:nvSpPr>
        <p:spPr>
          <a:xfrm>
            <a:off x="0" y="3970421"/>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a:extLst>
              <a:ext uri="{FF2B5EF4-FFF2-40B4-BE49-F238E27FC236}">
                <a16:creationId xmlns:a16="http://schemas.microsoft.com/office/drawing/2014/main" id="{D5EAC496-8C91-DEB0-55B5-A5395804D674}"/>
              </a:ext>
            </a:extLst>
          </p:cNvPr>
          <p:cNvSpPr/>
          <p:nvPr/>
        </p:nvSpPr>
        <p:spPr>
          <a:xfrm>
            <a:off x="0" y="4331368"/>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a:extLst>
              <a:ext uri="{FF2B5EF4-FFF2-40B4-BE49-F238E27FC236}">
                <a16:creationId xmlns:a16="http://schemas.microsoft.com/office/drawing/2014/main" id="{9742C4AA-FFF7-95EE-9DB6-F76DA9E23589}"/>
              </a:ext>
            </a:extLst>
          </p:cNvPr>
          <p:cNvSpPr/>
          <p:nvPr/>
        </p:nvSpPr>
        <p:spPr>
          <a:xfrm>
            <a:off x="0" y="4692316"/>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a:extLst>
              <a:ext uri="{FF2B5EF4-FFF2-40B4-BE49-F238E27FC236}">
                <a16:creationId xmlns:a16="http://schemas.microsoft.com/office/drawing/2014/main" id="{CC893EF1-10F1-9D40-C419-15BE82DAC63D}"/>
              </a:ext>
            </a:extLst>
          </p:cNvPr>
          <p:cNvSpPr/>
          <p:nvPr/>
        </p:nvSpPr>
        <p:spPr>
          <a:xfrm>
            <a:off x="0" y="5053263"/>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a:extLst>
              <a:ext uri="{FF2B5EF4-FFF2-40B4-BE49-F238E27FC236}">
                <a16:creationId xmlns:a16="http://schemas.microsoft.com/office/drawing/2014/main" id="{9334A987-D226-807C-B69F-01C67C238165}"/>
              </a:ext>
            </a:extLst>
          </p:cNvPr>
          <p:cNvSpPr/>
          <p:nvPr/>
        </p:nvSpPr>
        <p:spPr>
          <a:xfrm>
            <a:off x="0" y="5414211"/>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a:extLst>
              <a:ext uri="{FF2B5EF4-FFF2-40B4-BE49-F238E27FC236}">
                <a16:creationId xmlns:a16="http://schemas.microsoft.com/office/drawing/2014/main" id="{A407C18C-96D3-CA32-9C21-0334B42E9D04}"/>
              </a:ext>
            </a:extLst>
          </p:cNvPr>
          <p:cNvSpPr/>
          <p:nvPr/>
        </p:nvSpPr>
        <p:spPr>
          <a:xfrm>
            <a:off x="0" y="5775158"/>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a:extLst>
              <a:ext uri="{FF2B5EF4-FFF2-40B4-BE49-F238E27FC236}">
                <a16:creationId xmlns:a16="http://schemas.microsoft.com/office/drawing/2014/main" id="{F1E20033-839F-2F19-B9B8-6476012EF7CD}"/>
              </a:ext>
            </a:extLst>
          </p:cNvPr>
          <p:cNvSpPr/>
          <p:nvPr/>
        </p:nvSpPr>
        <p:spPr>
          <a:xfrm>
            <a:off x="0" y="6136105"/>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a:extLst>
              <a:ext uri="{FF2B5EF4-FFF2-40B4-BE49-F238E27FC236}">
                <a16:creationId xmlns:a16="http://schemas.microsoft.com/office/drawing/2014/main" id="{6C6803F3-88E7-4789-C44E-DBD506A141B7}"/>
              </a:ext>
            </a:extLst>
          </p:cNvPr>
          <p:cNvSpPr/>
          <p:nvPr/>
        </p:nvSpPr>
        <p:spPr>
          <a:xfrm>
            <a:off x="0" y="6497053"/>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a:extLst>
              <a:ext uri="{FF2B5EF4-FFF2-40B4-BE49-F238E27FC236}">
                <a16:creationId xmlns:a16="http://schemas.microsoft.com/office/drawing/2014/main" id="{37485726-9709-881F-CD7E-6E92D2061620}"/>
              </a:ext>
            </a:extLst>
          </p:cNvPr>
          <p:cNvSpPr/>
          <p:nvPr/>
        </p:nvSpPr>
        <p:spPr>
          <a:xfrm>
            <a:off x="487558"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a:extLst>
              <a:ext uri="{FF2B5EF4-FFF2-40B4-BE49-F238E27FC236}">
                <a16:creationId xmlns:a16="http://schemas.microsoft.com/office/drawing/2014/main" id="{A222F0AA-8CEB-D8EF-97AC-7A09A1B6490D}"/>
              </a:ext>
            </a:extLst>
          </p:cNvPr>
          <p:cNvSpPr/>
          <p:nvPr/>
        </p:nvSpPr>
        <p:spPr>
          <a:xfrm>
            <a:off x="975116"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a:extLst>
              <a:ext uri="{FF2B5EF4-FFF2-40B4-BE49-F238E27FC236}">
                <a16:creationId xmlns:a16="http://schemas.microsoft.com/office/drawing/2014/main" id="{36046632-46FB-87CD-5537-2D953F1726C8}"/>
              </a:ext>
            </a:extLst>
          </p:cNvPr>
          <p:cNvSpPr/>
          <p:nvPr/>
        </p:nvSpPr>
        <p:spPr>
          <a:xfrm>
            <a:off x="1462674"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a:extLst>
              <a:ext uri="{FF2B5EF4-FFF2-40B4-BE49-F238E27FC236}">
                <a16:creationId xmlns:a16="http://schemas.microsoft.com/office/drawing/2014/main" id="{B9AE2BF6-3586-62EE-5C45-1514CBFAFFBB}"/>
              </a:ext>
            </a:extLst>
          </p:cNvPr>
          <p:cNvSpPr/>
          <p:nvPr/>
        </p:nvSpPr>
        <p:spPr>
          <a:xfrm>
            <a:off x="1950232"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a:extLst>
              <a:ext uri="{FF2B5EF4-FFF2-40B4-BE49-F238E27FC236}">
                <a16:creationId xmlns:a16="http://schemas.microsoft.com/office/drawing/2014/main" id="{2C92E910-276B-D23E-155A-AF550C658C85}"/>
              </a:ext>
            </a:extLst>
          </p:cNvPr>
          <p:cNvSpPr/>
          <p:nvPr/>
        </p:nvSpPr>
        <p:spPr>
          <a:xfrm>
            <a:off x="2437790"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4">
            <a:extLst>
              <a:ext uri="{FF2B5EF4-FFF2-40B4-BE49-F238E27FC236}">
                <a16:creationId xmlns:a16="http://schemas.microsoft.com/office/drawing/2014/main" id="{B0405473-57E5-95AF-F98C-B64FDE3FA249}"/>
              </a:ext>
            </a:extLst>
          </p:cNvPr>
          <p:cNvSpPr/>
          <p:nvPr/>
        </p:nvSpPr>
        <p:spPr>
          <a:xfrm>
            <a:off x="2925348"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5">
            <a:extLst>
              <a:ext uri="{FF2B5EF4-FFF2-40B4-BE49-F238E27FC236}">
                <a16:creationId xmlns:a16="http://schemas.microsoft.com/office/drawing/2014/main" id="{35B5F2AB-7378-8D64-C893-32A116ACF3B5}"/>
              </a:ext>
            </a:extLst>
          </p:cNvPr>
          <p:cNvSpPr/>
          <p:nvPr/>
        </p:nvSpPr>
        <p:spPr>
          <a:xfrm>
            <a:off x="3412907"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6">
            <a:extLst>
              <a:ext uri="{FF2B5EF4-FFF2-40B4-BE49-F238E27FC236}">
                <a16:creationId xmlns:a16="http://schemas.microsoft.com/office/drawing/2014/main" id="{AAAEA65F-C8B1-ACFE-4243-FD4A5FD1B7FE}"/>
              </a:ext>
            </a:extLst>
          </p:cNvPr>
          <p:cNvSpPr/>
          <p:nvPr/>
        </p:nvSpPr>
        <p:spPr>
          <a:xfrm>
            <a:off x="3900465"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7">
            <a:extLst>
              <a:ext uri="{FF2B5EF4-FFF2-40B4-BE49-F238E27FC236}">
                <a16:creationId xmlns:a16="http://schemas.microsoft.com/office/drawing/2014/main" id="{EFAE43DF-671D-98CC-8009-DB9B537ACDE0}"/>
              </a:ext>
            </a:extLst>
          </p:cNvPr>
          <p:cNvSpPr/>
          <p:nvPr/>
        </p:nvSpPr>
        <p:spPr>
          <a:xfrm>
            <a:off x="4388023"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a:extLst>
              <a:ext uri="{FF2B5EF4-FFF2-40B4-BE49-F238E27FC236}">
                <a16:creationId xmlns:a16="http://schemas.microsoft.com/office/drawing/2014/main" id="{D06571CE-D6AE-9D4B-1D2C-5B55856F3760}"/>
              </a:ext>
            </a:extLst>
          </p:cNvPr>
          <p:cNvSpPr/>
          <p:nvPr/>
        </p:nvSpPr>
        <p:spPr>
          <a:xfrm>
            <a:off x="4875581"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9">
            <a:extLst>
              <a:ext uri="{FF2B5EF4-FFF2-40B4-BE49-F238E27FC236}">
                <a16:creationId xmlns:a16="http://schemas.microsoft.com/office/drawing/2014/main" id="{418CEAEC-9B8D-109C-63AD-7D0C48E6D238}"/>
              </a:ext>
            </a:extLst>
          </p:cNvPr>
          <p:cNvSpPr/>
          <p:nvPr/>
        </p:nvSpPr>
        <p:spPr>
          <a:xfrm>
            <a:off x="5363139"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30">
            <a:extLst>
              <a:ext uri="{FF2B5EF4-FFF2-40B4-BE49-F238E27FC236}">
                <a16:creationId xmlns:a16="http://schemas.microsoft.com/office/drawing/2014/main" id="{69837AC2-C0DE-C024-AA4C-242ABC54B22C}"/>
              </a:ext>
            </a:extLst>
          </p:cNvPr>
          <p:cNvSpPr/>
          <p:nvPr/>
        </p:nvSpPr>
        <p:spPr>
          <a:xfrm>
            <a:off x="5850697"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31">
            <a:extLst>
              <a:ext uri="{FF2B5EF4-FFF2-40B4-BE49-F238E27FC236}">
                <a16:creationId xmlns:a16="http://schemas.microsoft.com/office/drawing/2014/main" id="{3E250916-4E90-2CDD-24DB-9A0A71021D52}"/>
              </a:ext>
            </a:extLst>
          </p:cNvPr>
          <p:cNvSpPr/>
          <p:nvPr/>
        </p:nvSpPr>
        <p:spPr>
          <a:xfrm>
            <a:off x="6338255"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Shape 32">
            <a:extLst>
              <a:ext uri="{FF2B5EF4-FFF2-40B4-BE49-F238E27FC236}">
                <a16:creationId xmlns:a16="http://schemas.microsoft.com/office/drawing/2014/main" id="{7F69C37E-CBBA-6ED9-6F9A-CC92FF002AD9}"/>
              </a:ext>
            </a:extLst>
          </p:cNvPr>
          <p:cNvSpPr/>
          <p:nvPr/>
        </p:nvSpPr>
        <p:spPr>
          <a:xfrm>
            <a:off x="6825813"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Shape 33">
            <a:extLst>
              <a:ext uri="{FF2B5EF4-FFF2-40B4-BE49-F238E27FC236}">
                <a16:creationId xmlns:a16="http://schemas.microsoft.com/office/drawing/2014/main" id="{2BAA3C4D-BA61-913B-2ED1-2BEE136744E2}"/>
              </a:ext>
            </a:extLst>
          </p:cNvPr>
          <p:cNvSpPr/>
          <p:nvPr/>
        </p:nvSpPr>
        <p:spPr>
          <a:xfrm>
            <a:off x="7313371"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34">
            <a:extLst>
              <a:ext uri="{FF2B5EF4-FFF2-40B4-BE49-F238E27FC236}">
                <a16:creationId xmlns:a16="http://schemas.microsoft.com/office/drawing/2014/main" id="{E460A827-6699-FED7-FF98-44FD1DC38997}"/>
              </a:ext>
            </a:extLst>
          </p:cNvPr>
          <p:cNvSpPr/>
          <p:nvPr/>
        </p:nvSpPr>
        <p:spPr>
          <a:xfrm>
            <a:off x="7800929"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5">
            <a:extLst>
              <a:ext uri="{FF2B5EF4-FFF2-40B4-BE49-F238E27FC236}">
                <a16:creationId xmlns:a16="http://schemas.microsoft.com/office/drawing/2014/main" id="{CF612A13-20BE-F18F-456A-ACAE601E105A}"/>
              </a:ext>
            </a:extLst>
          </p:cNvPr>
          <p:cNvSpPr/>
          <p:nvPr/>
        </p:nvSpPr>
        <p:spPr>
          <a:xfrm>
            <a:off x="8288487"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6">
            <a:extLst>
              <a:ext uri="{FF2B5EF4-FFF2-40B4-BE49-F238E27FC236}">
                <a16:creationId xmlns:a16="http://schemas.microsoft.com/office/drawing/2014/main" id="{1CE9315F-71D7-3BBF-6F9F-F5243A16ECE3}"/>
              </a:ext>
            </a:extLst>
          </p:cNvPr>
          <p:cNvSpPr/>
          <p:nvPr/>
        </p:nvSpPr>
        <p:spPr>
          <a:xfrm>
            <a:off x="8776045"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Shape 37">
            <a:extLst>
              <a:ext uri="{FF2B5EF4-FFF2-40B4-BE49-F238E27FC236}">
                <a16:creationId xmlns:a16="http://schemas.microsoft.com/office/drawing/2014/main" id="{E97EA78E-10D3-71BF-E7F6-40C51BD03619}"/>
              </a:ext>
            </a:extLst>
          </p:cNvPr>
          <p:cNvSpPr/>
          <p:nvPr/>
        </p:nvSpPr>
        <p:spPr>
          <a:xfrm>
            <a:off x="9263604"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Shape 38">
            <a:extLst>
              <a:ext uri="{FF2B5EF4-FFF2-40B4-BE49-F238E27FC236}">
                <a16:creationId xmlns:a16="http://schemas.microsoft.com/office/drawing/2014/main" id="{468A32ED-C2A8-698F-C0D1-C16ACB2457B5}"/>
              </a:ext>
            </a:extLst>
          </p:cNvPr>
          <p:cNvSpPr/>
          <p:nvPr/>
        </p:nvSpPr>
        <p:spPr>
          <a:xfrm>
            <a:off x="9751162"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Shape 39">
            <a:extLst>
              <a:ext uri="{FF2B5EF4-FFF2-40B4-BE49-F238E27FC236}">
                <a16:creationId xmlns:a16="http://schemas.microsoft.com/office/drawing/2014/main" id="{940F45AC-56D8-82CF-21E0-20B89D64F934}"/>
              </a:ext>
            </a:extLst>
          </p:cNvPr>
          <p:cNvSpPr/>
          <p:nvPr/>
        </p:nvSpPr>
        <p:spPr>
          <a:xfrm>
            <a:off x="10238720"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Shape 40">
            <a:extLst>
              <a:ext uri="{FF2B5EF4-FFF2-40B4-BE49-F238E27FC236}">
                <a16:creationId xmlns:a16="http://schemas.microsoft.com/office/drawing/2014/main" id="{4AC67FB9-E99C-D1F2-CA06-8605B1AAEF14}"/>
              </a:ext>
            </a:extLst>
          </p:cNvPr>
          <p:cNvSpPr/>
          <p:nvPr/>
        </p:nvSpPr>
        <p:spPr>
          <a:xfrm>
            <a:off x="10726278"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Shape 41">
            <a:extLst>
              <a:ext uri="{FF2B5EF4-FFF2-40B4-BE49-F238E27FC236}">
                <a16:creationId xmlns:a16="http://schemas.microsoft.com/office/drawing/2014/main" id="{F4A4F801-9810-6289-0121-5B750F4B56AA}"/>
              </a:ext>
            </a:extLst>
          </p:cNvPr>
          <p:cNvSpPr/>
          <p:nvPr/>
        </p:nvSpPr>
        <p:spPr>
          <a:xfrm>
            <a:off x="11213836"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Shape 42">
            <a:extLst>
              <a:ext uri="{FF2B5EF4-FFF2-40B4-BE49-F238E27FC236}">
                <a16:creationId xmlns:a16="http://schemas.microsoft.com/office/drawing/2014/main" id="{D8A9A104-B535-3C12-1E6E-18C89BDEBC05}"/>
              </a:ext>
            </a:extLst>
          </p:cNvPr>
          <p:cNvSpPr/>
          <p:nvPr/>
        </p:nvSpPr>
        <p:spPr>
          <a:xfrm>
            <a:off x="11701394"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43">
            <a:extLst>
              <a:ext uri="{FF2B5EF4-FFF2-40B4-BE49-F238E27FC236}">
                <a16:creationId xmlns:a16="http://schemas.microsoft.com/office/drawing/2014/main" id="{DBDCC5E1-E4DC-21BC-57AA-F612BA6B437F}"/>
              </a:ext>
            </a:extLst>
          </p:cNvPr>
          <p:cNvSpPr/>
          <p:nvPr/>
        </p:nvSpPr>
        <p:spPr>
          <a:xfrm>
            <a:off x="0" y="0"/>
            <a:ext cx="475488" cy="6858000"/>
          </a:xfrm>
          <a:prstGeom prst="rect">
            <a:avLst/>
          </a:prstGeom>
          <a:solidFill>
            <a:srgbClr val="156082"/>
          </a:solidFill>
          <a:ln w="12700">
            <a:solidFill>
              <a:srgbClr val="15608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Shape 44">
            <a:extLst>
              <a:ext uri="{FF2B5EF4-FFF2-40B4-BE49-F238E27FC236}">
                <a16:creationId xmlns:a16="http://schemas.microsoft.com/office/drawing/2014/main" id="{5E342433-9C5E-A1D3-C770-982C03F47D8F}"/>
              </a:ext>
            </a:extLst>
          </p:cNvPr>
          <p:cNvSpPr/>
          <p:nvPr/>
        </p:nvSpPr>
        <p:spPr>
          <a:xfrm>
            <a:off x="475488" y="0"/>
            <a:ext cx="0" cy="6858000"/>
          </a:xfrm>
          <a:prstGeom prst="line">
            <a:avLst/>
          </a:prstGeom>
          <a:noFill/>
          <a:ln w="1905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Shape 45">
            <a:extLst>
              <a:ext uri="{FF2B5EF4-FFF2-40B4-BE49-F238E27FC236}">
                <a16:creationId xmlns:a16="http://schemas.microsoft.com/office/drawing/2014/main" id="{C3FB8070-BB8F-4400-A856-6CF7E4615D63}"/>
              </a:ext>
            </a:extLst>
          </p:cNvPr>
          <p:cNvSpPr/>
          <p:nvPr/>
        </p:nvSpPr>
        <p:spPr>
          <a:xfrm>
            <a:off x="8412480" y="-1371600"/>
            <a:ext cx="6035040" cy="6035040"/>
          </a:xfrm>
          <a:prstGeom prst="ellipse">
            <a:avLst/>
          </a:prstGeom>
          <a:solidFill>
            <a:srgbClr val="071524">
              <a:alpha val="0"/>
            </a:srgbClr>
          </a:solidFill>
          <a:ln w="12700">
            <a:solidFill>
              <a:srgbClr val="0F9ED5">
                <a:alpha val="12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Shape 46">
            <a:extLst>
              <a:ext uri="{FF2B5EF4-FFF2-40B4-BE49-F238E27FC236}">
                <a16:creationId xmlns:a16="http://schemas.microsoft.com/office/drawing/2014/main" id="{443173B2-B1ED-1627-1B7E-507695B342D7}"/>
              </a:ext>
            </a:extLst>
          </p:cNvPr>
          <p:cNvSpPr/>
          <p:nvPr/>
        </p:nvSpPr>
        <p:spPr>
          <a:xfrm>
            <a:off x="9235440" y="-548640"/>
            <a:ext cx="4389120" cy="4389120"/>
          </a:xfrm>
          <a:prstGeom prst="ellipse">
            <a:avLst/>
          </a:prstGeom>
          <a:solidFill>
            <a:srgbClr val="071524">
              <a:alpha val="0"/>
            </a:srgbClr>
          </a:solidFill>
          <a:ln w="12700">
            <a:solidFill>
              <a:srgbClr val="0F9ED5">
                <a:alpha val="22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Shape 47">
            <a:extLst>
              <a:ext uri="{FF2B5EF4-FFF2-40B4-BE49-F238E27FC236}">
                <a16:creationId xmlns:a16="http://schemas.microsoft.com/office/drawing/2014/main" id="{9441F1A8-BF75-7456-9B1C-60D12FC58337}"/>
              </a:ext>
            </a:extLst>
          </p:cNvPr>
          <p:cNvSpPr/>
          <p:nvPr/>
        </p:nvSpPr>
        <p:spPr>
          <a:xfrm>
            <a:off x="10058400" y="274320"/>
            <a:ext cx="2743200" cy="2743200"/>
          </a:xfrm>
          <a:prstGeom prst="ellipse">
            <a:avLst/>
          </a:prstGeom>
          <a:solidFill>
            <a:srgbClr val="071524">
              <a:alpha val="0"/>
            </a:srgbClr>
          </a:solidFill>
          <a:ln w="12700">
            <a:solidFill>
              <a:srgbClr val="0F9ED5">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48">
            <a:extLst>
              <a:ext uri="{FF2B5EF4-FFF2-40B4-BE49-F238E27FC236}">
                <a16:creationId xmlns:a16="http://schemas.microsoft.com/office/drawing/2014/main" id="{2C6B01DB-04BC-31B1-F401-0AE2ED855530}"/>
              </a:ext>
            </a:extLst>
          </p:cNvPr>
          <p:cNvSpPr/>
          <p:nvPr/>
        </p:nvSpPr>
        <p:spPr>
          <a:xfrm>
            <a:off x="10881360" y="1097280"/>
            <a:ext cx="1097280" cy="1097280"/>
          </a:xfrm>
          <a:prstGeom prst="ellipse">
            <a:avLst/>
          </a:prstGeom>
          <a:solidFill>
            <a:srgbClr val="071524">
              <a:alpha val="0"/>
            </a:srgbClr>
          </a:solidFill>
          <a:ln w="12700">
            <a:solidFill>
              <a:srgbClr val="0F9ED5">
                <a:alpha val="5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9">
            <a:extLst>
              <a:ext uri="{FF2B5EF4-FFF2-40B4-BE49-F238E27FC236}">
                <a16:creationId xmlns:a16="http://schemas.microsoft.com/office/drawing/2014/main" id="{566C38DF-400E-7C31-4CF7-0BAA37C11F77}"/>
              </a:ext>
            </a:extLst>
          </p:cNvPr>
          <p:cNvSpPr/>
          <p:nvPr/>
        </p:nvSpPr>
        <p:spPr>
          <a:xfrm>
            <a:off x="11292840" y="1508760"/>
            <a:ext cx="274320" cy="274320"/>
          </a:xfrm>
          <a:prstGeom prst="ellipse">
            <a:avLst/>
          </a:prstGeom>
          <a:solidFill>
            <a:srgbClr val="0F9ED5">
              <a:alpha val="60000"/>
            </a:srgbClr>
          </a:solidFill>
          <a:ln w="1270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Shape 50">
            <a:extLst>
              <a:ext uri="{FF2B5EF4-FFF2-40B4-BE49-F238E27FC236}">
                <a16:creationId xmlns:a16="http://schemas.microsoft.com/office/drawing/2014/main" id="{BAB92CF9-6320-5078-90E2-5601AAE87F58}"/>
              </a:ext>
            </a:extLst>
          </p:cNvPr>
          <p:cNvSpPr/>
          <p:nvPr/>
        </p:nvSpPr>
        <p:spPr>
          <a:xfrm>
            <a:off x="155448" y="1179576"/>
            <a:ext cx="201168" cy="201168"/>
          </a:xfrm>
          <a:prstGeom prst="ellipse">
            <a:avLst/>
          </a:prstGeom>
          <a:solidFill>
            <a:srgbClr val="E97132"/>
          </a:solidFill>
          <a:ln w="1270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Shape 51">
            <a:extLst>
              <a:ext uri="{FF2B5EF4-FFF2-40B4-BE49-F238E27FC236}">
                <a16:creationId xmlns:a16="http://schemas.microsoft.com/office/drawing/2014/main" id="{4F96D674-B4A5-CAFD-231D-DCB20A95363F}"/>
              </a:ext>
            </a:extLst>
          </p:cNvPr>
          <p:cNvSpPr/>
          <p:nvPr/>
        </p:nvSpPr>
        <p:spPr>
          <a:xfrm>
            <a:off x="155448" y="2002536"/>
            <a:ext cx="201168" cy="201168"/>
          </a:xfrm>
          <a:prstGeom prst="ellipse">
            <a:avLst/>
          </a:prstGeom>
          <a:solidFill>
            <a:srgbClr val="0F9ED5"/>
          </a:solidFill>
          <a:ln w="1270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Shape 52">
            <a:extLst>
              <a:ext uri="{FF2B5EF4-FFF2-40B4-BE49-F238E27FC236}">
                <a16:creationId xmlns:a16="http://schemas.microsoft.com/office/drawing/2014/main" id="{DF42AEC9-860B-45E2-BF7A-9C50787C7E70}"/>
              </a:ext>
            </a:extLst>
          </p:cNvPr>
          <p:cNvSpPr/>
          <p:nvPr/>
        </p:nvSpPr>
        <p:spPr>
          <a:xfrm>
            <a:off x="155448" y="2825496"/>
            <a:ext cx="201168" cy="201168"/>
          </a:xfrm>
          <a:prstGeom prst="ellipse">
            <a:avLst/>
          </a:prstGeom>
          <a:solidFill>
            <a:srgbClr val="196B24"/>
          </a:solidFill>
          <a:ln w="12700">
            <a:solidFill>
              <a:srgbClr val="196B2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Shape 53">
            <a:extLst>
              <a:ext uri="{FF2B5EF4-FFF2-40B4-BE49-F238E27FC236}">
                <a16:creationId xmlns:a16="http://schemas.microsoft.com/office/drawing/2014/main" id="{CA70BD2F-58D0-ADD2-F6A4-F7C0D77EB90B}"/>
              </a:ext>
            </a:extLst>
          </p:cNvPr>
          <p:cNvSpPr/>
          <p:nvPr/>
        </p:nvSpPr>
        <p:spPr>
          <a:xfrm>
            <a:off x="155448" y="3648456"/>
            <a:ext cx="201168" cy="201168"/>
          </a:xfrm>
          <a:prstGeom prst="ellipse">
            <a:avLst/>
          </a:prstGeom>
          <a:solidFill>
            <a:srgbClr val="0F9ED5"/>
          </a:solidFill>
          <a:ln w="1270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Shape 54">
            <a:extLst>
              <a:ext uri="{FF2B5EF4-FFF2-40B4-BE49-F238E27FC236}">
                <a16:creationId xmlns:a16="http://schemas.microsoft.com/office/drawing/2014/main" id="{FD757DDE-98F6-1468-2438-2CE3035CDD76}"/>
              </a:ext>
            </a:extLst>
          </p:cNvPr>
          <p:cNvSpPr/>
          <p:nvPr/>
        </p:nvSpPr>
        <p:spPr>
          <a:xfrm>
            <a:off x="155448" y="4471416"/>
            <a:ext cx="201168" cy="201168"/>
          </a:xfrm>
          <a:prstGeom prst="ellipse">
            <a:avLst/>
          </a:prstGeom>
          <a:solidFill>
            <a:srgbClr val="E97132"/>
          </a:solidFill>
          <a:ln w="1270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Text 56">
            <a:extLst>
              <a:ext uri="{FF2B5EF4-FFF2-40B4-BE49-F238E27FC236}">
                <a16:creationId xmlns:a16="http://schemas.microsoft.com/office/drawing/2014/main" id="{F00EF5A5-2B97-AEA4-687B-D0C5B79DDB34}"/>
              </a:ext>
            </a:extLst>
          </p:cNvPr>
          <p:cNvSpPr/>
          <p:nvPr/>
        </p:nvSpPr>
        <p:spPr>
          <a:xfrm>
            <a:off x="658368" y="2038635"/>
            <a:ext cx="8778240" cy="731520"/>
          </a:xfrm>
          <a:prstGeom prst="rect">
            <a:avLst/>
          </a:prstGeom>
          <a:noFill/>
          <a:ln/>
        </p:spPr>
        <p:txBody>
          <a:bodyPr wrap="square" lIns="91440" tIns="45720" rIns="91440" bIns="45720" rtlCol="0" anchor="ctr"/>
          <a:lstStyle/>
          <a:p>
            <a:pPr algn="l">
              <a:defRPr/>
            </a:pPr>
            <a:r>
              <a:rPr lang="en-US" sz="5600" b="1" spc="-50">
                <a:solidFill>
                  <a:srgbClr val="FFFFFF"/>
                </a:solidFill>
                <a:latin typeface="Aptos Display"/>
                <a:ea typeface="+mn-ea"/>
                <a:cs typeface="+mn-cs"/>
              </a:rPr>
              <a:t>Ops Intel Dashboard </a:t>
            </a:r>
          </a:p>
        </p:txBody>
      </p:sp>
      <p:sp>
        <p:nvSpPr>
          <p:cNvPr id="59" name="Text 57">
            <a:extLst>
              <a:ext uri="{FF2B5EF4-FFF2-40B4-BE49-F238E27FC236}">
                <a16:creationId xmlns:a16="http://schemas.microsoft.com/office/drawing/2014/main" id="{683D8AB1-89FC-4EA1-E037-125E21647868}"/>
              </a:ext>
            </a:extLst>
          </p:cNvPr>
          <p:cNvSpPr/>
          <p:nvPr/>
        </p:nvSpPr>
        <p:spPr>
          <a:xfrm>
            <a:off x="658368" y="2051113"/>
            <a:ext cx="8961120" cy="512064"/>
          </a:xfrm>
          <a:prstGeom prst="rect">
            <a:avLst/>
          </a:prstGeom>
          <a:noFill/>
          <a:ln/>
        </p:spPr>
        <p:txBody>
          <a:bodyPr wrap="square"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srgbClr val="0F9ED5"/>
              </a:solidFill>
              <a:effectLst/>
              <a:uLnTx/>
              <a:uFillTx/>
              <a:latin typeface="Calibri" panose="020F0502020204030204"/>
              <a:ea typeface="Calibri"/>
              <a:cs typeface="Calibri"/>
            </a:endParaRPr>
          </a:p>
        </p:txBody>
      </p:sp>
      <p:sp>
        <p:nvSpPr>
          <p:cNvPr id="60" name="Shape 58">
            <a:extLst>
              <a:ext uri="{FF2B5EF4-FFF2-40B4-BE49-F238E27FC236}">
                <a16:creationId xmlns:a16="http://schemas.microsoft.com/office/drawing/2014/main" id="{25AC8EB6-1606-8123-9DEF-261D4E2C97C4}"/>
              </a:ext>
            </a:extLst>
          </p:cNvPr>
          <p:cNvSpPr/>
          <p:nvPr/>
        </p:nvSpPr>
        <p:spPr>
          <a:xfrm>
            <a:off x="658368" y="2768155"/>
            <a:ext cx="8229600" cy="0"/>
          </a:xfrm>
          <a:prstGeom prst="line">
            <a:avLst/>
          </a:prstGeom>
          <a:noFill/>
          <a:ln w="3175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62">
            <a:extLst>
              <a:ext uri="{FF2B5EF4-FFF2-40B4-BE49-F238E27FC236}">
                <a16:creationId xmlns:a16="http://schemas.microsoft.com/office/drawing/2014/main" id="{D9ED4D59-7A30-8915-1E60-9B1292D45BCF}"/>
              </a:ext>
            </a:extLst>
          </p:cNvPr>
          <p:cNvSpPr/>
          <p:nvPr/>
        </p:nvSpPr>
        <p:spPr>
          <a:xfrm>
            <a:off x="658368" y="2724912"/>
            <a:ext cx="10515600" cy="0"/>
          </a:xfrm>
          <a:prstGeom prst="line">
            <a:avLst/>
          </a:prstGeom>
          <a:noFill/>
          <a:ln w="1016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Shape 66">
            <a:extLst>
              <a:ext uri="{FF2B5EF4-FFF2-40B4-BE49-F238E27FC236}">
                <a16:creationId xmlns:a16="http://schemas.microsoft.com/office/drawing/2014/main" id="{3B9B4F5E-DEA3-5D44-9336-94C1D52A27F8}"/>
              </a:ext>
            </a:extLst>
          </p:cNvPr>
          <p:cNvSpPr/>
          <p:nvPr/>
        </p:nvSpPr>
        <p:spPr>
          <a:xfrm>
            <a:off x="658368" y="3383280"/>
            <a:ext cx="10515600" cy="0"/>
          </a:xfrm>
          <a:prstGeom prst="line">
            <a:avLst/>
          </a:prstGeom>
          <a:noFill/>
          <a:ln w="1016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Shape 70">
            <a:extLst>
              <a:ext uri="{FF2B5EF4-FFF2-40B4-BE49-F238E27FC236}">
                <a16:creationId xmlns:a16="http://schemas.microsoft.com/office/drawing/2014/main" id="{F8B64B7D-0DE8-C44D-E970-691E0C7C448A}"/>
              </a:ext>
            </a:extLst>
          </p:cNvPr>
          <p:cNvSpPr/>
          <p:nvPr/>
        </p:nvSpPr>
        <p:spPr>
          <a:xfrm>
            <a:off x="658368" y="4041648"/>
            <a:ext cx="10515600" cy="0"/>
          </a:xfrm>
          <a:prstGeom prst="line">
            <a:avLst/>
          </a:prstGeom>
          <a:noFill/>
          <a:ln w="1016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Shape 74">
            <a:extLst>
              <a:ext uri="{FF2B5EF4-FFF2-40B4-BE49-F238E27FC236}">
                <a16:creationId xmlns:a16="http://schemas.microsoft.com/office/drawing/2014/main" id="{ECFEA1A8-543F-0A6E-F785-0D83122ECE89}"/>
              </a:ext>
            </a:extLst>
          </p:cNvPr>
          <p:cNvSpPr/>
          <p:nvPr/>
        </p:nvSpPr>
        <p:spPr>
          <a:xfrm>
            <a:off x="475488" y="4956048"/>
            <a:ext cx="11713464" cy="0"/>
          </a:xfrm>
          <a:prstGeom prst="line">
            <a:avLst/>
          </a:prstGeom>
          <a:noFill/>
          <a:ln w="2540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Shape 75">
            <a:extLst>
              <a:ext uri="{FF2B5EF4-FFF2-40B4-BE49-F238E27FC236}">
                <a16:creationId xmlns:a16="http://schemas.microsoft.com/office/drawing/2014/main" id="{1CDD8914-E35A-2A7F-58F3-B3037316289D}"/>
              </a:ext>
            </a:extLst>
          </p:cNvPr>
          <p:cNvSpPr/>
          <p:nvPr/>
        </p:nvSpPr>
        <p:spPr>
          <a:xfrm>
            <a:off x="475488" y="4956048"/>
            <a:ext cx="2928366" cy="1773936"/>
          </a:xfrm>
          <a:prstGeom prst="rect">
            <a:avLst/>
          </a:prstGeom>
          <a:solidFill>
            <a:srgbClr val="0E2841"/>
          </a:solidFill>
          <a:ln w="12700">
            <a:solidFill>
              <a:srgbClr val="0E28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Shape 76">
            <a:extLst>
              <a:ext uri="{FF2B5EF4-FFF2-40B4-BE49-F238E27FC236}">
                <a16:creationId xmlns:a16="http://schemas.microsoft.com/office/drawing/2014/main" id="{B9A4A7EC-151C-BA2A-230C-FFA33E4D6BB8}"/>
              </a:ext>
            </a:extLst>
          </p:cNvPr>
          <p:cNvSpPr/>
          <p:nvPr/>
        </p:nvSpPr>
        <p:spPr>
          <a:xfrm>
            <a:off x="475488" y="4956048"/>
            <a:ext cx="2928366" cy="50292"/>
          </a:xfrm>
          <a:prstGeom prst="rect">
            <a:avLst/>
          </a:prstGeom>
          <a:solidFill>
            <a:srgbClr val="E97132"/>
          </a:solidFill>
          <a:ln w="1270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Shape 77">
            <a:extLst>
              <a:ext uri="{FF2B5EF4-FFF2-40B4-BE49-F238E27FC236}">
                <a16:creationId xmlns:a16="http://schemas.microsoft.com/office/drawing/2014/main" id="{1A7A6EF3-73FC-4E00-4989-4EFEEC076CDF}"/>
              </a:ext>
            </a:extLst>
          </p:cNvPr>
          <p:cNvSpPr/>
          <p:nvPr/>
        </p:nvSpPr>
        <p:spPr>
          <a:xfrm>
            <a:off x="3403854" y="4956048"/>
            <a:ext cx="0" cy="1773936"/>
          </a:xfrm>
          <a:prstGeom prst="line">
            <a:avLst/>
          </a:prstGeom>
          <a:noFill/>
          <a:ln w="1270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Shape 81">
            <a:extLst>
              <a:ext uri="{FF2B5EF4-FFF2-40B4-BE49-F238E27FC236}">
                <a16:creationId xmlns:a16="http://schemas.microsoft.com/office/drawing/2014/main" id="{AEB4BBA3-0BA4-705E-527A-9D40F2D25569}"/>
              </a:ext>
            </a:extLst>
          </p:cNvPr>
          <p:cNvSpPr/>
          <p:nvPr/>
        </p:nvSpPr>
        <p:spPr>
          <a:xfrm>
            <a:off x="3403854" y="4956048"/>
            <a:ext cx="2928366" cy="1773936"/>
          </a:xfrm>
          <a:prstGeom prst="rect">
            <a:avLst/>
          </a:prstGeom>
          <a:solidFill>
            <a:srgbClr val="0E2841"/>
          </a:solidFill>
          <a:ln w="12700">
            <a:solidFill>
              <a:srgbClr val="0E28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Shape 82">
            <a:extLst>
              <a:ext uri="{FF2B5EF4-FFF2-40B4-BE49-F238E27FC236}">
                <a16:creationId xmlns:a16="http://schemas.microsoft.com/office/drawing/2014/main" id="{76847B29-055E-59F5-CBAD-6E83131D662B}"/>
              </a:ext>
            </a:extLst>
          </p:cNvPr>
          <p:cNvSpPr/>
          <p:nvPr/>
        </p:nvSpPr>
        <p:spPr>
          <a:xfrm>
            <a:off x="3403854" y="4956048"/>
            <a:ext cx="2928366" cy="50292"/>
          </a:xfrm>
          <a:prstGeom prst="rect">
            <a:avLst/>
          </a:prstGeom>
          <a:solidFill>
            <a:srgbClr val="0F9ED5"/>
          </a:solidFill>
          <a:ln w="1270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Shape 83">
            <a:extLst>
              <a:ext uri="{FF2B5EF4-FFF2-40B4-BE49-F238E27FC236}">
                <a16:creationId xmlns:a16="http://schemas.microsoft.com/office/drawing/2014/main" id="{46749448-50E4-7655-C1E4-4578CC5720AD}"/>
              </a:ext>
            </a:extLst>
          </p:cNvPr>
          <p:cNvSpPr/>
          <p:nvPr/>
        </p:nvSpPr>
        <p:spPr>
          <a:xfrm>
            <a:off x="6332220" y="4956048"/>
            <a:ext cx="0" cy="1773936"/>
          </a:xfrm>
          <a:prstGeom prst="line">
            <a:avLst/>
          </a:prstGeom>
          <a:noFill/>
          <a:ln w="1270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Shape 87">
            <a:extLst>
              <a:ext uri="{FF2B5EF4-FFF2-40B4-BE49-F238E27FC236}">
                <a16:creationId xmlns:a16="http://schemas.microsoft.com/office/drawing/2014/main" id="{F3C6A2C9-1CC2-109B-0307-9A1DBE9E7AEA}"/>
              </a:ext>
            </a:extLst>
          </p:cNvPr>
          <p:cNvSpPr/>
          <p:nvPr/>
        </p:nvSpPr>
        <p:spPr>
          <a:xfrm>
            <a:off x="6332220" y="4956048"/>
            <a:ext cx="2928366" cy="1773936"/>
          </a:xfrm>
          <a:prstGeom prst="rect">
            <a:avLst/>
          </a:prstGeom>
          <a:solidFill>
            <a:srgbClr val="0E2841"/>
          </a:solidFill>
          <a:ln w="12700">
            <a:solidFill>
              <a:srgbClr val="0E28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Shape 88">
            <a:extLst>
              <a:ext uri="{FF2B5EF4-FFF2-40B4-BE49-F238E27FC236}">
                <a16:creationId xmlns:a16="http://schemas.microsoft.com/office/drawing/2014/main" id="{165FE2AA-6C4B-6E90-DF2D-9AA8CEF5C469}"/>
              </a:ext>
            </a:extLst>
          </p:cNvPr>
          <p:cNvSpPr/>
          <p:nvPr/>
        </p:nvSpPr>
        <p:spPr>
          <a:xfrm>
            <a:off x="6332220" y="4956048"/>
            <a:ext cx="2928366" cy="50292"/>
          </a:xfrm>
          <a:prstGeom prst="rect">
            <a:avLst/>
          </a:prstGeom>
          <a:solidFill>
            <a:srgbClr val="196B24"/>
          </a:solidFill>
          <a:ln w="12700">
            <a:solidFill>
              <a:srgbClr val="196B2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Shape 89">
            <a:extLst>
              <a:ext uri="{FF2B5EF4-FFF2-40B4-BE49-F238E27FC236}">
                <a16:creationId xmlns:a16="http://schemas.microsoft.com/office/drawing/2014/main" id="{F7FA86A3-DAE6-9F05-6022-97E37C3D584B}"/>
              </a:ext>
            </a:extLst>
          </p:cNvPr>
          <p:cNvSpPr/>
          <p:nvPr/>
        </p:nvSpPr>
        <p:spPr>
          <a:xfrm>
            <a:off x="9260586" y="4956048"/>
            <a:ext cx="0" cy="1773936"/>
          </a:xfrm>
          <a:prstGeom prst="line">
            <a:avLst/>
          </a:prstGeom>
          <a:noFill/>
          <a:ln w="1270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Shape 93">
            <a:extLst>
              <a:ext uri="{FF2B5EF4-FFF2-40B4-BE49-F238E27FC236}">
                <a16:creationId xmlns:a16="http://schemas.microsoft.com/office/drawing/2014/main" id="{3C28B24A-6527-7BFA-4889-35C75DBD0E61}"/>
              </a:ext>
            </a:extLst>
          </p:cNvPr>
          <p:cNvSpPr/>
          <p:nvPr/>
        </p:nvSpPr>
        <p:spPr>
          <a:xfrm>
            <a:off x="9260586" y="4956048"/>
            <a:ext cx="2928366" cy="1773936"/>
          </a:xfrm>
          <a:prstGeom prst="rect">
            <a:avLst/>
          </a:prstGeom>
          <a:solidFill>
            <a:srgbClr val="0E2841"/>
          </a:solidFill>
          <a:ln w="12700">
            <a:solidFill>
              <a:srgbClr val="0E28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Shape 94">
            <a:extLst>
              <a:ext uri="{FF2B5EF4-FFF2-40B4-BE49-F238E27FC236}">
                <a16:creationId xmlns:a16="http://schemas.microsoft.com/office/drawing/2014/main" id="{B807A86C-9BE3-3744-3378-08CEA919B69C}"/>
              </a:ext>
            </a:extLst>
          </p:cNvPr>
          <p:cNvSpPr/>
          <p:nvPr/>
        </p:nvSpPr>
        <p:spPr>
          <a:xfrm>
            <a:off x="9260586" y="4956048"/>
            <a:ext cx="2928366" cy="50292"/>
          </a:xfrm>
          <a:prstGeom prst="rect">
            <a:avLst/>
          </a:prstGeom>
          <a:solidFill>
            <a:srgbClr val="8BAFC4"/>
          </a:solidFill>
          <a:ln w="12700">
            <a:solidFill>
              <a:srgbClr val="8BAFC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TextBox 6">
            <a:extLst>
              <a:ext uri="{FF2B5EF4-FFF2-40B4-BE49-F238E27FC236}">
                <a16:creationId xmlns:a16="http://schemas.microsoft.com/office/drawing/2014/main" id="{098A8207-9363-E153-8E15-0931CDB7E622}"/>
              </a:ext>
            </a:extLst>
          </p:cNvPr>
          <p:cNvSpPr txBox="1"/>
          <p:nvPr/>
        </p:nvSpPr>
        <p:spPr>
          <a:xfrm>
            <a:off x="704948" y="2829560"/>
            <a:ext cx="8686800" cy="323165"/>
          </a:xfrm>
          <a:prstGeom prst="rect">
            <a:avLst/>
          </a:prstGeom>
          <a:noFill/>
        </p:spPr>
        <p:txBody>
          <a:bodyPr wrap="square" lIns="91440" tIns="45720" rIns="91440" bIns="45720" anchor="t">
            <a:spAutoFit/>
          </a:bodyPr>
          <a:lstStyle>
            <a:defPPr>
              <a:defRPr kern="0"/>
            </a:defPPr>
          </a:lstStyle>
          <a:p>
            <a:pPr algn="l" rtl="0">
              <a:defRPr/>
            </a:pPr>
            <a:r>
              <a:rPr kumimoji="0" sz="1500" b="0" i="1" u="none" strike="noStrike" kern="1200" cap="none" spc="0" normalizeH="0" baseline="0" noProof="0">
                <a:ln>
                  <a:noFill/>
                </a:ln>
                <a:solidFill>
                  <a:schemeClr val="bg1"/>
                </a:solidFill>
                <a:effectLst/>
                <a:uLnTx/>
                <a:uFillTx/>
                <a:latin typeface="Calibri"/>
                <a:ea typeface="+mn-ea"/>
                <a:cs typeface="+mn-cs"/>
              </a:rPr>
              <a:t>React + </a:t>
            </a:r>
            <a:r>
              <a:rPr lang="en-US" sz="1500" i="1" kern="1200">
                <a:solidFill>
                  <a:schemeClr val="bg1"/>
                </a:solidFill>
                <a:latin typeface="Calibri"/>
                <a:ea typeface="+mn-ea"/>
                <a:cs typeface="+mn-cs"/>
              </a:rPr>
              <a:t>Fast API</a:t>
            </a:r>
            <a:r>
              <a:rPr kumimoji="0" sz="1500" b="0" i="1" u="none" strike="noStrike" kern="1200" cap="none" spc="0" normalizeH="0" baseline="0" noProof="0">
                <a:ln>
                  <a:noFill/>
                </a:ln>
                <a:solidFill>
                  <a:schemeClr val="bg1"/>
                </a:solidFill>
                <a:effectLst/>
                <a:uLnTx/>
                <a:uFillTx/>
                <a:latin typeface="Calibri"/>
                <a:ea typeface="+mn-ea"/>
                <a:cs typeface="+mn-cs"/>
              </a:rPr>
              <a:t> + Deployed Models </a:t>
            </a:r>
            <a:r>
              <a:rPr lang="en-US" sz="1500" kern="1200">
                <a:solidFill>
                  <a:schemeClr val="bg1"/>
                </a:solidFill>
                <a:latin typeface="Calibri"/>
                <a:ea typeface="+mn-ea"/>
                <a:cs typeface="+mn-cs"/>
              </a:rPr>
              <a:t>|</a:t>
            </a:r>
            <a:r>
              <a:rPr lang="en-US" sz="1500" i="1" kern="1200">
                <a:solidFill>
                  <a:schemeClr val="bg1"/>
                </a:solidFill>
                <a:latin typeface="Calibri"/>
                <a:ea typeface="+mn-ea"/>
                <a:cs typeface="+mn-cs"/>
              </a:rPr>
              <a:t> </a:t>
            </a:r>
            <a:r>
              <a:rPr kumimoji="0" sz="1500" b="0" i="1" u="none" strike="noStrike" kern="1200" cap="none" spc="0" normalizeH="0" baseline="0" noProof="0">
                <a:ln>
                  <a:noFill/>
                </a:ln>
                <a:solidFill>
                  <a:schemeClr val="bg1"/>
                </a:solidFill>
                <a:effectLst/>
                <a:uLnTx/>
                <a:uFillTx/>
                <a:latin typeface="Calibri"/>
                <a:ea typeface="+mn-ea"/>
                <a:cs typeface="+mn-cs"/>
              </a:rPr>
              <a:t> 5 Modules </a:t>
            </a:r>
            <a:r>
              <a:rPr lang="en-US" sz="1500" i="1" kern="1200">
                <a:solidFill>
                  <a:schemeClr val="bg1"/>
                </a:solidFill>
                <a:latin typeface="Calibri"/>
                <a:ea typeface="+mn-ea"/>
                <a:cs typeface="+mn-cs"/>
              </a:rPr>
              <a:t> </a:t>
            </a:r>
            <a:r>
              <a:rPr lang="en-US" sz="1500" kern="1200">
                <a:solidFill>
                  <a:schemeClr val="bg1"/>
                </a:solidFill>
                <a:latin typeface="Calibri"/>
                <a:ea typeface="+mn-ea"/>
                <a:cs typeface="+mn-cs"/>
              </a:rPr>
              <a:t>|</a:t>
            </a:r>
            <a:r>
              <a:rPr kumimoji="0" sz="1500" b="0" i="1" u="none" strike="noStrike" kern="1200" cap="none" spc="0" normalizeH="0" baseline="0" noProof="0">
                <a:ln>
                  <a:noFill/>
                </a:ln>
                <a:solidFill>
                  <a:schemeClr val="bg1"/>
                </a:solidFill>
                <a:effectLst/>
                <a:uLnTx/>
                <a:uFillTx/>
                <a:latin typeface="Calibri"/>
                <a:ea typeface="+mn-ea"/>
                <a:cs typeface="+mn-cs"/>
              </a:rPr>
              <a:t>  Role-Based Access</a:t>
            </a:r>
            <a:endParaRPr lang="en-US" sz="1500" b="0" i="1" u="none" strike="noStrike" kern="1200" cap="none" spc="0" normalizeH="0" baseline="0" noProof="0">
              <a:ln>
                <a:noFill/>
              </a:ln>
              <a:solidFill>
                <a:schemeClr val="bg1"/>
              </a:solidFill>
              <a:effectLst/>
              <a:uLnTx/>
              <a:uFillTx/>
              <a:latin typeface="Calibri"/>
              <a:ea typeface="Calibri"/>
              <a:cs typeface="Calibri"/>
            </a:endParaRPr>
          </a:p>
        </p:txBody>
      </p:sp>
      <p:sp>
        <p:nvSpPr>
          <p:cNvPr id="62" name="Rectangle 61">
            <a:extLst>
              <a:ext uri="{FF2B5EF4-FFF2-40B4-BE49-F238E27FC236}">
                <a16:creationId xmlns:a16="http://schemas.microsoft.com/office/drawing/2014/main" id="{B4D08466-A33D-3B11-77DE-D215184F5781}"/>
              </a:ext>
            </a:extLst>
          </p:cNvPr>
          <p:cNvSpPr/>
          <p:nvPr/>
        </p:nvSpPr>
        <p:spPr>
          <a:xfrm>
            <a:off x="714717" y="5371123"/>
            <a:ext cx="2011680" cy="868680"/>
          </a:xfrm>
          <a:prstGeom prst="roundRect">
            <a:avLst/>
          </a:prstGeom>
          <a:solidFill>
            <a:srgbClr val="3A82F6"/>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kern="0"/>
            </a:defPPr>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0">
              <a:defRPr/>
            </a:pPr>
            <a:r>
              <a:rPr lang="en-US" sz="1400" b="1" i="0" u="none" strike="noStrike" baseline="0">
                <a:solidFill>
                  <a:srgbClr val="FFFFFF"/>
                </a:solidFill>
                <a:latin typeface="Calibri"/>
              </a:rPr>
              <a:t>Operational</a:t>
            </a:r>
            <a:r>
              <a:rPr lang="en-US" sz="1400" b="0" i="0">
                <a:solidFill>
                  <a:srgbClr val="000000"/>
                </a:solidFill>
                <a:latin typeface="Calibri"/>
                <a:ea typeface="Calibri"/>
                <a:cs typeface="Calibri"/>
              </a:rPr>
              <a:t>​</a:t>
            </a:r>
            <a:br>
              <a:rPr lang="en-US" sz="1400" b="0" i="0">
                <a:latin typeface="Calibri"/>
                <a:ea typeface="Calibri"/>
                <a:cs typeface="Calibri"/>
              </a:rPr>
            </a:br>
            <a:r>
              <a:rPr lang="en-US" sz="1400" b="1" i="0" u="none" strike="noStrike" baseline="0">
                <a:solidFill>
                  <a:srgbClr val="FFFFFF"/>
                </a:solidFill>
                <a:latin typeface="Calibri"/>
              </a:rPr>
              <a:t>Overview</a:t>
            </a:r>
            <a:r>
              <a:rPr lang="en-US" sz="1400" b="0" i="0">
                <a:solidFill>
                  <a:srgbClr val="000000"/>
                </a:solidFill>
                <a:latin typeface="Calibri"/>
                <a:ea typeface="Calibri"/>
                <a:cs typeface="Calibri"/>
              </a:rPr>
              <a:t>​</a:t>
            </a:r>
            <a:endParaRPr lang="en-US" sz="1400" b="0" i="0" u="none" strike="noStrike" kern="1200" cap="none" spc="0" normalizeH="0" baseline="0" noProof="0">
              <a:ln>
                <a:noFill/>
              </a:ln>
              <a:solidFill>
                <a:prstClr val="white"/>
              </a:solidFill>
              <a:effectLst/>
              <a:uLnTx/>
              <a:uFillTx/>
              <a:latin typeface="Aptos" panose="02110004020202020204"/>
            </a:endParaRPr>
          </a:p>
        </p:txBody>
      </p:sp>
      <p:sp>
        <p:nvSpPr>
          <p:cNvPr id="63" name="Rectangle 62">
            <a:extLst>
              <a:ext uri="{FF2B5EF4-FFF2-40B4-BE49-F238E27FC236}">
                <a16:creationId xmlns:a16="http://schemas.microsoft.com/office/drawing/2014/main" id="{503C1F49-7B45-8E5D-62E2-B2086C12E2FD}"/>
              </a:ext>
            </a:extLst>
          </p:cNvPr>
          <p:cNvSpPr/>
          <p:nvPr/>
        </p:nvSpPr>
        <p:spPr>
          <a:xfrm>
            <a:off x="3000717" y="5371123"/>
            <a:ext cx="2011680" cy="868680"/>
          </a:xfrm>
          <a:prstGeom prst="roundRect">
            <a:avLst/>
          </a:prstGeom>
          <a:solidFill>
            <a:srgbClr val="0891B1"/>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kern="0"/>
            </a:defPPr>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0">
              <a:defRPr/>
            </a:pPr>
            <a:r>
              <a:rPr lang="en-US" sz="1400" b="1" i="0" u="none" strike="noStrike" baseline="0">
                <a:solidFill>
                  <a:srgbClr val="FFFFFF"/>
                </a:solidFill>
                <a:latin typeface="Calibri"/>
              </a:rPr>
              <a:t>Ticket</a:t>
            </a:r>
            <a:r>
              <a:rPr lang="en-US" sz="1400" b="0" i="0">
                <a:solidFill>
                  <a:srgbClr val="000000"/>
                </a:solidFill>
                <a:latin typeface="Calibri"/>
                <a:ea typeface="Calibri"/>
                <a:cs typeface="Calibri"/>
              </a:rPr>
              <a:t>​</a:t>
            </a:r>
            <a:br>
              <a:rPr lang="en-US" sz="1400" b="0" i="0">
                <a:latin typeface="Calibri"/>
                <a:ea typeface="Calibri"/>
                <a:cs typeface="Calibri"/>
              </a:rPr>
            </a:br>
            <a:r>
              <a:rPr lang="en-US" sz="1400" b="1" i="0" u="none" strike="noStrike" baseline="0">
                <a:solidFill>
                  <a:srgbClr val="FFFFFF"/>
                </a:solidFill>
                <a:latin typeface="Calibri"/>
              </a:rPr>
              <a:t>Intelligence</a:t>
            </a:r>
            <a:r>
              <a:rPr lang="en-US" sz="1400" b="0" i="0">
                <a:solidFill>
                  <a:srgbClr val="000000"/>
                </a:solidFill>
                <a:latin typeface="Calibri"/>
                <a:ea typeface="Calibri"/>
                <a:cs typeface="Calibri"/>
              </a:rPr>
              <a:t>​</a:t>
            </a:r>
            <a:endParaRPr lang="en-US" sz="1400" b="0" i="0" u="none" strike="noStrike" kern="1200" cap="none" spc="0" normalizeH="0" baseline="0" noProof="0">
              <a:ln>
                <a:noFill/>
              </a:ln>
              <a:solidFill>
                <a:prstClr val="white"/>
              </a:solidFill>
              <a:effectLst/>
              <a:uLnTx/>
              <a:uFillTx/>
              <a:latin typeface="Aptos" panose="02110004020202020204"/>
            </a:endParaRPr>
          </a:p>
        </p:txBody>
      </p:sp>
      <p:sp>
        <p:nvSpPr>
          <p:cNvPr id="65" name="Rectangle 64">
            <a:extLst>
              <a:ext uri="{FF2B5EF4-FFF2-40B4-BE49-F238E27FC236}">
                <a16:creationId xmlns:a16="http://schemas.microsoft.com/office/drawing/2014/main" id="{7DC38D97-F617-119E-3268-0E9359B139E5}"/>
              </a:ext>
            </a:extLst>
          </p:cNvPr>
          <p:cNvSpPr/>
          <p:nvPr/>
        </p:nvSpPr>
        <p:spPr>
          <a:xfrm>
            <a:off x="5286717" y="5371123"/>
            <a:ext cx="2011680" cy="868680"/>
          </a:xfrm>
          <a:prstGeom prst="roundRect">
            <a:avLst/>
          </a:prstGeom>
          <a:solidFill>
            <a:srgbClr val="DC2525"/>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kern="0"/>
            </a:defPPr>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0"/>
            <a:r>
              <a:rPr lang="en-US" sz="1400" b="1" i="0" u="none" strike="noStrike" baseline="0">
                <a:solidFill>
                  <a:srgbClr val="FFFFFF"/>
                </a:solidFill>
                <a:latin typeface="Calibri"/>
                <a:ea typeface="Segoe UI"/>
                <a:cs typeface="Segoe UI"/>
              </a:rPr>
              <a:t>SLA Breach</a:t>
            </a:r>
            <a:r>
              <a:rPr lang="en-US" sz="1400" b="0" i="0" u="none" strike="noStrike" baseline="0">
                <a:solidFill>
                  <a:srgbClr val="000000"/>
                </a:solidFill>
                <a:latin typeface="Calibri"/>
                <a:ea typeface="Segoe UI"/>
                <a:cs typeface="Segoe UI"/>
              </a:rPr>
              <a:t>​</a:t>
            </a:r>
            <a:r>
              <a:rPr lang="en-US" sz="1400" b="0" i="0">
                <a:solidFill>
                  <a:srgbClr val="000000"/>
                </a:solidFill>
                <a:latin typeface="Calibri"/>
                <a:ea typeface="Segoe UI"/>
                <a:cs typeface="Segoe UI"/>
              </a:rPr>
              <a:t>​</a:t>
            </a:r>
            <a:br>
              <a:rPr lang="en-US" sz="1400" b="0" i="0">
                <a:latin typeface="Calibri"/>
                <a:ea typeface="Segoe UI"/>
                <a:cs typeface="Segoe UI"/>
              </a:rPr>
            </a:br>
            <a:r>
              <a:rPr lang="en-US" sz="1400" b="1" i="0" u="none" strike="noStrike" baseline="0">
                <a:solidFill>
                  <a:srgbClr val="FFFFFF"/>
                </a:solidFill>
                <a:latin typeface="Calibri"/>
                <a:ea typeface="Segoe UI"/>
                <a:cs typeface="Segoe UI"/>
              </a:rPr>
              <a:t>Governance</a:t>
            </a:r>
            <a:r>
              <a:rPr lang="en-US" sz="1400" b="0" i="0" u="none" strike="noStrike" baseline="0">
                <a:solidFill>
                  <a:srgbClr val="000000"/>
                </a:solidFill>
                <a:latin typeface="Calibri"/>
                <a:ea typeface="Segoe UI"/>
                <a:cs typeface="Segoe UI"/>
              </a:rPr>
              <a:t>​</a:t>
            </a:r>
            <a:r>
              <a:rPr lang="en-US" sz="1400" b="0" i="0">
                <a:solidFill>
                  <a:srgbClr val="000000"/>
                </a:solidFill>
                <a:latin typeface="Calibri"/>
                <a:ea typeface="Segoe UI"/>
                <a:cs typeface="Segoe UI"/>
              </a:rPr>
              <a:t>​</a:t>
            </a:r>
            <a:endParaRPr lang="en-US" sz="1400">
              <a:ea typeface="Calibri" panose="020F0502020204030204"/>
              <a:cs typeface="Calibri" panose="020F0502020204030204"/>
            </a:endParaRPr>
          </a:p>
        </p:txBody>
      </p:sp>
      <p:sp>
        <p:nvSpPr>
          <p:cNvPr id="66" name="Rectangle 65">
            <a:extLst>
              <a:ext uri="{FF2B5EF4-FFF2-40B4-BE49-F238E27FC236}">
                <a16:creationId xmlns:a16="http://schemas.microsoft.com/office/drawing/2014/main" id="{A314976D-5FEF-8267-7588-B4CD86E513AD}"/>
              </a:ext>
            </a:extLst>
          </p:cNvPr>
          <p:cNvSpPr/>
          <p:nvPr/>
        </p:nvSpPr>
        <p:spPr>
          <a:xfrm>
            <a:off x="7572717" y="5371123"/>
            <a:ext cx="2011680" cy="868680"/>
          </a:xfrm>
          <a:prstGeom prst="roundRect">
            <a:avLst/>
          </a:prstGeom>
          <a:solidFill>
            <a:srgbClr val="F4A623"/>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kern="0"/>
            </a:defPPr>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0">
              <a:defRPr/>
            </a:pPr>
            <a:r>
              <a:rPr lang="en-US" sz="1400" b="1" i="0" u="none" strike="noStrike" baseline="0">
                <a:solidFill>
                  <a:srgbClr val="FFFFFF"/>
                </a:solidFill>
                <a:latin typeface="Calibri"/>
              </a:rPr>
              <a:t>Predictive</a:t>
            </a:r>
            <a:r>
              <a:rPr lang="en-US" sz="1400" b="0" i="0">
                <a:solidFill>
                  <a:srgbClr val="000000"/>
                </a:solidFill>
                <a:latin typeface="Calibri"/>
                <a:ea typeface="Calibri"/>
                <a:cs typeface="Calibri"/>
              </a:rPr>
              <a:t>​</a:t>
            </a:r>
            <a:br>
              <a:rPr lang="en-US" sz="1400" b="0" i="0">
                <a:latin typeface="Calibri"/>
                <a:ea typeface="Calibri"/>
                <a:cs typeface="Calibri"/>
              </a:rPr>
            </a:br>
            <a:r>
              <a:rPr lang="en-US" sz="1400" b="1" i="0" u="none" strike="noStrike" baseline="0">
                <a:solidFill>
                  <a:srgbClr val="FFFFFF"/>
                </a:solidFill>
                <a:latin typeface="Calibri"/>
              </a:rPr>
              <a:t>Maintenance</a:t>
            </a:r>
            <a:r>
              <a:rPr lang="en-US" sz="1400" b="0" i="0">
                <a:solidFill>
                  <a:srgbClr val="000000"/>
                </a:solidFill>
                <a:latin typeface="Calibri"/>
                <a:ea typeface="Calibri"/>
                <a:cs typeface="Calibri"/>
              </a:rPr>
              <a:t>​</a:t>
            </a:r>
            <a:endParaRPr lang="en-US" sz="1400" b="0" i="0" u="none" strike="noStrike" kern="1200" cap="none" spc="0" normalizeH="0" baseline="0" noProof="0">
              <a:ln>
                <a:noFill/>
              </a:ln>
              <a:solidFill>
                <a:prstClr val="white"/>
              </a:solidFill>
              <a:effectLst/>
              <a:uLnTx/>
              <a:uFillTx/>
              <a:latin typeface="Aptos" panose="02110004020202020204"/>
            </a:endParaRPr>
          </a:p>
        </p:txBody>
      </p:sp>
      <p:sp>
        <p:nvSpPr>
          <p:cNvPr id="67" name="Rectangle 66">
            <a:extLst>
              <a:ext uri="{FF2B5EF4-FFF2-40B4-BE49-F238E27FC236}">
                <a16:creationId xmlns:a16="http://schemas.microsoft.com/office/drawing/2014/main" id="{1B228327-AF54-7758-FF8E-7079FD7C4777}"/>
              </a:ext>
            </a:extLst>
          </p:cNvPr>
          <p:cNvSpPr/>
          <p:nvPr/>
        </p:nvSpPr>
        <p:spPr>
          <a:xfrm>
            <a:off x="9858717" y="5371123"/>
            <a:ext cx="2011680" cy="868680"/>
          </a:xfrm>
          <a:prstGeom prst="roundRect">
            <a:avLst/>
          </a:prstGeom>
          <a:solidFill>
            <a:srgbClr val="049569"/>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kern="0"/>
            </a:defPPr>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0"/>
            <a:endParaRPr lang="en-US" sz="1400" b="1">
              <a:solidFill>
                <a:srgbClr val="FFFFFF"/>
              </a:solidFill>
              <a:latin typeface="Calibri"/>
              <a:ea typeface="Segoe UI"/>
              <a:cs typeface="Segoe UI"/>
            </a:endParaRPr>
          </a:p>
          <a:p>
            <a:pPr algn="ctr"/>
            <a:r>
              <a:rPr lang="en-US" sz="1400" b="1" i="0" u="none" strike="noStrike" baseline="0">
                <a:solidFill>
                  <a:srgbClr val="FFFFFF"/>
                </a:solidFill>
                <a:latin typeface="Calibri"/>
                <a:ea typeface="Segoe UI"/>
                <a:cs typeface="Segoe UI"/>
              </a:rPr>
              <a:t>Executive</a:t>
            </a:r>
            <a:r>
              <a:rPr lang="en-US" sz="1400" b="0" i="0" u="none" strike="noStrike" baseline="0">
                <a:solidFill>
                  <a:srgbClr val="000000"/>
                </a:solidFill>
                <a:latin typeface="Calibri"/>
                <a:ea typeface="Segoe UI"/>
                <a:cs typeface="Segoe UI"/>
              </a:rPr>
              <a:t>​</a:t>
            </a:r>
            <a:r>
              <a:rPr lang="en-US" sz="1400" b="0" i="0">
                <a:solidFill>
                  <a:srgbClr val="000000"/>
                </a:solidFill>
                <a:latin typeface="Calibri"/>
                <a:ea typeface="Segoe UI"/>
                <a:cs typeface="Segoe UI"/>
              </a:rPr>
              <a:t>​</a:t>
            </a:r>
            <a:br>
              <a:rPr lang="en-US" sz="1400" b="0" i="0">
                <a:latin typeface="Calibri"/>
                <a:ea typeface="Segoe UI"/>
                <a:cs typeface="Segoe UI"/>
              </a:rPr>
            </a:br>
            <a:r>
              <a:rPr lang="en-US" sz="1400" b="1" i="0" u="none" strike="noStrike" baseline="0">
                <a:solidFill>
                  <a:srgbClr val="FFFFFF"/>
                </a:solidFill>
                <a:latin typeface="Calibri"/>
                <a:ea typeface="Segoe UI"/>
                <a:cs typeface="Segoe UI"/>
              </a:rPr>
              <a:t>Reports</a:t>
            </a:r>
            <a:r>
              <a:rPr lang="en-US" sz="1400" b="0" i="0" u="none" strike="noStrike" baseline="0">
                <a:solidFill>
                  <a:srgbClr val="000000"/>
                </a:solidFill>
                <a:latin typeface="Calibri"/>
                <a:ea typeface="Segoe UI"/>
                <a:cs typeface="Segoe UI"/>
              </a:rPr>
              <a:t>​</a:t>
            </a:r>
            <a:r>
              <a:rPr lang="en-US" sz="1400" b="0" i="0">
                <a:solidFill>
                  <a:srgbClr val="000000"/>
                </a:solidFill>
                <a:latin typeface="Calibri"/>
                <a:ea typeface="Segoe UI"/>
                <a:cs typeface="Segoe UI"/>
              </a:rPr>
              <a:t>​</a:t>
            </a:r>
            <a:endParaRPr lang="en-US" sz="1400">
              <a:ea typeface="Calibri"/>
              <a:cs typeface="Calibri"/>
            </a:endParaRPr>
          </a:p>
          <a:p>
            <a:pPr algn="ctr" rtl="0"/>
            <a:r>
              <a:rPr lang="en-US" sz="1400" b="0" i="0">
                <a:solidFill>
                  <a:srgbClr val="000000"/>
                </a:solidFill>
                <a:latin typeface="Calibri"/>
                <a:ea typeface="Segoe UI"/>
                <a:cs typeface="Segoe UI"/>
              </a:rPr>
              <a:t>​</a:t>
            </a:r>
            <a:endParaRPr sz="1400" b="0" i="0" u="none" strike="noStrike" kern="1200" cap="none" spc="0" normalizeH="0" baseline="0" noProof="0">
              <a:ln>
                <a:noFill/>
              </a:ln>
              <a:solidFill>
                <a:prstClr val="white"/>
              </a:solidFill>
              <a:effectLst/>
              <a:uLnTx/>
              <a:uFillTx/>
              <a:latin typeface="Aptos" panose="02110004020202020204"/>
            </a:endParaRPr>
          </a:p>
        </p:txBody>
      </p:sp>
    </p:spTree>
    <p:extLst>
      <p:ext uri="{BB962C8B-B14F-4D97-AF65-F5344CB8AC3E}">
        <p14:creationId xmlns:p14="http://schemas.microsoft.com/office/powerpoint/2010/main" val="77934585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859536"/>
          </a:xfrm>
          <a:prstGeom prst="rect">
            <a:avLst/>
          </a:prstGeom>
          <a:solidFill>
            <a:srgbClr val="1E27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p:cNvSpPr txBox="1"/>
          <p:nvPr/>
        </p:nvSpPr>
        <p:spPr>
          <a:xfrm>
            <a:off x="326116" y="287711"/>
            <a:ext cx="11734769" cy="658368"/>
          </a:xfrm>
          <a:prstGeom prst="rect">
            <a:avLst/>
          </a:prstGeom>
          <a:noFill/>
        </p:spPr>
        <p:txBody>
          <a:bodyPr wrap="square" lIns="91440" tIns="45720" rIns="91440" bIns="45720" anchor="t"/>
          <a:lstStyle/>
          <a:p>
            <a:pPr algn="l" rtl="0">
              <a:defRPr/>
            </a:pPr>
            <a:r>
              <a:rPr lang="en-US" sz="2900" b="1" kern="1200">
                <a:solidFill>
                  <a:srgbClr val="FFFFFF"/>
                </a:solidFill>
                <a:latin typeface="Georgia"/>
                <a:ea typeface="+mn-ea"/>
                <a:cs typeface="+mn-cs"/>
              </a:rPr>
              <a:t>Ops Intel</a:t>
            </a:r>
            <a:r>
              <a:rPr kumimoji="0" sz="2900" b="1" i="0" u="none" strike="noStrike" kern="1200" cap="none" spc="0" normalizeH="0" baseline="0" noProof="0">
                <a:ln>
                  <a:noFill/>
                </a:ln>
                <a:solidFill>
                  <a:srgbClr val="FFFFFF"/>
                </a:solidFill>
                <a:effectLst/>
                <a:uLnTx/>
                <a:uFillTx/>
                <a:latin typeface="Georgia"/>
                <a:ea typeface="+mn-ea"/>
                <a:cs typeface="+mn-cs"/>
              </a:rPr>
              <a:t> Dashboard — Operational Overview</a:t>
            </a:r>
          </a:p>
        </p:txBody>
      </p:sp>
      <p:sp>
        <p:nvSpPr>
          <p:cNvPr id="4" name="TextBox 3"/>
          <p:cNvSpPr txBox="1"/>
          <p:nvPr/>
        </p:nvSpPr>
        <p:spPr>
          <a:xfrm>
            <a:off x="338022" y="40894"/>
            <a:ext cx="8229600" cy="276999"/>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chemeClr val="bg1"/>
                </a:solidFill>
                <a:effectLst/>
                <a:uLnTx/>
                <a:uFillTx/>
                <a:latin typeface="Trebuchet MS"/>
                <a:ea typeface="+mn-ea"/>
                <a:cs typeface="+mn-cs"/>
              </a:rPr>
              <a:t>Dashboard – Operational Overview</a:t>
            </a:r>
            <a:endParaRPr lang="en-US" sz="1200" b="0" i="0" u="none" strike="noStrike" kern="1200" cap="none" spc="0" normalizeH="0" baseline="0" noProof="0">
              <a:ln>
                <a:noFill/>
              </a:ln>
              <a:solidFill>
                <a:schemeClr val="bg1"/>
              </a:solidFill>
              <a:effectLst/>
              <a:uLnTx/>
              <a:uFillTx/>
              <a:latin typeface="Trebuchet MS"/>
              <a:ea typeface="+mn-ea"/>
              <a:cs typeface="+mn-cs"/>
            </a:endParaRPr>
          </a:p>
        </p:txBody>
      </p:sp>
      <p:sp>
        <p:nvSpPr>
          <p:cNvPr id="5" name="TextBox 4"/>
          <p:cNvSpPr txBox="1"/>
          <p:nvPr/>
        </p:nvSpPr>
        <p:spPr>
          <a:xfrm>
            <a:off x="10363169" y="45720"/>
            <a:ext cx="1737360" cy="475488"/>
          </a:xfrm>
          <a:prstGeom prst="rect">
            <a:avLst/>
          </a:prstGeom>
          <a:noFill/>
        </p:spPr>
        <p:txBody>
          <a:bodyPr wrap="square" lIns="91440" tIns="45720" rIns="91440" bIns="4572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chemeClr val="bg1"/>
                </a:solidFill>
                <a:effectLst/>
                <a:uLnTx/>
                <a:uFillTx/>
                <a:latin typeface="Trebuchet MS"/>
                <a:ea typeface="+mn-ea"/>
                <a:cs typeface="+mn-cs"/>
              </a:rPr>
              <a:t>Expected Time Spent: </a:t>
            </a:r>
            <a:r>
              <a:rPr kumimoji="0" sz="900" b="0" i="0" u="none" strike="noStrike" kern="1200" cap="none" spc="0" normalizeH="0" baseline="0" noProof="0">
                <a:ln>
                  <a:noFill/>
                </a:ln>
                <a:solidFill>
                  <a:schemeClr val="bg1"/>
                </a:solidFill>
                <a:effectLst/>
                <a:uLnTx/>
                <a:uFillTx/>
                <a:latin typeface="Trebuchet MS"/>
                <a:ea typeface="+mn-ea"/>
                <a:cs typeface="+mn-cs"/>
              </a:rPr>
              <a:t>1 w</a:t>
            </a:r>
            <a:endParaRPr lang="en-US" sz="900" b="0" i="0" u="none" strike="noStrike" kern="1200" cap="none" spc="0" normalizeH="0" baseline="0" noProof="0">
              <a:ln>
                <a:noFill/>
              </a:ln>
              <a:solidFill>
                <a:schemeClr val="bg1"/>
              </a:solidFill>
              <a:effectLst/>
              <a:uLnTx/>
              <a:uFillTx/>
              <a:latin typeface="Trebuchet MS"/>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chemeClr val="bg1"/>
                </a:solidFill>
                <a:effectLst/>
                <a:uLnTx/>
                <a:uFillTx/>
                <a:latin typeface="Trebuchet MS"/>
                <a:ea typeface="+mn-ea"/>
                <a:cs typeface="+mn-cs"/>
              </a:rPr>
              <a:t>Actual Time Spent: </a:t>
            </a:r>
            <a:r>
              <a:rPr kumimoji="0" sz="900" b="0" i="0" u="none" strike="noStrike" kern="1200" cap="none" spc="0" normalizeH="0" baseline="0" noProof="0">
                <a:ln>
                  <a:noFill/>
                </a:ln>
                <a:solidFill>
                  <a:schemeClr val="bg1"/>
                </a:solidFill>
                <a:effectLst/>
                <a:uLnTx/>
                <a:uFillTx/>
                <a:latin typeface="Trebuchet MS"/>
                <a:ea typeface="+mn-ea"/>
                <a:cs typeface="+mn-cs"/>
              </a:rPr>
              <a:t>1 w</a:t>
            </a:r>
            <a:endParaRPr sz="900" b="0" i="0" u="none" strike="noStrike" kern="1200" cap="none" spc="0" normalizeH="0" baseline="0" noProof="0">
              <a:ln>
                <a:noFill/>
              </a:ln>
              <a:solidFill>
                <a:schemeClr val="bg1"/>
              </a:solidFill>
              <a:effectLst/>
              <a:uLnTx/>
              <a:uFillTx/>
              <a:latin typeface="Trebuchet MS"/>
              <a:ea typeface="+mn-ea"/>
              <a:cs typeface="+mn-cs"/>
            </a:endParaRPr>
          </a:p>
        </p:txBody>
      </p:sp>
      <p:sp>
        <p:nvSpPr>
          <p:cNvPr id="6" name="TextBox 5"/>
          <p:cNvSpPr txBox="1"/>
          <p:nvPr/>
        </p:nvSpPr>
        <p:spPr>
          <a:xfrm>
            <a:off x="338328" y="960120"/>
            <a:ext cx="5486400" cy="2743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3A82F6"/>
                </a:solidFill>
                <a:effectLst/>
                <a:uLnTx/>
                <a:uFillTx/>
                <a:latin typeface="Calibri"/>
                <a:ea typeface="+mn-ea"/>
                <a:cs typeface="+mn-cs"/>
              </a:rPr>
              <a:t>Live KPIs — Operational Health</a:t>
            </a:r>
          </a:p>
        </p:txBody>
      </p:sp>
      <p:sp>
        <p:nvSpPr>
          <p:cNvPr id="7" name="Rectangle 6"/>
          <p:cNvSpPr/>
          <p:nvPr/>
        </p:nvSpPr>
        <p:spPr>
          <a:xfrm>
            <a:off x="338328" y="1298448"/>
            <a:ext cx="5394960" cy="713232"/>
          </a:xfrm>
          <a:prstGeom prst="rect">
            <a:avLst/>
          </a:prstGeom>
          <a:solidFill>
            <a:srgbClr val="F8FA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TextBox 7"/>
          <p:cNvSpPr txBox="1"/>
          <p:nvPr/>
        </p:nvSpPr>
        <p:spPr>
          <a:xfrm>
            <a:off x="502920" y="1344168"/>
            <a:ext cx="2286000" cy="430887"/>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b="1" kern="1200">
                <a:solidFill>
                  <a:srgbClr val="3A82F6"/>
                </a:solidFill>
                <a:latin typeface="Trebuchet MS"/>
                <a:ea typeface="+mn-ea"/>
                <a:cs typeface="+mn-cs"/>
              </a:rPr>
              <a:t>26</a:t>
            </a:r>
            <a:endParaRPr kumimoji="0" sz="2200" b="1" i="0" u="none" strike="noStrike" kern="1200" cap="none" spc="0" normalizeH="0" baseline="0" noProof="0">
              <a:ln>
                <a:noFill/>
              </a:ln>
              <a:solidFill>
                <a:srgbClr val="3A82F6"/>
              </a:solidFill>
              <a:effectLst/>
              <a:uLnTx/>
              <a:uFillTx/>
              <a:latin typeface="Trebuchet MS"/>
              <a:ea typeface="+mn-ea"/>
              <a:cs typeface="+mn-cs"/>
            </a:endParaRPr>
          </a:p>
        </p:txBody>
      </p:sp>
      <p:sp>
        <p:nvSpPr>
          <p:cNvPr id="9" name="TextBox 8"/>
          <p:cNvSpPr txBox="1"/>
          <p:nvPr/>
        </p:nvSpPr>
        <p:spPr>
          <a:xfrm>
            <a:off x="502920" y="1682495"/>
            <a:ext cx="3200400" cy="2743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1E293A"/>
                </a:solidFill>
                <a:effectLst/>
                <a:uLnTx/>
                <a:uFillTx/>
                <a:latin typeface="Calibri"/>
                <a:ea typeface="+mn-ea"/>
                <a:cs typeface="+mn-cs"/>
              </a:rPr>
              <a:t>Total Active Tickets</a:t>
            </a:r>
          </a:p>
        </p:txBody>
      </p:sp>
      <p:sp>
        <p:nvSpPr>
          <p:cNvPr id="10" name="TextBox 9"/>
          <p:cNvSpPr txBox="1"/>
          <p:nvPr/>
        </p:nvSpPr>
        <p:spPr>
          <a:xfrm>
            <a:off x="4480560" y="1435607"/>
            <a:ext cx="1097280" cy="365760"/>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049569"/>
                </a:solidFill>
                <a:effectLst/>
                <a:uLnTx/>
                <a:uFillTx/>
                <a:latin typeface="Calibri"/>
                <a:ea typeface="+mn-ea"/>
                <a:cs typeface="+mn-cs"/>
              </a:rPr>
              <a:t>+12.5%</a:t>
            </a:r>
          </a:p>
        </p:txBody>
      </p:sp>
      <p:sp>
        <p:nvSpPr>
          <p:cNvPr id="11" name="Rectangle 10"/>
          <p:cNvSpPr/>
          <p:nvPr/>
        </p:nvSpPr>
        <p:spPr>
          <a:xfrm>
            <a:off x="338328" y="2103120"/>
            <a:ext cx="5394960" cy="713232"/>
          </a:xfrm>
          <a:prstGeom prst="rect">
            <a:avLst/>
          </a:prstGeom>
          <a:solidFill>
            <a:srgbClr val="F8FA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TextBox 11"/>
          <p:cNvSpPr txBox="1"/>
          <p:nvPr/>
        </p:nvSpPr>
        <p:spPr>
          <a:xfrm>
            <a:off x="502920" y="2148839"/>
            <a:ext cx="2286000" cy="32004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049569"/>
                </a:solidFill>
                <a:effectLst/>
                <a:uLnTx/>
                <a:uFillTx/>
                <a:latin typeface="Trebuchet MS"/>
                <a:ea typeface="+mn-ea"/>
                <a:cs typeface="+mn-cs"/>
              </a:rPr>
              <a:t>27.8%</a:t>
            </a:r>
          </a:p>
        </p:txBody>
      </p:sp>
      <p:sp>
        <p:nvSpPr>
          <p:cNvPr id="13" name="TextBox 12"/>
          <p:cNvSpPr txBox="1"/>
          <p:nvPr/>
        </p:nvSpPr>
        <p:spPr>
          <a:xfrm>
            <a:off x="502920" y="2487168"/>
            <a:ext cx="3200400" cy="2743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1E293A"/>
                </a:solidFill>
                <a:effectLst/>
                <a:uLnTx/>
                <a:uFillTx/>
                <a:latin typeface="Calibri"/>
                <a:ea typeface="+mn-ea"/>
                <a:cs typeface="+mn-cs"/>
              </a:rPr>
              <a:t>Resolution Velocity</a:t>
            </a:r>
          </a:p>
        </p:txBody>
      </p:sp>
      <p:sp>
        <p:nvSpPr>
          <p:cNvPr id="14" name="TextBox 13"/>
          <p:cNvSpPr txBox="1"/>
          <p:nvPr/>
        </p:nvSpPr>
        <p:spPr>
          <a:xfrm>
            <a:off x="4480560" y="2240279"/>
            <a:ext cx="1097280" cy="365760"/>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049569"/>
                </a:solidFill>
                <a:effectLst/>
                <a:uLnTx/>
                <a:uFillTx/>
                <a:latin typeface="Calibri"/>
                <a:ea typeface="+mn-ea"/>
                <a:cs typeface="+mn-cs"/>
              </a:rPr>
              <a:t>+4.2%</a:t>
            </a:r>
          </a:p>
        </p:txBody>
      </p:sp>
      <p:sp>
        <p:nvSpPr>
          <p:cNvPr id="15" name="Rectangle 14"/>
          <p:cNvSpPr/>
          <p:nvPr/>
        </p:nvSpPr>
        <p:spPr>
          <a:xfrm>
            <a:off x="338328" y="2907791"/>
            <a:ext cx="5394960" cy="713232"/>
          </a:xfrm>
          <a:prstGeom prst="rect">
            <a:avLst/>
          </a:prstGeom>
          <a:solidFill>
            <a:srgbClr val="F8FA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TextBox 15"/>
          <p:cNvSpPr txBox="1"/>
          <p:nvPr/>
        </p:nvSpPr>
        <p:spPr>
          <a:xfrm>
            <a:off x="502920" y="2953511"/>
            <a:ext cx="2286000" cy="32004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DC2525"/>
                </a:solidFill>
                <a:effectLst/>
                <a:uLnTx/>
                <a:uFillTx/>
                <a:latin typeface="Trebuchet MS"/>
                <a:ea typeface="+mn-ea"/>
                <a:cs typeface="+mn-cs"/>
              </a:rPr>
              <a:t>45.8%</a:t>
            </a:r>
          </a:p>
        </p:txBody>
      </p:sp>
      <p:sp>
        <p:nvSpPr>
          <p:cNvPr id="17" name="TextBox 16"/>
          <p:cNvSpPr txBox="1"/>
          <p:nvPr/>
        </p:nvSpPr>
        <p:spPr>
          <a:xfrm>
            <a:off x="502920" y="3291839"/>
            <a:ext cx="3200400" cy="2743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1E293A"/>
                </a:solidFill>
                <a:effectLst/>
                <a:uLnTx/>
                <a:uFillTx/>
                <a:latin typeface="Calibri"/>
                <a:ea typeface="+mn-ea"/>
                <a:cs typeface="+mn-cs"/>
              </a:rPr>
              <a:t>SLA Breach Risk (predicted)</a:t>
            </a:r>
          </a:p>
        </p:txBody>
      </p:sp>
      <p:sp>
        <p:nvSpPr>
          <p:cNvPr id="18" name="TextBox 17"/>
          <p:cNvSpPr txBox="1"/>
          <p:nvPr/>
        </p:nvSpPr>
        <p:spPr>
          <a:xfrm>
            <a:off x="4480560" y="3044951"/>
            <a:ext cx="1097280" cy="365760"/>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DC2525"/>
                </a:solidFill>
                <a:effectLst/>
                <a:uLnTx/>
                <a:uFillTx/>
                <a:latin typeface="Calibri"/>
                <a:ea typeface="+mn-ea"/>
                <a:cs typeface="+mn-cs"/>
              </a:rPr>
              <a:t>-0.8%</a:t>
            </a:r>
          </a:p>
        </p:txBody>
      </p:sp>
      <p:sp>
        <p:nvSpPr>
          <p:cNvPr id="19" name="Rectangle 18"/>
          <p:cNvSpPr/>
          <p:nvPr/>
        </p:nvSpPr>
        <p:spPr>
          <a:xfrm>
            <a:off x="338328" y="3712464"/>
            <a:ext cx="5394960" cy="713232"/>
          </a:xfrm>
          <a:prstGeom prst="rect">
            <a:avLst/>
          </a:prstGeom>
          <a:solidFill>
            <a:srgbClr val="F8FA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 name="TextBox 19"/>
          <p:cNvSpPr txBox="1"/>
          <p:nvPr/>
        </p:nvSpPr>
        <p:spPr>
          <a:xfrm>
            <a:off x="502920" y="3758184"/>
            <a:ext cx="2286000" cy="32004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0891B1"/>
                </a:solidFill>
                <a:effectLst/>
                <a:uLnTx/>
                <a:uFillTx/>
                <a:latin typeface="Trebuchet MS"/>
                <a:ea typeface="+mn-ea"/>
                <a:cs typeface="+mn-cs"/>
              </a:rPr>
              <a:t>13h 29m</a:t>
            </a:r>
          </a:p>
        </p:txBody>
      </p:sp>
      <p:sp>
        <p:nvSpPr>
          <p:cNvPr id="21" name="TextBox 20"/>
          <p:cNvSpPr txBox="1"/>
          <p:nvPr/>
        </p:nvSpPr>
        <p:spPr>
          <a:xfrm>
            <a:off x="502920" y="4096512"/>
            <a:ext cx="3200400" cy="2743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1E293A"/>
                </a:solidFill>
                <a:effectLst/>
                <a:uLnTx/>
                <a:uFillTx/>
                <a:latin typeface="Calibri"/>
                <a:ea typeface="+mn-ea"/>
                <a:cs typeface="+mn-cs"/>
              </a:rPr>
              <a:t>Avg. Resolution Time</a:t>
            </a:r>
          </a:p>
        </p:txBody>
      </p:sp>
      <p:sp>
        <p:nvSpPr>
          <p:cNvPr id="22" name="TextBox 21"/>
          <p:cNvSpPr txBox="1"/>
          <p:nvPr/>
        </p:nvSpPr>
        <p:spPr>
          <a:xfrm>
            <a:off x="4480560" y="3849624"/>
            <a:ext cx="1097280" cy="365760"/>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DC2525"/>
                </a:solidFill>
                <a:effectLst/>
                <a:uLnTx/>
                <a:uFillTx/>
                <a:latin typeface="Calibri"/>
                <a:ea typeface="+mn-ea"/>
                <a:cs typeface="+mn-cs"/>
              </a:rPr>
              <a:t>-15m</a:t>
            </a:r>
          </a:p>
        </p:txBody>
      </p:sp>
      <p:sp>
        <p:nvSpPr>
          <p:cNvPr id="23" name="TextBox 22"/>
          <p:cNvSpPr txBox="1"/>
          <p:nvPr/>
        </p:nvSpPr>
        <p:spPr>
          <a:xfrm>
            <a:off x="338328" y="4608576"/>
            <a:ext cx="5486400" cy="369332"/>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b="1" i="0" u="none" strike="noStrike" kern="1200" cap="none" spc="0" normalizeH="0" baseline="0" noProof="0">
                <a:ln>
                  <a:noFill/>
                </a:ln>
                <a:solidFill>
                  <a:srgbClr val="049569"/>
                </a:solidFill>
                <a:effectLst/>
                <a:uLnTx/>
                <a:uFillTx/>
                <a:latin typeface="Calibri"/>
                <a:ea typeface="+mn-ea"/>
                <a:cs typeface="+mn-cs"/>
              </a:rPr>
              <a:t>Dashboard Features</a:t>
            </a:r>
            <a:endParaRPr lang="en-US" b="1" i="0" u="none" strike="noStrike" kern="1200" cap="none" spc="0" normalizeH="0" baseline="0" noProof="0">
              <a:ln>
                <a:noFill/>
              </a:ln>
              <a:solidFill>
                <a:srgbClr val="049569"/>
              </a:solidFill>
              <a:effectLst/>
              <a:uLnTx/>
              <a:uFillTx/>
              <a:latin typeface="Calibri"/>
              <a:ea typeface="Calibri"/>
              <a:cs typeface="Calibri"/>
            </a:endParaRPr>
          </a:p>
        </p:txBody>
      </p:sp>
      <p:sp>
        <p:nvSpPr>
          <p:cNvPr id="24" name="TextBox 23"/>
          <p:cNvSpPr txBox="1"/>
          <p:nvPr/>
        </p:nvSpPr>
        <p:spPr>
          <a:xfrm>
            <a:off x="338328" y="4892040"/>
            <a:ext cx="5486400" cy="1815882"/>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1E293A"/>
                </a:solidFill>
                <a:effectLst/>
                <a:uLnTx/>
                <a:uFillTx/>
                <a:latin typeface="Calibri"/>
                <a:ea typeface="+mn-ea"/>
                <a:cs typeface="+mn-cs"/>
              </a:rPr>
              <a:t>• Real-time ticket volume trends (daily intake vs resolution)</a:t>
            </a:r>
            <a:endParaRPr lang="en-US" sz="1600" b="0" i="0" u="none" strike="noStrike" kern="1200" cap="none" spc="0" normalizeH="0" baseline="0" noProof="0">
              <a:ln>
                <a:noFill/>
              </a:ln>
              <a:solidFill>
                <a:srgbClr val="1E293A"/>
              </a:solidFill>
              <a:effectLst/>
              <a:uLnTx/>
              <a:uFillTx/>
              <a:latin typeface="Calibri"/>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1E293A"/>
                </a:solidFill>
                <a:effectLst/>
                <a:uLnTx/>
                <a:uFillTx/>
                <a:latin typeface="Calibri"/>
                <a:ea typeface="+mn-ea"/>
                <a:cs typeface="+mn-cs"/>
              </a:rPr>
              <a:t>• SLA compliance trend (monthly, Jan–Dec)</a:t>
            </a:r>
            <a:endParaRPr sz="1600" b="0" i="0" u="none" strike="noStrike" kern="1200" cap="none" spc="0" normalizeH="0" baseline="0" noProof="0">
              <a:ln>
                <a:noFill/>
              </a:ln>
              <a:solidFill>
                <a:srgbClr val="1E293A"/>
              </a:solidFill>
              <a:effectLst/>
              <a:uLnTx/>
              <a:uFillTx/>
              <a:latin typeface="Calibri"/>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1E293A"/>
                </a:solidFill>
                <a:effectLst/>
                <a:uLnTx/>
                <a:uFillTx/>
                <a:latin typeface="Calibri"/>
                <a:ea typeface="+mn-ea"/>
                <a:cs typeface="+mn-cs"/>
              </a:rPr>
              <a:t>• System downtime by service category</a:t>
            </a:r>
            <a:endParaRPr sz="1600" b="0" i="0" u="none" strike="noStrike" kern="1200" cap="none" spc="0" normalizeH="0" baseline="0" noProof="0">
              <a:ln>
                <a:noFill/>
              </a:ln>
              <a:solidFill>
                <a:srgbClr val="1E293A"/>
              </a:solidFill>
              <a:effectLst/>
              <a:uLnTx/>
              <a:uFillTx/>
              <a:latin typeface="Calibri"/>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1E293A"/>
                </a:solidFill>
                <a:effectLst/>
                <a:uLnTx/>
                <a:uFillTx/>
                <a:latin typeface="Calibri"/>
                <a:ea typeface="+mn-ea"/>
                <a:cs typeface="+mn-cs"/>
              </a:rPr>
              <a:t>• Active AI Insights panel — live breach risk alerts (T0003025, T0003027...)</a:t>
            </a:r>
            <a:endParaRPr sz="1600" b="0" i="0" u="none" strike="noStrike" kern="1200" cap="none" spc="0" normalizeH="0" baseline="0" noProof="0">
              <a:ln>
                <a:noFill/>
              </a:ln>
              <a:solidFill>
                <a:srgbClr val="1E293A"/>
              </a:solidFill>
              <a:effectLst/>
              <a:uLnTx/>
              <a:uFillTx/>
              <a:latin typeface="Calibri"/>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1E293A"/>
                </a:solidFill>
                <a:effectLst/>
                <a:uLnTx/>
                <a:uFillTx/>
                <a:latin typeface="Calibri"/>
                <a:ea typeface="+mn-ea"/>
                <a:cs typeface="+mn-cs"/>
              </a:rPr>
              <a:t>• Role-based access: Admin, Data Analyst, Support Eng, Ops Manager, VP</a:t>
            </a:r>
            <a:endParaRPr sz="1600" b="0" i="0" u="none" strike="noStrike" kern="1200" cap="none" spc="0" normalizeH="0" baseline="0" noProof="0">
              <a:ln>
                <a:noFill/>
              </a:ln>
              <a:solidFill>
                <a:srgbClr val="1E293A"/>
              </a:solidFill>
              <a:effectLst/>
              <a:uLnTx/>
              <a:uFillTx/>
              <a:latin typeface="Calibri"/>
              <a:ea typeface="Calibri"/>
              <a:cs typeface="Calibri"/>
            </a:endParaRPr>
          </a:p>
        </p:txBody>
      </p:sp>
      <p:cxnSp>
        <p:nvCxnSpPr>
          <p:cNvPr id="25" name="Connector 24"/>
          <p:cNvCxnSpPr/>
          <p:nvPr/>
        </p:nvCxnSpPr>
        <p:spPr>
          <a:xfrm>
            <a:off x="6035040" y="859536"/>
            <a:ext cx="0" cy="5907024"/>
          </a:xfrm>
          <a:prstGeom prst="curvedConnector3">
            <a:avLst/>
          </a:prstGeom>
          <a:ln w="12700">
            <a:solidFill>
              <a:schemeClr val="tx1">
                <a:lumMod val="50000"/>
                <a:lumOff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190488" y="960120"/>
            <a:ext cx="5669280" cy="2743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3A82F6"/>
                </a:solidFill>
                <a:effectLst/>
                <a:uLnTx/>
                <a:uFillTx/>
                <a:latin typeface="Calibri"/>
                <a:ea typeface="+mn-ea"/>
                <a:cs typeface="+mn-cs"/>
              </a:rPr>
              <a:t>Live Dashboard — Operational Overview</a:t>
            </a:r>
          </a:p>
        </p:txBody>
      </p:sp>
      <p:pic>
        <p:nvPicPr>
          <p:cNvPr id="28" name="Picture 27">
            <a:extLst>
              <a:ext uri="{FF2B5EF4-FFF2-40B4-BE49-F238E27FC236}">
                <a16:creationId xmlns:a16="http://schemas.microsoft.com/office/drawing/2014/main" id="{130F1520-462F-D64A-B656-E3F8B45F6E2B}"/>
              </a:ext>
            </a:extLst>
          </p:cNvPr>
          <p:cNvPicPr>
            <a:picLocks noChangeAspect="1"/>
          </p:cNvPicPr>
          <p:nvPr/>
        </p:nvPicPr>
        <p:blipFill>
          <a:blip r:embed="rId2"/>
          <a:stretch>
            <a:fillRect/>
          </a:stretch>
        </p:blipFill>
        <p:spPr>
          <a:xfrm>
            <a:off x="6245352" y="3950359"/>
            <a:ext cx="5712967" cy="2757564"/>
          </a:xfrm>
          <a:prstGeom prst="rect">
            <a:avLst/>
          </a:prstGeom>
        </p:spPr>
      </p:pic>
      <p:pic>
        <p:nvPicPr>
          <p:cNvPr id="30" name="Picture 29">
            <a:extLst>
              <a:ext uri="{FF2B5EF4-FFF2-40B4-BE49-F238E27FC236}">
                <a16:creationId xmlns:a16="http://schemas.microsoft.com/office/drawing/2014/main" id="{E7D96A24-4286-91CE-2383-D644D2697129}"/>
              </a:ext>
            </a:extLst>
          </p:cNvPr>
          <p:cNvPicPr>
            <a:picLocks noChangeAspect="1"/>
          </p:cNvPicPr>
          <p:nvPr/>
        </p:nvPicPr>
        <p:blipFill>
          <a:blip r:embed="rId3"/>
          <a:stretch>
            <a:fillRect/>
          </a:stretch>
        </p:blipFill>
        <p:spPr>
          <a:xfrm>
            <a:off x="6114288" y="1220698"/>
            <a:ext cx="5862320" cy="28118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859536"/>
          </a:xfrm>
          <a:prstGeom prst="rect">
            <a:avLst/>
          </a:prstGeom>
          <a:solidFill>
            <a:srgbClr val="1E27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p:cNvSpPr txBox="1"/>
          <p:nvPr/>
        </p:nvSpPr>
        <p:spPr>
          <a:xfrm>
            <a:off x="328559" y="275805"/>
            <a:ext cx="11734769" cy="658368"/>
          </a:xfrm>
          <a:prstGeom prst="rect">
            <a:avLst/>
          </a:prstGeom>
          <a:noFill/>
        </p:spPr>
        <p:txBody>
          <a:bodyPr wrap="square" lIns="91440" tIns="45720" rIns="91440" bIns="45720" anchor="t"/>
          <a:lstStyle/>
          <a:p>
            <a:pPr algn="l" rtl="0">
              <a:defRPr/>
            </a:pPr>
            <a:r>
              <a:rPr lang="en-US" sz="2900" b="1" kern="1200">
                <a:solidFill>
                  <a:srgbClr val="FFFFFF"/>
                </a:solidFill>
                <a:latin typeface="Georgia"/>
                <a:ea typeface="+mn-ea"/>
                <a:cs typeface="+mn-cs"/>
              </a:rPr>
              <a:t>Ops Intel</a:t>
            </a:r>
            <a:r>
              <a:rPr kumimoji="0" sz="2900" b="1" i="0" u="none" strike="noStrike" kern="1200" cap="none" spc="0" normalizeH="0" baseline="0" noProof="0">
                <a:ln>
                  <a:noFill/>
                </a:ln>
                <a:solidFill>
                  <a:srgbClr val="FFFFFF"/>
                </a:solidFill>
                <a:effectLst/>
                <a:uLnTx/>
                <a:uFillTx/>
                <a:latin typeface="Georgia"/>
                <a:ea typeface="+mn-ea"/>
                <a:cs typeface="+mn-cs"/>
              </a:rPr>
              <a:t> Dashboard — Service Ticket Management</a:t>
            </a:r>
          </a:p>
        </p:txBody>
      </p:sp>
      <p:sp>
        <p:nvSpPr>
          <p:cNvPr id="4" name="TextBox 3"/>
          <p:cNvSpPr txBox="1"/>
          <p:nvPr/>
        </p:nvSpPr>
        <p:spPr>
          <a:xfrm>
            <a:off x="338328" y="48221"/>
            <a:ext cx="8229600" cy="276999"/>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chemeClr val="bg1"/>
                </a:solidFill>
                <a:effectLst/>
                <a:uLnTx/>
                <a:uFillTx/>
                <a:latin typeface="Trebuchet MS"/>
                <a:ea typeface="+mn-ea"/>
                <a:cs typeface="+mn-cs"/>
              </a:rPr>
              <a:t>Dashboard – Ticket Intelligence</a:t>
            </a:r>
            <a:endParaRPr lang="en-US" sz="1200" b="0" i="0" u="none" strike="noStrike" kern="1200" cap="none" spc="0" normalizeH="0" baseline="0" noProof="0">
              <a:ln>
                <a:noFill/>
              </a:ln>
              <a:solidFill>
                <a:schemeClr val="bg1"/>
              </a:solidFill>
              <a:effectLst/>
              <a:uLnTx/>
              <a:uFillTx/>
              <a:latin typeface="Trebuchet MS"/>
              <a:ea typeface="+mn-ea"/>
              <a:cs typeface="+mn-cs"/>
            </a:endParaRPr>
          </a:p>
        </p:txBody>
      </p:sp>
      <p:sp>
        <p:nvSpPr>
          <p:cNvPr id="5" name="TextBox 4"/>
          <p:cNvSpPr txBox="1"/>
          <p:nvPr/>
        </p:nvSpPr>
        <p:spPr>
          <a:xfrm>
            <a:off x="10363169" y="45720"/>
            <a:ext cx="1737360" cy="475488"/>
          </a:xfrm>
          <a:prstGeom prst="rect">
            <a:avLst/>
          </a:prstGeom>
          <a:noFill/>
        </p:spPr>
        <p:txBody>
          <a:bodyPr wrap="square" lIns="91440" tIns="45720" rIns="91440" bIns="4572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chemeClr val="bg1"/>
                </a:solidFill>
                <a:effectLst/>
                <a:uLnTx/>
                <a:uFillTx/>
                <a:latin typeface="Trebuchet MS"/>
                <a:ea typeface="+mn-ea"/>
                <a:cs typeface="+mn-cs"/>
              </a:rPr>
              <a:t>Expected Time Spent: </a:t>
            </a:r>
            <a:r>
              <a:rPr kumimoji="0" sz="900" b="0" i="0" u="none" strike="noStrike" kern="1200" cap="none" spc="0" normalizeH="0" baseline="0" noProof="0">
                <a:ln>
                  <a:noFill/>
                </a:ln>
                <a:solidFill>
                  <a:schemeClr val="bg1"/>
                </a:solidFill>
                <a:effectLst/>
                <a:uLnTx/>
                <a:uFillTx/>
                <a:latin typeface="Trebuchet MS"/>
                <a:ea typeface="+mn-ea"/>
                <a:cs typeface="+mn-cs"/>
              </a:rPr>
              <a:t>1 w</a:t>
            </a:r>
            <a:endParaRPr lang="en-US" sz="900" b="0" i="0" u="none" strike="noStrike" kern="1200" cap="none" spc="0" normalizeH="0" baseline="0" noProof="0">
              <a:ln>
                <a:noFill/>
              </a:ln>
              <a:solidFill>
                <a:schemeClr val="bg1"/>
              </a:solidFill>
              <a:effectLst/>
              <a:uLnTx/>
              <a:uFillTx/>
              <a:latin typeface="Trebuchet MS"/>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chemeClr val="bg1"/>
                </a:solidFill>
                <a:effectLst/>
                <a:uLnTx/>
                <a:uFillTx/>
                <a:latin typeface="Trebuchet MS"/>
                <a:ea typeface="+mn-ea"/>
                <a:cs typeface="+mn-cs"/>
              </a:rPr>
              <a:t>Actual Time Spent: </a:t>
            </a:r>
            <a:r>
              <a:rPr kumimoji="0" sz="900" b="0" i="0" u="none" strike="noStrike" kern="1200" cap="none" spc="0" normalizeH="0" baseline="0" noProof="0">
                <a:ln>
                  <a:noFill/>
                </a:ln>
                <a:solidFill>
                  <a:schemeClr val="bg1"/>
                </a:solidFill>
                <a:effectLst/>
                <a:uLnTx/>
                <a:uFillTx/>
                <a:latin typeface="Trebuchet MS"/>
                <a:ea typeface="+mn-ea"/>
                <a:cs typeface="+mn-cs"/>
              </a:rPr>
              <a:t>1 w</a:t>
            </a:r>
            <a:endParaRPr sz="900" b="0" i="0" u="none" strike="noStrike" kern="1200" cap="none" spc="0" normalizeH="0" baseline="0" noProof="0">
              <a:ln>
                <a:noFill/>
              </a:ln>
              <a:solidFill>
                <a:schemeClr val="bg1"/>
              </a:solidFill>
              <a:effectLst/>
              <a:uLnTx/>
              <a:uFillTx/>
              <a:latin typeface="Trebuchet MS"/>
              <a:ea typeface="+mn-ea"/>
              <a:cs typeface="+mn-cs"/>
            </a:endParaRPr>
          </a:p>
        </p:txBody>
      </p:sp>
      <p:sp>
        <p:nvSpPr>
          <p:cNvPr id="26" name="Shape 8">
            <a:extLst>
              <a:ext uri="{FF2B5EF4-FFF2-40B4-BE49-F238E27FC236}">
                <a16:creationId xmlns:a16="http://schemas.microsoft.com/office/drawing/2014/main" id="{33A0CFA1-C490-7E2A-F84C-D9E8F6A76C76}"/>
              </a:ext>
            </a:extLst>
          </p:cNvPr>
          <p:cNvSpPr/>
          <p:nvPr/>
        </p:nvSpPr>
        <p:spPr>
          <a:xfrm>
            <a:off x="7802880" y="1280160"/>
            <a:ext cx="4047744" cy="5327904"/>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SG"/>
          </a:p>
        </p:txBody>
      </p:sp>
      <p:sp>
        <p:nvSpPr>
          <p:cNvPr id="28" name="Text 11">
            <a:extLst>
              <a:ext uri="{FF2B5EF4-FFF2-40B4-BE49-F238E27FC236}">
                <a16:creationId xmlns:a16="http://schemas.microsoft.com/office/drawing/2014/main" id="{C24C4833-549E-F141-49CB-157BA0FFCEE3}"/>
              </a:ext>
            </a:extLst>
          </p:cNvPr>
          <p:cNvSpPr/>
          <p:nvPr/>
        </p:nvSpPr>
        <p:spPr>
          <a:xfrm>
            <a:off x="7924800" y="1755648"/>
            <a:ext cx="3803904" cy="268224"/>
          </a:xfrm>
          <a:prstGeom prst="rect">
            <a:avLst/>
          </a:prstGeom>
          <a:noFill/>
          <a:ln/>
        </p:spPr>
        <p:txBody>
          <a:bodyPr wrap="square" lIns="0" tIns="0" rIns="0" bIns="0" rtlCol="0" anchor="ctr"/>
          <a:lstStyle/>
          <a:p>
            <a:pPr algn="l" defTabSz="1219170" rtl="0"/>
            <a:r>
              <a:rPr lang="en-US" sz="1200" b="1" kern="1200">
                <a:solidFill>
                  <a:srgbClr val="2563EB"/>
                </a:solidFill>
                <a:latin typeface="Calibri" panose="020F0502020204030204"/>
                <a:ea typeface="+mn-ea"/>
                <a:cs typeface="+mn-cs"/>
              </a:rPr>
              <a:t>Ticket Management:</a:t>
            </a:r>
            <a:endParaRPr lang="en-US" sz="1200" kern="1200">
              <a:solidFill>
                <a:prstClr val="black"/>
              </a:solidFill>
              <a:latin typeface="Calibri" panose="020F0502020204030204"/>
              <a:ea typeface="+mn-ea"/>
              <a:cs typeface="+mn-cs"/>
            </a:endParaRPr>
          </a:p>
        </p:txBody>
      </p:sp>
      <p:sp>
        <p:nvSpPr>
          <p:cNvPr id="29" name="Text 12">
            <a:extLst>
              <a:ext uri="{FF2B5EF4-FFF2-40B4-BE49-F238E27FC236}">
                <a16:creationId xmlns:a16="http://schemas.microsoft.com/office/drawing/2014/main" id="{F71F8147-75D4-98F4-ED8B-1760733AB870}"/>
              </a:ext>
            </a:extLst>
          </p:cNvPr>
          <p:cNvSpPr/>
          <p:nvPr/>
        </p:nvSpPr>
        <p:spPr>
          <a:xfrm>
            <a:off x="7924800" y="2023872"/>
            <a:ext cx="3803904" cy="414528"/>
          </a:xfrm>
          <a:prstGeom prst="rect">
            <a:avLst/>
          </a:prstGeom>
          <a:noFill/>
          <a:ln/>
        </p:spPr>
        <p:txBody>
          <a:bodyPr wrap="square" lIns="0" tIns="0" rIns="0" bIns="0" rtlCol="0" anchor="ctr"/>
          <a:lstStyle/>
          <a:p>
            <a:pPr algn="l" defTabSz="1219170" rtl="0"/>
            <a:r>
              <a:rPr lang="en-US" sz="1067" kern="1200">
                <a:solidFill>
                  <a:srgbClr val="334155"/>
                </a:solidFill>
                <a:latin typeface="Calibri" panose="020F0502020204030204"/>
                <a:ea typeface="+mn-ea"/>
                <a:cs typeface="+mn-cs"/>
              </a:rPr>
              <a:t>36 tickets · 3 categories (Network 25, Hardware 10, Security 1) · P1-P4 distribution from NLP model</a:t>
            </a:r>
            <a:endParaRPr lang="en-US" sz="1067" kern="1200">
              <a:solidFill>
                <a:prstClr val="black"/>
              </a:solidFill>
              <a:latin typeface="Calibri" panose="020F0502020204030204"/>
              <a:ea typeface="+mn-ea"/>
              <a:cs typeface="+mn-cs"/>
            </a:endParaRPr>
          </a:p>
        </p:txBody>
      </p:sp>
      <p:sp>
        <p:nvSpPr>
          <p:cNvPr id="30" name="Text 13">
            <a:extLst>
              <a:ext uri="{FF2B5EF4-FFF2-40B4-BE49-F238E27FC236}">
                <a16:creationId xmlns:a16="http://schemas.microsoft.com/office/drawing/2014/main" id="{14DFAD47-37BE-CFEE-342E-27582BD79FCD}"/>
              </a:ext>
            </a:extLst>
          </p:cNvPr>
          <p:cNvSpPr/>
          <p:nvPr/>
        </p:nvSpPr>
        <p:spPr>
          <a:xfrm>
            <a:off x="7924800" y="2511552"/>
            <a:ext cx="3803904" cy="268224"/>
          </a:xfrm>
          <a:prstGeom prst="rect">
            <a:avLst/>
          </a:prstGeom>
          <a:noFill/>
          <a:ln/>
        </p:spPr>
        <p:txBody>
          <a:bodyPr wrap="square" lIns="0" tIns="0" rIns="0" bIns="0" rtlCol="0" anchor="ctr"/>
          <a:lstStyle/>
          <a:p>
            <a:pPr algn="l" defTabSz="1219170" rtl="0"/>
            <a:r>
              <a:rPr lang="en-US" sz="1200" b="1" kern="1200">
                <a:solidFill>
                  <a:srgbClr val="2563EB"/>
                </a:solidFill>
                <a:latin typeface="Calibri" panose="020F0502020204030204"/>
                <a:ea typeface="+mn-ea"/>
                <a:cs typeface="+mn-cs"/>
              </a:rPr>
              <a:t>Escalation Matrix:</a:t>
            </a:r>
            <a:endParaRPr lang="en-US" sz="1200" kern="1200">
              <a:solidFill>
                <a:prstClr val="black"/>
              </a:solidFill>
              <a:latin typeface="Calibri" panose="020F0502020204030204"/>
              <a:ea typeface="+mn-ea"/>
              <a:cs typeface="+mn-cs"/>
            </a:endParaRPr>
          </a:p>
        </p:txBody>
      </p:sp>
      <p:sp>
        <p:nvSpPr>
          <p:cNvPr id="31" name="Text 14">
            <a:extLst>
              <a:ext uri="{FF2B5EF4-FFF2-40B4-BE49-F238E27FC236}">
                <a16:creationId xmlns:a16="http://schemas.microsoft.com/office/drawing/2014/main" id="{31CB715A-999F-D1B7-8834-2A935EF22A88}"/>
              </a:ext>
            </a:extLst>
          </p:cNvPr>
          <p:cNvSpPr/>
          <p:nvPr/>
        </p:nvSpPr>
        <p:spPr>
          <a:xfrm>
            <a:off x="7924800" y="2779776"/>
            <a:ext cx="3803904" cy="414528"/>
          </a:xfrm>
          <a:prstGeom prst="rect">
            <a:avLst/>
          </a:prstGeom>
          <a:noFill/>
          <a:ln/>
        </p:spPr>
        <p:txBody>
          <a:bodyPr wrap="square" lIns="0" tIns="0" rIns="0" bIns="0" rtlCol="0" anchor="ctr"/>
          <a:lstStyle/>
          <a:p>
            <a:pPr algn="l" defTabSz="1219170" rtl="0"/>
            <a:r>
              <a:rPr lang="en-US" sz="1067" kern="1200">
                <a:solidFill>
                  <a:srgbClr val="334155"/>
                </a:solidFill>
                <a:latin typeface="Calibri" panose="020F0502020204030204"/>
                <a:ea typeface="+mn-ea"/>
                <a:cs typeface="+mn-cs"/>
              </a:rPr>
              <a:t>L3→L2→L1→L0 chain. T00041001: E016→TL001→M001→D001. Email confirmed live (2026-05-23 02:01:36)</a:t>
            </a:r>
            <a:endParaRPr lang="en-US" sz="1067" kern="1200">
              <a:solidFill>
                <a:prstClr val="black"/>
              </a:solidFill>
              <a:latin typeface="Calibri" panose="020F0502020204030204"/>
              <a:ea typeface="+mn-ea"/>
              <a:cs typeface="+mn-cs"/>
            </a:endParaRPr>
          </a:p>
        </p:txBody>
      </p:sp>
      <p:sp>
        <p:nvSpPr>
          <p:cNvPr id="32" name="Text 15">
            <a:extLst>
              <a:ext uri="{FF2B5EF4-FFF2-40B4-BE49-F238E27FC236}">
                <a16:creationId xmlns:a16="http://schemas.microsoft.com/office/drawing/2014/main" id="{86E9DAFE-58CA-0E8C-D934-E85768318FE7}"/>
              </a:ext>
            </a:extLst>
          </p:cNvPr>
          <p:cNvSpPr/>
          <p:nvPr/>
        </p:nvSpPr>
        <p:spPr>
          <a:xfrm>
            <a:off x="7924800" y="3267456"/>
            <a:ext cx="3803904" cy="268224"/>
          </a:xfrm>
          <a:prstGeom prst="rect">
            <a:avLst/>
          </a:prstGeom>
          <a:noFill/>
          <a:ln/>
        </p:spPr>
        <p:txBody>
          <a:bodyPr wrap="square" lIns="0" tIns="0" rIns="0" bIns="0" rtlCol="0" anchor="ctr"/>
          <a:lstStyle/>
          <a:p>
            <a:pPr algn="l" defTabSz="1219170" rtl="0"/>
            <a:r>
              <a:rPr lang="en-US" sz="1200" b="1" kern="1200">
                <a:solidFill>
                  <a:srgbClr val="2563EB"/>
                </a:solidFill>
                <a:latin typeface="Calibri" panose="020F0502020204030204"/>
                <a:ea typeface="+mn-ea"/>
                <a:cs typeface="+mn-cs"/>
              </a:rPr>
              <a:t>Smart Routing:</a:t>
            </a:r>
            <a:endParaRPr lang="en-US" sz="1200" kern="1200">
              <a:solidFill>
                <a:prstClr val="black"/>
              </a:solidFill>
              <a:latin typeface="Calibri" panose="020F0502020204030204"/>
              <a:ea typeface="+mn-ea"/>
              <a:cs typeface="+mn-cs"/>
            </a:endParaRPr>
          </a:p>
        </p:txBody>
      </p:sp>
      <p:sp>
        <p:nvSpPr>
          <p:cNvPr id="33" name="Text 16">
            <a:extLst>
              <a:ext uri="{FF2B5EF4-FFF2-40B4-BE49-F238E27FC236}">
                <a16:creationId xmlns:a16="http://schemas.microsoft.com/office/drawing/2014/main" id="{332F3768-4EE5-704C-B2C5-E6B79A6A265C}"/>
              </a:ext>
            </a:extLst>
          </p:cNvPr>
          <p:cNvSpPr/>
          <p:nvPr/>
        </p:nvSpPr>
        <p:spPr>
          <a:xfrm>
            <a:off x="7924800" y="3535680"/>
            <a:ext cx="3803904" cy="414528"/>
          </a:xfrm>
          <a:prstGeom prst="rect">
            <a:avLst/>
          </a:prstGeom>
          <a:noFill/>
          <a:ln/>
        </p:spPr>
        <p:txBody>
          <a:bodyPr wrap="square" lIns="0" tIns="0" rIns="0" bIns="0" rtlCol="0" anchor="ctr"/>
          <a:lstStyle/>
          <a:p>
            <a:pPr algn="l" defTabSz="1219170" rtl="0"/>
            <a:r>
              <a:rPr lang="en-US" sz="1067" kern="1200">
                <a:solidFill>
                  <a:srgbClr val="334155"/>
                </a:solidFill>
                <a:latin typeface="Calibri" panose="020F0502020204030204"/>
                <a:ea typeface="+mn-ea"/>
                <a:cs typeface="+mn-cs"/>
              </a:rPr>
              <a:t>E006 overloaded (4 active) → re-routed E007. Junior eng → escalated E015 (7yr Network specialist)</a:t>
            </a:r>
            <a:endParaRPr lang="en-US" sz="1067" kern="1200">
              <a:solidFill>
                <a:prstClr val="black"/>
              </a:solidFill>
              <a:latin typeface="Calibri" panose="020F0502020204030204"/>
              <a:ea typeface="+mn-ea"/>
              <a:cs typeface="+mn-cs"/>
            </a:endParaRPr>
          </a:p>
        </p:txBody>
      </p:sp>
      <p:sp>
        <p:nvSpPr>
          <p:cNvPr id="34" name="Text 17">
            <a:extLst>
              <a:ext uri="{FF2B5EF4-FFF2-40B4-BE49-F238E27FC236}">
                <a16:creationId xmlns:a16="http://schemas.microsoft.com/office/drawing/2014/main" id="{7FFEC718-397A-2DE8-38B0-CB3AE287BB9D}"/>
              </a:ext>
            </a:extLst>
          </p:cNvPr>
          <p:cNvSpPr/>
          <p:nvPr/>
        </p:nvSpPr>
        <p:spPr>
          <a:xfrm>
            <a:off x="7924800" y="4023360"/>
            <a:ext cx="3803904" cy="268224"/>
          </a:xfrm>
          <a:prstGeom prst="rect">
            <a:avLst/>
          </a:prstGeom>
          <a:noFill/>
          <a:ln/>
        </p:spPr>
        <p:txBody>
          <a:bodyPr wrap="square" lIns="0" tIns="0" rIns="0" bIns="0" rtlCol="0" anchor="ctr"/>
          <a:lstStyle/>
          <a:p>
            <a:pPr algn="l" defTabSz="1219170" rtl="0"/>
            <a:r>
              <a:rPr lang="en-US" sz="1200" b="1" kern="1200">
                <a:solidFill>
                  <a:srgbClr val="2563EB"/>
                </a:solidFill>
                <a:latin typeface="Calibri" panose="020F0502020204030204"/>
                <a:ea typeface="+mn-ea"/>
                <a:cs typeface="+mn-cs"/>
              </a:rPr>
              <a:t>Similar Tickets:</a:t>
            </a:r>
            <a:endParaRPr lang="en-US" sz="1200" kern="1200">
              <a:solidFill>
                <a:prstClr val="black"/>
              </a:solidFill>
              <a:latin typeface="Calibri" panose="020F0502020204030204"/>
              <a:ea typeface="+mn-ea"/>
              <a:cs typeface="+mn-cs"/>
            </a:endParaRPr>
          </a:p>
        </p:txBody>
      </p:sp>
      <p:sp>
        <p:nvSpPr>
          <p:cNvPr id="35" name="Text 18">
            <a:extLst>
              <a:ext uri="{FF2B5EF4-FFF2-40B4-BE49-F238E27FC236}">
                <a16:creationId xmlns:a16="http://schemas.microsoft.com/office/drawing/2014/main" id="{F295358E-F04D-9C62-7D8D-B3490718DCBD}"/>
              </a:ext>
            </a:extLst>
          </p:cNvPr>
          <p:cNvSpPr/>
          <p:nvPr/>
        </p:nvSpPr>
        <p:spPr>
          <a:xfrm>
            <a:off x="7924800" y="4291584"/>
            <a:ext cx="3803904" cy="414528"/>
          </a:xfrm>
          <a:prstGeom prst="rect">
            <a:avLst/>
          </a:prstGeom>
          <a:noFill/>
          <a:ln/>
        </p:spPr>
        <p:txBody>
          <a:bodyPr wrap="square" lIns="0" tIns="0" rIns="0" bIns="0" rtlCol="0" anchor="ctr"/>
          <a:lstStyle/>
          <a:p>
            <a:pPr algn="l" defTabSz="1219170" rtl="0"/>
            <a:r>
              <a:rPr lang="en-US" sz="1067" kern="1200">
                <a:solidFill>
                  <a:srgbClr val="334155"/>
                </a:solidFill>
                <a:latin typeface="Calibri" panose="020F0502020204030204"/>
                <a:ea typeface="+mn-ea"/>
                <a:cs typeface="+mn-cs"/>
              </a:rPr>
              <a:t>Right panel: top-3 matches with sim scores (0.99/0.69/0.68) and expected resolution times</a:t>
            </a:r>
            <a:endParaRPr lang="en-US" sz="1067" kern="1200">
              <a:solidFill>
                <a:prstClr val="black"/>
              </a:solidFill>
              <a:latin typeface="Calibri" panose="020F0502020204030204"/>
              <a:ea typeface="+mn-ea"/>
              <a:cs typeface="+mn-cs"/>
            </a:endParaRPr>
          </a:p>
        </p:txBody>
      </p:sp>
      <p:sp>
        <p:nvSpPr>
          <p:cNvPr id="36" name="Text 19">
            <a:extLst>
              <a:ext uri="{FF2B5EF4-FFF2-40B4-BE49-F238E27FC236}">
                <a16:creationId xmlns:a16="http://schemas.microsoft.com/office/drawing/2014/main" id="{01F800AB-1A83-A8D5-2E49-E79DB9299D26}"/>
              </a:ext>
            </a:extLst>
          </p:cNvPr>
          <p:cNvSpPr/>
          <p:nvPr/>
        </p:nvSpPr>
        <p:spPr>
          <a:xfrm>
            <a:off x="7924800" y="4779264"/>
            <a:ext cx="3803904" cy="268224"/>
          </a:xfrm>
          <a:prstGeom prst="rect">
            <a:avLst/>
          </a:prstGeom>
          <a:noFill/>
          <a:ln/>
        </p:spPr>
        <p:txBody>
          <a:bodyPr wrap="square" lIns="0" tIns="0" rIns="0" bIns="0" rtlCol="0" anchor="ctr"/>
          <a:lstStyle/>
          <a:p>
            <a:pPr algn="l" defTabSz="1219170" rtl="0"/>
            <a:r>
              <a:rPr lang="en-US" sz="1200" b="1" kern="1200">
                <a:solidFill>
                  <a:srgbClr val="2563EB"/>
                </a:solidFill>
                <a:latin typeface="Calibri" panose="020F0502020204030204"/>
                <a:ea typeface="+mn-ea"/>
                <a:cs typeface="+mn-cs"/>
              </a:rPr>
              <a:t>Data Pattern Analysis:</a:t>
            </a:r>
            <a:endParaRPr lang="en-US" sz="1200" kern="1200">
              <a:solidFill>
                <a:prstClr val="black"/>
              </a:solidFill>
              <a:latin typeface="Calibri" panose="020F0502020204030204"/>
              <a:ea typeface="+mn-ea"/>
              <a:cs typeface="+mn-cs"/>
            </a:endParaRPr>
          </a:p>
        </p:txBody>
      </p:sp>
      <p:sp>
        <p:nvSpPr>
          <p:cNvPr id="37" name="Text 20">
            <a:extLst>
              <a:ext uri="{FF2B5EF4-FFF2-40B4-BE49-F238E27FC236}">
                <a16:creationId xmlns:a16="http://schemas.microsoft.com/office/drawing/2014/main" id="{96933891-9844-72EE-2FC1-6A63168290A6}"/>
              </a:ext>
            </a:extLst>
          </p:cNvPr>
          <p:cNvSpPr/>
          <p:nvPr/>
        </p:nvSpPr>
        <p:spPr>
          <a:xfrm>
            <a:off x="7924800" y="5047488"/>
            <a:ext cx="3803904" cy="414528"/>
          </a:xfrm>
          <a:prstGeom prst="rect">
            <a:avLst/>
          </a:prstGeom>
          <a:noFill/>
          <a:ln/>
        </p:spPr>
        <p:txBody>
          <a:bodyPr wrap="square" lIns="0" tIns="0" rIns="0" bIns="0" rtlCol="0" anchor="ctr"/>
          <a:lstStyle/>
          <a:p>
            <a:pPr algn="l" defTabSz="1219170" rtl="0"/>
            <a:r>
              <a:rPr lang="en-US" sz="1067" kern="1200">
                <a:solidFill>
                  <a:srgbClr val="334155"/>
                </a:solidFill>
                <a:latin typeface="Calibri" panose="020F0502020204030204"/>
                <a:ea typeface="+mn-ea"/>
                <a:cs typeface="+mn-cs"/>
              </a:rPr>
              <a:t>Category+Priority breakdown charts · Engineer workload tab · 36 tickets · 3 categories · 20 engineers</a:t>
            </a:r>
            <a:endParaRPr lang="en-US" sz="1067" kern="1200">
              <a:solidFill>
                <a:prstClr val="black"/>
              </a:solidFill>
              <a:latin typeface="Calibri" panose="020F0502020204030204"/>
              <a:ea typeface="+mn-ea"/>
              <a:cs typeface="+mn-cs"/>
            </a:endParaRPr>
          </a:p>
        </p:txBody>
      </p:sp>
      <p:sp>
        <p:nvSpPr>
          <p:cNvPr id="38" name="Text 21">
            <a:extLst>
              <a:ext uri="{FF2B5EF4-FFF2-40B4-BE49-F238E27FC236}">
                <a16:creationId xmlns:a16="http://schemas.microsoft.com/office/drawing/2014/main" id="{2B2096FF-CFAD-3C33-31FA-A483BB91385F}"/>
              </a:ext>
            </a:extLst>
          </p:cNvPr>
          <p:cNvSpPr/>
          <p:nvPr/>
        </p:nvSpPr>
        <p:spPr>
          <a:xfrm>
            <a:off x="7924800" y="5535168"/>
            <a:ext cx="3803904" cy="268224"/>
          </a:xfrm>
          <a:prstGeom prst="rect">
            <a:avLst/>
          </a:prstGeom>
          <a:noFill/>
          <a:ln/>
        </p:spPr>
        <p:txBody>
          <a:bodyPr wrap="square" lIns="0" tIns="0" rIns="0" bIns="0" rtlCol="0" anchor="ctr"/>
          <a:lstStyle/>
          <a:p>
            <a:pPr algn="l" defTabSz="1219170" rtl="0"/>
            <a:r>
              <a:rPr lang="en-US" sz="1200" b="1" kern="1200">
                <a:solidFill>
                  <a:srgbClr val="2563EB"/>
                </a:solidFill>
                <a:latin typeface="Calibri" panose="020F0502020204030204"/>
                <a:ea typeface="+mn-ea"/>
                <a:cs typeface="+mn-cs"/>
              </a:rPr>
              <a:t>Create Ticket:</a:t>
            </a:r>
            <a:endParaRPr lang="en-US" sz="1200" kern="1200">
              <a:solidFill>
                <a:prstClr val="black"/>
              </a:solidFill>
              <a:latin typeface="Calibri" panose="020F0502020204030204"/>
              <a:ea typeface="+mn-ea"/>
              <a:cs typeface="+mn-cs"/>
            </a:endParaRPr>
          </a:p>
        </p:txBody>
      </p:sp>
      <p:sp>
        <p:nvSpPr>
          <p:cNvPr id="39" name="Text 22">
            <a:extLst>
              <a:ext uri="{FF2B5EF4-FFF2-40B4-BE49-F238E27FC236}">
                <a16:creationId xmlns:a16="http://schemas.microsoft.com/office/drawing/2014/main" id="{145A1D9D-049C-B550-CCFA-208AD24D4F8B}"/>
              </a:ext>
            </a:extLst>
          </p:cNvPr>
          <p:cNvSpPr/>
          <p:nvPr/>
        </p:nvSpPr>
        <p:spPr>
          <a:xfrm>
            <a:off x="7924800" y="5803392"/>
            <a:ext cx="3803904" cy="414528"/>
          </a:xfrm>
          <a:prstGeom prst="rect">
            <a:avLst/>
          </a:prstGeom>
          <a:noFill/>
          <a:ln/>
        </p:spPr>
        <p:txBody>
          <a:bodyPr wrap="square" lIns="0" tIns="0" rIns="0" bIns="0" rtlCol="0" anchor="ctr"/>
          <a:lstStyle/>
          <a:p>
            <a:pPr algn="l" defTabSz="1219170" rtl="0"/>
            <a:r>
              <a:rPr lang="en-US" sz="1067" kern="1200">
                <a:solidFill>
                  <a:srgbClr val="334155"/>
                </a:solidFill>
                <a:latin typeface="Calibri" panose="020F0502020204030204"/>
                <a:ea typeface="+mn-ea"/>
                <a:cs typeface="+mn-cs"/>
              </a:rPr>
              <a:t>Form with live escalation matrix preview, auto-engineer suggestion, and notification bell trigger</a:t>
            </a:r>
            <a:endParaRPr lang="en-US" sz="1067" kern="1200">
              <a:solidFill>
                <a:prstClr val="black"/>
              </a:solidFill>
              <a:latin typeface="Calibri" panose="020F0502020204030204"/>
              <a:ea typeface="+mn-ea"/>
              <a:cs typeface="+mn-cs"/>
            </a:endParaRPr>
          </a:p>
        </p:txBody>
      </p:sp>
      <p:sp>
        <p:nvSpPr>
          <p:cNvPr id="41" name="Shape 9">
            <a:extLst>
              <a:ext uri="{FF2B5EF4-FFF2-40B4-BE49-F238E27FC236}">
                <a16:creationId xmlns:a16="http://schemas.microsoft.com/office/drawing/2014/main" id="{D490E68B-D7A6-6667-9986-3F02F07D3AD8}"/>
              </a:ext>
            </a:extLst>
          </p:cNvPr>
          <p:cNvSpPr/>
          <p:nvPr/>
        </p:nvSpPr>
        <p:spPr>
          <a:xfrm>
            <a:off x="7802880" y="1280160"/>
            <a:ext cx="4047744" cy="365760"/>
          </a:xfrm>
          <a:prstGeom prst="rect">
            <a:avLst/>
          </a:prstGeom>
          <a:solidFill>
            <a:srgbClr val="2563EB"/>
          </a:solidFill>
          <a:ln w="12700">
            <a:solidFill>
              <a:srgbClr val="2563EB"/>
            </a:solidFill>
            <a:prstDash val="solid"/>
          </a:ln>
        </p:spPr>
        <p:txBody>
          <a:bodyPr/>
          <a:lstStyle/>
          <a:p>
            <a:endParaRPr lang="en-SG"/>
          </a:p>
        </p:txBody>
      </p:sp>
      <p:sp>
        <p:nvSpPr>
          <p:cNvPr id="42" name="Text 10">
            <a:extLst>
              <a:ext uri="{FF2B5EF4-FFF2-40B4-BE49-F238E27FC236}">
                <a16:creationId xmlns:a16="http://schemas.microsoft.com/office/drawing/2014/main" id="{0A21C6A8-5D51-6707-C9DE-B23CE7865048}"/>
              </a:ext>
            </a:extLst>
          </p:cNvPr>
          <p:cNvSpPr/>
          <p:nvPr/>
        </p:nvSpPr>
        <p:spPr>
          <a:xfrm>
            <a:off x="7924800" y="1304544"/>
            <a:ext cx="3803904" cy="292608"/>
          </a:xfrm>
          <a:prstGeom prst="rect">
            <a:avLst/>
          </a:prstGeom>
          <a:noFill/>
          <a:ln/>
        </p:spPr>
        <p:txBody>
          <a:bodyPr wrap="square" lIns="0" tIns="0" rIns="0" bIns="0" rtlCol="0" anchor="ctr"/>
          <a:lstStyle/>
          <a:p>
            <a:pPr algn="l" defTabSz="1219170" rtl="0"/>
            <a:r>
              <a:rPr lang="en-US" sz="1600" b="1" spc="133">
                <a:solidFill>
                  <a:srgbClr val="FFFFFF"/>
                </a:solidFill>
                <a:latin typeface="Calibri" panose="020F0502020204030204"/>
                <a:ea typeface="+mn-ea"/>
                <a:cs typeface="+mn-cs"/>
              </a:rPr>
              <a:t>TICKET FEATURES</a:t>
            </a:r>
            <a:endParaRPr lang="en-US" sz="1600" kern="1200">
              <a:solidFill>
                <a:prstClr val="black"/>
              </a:solidFill>
              <a:latin typeface="Calibri" panose="020F0502020204030204"/>
              <a:ea typeface="+mn-ea"/>
              <a:cs typeface="+mn-cs"/>
            </a:endParaRPr>
          </a:p>
        </p:txBody>
      </p:sp>
      <p:grpSp>
        <p:nvGrpSpPr>
          <p:cNvPr id="51" name="Group 50">
            <a:extLst>
              <a:ext uri="{FF2B5EF4-FFF2-40B4-BE49-F238E27FC236}">
                <a16:creationId xmlns:a16="http://schemas.microsoft.com/office/drawing/2014/main" id="{86D85917-73C7-593F-DE1E-49E7CEFE798B}"/>
              </a:ext>
            </a:extLst>
          </p:cNvPr>
          <p:cNvGrpSpPr/>
          <p:nvPr/>
        </p:nvGrpSpPr>
        <p:grpSpPr>
          <a:xfrm>
            <a:off x="121888" y="1570973"/>
            <a:ext cx="7680992" cy="4307366"/>
            <a:chOff x="-32" y="-11134"/>
            <a:chExt cx="12334271" cy="6916844"/>
          </a:xfrm>
        </p:grpSpPr>
        <p:pic>
          <p:nvPicPr>
            <p:cNvPr id="46" name="Picture 45">
              <a:extLst>
                <a:ext uri="{FF2B5EF4-FFF2-40B4-BE49-F238E27FC236}">
                  <a16:creationId xmlns:a16="http://schemas.microsoft.com/office/drawing/2014/main" id="{4C13EBFD-30AD-E112-EC01-E9E20D3E9461}"/>
                </a:ext>
              </a:extLst>
            </p:cNvPr>
            <p:cNvPicPr>
              <a:picLocks noChangeAspect="1"/>
            </p:cNvPicPr>
            <p:nvPr/>
          </p:nvPicPr>
          <p:blipFill>
            <a:blip r:embed="rId2"/>
            <a:stretch>
              <a:fillRect/>
            </a:stretch>
          </p:blipFill>
          <p:spPr>
            <a:xfrm>
              <a:off x="-31" y="-11134"/>
              <a:ext cx="12192000" cy="3130024"/>
            </a:xfrm>
            <a:prstGeom prst="rect">
              <a:avLst/>
            </a:prstGeom>
          </p:spPr>
        </p:pic>
        <p:pic>
          <p:nvPicPr>
            <p:cNvPr id="50" name="Picture 49">
              <a:extLst>
                <a:ext uri="{FF2B5EF4-FFF2-40B4-BE49-F238E27FC236}">
                  <a16:creationId xmlns:a16="http://schemas.microsoft.com/office/drawing/2014/main" id="{F33999D1-9782-2FBF-7BB7-4EB977CB47EF}"/>
                </a:ext>
              </a:extLst>
            </p:cNvPr>
            <p:cNvPicPr>
              <a:picLocks noChangeAspect="1"/>
            </p:cNvPicPr>
            <p:nvPr/>
          </p:nvPicPr>
          <p:blipFill>
            <a:blip r:embed="rId3"/>
            <a:stretch>
              <a:fillRect/>
            </a:stretch>
          </p:blipFill>
          <p:spPr>
            <a:xfrm>
              <a:off x="-32" y="3042962"/>
              <a:ext cx="12334271" cy="3862748"/>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859536"/>
          </a:xfrm>
          <a:prstGeom prst="rect">
            <a:avLst/>
          </a:prstGeom>
          <a:solidFill>
            <a:srgbClr val="1E27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p:cNvSpPr txBox="1"/>
          <p:nvPr/>
        </p:nvSpPr>
        <p:spPr>
          <a:xfrm>
            <a:off x="328559" y="295343"/>
            <a:ext cx="11734769" cy="658368"/>
          </a:xfrm>
          <a:prstGeom prst="rect">
            <a:avLst/>
          </a:prstGeom>
          <a:noFill/>
        </p:spPr>
        <p:txBody>
          <a:bodyPr wrap="square" lIns="91440" tIns="45720" rIns="91440" bIns="45720" anchor="t"/>
          <a:lstStyle/>
          <a:p>
            <a:pPr algn="l" rtl="0">
              <a:defRPr/>
            </a:pPr>
            <a:r>
              <a:rPr lang="en-US" sz="2900" b="1" kern="1200">
                <a:solidFill>
                  <a:srgbClr val="FFFFFF"/>
                </a:solidFill>
                <a:latin typeface="Georgia"/>
                <a:ea typeface="+mn-ea"/>
                <a:cs typeface="+mn-cs"/>
              </a:rPr>
              <a:t>Ops Intel</a:t>
            </a:r>
            <a:r>
              <a:rPr kumimoji="0" sz="2900" b="1" i="0" u="none" strike="noStrike" kern="1200" cap="none" spc="0" normalizeH="0" baseline="0" noProof="0">
                <a:ln>
                  <a:noFill/>
                </a:ln>
                <a:solidFill>
                  <a:srgbClr val="FFFFFF"/>
                </a:solidFill>
                <a:effectLst/>
                <a:uLnTx/>
                <a:uFillTx/>
                <a:latin typeface="Georgia"/>
                <a:ea typeface="+mn-ea"/>
                <a:cs typeface="+mn-cs"/>
              </a:rPr>
              <a:t> Dashboard — SLA Compliance &amp; Risk Analysis</a:t>
            </a:r>
          </a:p>
        </p:txBody>
      </p:sp>
      <p:sp>
        <p:nvSpPr>
          <p:cNvPr id="4" name="TextBox 3"/>
          <p:cNvSpPr txBox="1"/>
          <p:nvPr/>
        </p:nvSpPr>
        <p:spPr>
          <a:xfrm>
            <a:off x="338328" y="48221"/>
            <a:ext cx="8229600" cy="276999"/>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chemeClr val="bg1"/>
                </a:solidFill>
                <a:effectLst/>
                <a:uLnTx/>
                <a:uFillTx/>
                <a:latin typeface="Trebuchet MS"/>
                <a:ea typeface="+mn-ea"/>
                <a:cs typeface="+mn-cs"/>
              </a:rPr>
              <a:t>Dashboard – SLA Breach Governance</a:t>
            </a:r>
            <a:endParaRPr lang="en-US" sz="1200" b="0" i="0" u="none" strike="noStrike" kern="1200" cap="none" spc="0" normalizeH="0" baseline="0" noProof="0">
              <a:ln>
                <a:noFill/>
              </a:ln>
              <a:solidFill>
                <a:schemeClr val="bg1"/>
              </a:solidFill>
              <a:effectLst/>
              <a:uLnTx/>
              <a:uFillTx/>
              <a:latin typeface="Trebuchet MS"/>
              <a:ea typeface="+mn-ea"/>
              <a:cs typeface="+mn-cs"/>
            </a:endParaRPr>
          </a:p>
        </p:txBody>
      </p:sp>
      <p:sp>
        <p:nvSpPr>
          <p:cNvPr id="5" name="TextBox 4"/>
          <p:cNvSpPr txBox="1"/>
          <p:nvPr/>
        </p:nvSpPr>
        <p:spPr>
          <a:xfrm>
            <a:off x="10363169" y="45720"/>
            <a:ext cx="1737360" cy="475488"/>
          </a:xfrm>
          <a:prstGeom prst="rect">
            <a:avLst/>
          </a:prstGeom>
          <a:noFill/>
        </p:spPr>
        <p:txBody>
          <a:bodyPr wrap="square" lIns="91440" tIns="45720" rIns="91440" bIns="4572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chemeClr val="bg1"/>
                </a:solidFill>
                <a:effectLst/>
                <a:uLnTx/>
                <a:uFillTx/>
                <a:latin typeface="Trebuchet MS"/>
                <a:ea typeface="+mn-ea"/>
                <a:cs typeface="+mn-cs"/>
              </a:rPr>
              <a:t>Expected Time Spent: </a:t>
            </a:r>
            <a:r>
              <a:rPr kumimoji="0" sz="900" b="0" i="0" u="none" strike="noStrike" kern="1200" cap="none" spc="0" normalizeH="0" baseline="0" noProof="0">
                <a:ln>
                  <a:noFill/>
                </a:ln>
                <a:solidFill>
                  <a:schemeClr val="bg1"/>
                </a:solidFill>
                <a:effectLst/>
                <a:uLnTx/>
                <a:uFillTx/>
                <a:latin typeface="Trebuchet MS"/>
                <a:ea typeface="+mn-ea"/>
                <a:cs typeface="+mn-cs"/>
              </a:rPr>
              <a:t>1 w</a:t>
            </a:r>
            <a:endParaRPr lang="en-US" sz="900" b="0" i="0" u="none" strike="noStrike" kern="1200" cap="none" spc="0" normalizeH="0" baseline="0" noProof="0">
              <a:ln>
                <a:noFill/>
              </a:ln>
              <a:solidFill>
                <a:schemeClr val="bg1"/>
              </a:solidFill>
              <a:effectLst/>
              <a:uLnTx/>
              <a:uFillTx/>
              <a:latin typeface="Trebuchet MS"/>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chemeClr val="bg1"/>
                </a:solidFill>
                <a:effectLst/>
                <a:uLnTx/>
                <a:uFillTx/>
                <a:latin typeface="Trebuchet MS"/>
                <a:ea typeface="+mn-ea"/>
                <a:cs typeface="+mn-cs"/>
              </a:rPr>
              <a:t>Actual Time Spent: </a:t>
            </a:r>
            <a:r>
              <a:rPr kumimoji="0" sz="900" b="0" i="0" u="none" strike="noStrike" kern="1200" cap="none" spc="0" normalizeH="0" baseline="0" noProof="0">
                <a:ln>
                  <a:noFill/>
                </a:ln>
                <a:solidFill>
                  <a:schemeClr val="bg1"/>
                </a:solidFill>
                <a:effectLst/>
                <a:uLnTx/>
                <a:uFillTx/>
                <a:latin typeface="Trebuchet MS"/>
                <a:ea typeface="+mn-ea"/>
                <a:cs typeface="+mn-cs"/>
              </a:rPr>
              <a:t>1 w</a:t>
            </a:r>
            <a:endParaRPr sz="900" b="0" i="0" u="none" strike="noStrike" kern="1200" cap="none" spc="0" normalizeH="0" baseline="0" noProof="0">
              <a:ln>
                <a:noFill/>
              </a:ln>
              <a:solidFill>
                <a:schemeClr val="bg1"/>
              </a:solidFill>
              <a:effectLst/>
              <a:uLnTx/>
              <a:uFillTx/>
              <a:latin typeface="Trebuchet MS"/>
              <a:ea typeface="+mn-ea"/>
              <a:cs typeface="+mn-cs"/>
            </a:endParaRPr>
          </a:p>
        </p:txBody>
      </p:sp>
      <p:sp>
        <p:nvSpPr>
          <p:cNvPr id="37" name="Shape 8">
            <a:extLst>
              <a:ext uri="{FF2B5EF4-FFF2-40B4-BE49-F238E27FC236}">
                <a16:creationId xmlns:a16="http://schemas.microsoft.com/office/drawing/2014/main" id="{D1575421-FA92-09B6-CFB5-686671CD3C33}"/>
              </a:ext>
            </a:extLst>
          </p:cNvPr>
          <p:cNvSpPr/>
          <p:nvPr/>
        </p:nvSpPr>
        <p:spPr>
          <a:xfrm>
            <a:off x="7802880" y="1280160"/>
            <a:ext cx="4047744" cy="5327904"/>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SG"/>
          </a:p>
        </p:txBody>
      </p:sp>
      <p:sp>
        <p:nvSpPr>
          <p:cNvPr id="38" name="Shape 9">
            <a:extLst>
              <a:ext uri="{FF2B5EF4-FFF2-40B4-BE49-F238E27FC236}">
                <a16:creationId xmlns:a16="http://schemas.microsoft.com/office/drawing/2014/main" id="{5C8A3699-4CBD-BA60-6D0C-A5A545DEEBB2}"/>
              </a:ext>
            </a:extLst>
          </p:cNvPr>
          <p:cNvSpPr/>
          <p:nvPr/>
        </p:nvSpPr>
        <p:spPr>
          <a:xfrm>
            <a:off x="7802880" y="1280160"/>
            <a:ext cx="4047744" cy="365760"/>
          </a:xfrm>
          <a:prstGeom prst="rect">
            <a:avLst/>
          </a:prstGeom>
          <a:solidFill>
            <a:srgbClr val="2563EB"/>
          </a:solidFill>
          <a:ln w="12700">
            <a:solidFill>
              <a:srgbClr val="0891B2"/>
            </a:solidFill>
            <a:prstDash val="solid"/>
          </a:ln>
        </p:spPr>
        <p:txBody>
          <a:bodyPr/>
          <a:lstStyle/>
          <a:p>
            <a:endParaRPr lang="en-SG"/>
          </a:p>
        </p:txBody>
      </p:sp>
      <p:sp>
        <p:nvSpPr>
          <p:cNvPr id="39" name="Text 10">
            <a:extLst>
              <a:ext uri="{FF2B5EF4-FFF2-40B4-BE49-F238E27FC236}">
                <a16:creationId xmlns:a16="http://schemas.microsoft.com/office/drawing/2014/main" id="{4FD4F874-AF12-36EA-DB78-8C2BA82AECD8}"/>
              </a:ext>
            </a:extLst>
          </p:cNvPr>
          <p:cNvSpPr/>
          <p:nvPr/>
        </p:nvSpPr>
        <p:spPr>
          <a:xfrm>
            <a:off x="7924800" y="1304544"/>
            <a:ext cx="3803904" cy="292608"/>
          </a:xfrm>
          <a:prstGeom prst="rect">
            <a:avLst/>
          </a:prstGeom>
          <a:noFill/>
          <a:ln/>
        </p:spPr>
        <p:txBody>
          <a:bodyPr wrap="square" lIns="0" tIns="0" rIns="0" bIns="0" rtlCol="0" anchor="ctr"/>
          <a:lstStyle/>
          <a:p>
            <a:r>
              <a:rPr lang="en-US" sz="1600" b="1" spc="133">
                <a:solidFill>
                  <a:srgbClr val="FFFFFF"/>
                </a:solidFill>
                <a:latin typeface="+mn-lt"/>
              </a:rPr>
              <a:t>SLA DASHBOARD FEATURES</a:t>
            </a:r>
            <a:endParaRPr lang="en-US" sz="1600">
              <a:latin typeface="+mn-lt"/>
            </a:endParaRPr>
          </a:p>
        </p:txBody>
      </p:sp>
      <p:sp>
        <p:nvSpPr>
          <p:cNvPr id="40" name="Text 11">
            <a:extLst>
              <a:ext uri="{FF2B5EF4-FFF2-40B4-BE49-F238E27FC236}">
                <a16:creationId xmlns:a16="http://schemas.microsoft.com/office/drawing/2014/main" id="{08D94D9A-C173-9658-A536-4772BEECAF8A}"/>
              </a:ext>
            </a:extLst>
          </p:cNvPr>
          <p:cNvSpPr/>
          <p:nvPr/>
        </p:nvSpPr>
        <p:spPr>
          <a:xfrm>
            <a:off x="7924800" y="1755648"/>
            <a:ext cx="3803904" cy="268224"/>
          </a:xfrm>
          <a:prstGeom prst="rect">
            <a:avLst/>
          </a:prstGeom>
          <a:noFill/>
          <a:ln/>
        </p:spPr>
        <p:txBody>
          <a:bodyPr wrap="square" lIns="0" tIns="0" rIns="0" bIns="0" rtlCol="0" anchor="ctr"/>
          <a:lstStyle/>
          <a:p>
            <a:r>
              <a:rPr lang="en-US" sz="1200" b="1">
                <a:solidFill>
                  <a:srgbClr val="2563EB"/>
                </a:solidFill>
              </a:rPr>
              <a:t>KPI Cards:</a:t>
            </a:r>
            <a:endParaRPr lang="en-US" sz="1200">
              <a:solidFill>
                <a:srgbClr val="2563EB"/>
              </a:solidFill>
            </a:endParaRPr>
          </a:p>
        </p:txBody>
      </p:sp>
      <p:sp>
        <p:nvSpPr>
          <p:cNvPr id="41" name="Text 12">
            <a:extLst>
              <a:ext uri="{FF2B5EF4-FFF2-40B4-BE49-F238E27FC236}">
                <a16:creationId xmlns:a16="http://schemas.microsoft.com/office/drawing/2014/main" id="{1CC9CEFD-8B0A-DCB9-D70B-AEF37BB324E2}"/>
              </a:ext>
            </a:extLst>
          </p:cNvPr>
          <p:cNvSpPr/>
          <p:nvPr/>
        </p:nvSpPr>
        <p:spPr>
          <a:xfrm>
            <a:off x="7924800" y="2023872"/>
            <a:ext cx="3803904" cy="414528"/>
          </a:xfrm>
          <a:prstGeom prst="rect">
            <a:avLst/>
          </a:prstGeom>
          <a:noFill/>
          <a:ln/>
        </p:spPr>
        <p:txBody>
          <a:bodyPr wrap="square" lIns="0" tIns="0" rIns="0" bIns="0" rtlCol="0" anchor="ctr"/>
          <a:lstStyle/>
          <a:p>
            <a:r>
              <a:rPr lang="en-US" sz="1067">
                <a:solidFill>
                  <a:srgbClr val="334155"/>
                </a:solidFill>
              </a:rPr>
              <a:t>Overall Compliance 60.4% · 20,823 medium-risk tickets · Mean breach prob ~50% · Off-hours breach lift −2.1%</a:t>
            </a:r>
            <a:endParaRPr lang="en-US" sz="1067"/>
          </a:p>
        </p:txBody>
      </p:sp>
      <p:sp>
        <p:nvSpPr>
          <p:cNvPr id="42" name="Text 13">
            <a:extLst>
              <a:ext uri="{FF2B5EF4-FFF2-40B4-BE49-F238E27FC236}">
                <a16:creationId xmlns:a16="http://schemas.microsoft.com/office/drawing/2014/main" id="{A331AD01-9EF7-6007-FD64-B00A8C22E354}"/>
              </a:ext>
            </a:extLst>
          </p:cNvPr>
          <p:cNvSpPr/>
          <p:nvPr/>
        </p:nvSpPr>
        <p:spPr>
          <a:xfrm>
            <a:off x="7924800" y="2511552"/>
            <a:ext cx="3803904" cy="268224"/>
          </a:xfrm>
          <a:prstGeom prst="rect">
            <a:avLst/>
          </a:prstGeom>
          <a:noFill/>
          <a:ln/>
        </p:spPr>
        <p:txBody>
          <a:bodyPr wrap="square" lIns="0" tIns="0" rIns="0" bIns="0" rtlCol="0" anchor="ctr"/>
          <a:lstStyle/>
          <a:p>
            <a:r>
              <a:rPr lang="en-US" sz="1200" b="1">
                <a:solidFill>
                  <a:srgbClr val="2563EB"/>
                </a:solidFill>
              </a:rPr>
              <a:t>Compliance Trend:</a:t>
            </a:r>
            <a:endParaRPr lang="en-US" sz="1200">
              <a:solidFill>
                <a:srgbClr val="2563EB"/>
              </a:solidFill>
            </a:endParaRPr>
          </a:p>
        </p:txBody>
      </p:sp>
      <p:sp>
        <p:nvSpPr>
          <p:cNvPr id="43" name="Text 14">
            <a:extLst>
              <a:ext uri="{FF2B5EF4-FFF2-40B4-BE49-F238E27FC236}">
                <a16:creationId xmlns:a16="http://schemas.microsoft.com/office/drawing/2014/main" id="{890112E4-96C4-7B04-383C-C682A76E3788}"/>
              </a:ext>
            </a:extLst>
          </p:cNvPr>
          <p:cNvSpPr/>
          <p:nvPr/>
        </p:nvSpPr>
        <p:spPr>
          <a:xfrm>
            <a:off x="7924800" y="2779776"/>
            <a:ext cx="3803904" cy="414528"/>
          </a:xfrm>
          <a:prstGeom prst="rect">
            <a:avLst/>
          </a:prstGeom>
          <a:noFill/>
          <a:ln/>
        </p:spPr>
        <p:txBody>
          <a:bodyPr wrap="square" lIns="0" tIns="0" rIns="0" bIns="0" rtlCol="0" anchor="ctr"/>
          <a:lstStyle/>
          <a:p>
            <a:r>
              <a:rPr lang="en-US" sz="1067">
                <a:solidFill>
                  <a:srgbClr val="334155"/>
                </a:solidFill>
              </a:rPr>
              <a:t>Monthly 1−mean(sla_breach_flag) Jan–Dec. Fluctuation visible around Mar/Apr high and Sep trough.</a:t>
            </a:r>
            <a:endParaRPr lang="en-US" sz="1067"/>
          </a:p>
        </p:txBody>
      </p:sp>
      <p:sp>
        <p:nvSpPr>
          <p:cNvPr id="44" name="Text 15">
            <a:extLst>
              <a:ext uri="{FF2B5EF4-FFF2-40B4-BE49-F238E27FC236}">
                <a16:creationId xmlns:a16="http://schemas.microsoft.com/office/drawing/2014/main" id="{C3291105-1DF8-2BE3-E229-E4BFB0172026}"/>
              </a:ext>
            </a:extLst>
          </p:cNvPr>
          <p:cNvSpPr/>
          <p:nvPr/>
        </p:nvSpPr>
        <p:spPr>
          <a:xfrm>
            <a:off x="7924800" y="3267456"/>
            <a:ext cx="3803904" cy="268224"/>
          </a:xfrm>
          <a:prstGeom prst="rect">
            <a:avLst/>
          </a:prstGeom>
          <a:noFill/>
          <a:ln/>
        </p:spPr>
        <p:txBody>
          <a:bodyPr wrap="square" lIns="0" tIns="0" rIns="0" bIns="0" rtlCol="0" anchor="ctr"/>
          <a:lstStyle/>
          <a:p>
            <a:r>
              <a:rPr lang="en-US" sz="1200" b="1">
                <a:solidFill>
                  <a:srgbClr val="2563EB"/>
                </a:solidFill>
              </a:rPr>
              <a:t>Risk Band Distribution:</a:t>
            </a:r>
            <a:endParaRPr lang="en-US" sz="1200">
              <a:solidFill>
                <a:srgbClr val="2563EB"/>
              </a:solidFill>
            </a:endParaRPr>
          </a:p>
        </p:txBody>
      </p:sp>
      <p:sp>
        <p:nvSpPr>
          <p:cNvPr id="45" name="Text 16">
            <a:extLst>
              <a:ext uri="{FF2B5EF4-FFF2-40B4-BE49-F238E27FC236}">
                <a16:creationId xmlns:a16="http://schemas.microsoft.com/office/drawing/2014/main" id="{0B5A333A-F58F-5493-3EE5-32B19712A0FE}"/>
              </a:ext>
            </a:extLst>
          </p:cNvPr>
          <p:cNvSpPr/>
          <p:nvPr/>
        </p:nvSpPr>
        <p:spPr>
          <a:xfrm>
            <a:off x="7924800" y="3535680"/>
            <a:ext cx="3803904" cy="414528"/>
          </a:xfrm>
          <a:prstGeom prst="rect">
            <a:avLst/>
          </a:prstGeom>
          <a:noFill/>
          <a:ln/>
        </p:spPr>
        <p:txBody>
          <a:bodyPr wrap="square" lIns="0" tIns="0" rIns="0" bIns="0" rtlCol="0" anchor="ctr"/>
          <a:lstStyle/>
          <a:p>
            <a:r>
              <a:rPr lang="en-US" sz="1067">
                <a:solidFill>
                  <a:srgbClr val="334155"/>
                </a:solidFill>
              </a:rPr>
              <a:t>High 0% · Medium 92.6% (20,823) · Low 7.4% (1,653) · From 22,476 scored tickets</a:t>
            </a:r>
            <a:endParaRPr lang="en-US" sz="1067"/>
          </a:p>
        </p:txBody>
      </p:sp>
      <p:sp>
        <p:nvSpPr>
          <p:cNvPr id="46" name="Text 17">
            <a:extLst>
              <a:ext uri="{FF2B5EF4-FFF2-40B4-BE49-F238E27FC236}">
                <a16:creationId xmlns:a16="http://schemas.microsoft.com/office/drawing/2014/main" id="{0F525B34-17DB-8AC2-8C10-0BC3E29DCD9C}"/>
              </a:ext>
            </a:extLst>
          </p:cNvPr>
          <p:cNvSpPr/>
          <p:nvPr/>
        </p:nvSpPr>
        <p:spPr>
          <a:xfrm>
            <a:off x="7924800" y="4023360"/>
            <a:ext cx="3803904" cy="268224"/>
          </a:xfrm>
          <a:prstGeom prst="rect">
            <a:avLst/>
          </a:prstGeom>
          <a:noFill/>
          <a:ln/>
        </p:spPr>
        <p:txBody>
          <a:bodyPr wrap="square" lIns="0" tIns="0" rIns="0" bIns="0" rtlCol="0" anchor="ctr"/>
          <a:lstStyle/>
          <a:p>
            <a:r>
              <a:rPr lang="en-US" sz="1200" b="1">
                <a:solidFill>
                  <a:srgbClr val="2563EB"/>
                </a:solidFill>
              </a:rPr>
              <a:t>Breach Rate by Priority:</a:t>
            </a:r>
            <a:endParaRPr lang="en-US" sz="1200">
              <a:solidFill>
                <a:srgbClr val="2563EB"/>
              </a:solidFill>
            </a:endParaRPr>
          </a:p>
        </p:txBody>
      </p:sp>
      <p:sp>
        <p:nvSpPr>
          <p:cNvPr id="47" name="Text 18">
            <a:extLst>
              <a:ext uri="{FF2B5EF4-FFF2-40B4-BE49-F238E27FC236}">
                <a16:creationId xmlns:a16="http://schemas.microsoft.com/office/drawing/2014/main" id="{645B6E96-F6C4-59DE-8FA4-2B9BB67C2113}"/>
              </a:ext>
            </a:extLst>
          </p:cNvPr>
          <p:cNvSpPr/>
          <p:nvPr/>
        </p:nvSpPr>
        <p:spPr>
          <a:xfrm>
            <a:off x="7924800" y="4291584"/>
            <a:ext cx="3803904" cy="414528"/>
          </a:xfrm>
          <a:prstGeom prst="rect">
            <a:avLst/>
          </a:prstGeom>
          <a:noFill/>
          <a:ln/>
        </p:spPr>
        <p:txBody>
          <a:bodyPr wrap="square" lIns="0" tIns="0" rIns="0" bIns="0" rtlCol="0" anchor="ctr"/>
          <a:lstStyle/>
          <a:p>
            <a:r>
              <a:rPr lang="en-US" sz="1067">
                <a:solidFill>
                  <a:srgbClr val="334155"/>
                </a:solidFill>
              </a:rPr>
              <a:t>Off-hours vs business hours comparison by P1–P4. Off-hours consistently ~flat breach (no significant lift).</a:t>
            </a:r>
            <a:endParaRPr lang="en-US" sz="1067"/>
          </a:p>
        </p:txBody>
      </p:sp>
      <p:sp>
        <p:nvSpPr>
          <p:cNvPr id="48" name="Text 19">
            <a:extLst>
              <a:ext uri="{FF2B5EF4-FFF2-40B4-BE49-F238E27FC236}">
                <a16:creationId xmlns:a16="http://schemas.microsoft.com/office/drawing/2014/main" id="{C7609862-75E2-1955-0AB3-0CCD7E7790D1}"/>
              </a:ext>
            </a:extLst>
          </p:cNvPr>
          <p:cNvSpPr/>
          <p:nvPr/>
        </p:nvSpPr>
        <p:spPr>
          <a:xfrm>
            <a:off x="7924800" y="4779264"/>
            <a:ext cx="3803904" cy="268224"/>
          </a:xfrm>
          <a:prstGeom prst="rect">
            <a:avLst/>
          </a:prstGeom>
          <a:noFill/>
          <a:ln/>
        </p:spPr>
        <p:txBody>
          <a:bodyPr wrap="square" lIns="0" tIns="0" rIns="0" bIns="0" rtlCol="0" anchor="ctr"/>
          <a:lstStyle/>
          <a:p>
            <a:r>
              <a:rPr lang="en-US" sz="1200" b="1">
                <a:solidFill>
                  <a:srgbClr val="2563EB"/>
                </a:solidFill>
              </a:rPr>
              <a:t>Top Risk Features:</a:t>
            </a:r>
            <a:endParaRPr lang="en-US" sz="1200">
              <a:solidFill>
                <a:srgbClr val="2563EB"/>
              </a:solidFill>
            </a:endParaRPr>
          </a:p>
        </p:txBody>
      </p:sp>
      <p:sp>
        <p:nvSpPr>
          <p:cNvPr id="49" name="Text 20">
            <a:extLst>
              <a:ext uri="{FF2B5EF4-FFF2-40B4-BE49-F238E27FC236}">
                <a16:creationId xmlns:a16="http://schemas.microsoft.com/office/drawing/2014/main" id="{DF483CEE-BFD9-8CC3-91A4-7FF6477010EC}"/>
              </a:ext>
            </a:extLst>
          </p:cNvPr>
          <p:cNvSpPr/>
          <p:nvPr/>
        </p:nvSpPr>
        <p:spPr>
          <a:xfrm>
            <a:off x="7924800" y="5047488"/>
            <a:ext cx="3803904" cy="414528"/>
          </a:xfrm>
          <a:prstGeom prst="rect">
            <a:avLst/>
          </a:prstGeom>
          <a:noFill/>
          <a:ln/>
        </p:spPr>
        <p:txBody>
          <a:bodyPr wrap="square" lIns="0" tIns="0" rIns="0" bIns="0" rtlCol="0" anchor="ctr"/>
          <a:lstStyle/>
          <a:p>
            <a:r>
              <a:rPr lang="en-US" sz="1067">
                <a:solidFill>
                  <a:srgbClr val="334155"/>
                </a:solidFill>
              </a:rPr>
              <a:t>response_utilization_pct 8% · first_response_time_minutes 8% · created_hour 7% · response_margin 7%</a:t>
            </a:r>
            <a:endParaRPr lang="en-US" sz="1067"/>
          </a:p>
        </p:txBody>
      </p:sp>
      <p:sp>
        <p:nvSpPr>
          <p:cNvPr id="50" name="Text 21">
            <a:extLst>
              <a:ext uri="{FF2B5EF4-FFF2-40B4-BE49-F238E27FC236}">
                <a16:creationId xmlns:a16="http://schemas.microsoft.com/office/drawing/2014/main" id="{B347307F-CE81-567E-A54F-E1885E28F30D}"/>
              </a:ext>
            </a:extLst>
          </p:cNvPr>
          <p:cNvSpPr/>
          <p:nvPr/>
        </p:nvSpPr>
        <p:spPr>
          <a:xfrm>
            <a:off x="7924800" y="5535168"/>
            <a:ext cx="3803904" cy="268224"/>
          </a:xfrm>
          <a:prstGeom prst="rect">
            <a:avLst/>
          </a:prstGeom>
          <a:noFill/>
          <a:ln/>
        </p:spPr>
        <p:txBody>
          <a:bodyPr wrap="square" lIns="0" tIns="0" rIns="0" bIns="0" rtlCol="0" anchor="ctr"/>
          <a:lstStyle/>
          <a:p>
            <a:r>
              <a:rPr lang="en-US" sz="1200" b="1">
                <a:solidFill>
                  <a:srgbClr val="2563EB"/>
                </a:solidFill>
              </a:rPr>
              <a:t>At-Risk Tickets Table:</a:t>
            </a:r>
            <a:endParaRPr lang="en-US" sz="1200">
              <a:solidFill>
                <a:srgbClr val="2563EB"/>
              </a:solidFill>
            </a:endParaRPr>
          </a:p>
        </p:txBody>
      </p:sp>
      <p:sp>
        <p:nvSpPr>
          <p:cNvPr id="51" name="Text 22">
            <a:extLst>
              <a:ext uri="{FF2B5EF4-FFF2-40B4-BE49-F238E27FC236}">
                <a16:creationId xmlns:a16="http://schemas.microsoft.com/office/drawing/2014/main" id="{64AD6A94-C51C-2BE0-95E1-9CE20FB909CD}"/>
              </a:ext>
            </a:extLst>
          </p:cNvPr>
          <p:cNvSpPr/>
          <p:nvPr/>
        </p:nvSpPr>
        <p:spPr>
          <a:xfrm>
            <a:off x="7924800" y="5803392"/>
            <a:ext cx="3803904" cy="414528"/>
          </a:xfrm>
          <a:prstGeom prst="rect">
            <a:avLst/>
          </a:prstGeom>
          <a:noFill/>
          <a:ln/>
        </p:spPr>
        <p:txBody>
          <a:bodyPr wrap="square" lIns="0" tIns="0" rIns="0" bIns="0" rtlCol="0" anchor="ctr"/>
          <a:lstStyle/>
          <a:p>
            <a:r>
              <a:rPr lang="en-US" sz="1067">
                <a:solidFill>
                  <a:srgbClr val="334155"/>
                </a:solidFill>
              </a:rPr>
              <a:t>Tickets with breach prob ≥ 50%: ticket ID, priority, breach prob bar, risk band, off-hours flag. T0003025/T0003027...</a:t>
            </a:r>
            <a:endParaRPr lang="en-US" sz="1067"/>
          </a:p>
        </p:txBody>
      </p:sp>
      <p:pic>
        <p:nvPicPr>
          <p:cNvPr id="54" name="Image 0" descr="preencoded.png">
            <a:extLst>
              <a:ext uri="{FF2B5EF4-FFF2-40B4-BE49-F238E27FC236}">
                <a16:creationId xmlns:a16="http://schemas.microsoft.com/office/drawing/2014/main" id="{8F837EE1-20E3-77FC-7EA6-648880CB2D99}"/>
              </a:ext>
            </a:extLst>
          </p:cNvPr>
          <p:cNvPicPr>
            <a:picLocks noChangeAspect="1"/>
          </p:cNvPicPr>
          <p:nvPr/>
        </p:nvPicPr>
        <p:blipFill>
          <a:blip r:embed="rId2"/>
          <a:stretch>
            <a:fillRect/>
          </a:stretch>
        </p:blipFill>
        <p:spPr>
          <a:xfrm>
            <a:off x="341376" y="1280160"/>
            <a:ext cx="7254240" cy="2950464"/>
          </a:xfrm>
          <a:prstGeom prst="rect">
            <a:avLst/>
          </a:prstGeom>
        </p:spPr>
      </p:pic>
      <p:pic>
        <p:nvPicPr>
          <p:cNvPr id="55" name="Image 1" descr="preencoded.png">
            <a:extLst>
              <a:ext uri="{FF2B5EF4-FFF2-40B4-BE49-F238E27FC236}">
                <a16:creationId xmlns:a16="http://schemas.microsoft.com/office/drawing/2014/main" id="{912643C6-065B-95C1-6201-1052023DCB9C}"/>
              </a:ext>
            </a:extLst>
          </p:cNvPr>
          <p:cNvPicPr>
            <a:picLocks noChangeAspect="1"/>
          </p:cNvPicPr>
          <p:nvPr/>
        </p:nvPicPr>
        <p:blipFill>
          <a:blip r:embed="rId3"/>
          <a:stretch>
            <a:fillRect/>
          </a:stretch>
        </p:blipFill>
        <p:spPr>
          <a:xfrm>
            <a:off x="341376" y="4291584"/>
            <a:ext cx="7254240" cy="2316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859536"/>
          </a:xfrm>
          <a:prstGeom prst="rect">
            <a:avLst/>
          </a:prstGeom>
          <a:solidFill>
            <a:srgbClr val="1E27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p:cNvSpPr txBox="1"/>
          <p:nvPr/>
        </p:nvSpPr>
        <p:spPr>
          <a:xfrm>
            <a:off x="328559" y="295343"/>
            <a:ext cx="11734769" cy="658368"/>
          </a:xfrm>
          <a:prstGeom prst="rect">
            <a:avLst/>
          </a:prstGeom>
          <a:noFill/>
        </p:spPr>
        <p:txBody>
          <a:bodyPr wrap="square" lIns="91440" tIns="45720" rIns="91440" bIns="45720" anchor="t"/>
          <a:lstStyle/>
          <a:p>
            <a:pPr algn="l" rtl="0">
              <a:defRPr/>
            </a:pPr>
            <a:r>
              <a:rPr lang="en-US" sz="2900" b="1" kern="1200">
                <a:solidFill>
                  <a:srgbClr val="FFFFFF"/>
                </a:solidFill>
                <a:latin typeface="Georgia"/>
                <a:ea typeface="+mn-ea"/>
                <a:cs typeface="+mn-cs"/>
              </a:rPr>
              <a:t>Ops Intel</a:t>
            </a:r>
            <a:r>
              <a:rPr kumimoji="0" sz="2900" b="1" i="0" u="none" strike="noStrike" kern="1200" cap="none" spc="0" normalizeH="0" baseline="0" noProof="0">
                <a:ln>
                  <a:noFill/>
                </a:ln>
                <a:solidFill>
                  <a:srgbClr val="FFFFFF"/>
                </a:solidFill>
                <a:effectLst/>
                <a:uLnTx/>
                <a:uFillTx/>
                <a:latin typeface="Georgia"/>
                <a:ea typeface="+mn-ea"/>
                <a:cs typeface="+mn-cs"/>
              </a:rPr>
              <a:t> Dashboard — Predictive Maintenance</a:t>
            </a:r>
          </a:p>
        </p:txBody>
      </p:sp>
      <p:sp>
        <p:nvSpPr>
          <p:cNvPr id="4" name="TextBox 3"/>
          <p:cNvSpPr txBox="1"/>
          <p:nvPr/>
        </p:nvSpPr>
        <p:spPr>
          <a:xfrm>
            <a:off x="340465" y="50663"/>
            <a:ext cx="8229600" cy="276999"/>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chemeClr val="bg1"/>
                </a:solidFill>
                <a:effectLst/>
                <a:uLnTx/>
                <a:uFillTx/>
                <a:latin typeface="Trebuchet MS"/>
                <a:ea typeface="+mn-ea"/>
                <a:cs typeface="+mn-cs"/>
              </a:rPr>
              <a:t>Dashboard – Asset Survival</a:t>
            </a:r>
            <a:endParaRPr lang="en-US" sz="1200" b="0" i="0" u="none" strike="noStrike" kern="1200" cap="none" spc="0" normalizeH="0" baseline="0" noProof="0">
              <a:ln>
                <a:noFill/>
              </a:ln>
              <a:solidFill>
                <a:schemeClr val="bg1"/>
              </a:solidFill>
              <a:effectLst/>
              <a:uLnTx/>
              <a:uFillTx/>
              <a:latin typeface="Trebuchet MS"/>
              <a:ea typeface="+mn-ea"/>
              <a:cs typeface="+mn-cs"/>
            </a:endParaRPr>
          </a:p>
        </p:txBody>
      </p:sp>
      <p:sp>
        <p:nvSpPr>
          <p:cNvPr id="5" name="TextBox 4"/>
          <p:cNvSpPr txBox="1"/>
          <p:nvPr/>
        </p:nvSpPr>
        <p:spPr>
          <a:xfrm>
            <a:off x="10363169" y="45720"/>
            <a:ext cx="1737360" cy="475488"/>
          </a:xfrm>
          <a:prstGeom prst="rect">
            <a:avLst/>
          </a:prstGeom>
          <a:noFill/>
        </p:spPr>
        <p:txBody>
          <a:bodyPr wrap="square" lIns="91440" tIns="45720" rIns="91440" bIns="4572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chemeClr val="bg1"/>
                </a:solidFill>
                <a:effectLst/>
                <a:uLnTx/>
                <a:uFillTx/>
                <a:latin typeface="Trebuchet MS"/>
                <a:ea typeface="+mn-ea"/>
                <a:cs typeface="+mn-cs"/>
              </a:rPr>
              <a:t>Expected Time Spent: </a:t>
            </a:r>
            <a:r>
              <a:rPr kumimoji="0" sz="900" b="0" i="0" u="none" strike="noStrike" kern="1200" cap="none" spc="0" normalizeH="0" baseline="0" noProof="0">
                <a:ln>
                  <a:noFill/>
                </a:ln>
                <a:solidFill>
                  <a:schemeClr val="bg1"/>
                </a:solidFill>
                <a:effectLst/>
                <a:uLnTx/>
                <a:uFillTx/>
                <a:latin typeface="Trebuchet MS"/>
                <a:ea typeface="+mn-ea"/>
                <a:cs typeface="+mn-cs"/>
              </a:rPr>
              <a:t>1 w</a:t>
            </a:r>
            <a:endParaRPr lang="en-US" sz="900" b="0" i="0" u="none" strike="noStrike" kern="1200" cap="none" spc="0" normalizeH="0" baseline="0" noProof="0">
              <a:ln>
                <a:noFill/>
              </a:ln>
              <a:solidFill>
                <a:schemeClr val="bg1"/>
              </a:solidFill>
              <a:effectLst/>
              <a:uLnTx/>
              <a:uFillTx/>
              <a:latin typeface="Trebuchet MS"/>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chemeClr val="bg1"/>
                </a:solidFill>
                <a:effectLst/>
                <a:uLnTx/>
                <a:uFillTx/>
                <a:latin typeface="Trebuchet MS"/>
                <a:ea typeface="+mn-ea"/>
                <a:cs typeface="+mn-cs"/>
              </a:rPr>
              <a:t>Actual Time Spent: </a:t>
            </a:r>
            <a:r>
              <a:rPr kumimoji="0" sz="900" b="0" i="0" u="none" strike="noStrike" kern="1200" cap="none" spc="0" normalizeH="0" baseline="0" noProof="0">
                <a:ln>
                  <a:noFill/>
                </a:ln>
                <a:solidFill>
                  <a:schemeClr val="bg1"/>
                </a:solidFill>
                <a:effectLst/>
                <a:uLnTx/>
                <a:uFillTx/>
                <a:latin typeface="Trebuchet MS"/>
                <a:ea typeface="+mn-ea"/>
                <a:cs typeface="+mn-cs"/>
              </a:rPr>
              <a:t>1 w</a:t>
            </a:r>
            <a:endParaRPr sz="900" b="0" i="0" u="none" strike="noStrike" kern="1200" cap="none" spc="0" normalizeH="0" baseline="0" noProof="0">
              <a:ln>
                <a:noFill/>
              </a:ln>
              <a:solidFill>
                <a:schemeClr val="bg1"/>
              </a:solidFill>
              <a:effectLst/>
              <a:uLnTx/>
              <a:uFillTx/>
              <a:latin typeface="Trebuchet MS"/>
              <a:ea typeface="+mn-ea"/>
              <a:cs typeface="+mn-cs"/>
            </a:endParaRPr>
          </a:p>
        </p:txBody>
      </p:sp>
      <p:sp>
        <p:nvSpPr>
          <p:cNvPr id="57" name="Shape 8">
            <a:extLst>
              <a:ext uri="{FF2B5EF4-FFF2-40B4-BE49-F238E27FC236}">
                <a16:creationId xmlns:a16="http://schemas.microsoft.com/office/drawing/2014/main" id="{C83394CB-760B-C872-5D39-1122D1D3C3C5}"/>
              </a:ext>
            </a:extLst>
          </p:cNvPr>
          <p:cNvSpPr/>
          <p:nvPr/>
        </p:nvSpPr>
        <p:spPr>
          <a:xfrm>
            <a:off x="7955280" y="1198880"/>
            <a:ext cx="4047744" cy="4536007"/>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SG"/>
          </a:p>
        </p:txBody>
      </p:sp>
      <p:sp>
        <p:nvSpPr>
          <p:cNvPr id="58" name="Shape 9">
            <a:extLst>
              <a:ext uri="{FF2B5EF4-FFF2-40B4-BE49-F238E27FC236}">
                <a16:creationId xmlns:a16="http://schemas.microsoft.com/office/drawing/2014/main" id="{39BC9BA1-B4E5-1C46-D185-304BA7177076}"/>
              </a:ext>
            </a:extLst>
          </p:cNvPr>
          <p:cNvSpPr/>
          <p:nvPr/>
        </p:nvSpPr>
        <p:spPr>
          <a:xfrm>
            <a:off x="7955280" y="1198880"/>
            <a:ext cx="4047744" cy="365760"/>
          </a:xfrm>
          <a:prstGeom prst="rect">
            <a:avLst/>
          </a:prstGeom>
          <a:solidFill>
            <a:srgbClr val="2563EB"/>
          </a:solidFill>
          <a:ln w="12700">
            <a:solidFill>
              <a:srgbClr val="0891B2"/>
            </a:solidFill>
            <a:prstDash val="solid"/>
          </a:ln>
        </p:spPr>
        <p:txBody>
          <a:bodyPr/>
          <a:lstStyle/>
          <a:p>
            <a:endParaRPr lang="en-SG"/>
          </a:p>
        </p:txBody>
      </p:sp>
      <p:sp>
        <p:nvSpPr>
          <p:cNvPr id="59" name="Text 10">
            <a:extLst>
              <a:ext uri="{FF2B5EF4-FFF2-40B4-BE49-F238E27FC236}">
                <a16:creationId xmlns:a16="http://schemas.microsoft.com/office/drawing/2014/main" id="{65526E92-EDC3-5523-FF74-A349C47340E4}"/>
              </a:ext>
            </a:extLst>
          </p:cNvPr>
          <p:cNvSpPr/>
          <p:nvPr/>
        </p:nvSpPr>
        <p:spPr>
          <a:xfrm>
            <a:off x="8077200" y="1223264"/>
            <a:ext cx="3803904" cy="292608"/>
          </a:xfrm>
          <a:prstGeom prst="rect">
            <a:avLst/>
          </a:prstGeom>
          <a:noFill/>
          <a:ln/>
        </p:spPr>
        <p:txBody>
          <a:bodyPr wrap="square" lIns="0" tIns="0" rIns="0" bIns="0" rtlCol="0" anchor="ctr"/>
          <a:lstStyle/>
          <a:p>
            <a:r>
              <a:rPr lang="en-US" sz="1600" b="1" spc="133">
                <a:solidFill>
                  <a:srgbClr val="FFFFFF"/>
                </a:solidFill>
                <a:latin typeface="+mn-lt"/>
              </a:rPr>
              <a:t>ASSET DASHBOARD FEATURES</a:t>
            </a:r>
            <a:endParaRPr lang="en-US" sz="1600">
              <a:latin typeface="+mn-lt"/>
            </a:endParaRPr>
          </a:p>
        </p:txBody>
      </p:sp>
      <p:sp>
        <p:nvSpPr>
          <p:cNvPr id="60" name="Text 11">
            <a:extLst>
              <a:ext uri="{FF2B5EF4-FFF2-40B4-BE49-F238E27FC236}">
                <a16:creationId xmlns:a16="http://schemas.microsoft.com/office/drawing/2014/main" id="{D2032A26-3BF8-0989-739B-95075F4048C5}"/>
              </a:ext>
            </a:extLst>
          </p:cNvPr>
          <p:cNvSpPr/>
          <p:nvPr/>
        </p:nvSpPr>
        <p:spPr>
          <a:xfrm>
            <a:off x="8077200" y="1674368"/>
            <a:ext cx="3803904" cy="268224"/>
          </a:xfrm>
          <a:prstGeom prst="rect">
            <a:avLst/>
          </a:prstGeom>
          <a:noFill/>
          <a:ln/>
        </p:spPr>
        <p:txBody>
          <a:bodyPr wrap="square" lIns="0" tIns="0" rIns="0" bIns="0" rtlCol="0" anchor="ctr"/>
          <a:lstStyle/>
          <a:p>
            <a:r>
              <a:rPr lang="en-US" sz="1200" b="1">
                <a:solidFill>
                  <a:srgbClr val="2563EB"/>
                </a:solidFill>
              </a:rPr>
              <a:t>Fleet KPIs:</a:t>
            </a:r>
            <a:endParaRPr lang="en-US" sz="1200">
              <a:solidFill>
                <a:srgbClr val="2563EB"/>
              </a:solidFill>
            </a:endParaRPr>
          </a:p>
        </p:txBody>
      </p:sp>
      <p:sp>
        <p:nvSpPr>
          <p:cNvPr id="61" name="Text 12">
            <a:extLst>
              <a:ext uri="{FF2B5EF4-FFF2-40B4-BE49-F238E27FC236}">
                <a16:creationId xmlns:a16="http://schemas.microsoft.com/office/drawing/2014/main" id="{04C44F25-C27C-358B-64D9-3372F1B34809}"/>
              </a:ext>
            </a:extLst>
          </p:cNvPr>
          <p:cNvSpPr/>
          <p:nvPr/>
        </p:nvSpPr>
        <p:spPr>
          <a:xfrm>
            <a:off x="8077200" y="1942592"/>
            <a:ext cx="3803904" cy="414528"/>
          </a:xfrm>
          <a:prstGeom prst="rect">
            <a:avLst/>
          </a:prstGeom>
          <a:noFill/>
          <a:ln/>
        </p:spPr>
        <p:txBody>
          <a:bodyPr wrap="square" lIns="0" tIns="0" rIns="0" bIns="0" rtlCol="0" anchor="ctr"/>
          <a:lstStyle/>
          <a:p>
            <a:r>
              <a:rPr lang="en-US" sz="1100">
                <a:solidFill>
                  <a:srgbClr val="334155"/>
                </a:solidFill>
              </a:rPr>
              <a:t>CPU 65% (Optimal) · Memory 58% (Above normal) · Temperature 62° (Optimal) · 2 Critical alerts (High Risk)</a:t>
            </a:r>
            <a:endParaRPr lang="en-US" sz="1067"/>
          </a:p>
        </p:txBody>
      </p:sp>
      <p:sp>
        <p:nvSpPr>
          <p:cNvPr id="62" name="Text 13">
            <a:extLst>
              <a:ext uri="{FF2B5EF4-FFF2-40B4-BE49-F238E27FC236}">
                <a16:creationId xmlns:a16="http://schemas.microsoft.com/office/drawing/2014/main" id="{C3AB01F4-9539-A841-435B-99A358C287AD}"/>
              </a:ext>
            </a:extLst>
          </p:cNvPr>
          <p:cNvSpPr/>
          <p:nvPr/>
        </p:nvSpPr>
        <p:spPr>
          <a:xfrm>
            <a:off x="8077200" y="2430272"/>
            <a:ext cx="3803904" cy="268224"/>
          </a:xfrm>
          <a:prstGeom prst="rect">
            <a:avLst/>
          </a:prstGeom>
          <a:noFill/>
          <a:ln/>
        </p:spPr>
        <p:txBody>
          <a:bodyPr wrap="square" lIns="0" tIns="0" rIns="0" bIns="0" rtlCol="0" anchor="ctr"/>
          <a:lstStyle/>
          <a:p>
            <a:r>
              <a:rPr lang="en-US" sz="1200" b="1">
                <a:solidFill>
                  <a:srgbClr val="2563EB"/>
                </a:solidFill>
              </a:rPr>
              <a:t>Telemetry Charts:</a:t>
            </a:r>
            <a:endParaRPr lang="en-US" sz="1200">
              <a:solidFill>
                <a:srgbClr val="2563EB"/>
              </a:solidFill>
            </a:endParaRPr>
          </a:p>
        </p:txBody>
      </p:sp>
      <p:sp>
        <p:nvSpPr>
          <p:cNvPr id="63" name="Text 14">
            <a:extLst>
              <a:ext uri="{FF2B5EF4-FFF2-40B4-BE49-F238E27FC236}">
                <a16:creationId xmlns:a16="http://schemas.microsoft.com/office/drawing/2014/main" id="{E900718A-407D-FD1D-B215-EBE662926A41}"/>
              </a:ext>
            </a:extLst>
          </p:cNvPr>
          <p:cNvSpPr/>
          <p:nvPr/>
        </p:nvSpPr>
        <p:spPr>
          <a:xfrm>
            <a:off x="8077200" y="2698496"/>
            <a:ext cx="3803904" cy="414528"/>
          </a:xfrm>
          <a:prstGeom prst="rect">
            <a:avLst/>
          </a:prstGeom>
          <a:noFill/>
          <a:ln/>
        </p:spPr>
        <p:txBody>
          <a:bodyPr wrap="square" lIns="0" tIns="0" rIns="0" bIns="0" rtlCol="0" anchor="ctr"/>
          <a:lstStyle/>
          <a:p>
            <a:r>
              <a:rPr lang="en-US" sz="1100">
                <a:solidFill>
                  <a:srgbClr val="334155"/>
                </a:solidFill>
              </a:rPr>
              <a:t>CPU Load Trends, RAM Consumption, Thermal Telemetry — all 24-hour time series</a:t>
            </a:r>
            <a:endParaRPr lang="en-US" sz="1067"/>
          </a:p>
        </p:txBody>
      </p:sp>
      <p:sp>
        <p:nvSpPr>
          <p:cNvPr id="64" name="Text 15">
            <a:extLst>
              <a:ext uri="{FF2B5EF4-FFF2-40B4-BE49-F238E27FC236}">
                <a16:creationId xmlns:a16="http://schemas.microsoft.com/office/drawing/2014/main" id="{733CEE20-19DF-143A-9CE6-2EBCE5BB2D57}"/>
              </a:ext>
            </a:extLst>
          </p:cNvPr>
          <p:cNvSpPr/>
          <p:nvPr/>
        </p:nvSpPr>
        <p:spPr>
          <a:xfrm>
            <a:off x="8077200" y="3186176"/>
            <a:ext cx="3803904" cy="268224"/>
          </a:xfrm>
          <a:prstGeom prst="rect">
            <a:avLst/>
          </a:prstGeom>
          <a:noFill/>
          <a:ln/>
        </p:spPr>
        <p:txBody>
          <a:bodyPr wrap="square" lIns="0" tIns="0" rIns="0" bIns="0" rtlCol="0" anchor="ctr"/>
          <a:lstStyle/>
          <a:p>
            <a:r>
              <a:rPr lang="en-US" sz="1200" b="1">
                <a:solidFill>
                  <a:srgbClr val="2563EB"/>
                </a:solidFill>
              </a:rPr>
              <a:t>Asset Health Table:</a:t>
            </a:r>
            <a:endParaRPr lang="en-US" sz="1200">
              <a:solidFill>
                <a:srgbClr val="2563EB"/>
              </a:solidFill>
            </a:endParaRPr>
          </a:p>
        </p:txBody>
      </p:sp>
      <p:sp>
        <p:nvSpPr>
          <p:cNvPr id="65" name="Text 16">
            <a:extLst>
              <a:ext uri="{FF2B5EF4-FFF2-40B4-BE49-F238E27FC236}">
                <a16:creationId xmlns:a16="http://schemas.microsoft.com/office/drawing/2014/main" id="{6E1C327A-192B-56C5-372F-36D5AF81C048}"/>
              </a:ext>
            </a:extLst>
          </p:cNvPr>
          <p:cNvSpPr/>
          <p:nvPr/>
        </p:nvSpPr>
        <p:spPr>
          <a:xfrm>
            <a:off x="8077200" y="3454400"/>
            <a:ext cx="3803904" cy="414528"/>
          </a:xfrm>
          <a:prstGeom prst="rect">
            <a:avLst/>
          </a:prstGeom>
          <a:noFill/>
          <a:ln/>
        </p:spPr>
        <p:txBody>
          <a:bodyPr wrap="square" lIns="0" tIns="0" rIns="0" bIns="0" rtlCol="0" anchor="ctr"/>
          <a:lstStyle/>
          <a:p>
            <a:r>
              <a:rPr lang="en-US" sz="1100">
                <a:solidFill>
                  <a:srgbClr val="334155"/>
                </a:solidFill>
              </a:rPr>
              <a:t>AID_055 risk 71% (M003, 342d, lead 13d) · AID_006 risk 71% (M002, 467d, lead 9d) — sorted by risk</a:t>
            </a:r>
            <a:endParaRPr lang="en-US" sz="1100"/>
          </a:p>
        </p:txBody>
      </p:sp>
      <p:sp>
        <p:nvSpPr>
          <p:cNvPr id="66" name="Text 17">
            <a:extLst>
              <a:ext uri="{FF2B5EF4-FFF2-40B4-BE49-F238E27FC236}">
                <a16:creationId xmlns:a16="http://schemas.microsoft.com/office/drawing/2014/main" id="{9F4DE211-0948-B3FA-B386-C0B6AC3C74EE}"/>
              </a:ext>
            </a:extLst>
          </p:cNvPr>
          <p:cNvSpPr/>
          <p:nvPr/>
        </p:nvSpPr>
        <p:spPr>
          <a:xfrm>
            <a:off x="8077200" y="3942080"/>
            <a:ext cx="3803904" cy="268224"/>
          </a:xfrm>
          <a:prstGeom prst="rect">
            <a:avLst/>
          </a:prstGeom>
          <a:noFill/>
          <a:ln/>
        </p:spPr>
        <p:txBody>
          <a:bodyPr wrap="square" lIns="0" tIns="0" rIns="0" bIns="0" rtlCol="0" anchor="ctr"/>
          <a:lstStyle/>
          <a:p>
            <a:r>
              <a:rPr lang="en-US" sz="1200" b="1">
                <a:solidFill>
                  <a:srgbClr val="2563EB"/>
                </a:solidFill>
              </a:rPr>
              <a:t>System Alerts:</a:t>
            </a:r>
            <a:endParaRPr lang="en-US" sz="1200">
              <a:solidFill>
                <a:srgbClr val="2563EB"/>
              </a:solidFill>
            </a:endParaRPr>
          </a:p>
        </p:txBody>
      </p:sp>
      <p:sp>
        <p:nvSpPr>
          <p:cNvPr id="67" name="Text 18">
            <a:extLst>
              <a:ext uri="{FF2B5EF4-FFF2-40B4-BE49-F238E27FC236}">
                <a16:creationId xmlns:a16="http://schemas.microsoft.com/office/drawing/2014/main" id="{048A9F5F-6164-4F1C-C52B-CFCFECA89136}"/>
              </a:ext>
            </a:extLst>
          </p:cNvPr>
          <p:cNvSpPr/>
          <p:nvPr/>
        </p:nvSpPr>
        <p:spPr>
          <a:xfrm>
            <a:off x="8077200" y="4250944"/>
            <a:ext cx="3925824" cy="542546"/>
          </a:xfrm>
          <a:prstGeom prst="rect">
            <a:avLst/>
          </a:prstGeom>
          <a:noFill/>
          <a:ln/>
        </p:spPr>
        <p:txBody>
          <a:bodyPr wrap="square" lIns="0" tIns="0" rIns="0" bIns="0" rtlCol="0" anchor="ctr"/>
          <a:lstStyle/>
          <a:p>
            <a:r>
              <a:rPr lang="en-US" sz="1100">
                <a:solidFill>
                  <a:srgbClr val="334155"/>
                </a:solidFill>
              </a:rPr>
              <a:t>FAILURE RISK (AID_055: PSU degradation, 72h) · THERMAL ANOMALY (AID_041: +12% threshold) · STORAGE WEAR (AID_099)</a:t>
            </a:r>
            <a:endParaRPr lang="en-US" sz="1100"/>
          </a:p>
        </p:txBody>
      </p:sp>
      <p:sp>
        <p:nvSpPr>
          <p:cNvPr id="68" name="Text 19">
            <a:extLst>
              <a:ext uri="{FF2B5EF4-FFF2-40B4-BE49-F238E27FC236}">
                <a16:creationId xmlns:a16="http://schemas.microsoft.com/office/drawing/2014/main" id="{278EC030-5DB5-1B19-35F9-0048BF8C09E9}"/>
              </a:ext>
            </a:extLst>
          </p:cNvPr>
          <p:cNvSpPr/>
          <p:nvPr/>
        </p:nvSpPr>
        <p:spPr>
          <a:xfrm>
            <a:off x="8077200" y="4880864"/>
            <a:ext cx="3803904" cy="268224"/>
          </a:xfrm>
          <a:prstGeom prst="rect">
            <a:avLst/>
          </a:prstGeom>
          <a:noFill/>
          <a:ln/>
        </p:spPr>
        <p:txBody>
          <a:bodyPr wrap="square" lIns="0" tIns="0" rIns="0" bIns="0" rtlCol="0" anchor="ctr"/>
          <a:lstStyle/>
          <a:p>
            <a:r>
              <a:rPr lang="en-US" sz="1200" b="1">
                <a:solidFill>
                  <a:srgbClr val="2563EB"/>
                </a:solidFill>
              </a:rPr>
              <a:t>AI Maintenance Scheduler</a:t>
            </a:r>
            <a:endParaRPr lang="en-US" sz="1200">
              <a:solidFill>
                <a:srgbClr val="2563EB"/>
              </a:solidFill>
            </a:endParaRPr>
          </a:p>
        </p:txBody>
      </p:sp>
      <p:sp>
        <p:nvSpPr>
          <p:cNvPr id="69" name="Text 20">
            <a:extLst>
              <a:ext uri="{FF2B5EF4-FFF2-40B4-BE49-F238E27FC236}">
                <a16:creationId xmlns:a16="http://schemas.microsoft.com/office/drawing/2014/main" id="{2325A592-C26F-7366-D879-A7828FD65884}"/>
              </a:ext>
            </a:extLst>
          </p:cNvPr>
          <p:cNvSpPr/>
          <p:nvPr/>
        </p:nvSpPr>
        <p:spPr>
          <a:xfrm>
            <a:off x="8077200" y="5149088"/>
            <a:ext cx="3803904" cy="414528"/>
          </a:xfrm>
          <a:prstGeom prst="rect">
            <a:avLst/>
          </a:prstGeom>
          <a:noFill/>
          <a:ln/>
        </p:spPr>
        <p:txBody>
          <a:bodyPr wrap="square" lIns="0" tIns="0" rIns="0" bIns="0" rtlCol="0" anchor="ctr"/>
          <a:lstStyle/>
          <a:p>
            <a:r>
              <a:rPr lang="en-US" sz="1100">
                <a:solidFill>
                  <a:srgbClr val="334155"/>
                </a:solidFill>
              </a:rPr>
              <a:t>'Cluster A Reboot — AID_055' · Risk 71% · 342d left · Auto-Schedule button with 2-layer approval workflow</a:t>
            </a:r>
            <a:endParaRPr lang="en-US" sz="1067"/>
          </a:p>
        </p:txBody>
      </p:sp>
      <p:pic>
        <p:nvPicPr>
          <p:cNvPr id="73" name="Picture 72">
            <a:extLst>
              <a:ext uri="{FF2B5EF4-FFF2-40B4-BE49-F238E27FC236}">
                <a16:creationId xmlns:a16="http://schemas.microsoft.com/office/drawing/2014/main" id="{15D5F009-2697-C43C-D4E8-B8632448B2FD}"/>
              </a:ext>
            </a:extLst>
          </p:cNvPr>
          <p:cNvPicPr>
            <a:picLocks noChangeAspect="1"/>
          </p:cNvPicPr>
          <p:nvPr/>
        </p:nvPicPr>
        <p:blipFill>
          <a:blip r:embed="rId2"/>
          <a:stretch>
            <a:fillRect/>
          </a:stretch>
        </p:blipFill>
        <p:spPr>
          <a:xfrm>
            <a:off x="20319" y="1416295"/>
            <a:ext cx="7874001" cy="380798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5"/>
          <p:cNvSpPr/>
          <p:nvPr/>
        </p:nvSpPr>
        <p:spPr>
          <a:xfrm>
            <a:off x="365760" y="1158240"/>
            <a:ext cx="11460480" cy="24384"/>
          </a:xfrm>
          <a:prstGeom prst="rect">
            <a:avLst/>
          </a:prstGeom>
          <a:solidFill>
            <a:srgbClr val="E2E8F0"/>
          </a:solidFill>
          <a:ln w="12700">
            <a:solidFill>
              <a:srgbClr val="E2E8F0"/>
            </a:solidFill>
            <a:prstDash val="solid"/>
          </a:ln>
        </p:spPr>
        <p:txBody>
          <a:bodyPr/>
          <a:lstStyle/>
          <a:p>
            <a:endParaRPr lang="en-SG"/>
          </a:p>
        </p:txBody>
      </p:sp>
      <p:sp>
        <p:nvSpPr>
          <p:cNvPr id="8" name="Shape 6"/>
          <p:cNvSpPr/>
          <p:nvPr/>
        </p:nvSpPr>
        <p:spPr>
          <a:xfrm>
            <a:off x="0" y="6620256"/>
            <a:ext cx="12192000" cy="237744"/>
          </a:xfrm>
          <a:prstGeom prst="rect">
            <a:avLst/>
          </a:prstGeom>
          <a:solidFill>
            <a:srgbClr val="F1F5F9"/>
          </a:solidFill>
          <a:ln w="12700">
            <a:solidFill>
              <a:srgbClr val="E2E8F0"/>
            </a:solidFill>
            <a:prstDash val="solid"/>
          </a:ln>
        </p:spPr>
        <p:txBody>
          <a:bodyPr/>
          <a:lstStyle/>
          <a:p>
            <a:endParaRPr lang="en-SG"/>
          </a:p>
        </p:txBody>
      </p:sp>
      <p:sp>
        <p:nvSpPr>
          <p:cNvPr id="9" name="Text 7"/>
          <p:cNvSpPr/>
          <p:nvPr/>
        </p:nvSpPr>
        <p:spPr>
          <a:xfrm>
            <a:off x="365760" y="6644640"/>
            <a:ext cx="7315200" cy="207264"/>
          </a:xfrm>
          <a:prstGeom prst="rect">
            <a:avLst/>
          </a:prstGeom>
          <a:noFill/>
          <a:ln/>
        </p:spPr>
        <p:txBody>
          <a:bodyPr wrap="square" lIns="0" tIns="0" rIns="0" bIns="0" rtlCol="0" anchor="ctr"/>
          <a:lstStyle/>
          <a:p>
            <a:r>
              <a:rPr lang="en-US" sz="1000">
                <a:solidFill>
                  <a:srgbClr val="94A3B8"/>
                </a:solidFill>
              </a:rPr>
              <a:t>OpsIntel · ISB AMPBA 2025W · Innodatatics</a:t>
            </a:r>
            <a:endParaRPr lang="en-US" sz="1000"/>
          </a:p>
        </p:txBody>
      </p:sp>
      <p:pic>
        <p:nvPicPr>
          <p:cNvPr id="10" name="Image 0" descr="preencoded.png"/>
          <p:cNvPicPr>
            <a:picLocks noChangeAspect="1"/>
          </p:cNvPicPr>
          <p:nvPr/>
        </p:nvPicPr>
        <p:blipFill>
          <a:blip r:embed="rId3"/>
          <a:stretch>
            <a:fillRect/>
          </a:stretch>
        </p:blipFill>
        <p:spPr>
          <a:xfrm>
            <a:off x="341376" y="1280160"/>
            <a:ext cx="7254240" cy="2950464"/>
          </a:xfrm>
          <a:prstGeom prst="rect">
            <a:avLst/>
          </a:prstGeom>
        </p:spPr>
      </p:pic>
      <p:pic>
        <p:nvPicPr>
          <p:cNvPr id="11" name="Image 1" descr="preencoded.png"/>
          <p:cNvPicPr>
            <a:picLocks noChangeAspect="1"/>
          </p:cNvPicPr>
          <p:nvPr/>
        </p:nvPicPr>
        <p:blipFill>
          <a:blip r:embed="rId4"/>
          <a:stretch>
            <a:fillRect/>
          </a:stretch>
        </p:blipFill>
        <p:spPr>
          <a:xfrm>
            <a:off x="341376" y="4291584"/>
            <a:ext cx="7254240" cy="2316480"/>
          </a:xfrm>
          <a:prstGeom prst="rect">
            <a:avLst/>
          </a:prstGeom>
        </p:spPr>
      </p:pic>
      <p:sp>
        <p:nvSpPr>
          <p:cNvPr id="12" name="Shape 8"/>
          <p:cNvSpPr/>
          <p:nvPr/>
        </p:nvSpPr>
        <p:spPr>
          <a:xfrm>
            <a:off x="7802880" y="1280160"/>
            <a:ext cx="4047744" cy="5327904"/>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SG"/>
          </a:p>
        </p:txBody>
      </p:sp>
      <p:sp>
        <p:nvSpPr>
          <p:cNvPr id="13" name="Shape 9"/>
          <p:cNvSpPr/>
          <p:nvPr/>
        </p:nvSpPr>
        <p:spPr>
          <a:xfrm>
            <a:off x="7802880" y="1280160"/>
            <a:ext cx="4047744" cy="365760"/>
          </a:xfrm>
          <a:prstGeom prst="rect">
            <a:avLst/>
          </a:prstGeom>
          <a:solidFill>
            <a:srgbClr val="2563EB"/>
          </a:solidFill>
          <a:ln w="12700">
            <a:solidFill>
              <a:srgbClr val="2563EB"/>
            </a:solidFill>
            <a:prstDash val="solid"/>
          </a:ln>
        </p:spPr>
        <p:txBody>
          <a:bodyPr/>
          <a:lstStyle/>
          <a:p>
            <a:endParaRPr lang="en-SG">
              <a:solidFill>
                <a:srgbClr val="2563EB"/>
              </a:solidFill>
            </a:endParaRPr>
          </a:p>
        </p:txBody>
      </p:sp>
      <p:sp>
        <p:nvSpPr>
          <p:cNvPr id="14" name="Text 10"/>
          <p:cNvSpPr/>
          <p:nvPr/>
        </p:nvSpPr>
        <p:spPr>
          <a:xfrm>
            <a:off x="7924800" y="1304544"/>
            <a:ext cx="3803904" cy="292608"/>
          </a:xfrm>
          <a:prstGeom prst="rect">
            <a:avLst/>
          </a:prstGeom>
          <a:noFill/>
          <a:ln/>
        </p:spPr>
        <p:txBody>
          <a:bodyPr wrap="square" lIns="0" tIns="0" rIns="0" bIns="0" rtlCol="0" anchor="ctr"/>
          <a:lstStyle/>
          <a:p>
            <a:r>
              <a:rPr lang="en-US" sz="1200" b="1" spc="133">
                <a:solidFill>
                  <a:srgbClr val="FFFFFF"/>
                </a:solidFill>
              </a:rPr>
              <a:t>INVENTORY FEATURES</a:t>
            </a:r>
            <a:endParaRPr lang="en-US" sz="1200"/>
          </a:p>
        </p:txBody>
      </p:sp>
      <p:sp>
        <p:nvSpPr>
          <p:cNvPr id="15" name="Text 11"/>
          <p:cNvSpPr/>
          <p:nvPr/>
        </p:nvSpPr>
        <p:spPr>
          <a:xfrm>
            <a:off x="7924800" y="1755648"/>
            <a:ext cx="3803904" cy="268224"/>
          </a:xfrm>
          <a:prstGeom prst="rect">
            <a:avLst/>
          </a:prstGeom>
          <a:noFill/>
          <a:ln/>
        </p:spPr>
        <p:txBody>
          <a:bodyPr wrap="square" lIns="0" tIns="0" rIns="0" bIns="0" rtlCol="0" anchor="ctr"/>
          <a:lstStyle/>
          <a:p>
            <a:r>
              <a:rPr lang="en-US" sz="1200" b="1">
                <a:solidFill>
                  <a:srgbClr val="2563EB"/>
                </a:solidFill>
              </a:rPr>
              <a:t>KPI Cards:</a:t>
            </a:r>
            <a:endParaRPr lang="en-US" sz="1200">
              <a:solidFill>
                <a:srgbClr val="2563EB"/>
              </a:solidFill>
            </a:endParaRPr>
          </a:p>
        </p:txBody>
      </p:sp>
      <p:sp>
        <p:nvSpPr>
          <p:cNvPr id="16" name="Text 12"/>
          <p:cNvSpPr/>
          <p:nvPr/>
        </p:nvSpPr>
        <p:spPr>
          <a:xfrm>
            <a:off x="7924800" y="2023872"/>
            <a:ext cx="3803904" cy="414528"/>
          </a:xfrm>
          <a:prstGeom prst="rect">
            <a:avLst/>
          </a:prstGeom>
          <a:noFill/>
          <a:ln/>
        </p:spPr>
        <p:txBody>
          <a:bodyPr wrap="square" lIns="0" tIns="0" rIns="0" bIns="0" rtlCol="0" anchor="ctr"/>
          <a:lstStyle/>
          <a:p>
            <a:r>
              <a:rPr lang="en-US" sz="1067">
                <a:solidFill>
                  <a:srgbClr val="334155"/>
                </a:solidFill>
              </a:rPr>
              <a:t>136 Total IT Assets · 100% Stock Health · $350.82K Procurement MTD · 56 Critical Lows</a:t>
            </a:r>
            <a:endParaRPr lang="en-US" sz="1067"/>
          </a:p>
        </p:txBody>
      </p:sp>
      <p:sp>
        <p:nvSpPr>
          <p:cNvPr id="17" name="Text 13"/>
          <p:cNvSpPr/>
          <p:nvPr/>
        </p:nvSpPr>
        <p:spPr>
          <a:xfrm>
            <a:off x="7924800" y="2511552"/>
            <a:ext cx="3803904" cy="268224"/>
          </a:xfrm>
          <a:prstGeom prst="rect">
            <a:avLst/>
          </a:prstGeom>
          <a:noFill/>
          <a:ln/>
        </p:spPr>
        <p:txBody>
          <a:bodyPr wrap="square" lIns="0" tIns="0" rIns="0" bIns="0" rtlCol="0" anchor="ctr"/>
          <a:lstStyle/>
          <a:p>
            <a:r>
              <a:rPr lang="en-US" sz="1200" b="1">
                <a:solidFill>
                  <a:srgbClr val="2563EB"/>
                </a:solidFill>
              </a:rPr>
              <a:t>Category Stock Levels:</a:t>
            </a:r>
            <a:endParaRPr lang="en-US" sz="1200">
              <a:solidFill>
                <a:srgbClr val="2563EB"/>
              </a:solidFill>
            </a:endParaRPr>
          </a:p>
        </p:txBody>
      </p:sp>
      <p:sp>
        <p:nvSpPr>
          <p:cNvPr id="18" name="Text 14"/>
          <p:cNvSpPr/>
          <p:nvPr/>
        </p:nvSpPr>
        <p:spPr>
          <a:xfrm>
            <a:off x="7924800" y="2779776"/>
            <a:ext cx="3803904" cy="414528"/>
          </a:xfrm>
          <a:prstGeom prst="rect">
            <a:avLst/>
          </a:prstGeom>
          <a:noFill/>
          <a:ln/>
        </p:spPr>
        <p:txBody>
          <a:bodyPr wrap="square" lIns="0" tIns="0" rIns="0" bIns="0" rtlCol="0" anchor="ctr"/>
          <a:lstStyle/>
          <a:p>
            <a:r>
              <a:rPr lang="en-US" sz="1067">
                <a:solidFill>
                  <a:srgbClr val="334155"/>
                </a:solidFill>
              </a:rPr>
              <a:t>Bar chart: Current Stock vs Reorder Threshold by category (Servers, Routers, Switches, Firewalls)</a:t>
            </a:r>
            <a:endParaRPr lang="en-US" sz="1067"/>
          </a:p>
        </p:txBody>
      </p:sp>
      <p:sp>
        <p:nvSpPr>
          <p:cNvPr id="19" name="Text 15"/>
          <p:cNvSpPr/>
          <p:nvPr/>
        </p:nvSpPr>
        <p:spPr>
          <a:xfrm>
            <a:off x="7924800" y="3267456"/>
            <a:ext cx="3803904" cy="268224"/>
          </a:xfrm>
          <a:prstGeom prst="rect">
            <a:avLst/>
          </a:prstGeom>
          <a:noFill/>
          <a:ln/>
        </p:spPr>
        <p:txBody>
          <a:bodyPr wrap="square" lIns="0" tIns="0" rIns="0" bIns="0" rtlCol="0" anchor="ctr"/>
          <a:lstStyle/>
          <a:p>
            <a:r>
              <a:rPr lang="en-US" sz="1200" b="1">
                <a:solidFill>
                  <a:srgbClr val="2563EB"/>
                </a:solidFill>
              </a:rPr>
              <a:t>AI Reorder Insights:</a:t>
            </a:r>
            <a:endParaRPr lang="en-US" sz="1200">
              <a:solidFill>
                <a:srgbClr val="2563EB"/>
              </a:solidFill>
            </a:endParaRPr>
          </a:p>
        </p:txBody>
      </p:sp>
      <p:sp>
        <p:nvSpPr>
          <p:cNvPr id="20" name="Text 16"/>
          <p:cNvSpPr/>
          <p:nvPr/>
        </p:nvSpPr>
        <p:spPr>
          <a:xfrm>
            <a:off x="7924800" y="3535680"/>
            <a:ext cx="3803904" cy="414528"/>
          </a:xfrm>
          <a:prstGeom prst="rect">
            <a:avLst/>
          </a:prstGeom>
          <a:noFill/>
          <a:ln/>
        </p:spPr>
        <p:txBody>
          <a:bodyPr wrap="square" lIns="0" tIns="0" rIns="0" bIns="0" rtlCol="0" anchor="ctr"/>
          <a:lstStyle/>
          <a:p>
            <a:r>
              <a:rPr lang="en-US" sz="1067">
                <a:solidFill>
                  <a:srgbClr val="334155"/>
                </a:solidFill>
              </a:rPr>
              <a:t>M002: 1/2 stock, 10d lead → Reorder +3. M003: 1/2 stock, 6d lead → Reorder +2. Source: survival model failure prediction</a:t>
            </a:r>
            <a:endParaRPr lang="en-US" sz="1067"/>
          </a:p>
        </p:txBody>
      </p:sp>
      <p:sp>
        <p:nvSpPr>
          <p:cNvPr id="21" name="Text 17"/>
          <p:cNvSpPr/>
          <p:nvPr/>
        </p:nvSpPr>
        <p:spPr>
          <a:xfrm>
            <a:off x="7924800" y="4023360"/>
            <a:ext cx="3803904" cy="268224"/>
          </a:xfrm>
          <a:prstGeom prst="rect">
            <a:avLst/>
          </a:prstGeom>
          <a:noFill/>
          <a:ln/>
        </p:spPr>
        <p:txBody>
          <a:bodyPr wrap="square" lIns="0" tIns="0" rIns="0" bIns="0" rtlCol="0" anchor="ctr"/>
          <a:lstStyle/>
          <a:p>
            <a:r>
              <a:rPr lang="en-US" sz="1200" b="1">
                <a:solidFill>
                  <a:srgbClr val="2563EB"/>
                </a:solidFill>
              </a:rPr>
              <a:t>Inventory Management Table:</a:t>
            </a:r>
            <a:endParaRPr lang="en-US" sz="1200">
              <a:solidFill>
                <a:srgbClr val="2563EB"/>
              </a:solidFill>
            </a:endParaRPr>
          </a:p>
        </p:txBody>
      </p:sp>
      <p:sp>
        <p:nvSpPr>
          <p:cNvPr id="22" name="Text 18"/>
          <p:cNvSpPr/>
          <p:nvPr/>
        </p:nvSpPr>
        <p:spPr>
          <a:xfrm>
            <a:off x="7924800" y="4291584"/>
            <a:ext cx="3803904" cy="414528"/>
          </a:xfrm>
          <a:prstGeom prst="rect">
            <a:avLst/>
          </a:prstGeom>
          <a:noFill/>
          <a:ln/>
        </p:spPr>
        <p:txBody>
          <a:bodyPr wrap="square" lIns="0" tIns="0" rIns="0" bIns="0" rtlCol="0" anchor="ctr"/>
          <a:lstStyle/>
          <a:p>
            <a:r>
              <a:rPr lang="en-US" sz="1067">
                <a:solidFill>
                  <a:srgbClr val="334155"/>
                </a:solidFill>
              </a:rPr>
              <a:t>Item, Category, Current Level (Low/Healthy badge), Usage Rate, Lead Time, AI Recommendation, Approve button</a:t>
            </a:r>
            <a:endParaRPr lang="en-US" sz="1067"/>
          </a:p>
        </p:txBody>
      </p:sp>
      <p:sp>
        <p:nvSpPr>
          <p:cNvPr id="23" name="Text 19"/>
          <p:cNvSpPr/>
          <p:nvPr/>
        </p:nvSpPr>
        <p:spPr>
          <a:xfrm>
            <a:off x="7924800" y="4779264"/>
            <a:ext cx="3803904" cy="268224"/>
          </a:xfrm>
          <a:prstGeom prst="rect">
            <a:avLst/>
          </a:prstGeom>
          <a:noFill/>
          <a:ln/>
        </p:spPr>
        <p:txBody>
          <a:bodyPr wrap="square" lIns="0" tIns="0" rIns="0" bIns="0" rtlCol="0" anchor="ctr"/>
          <a:lstStyle/>
          <a:p>
            <a:r>
              <a:rPr lang="en-US" sz="1200" b="1">
                <a:solidFill>
                  <a:srgbClr val="2563EB"/>
                </a:solidFill>
              </a:rPr>
              <a:t>Data Pattern Analysis:</a:t>
            </a:r>
            <a:endParaRPr lang="en-US" sz="1200">
              <a:solidFill>
                <a:srgbClr val="2563EB"/>
              </a:solidFill>
            </a:endParaRPr>
          </a:p>
        </p:txBody>
      </p:sp>
      <p:sp>
        <p:nvSpPr>
          <p:cNvPr id="24" name="Text 20"/>
          <p:cNvSpPr/>
          <p:nvPr/>
        </p:nvSpPr>
        <p:spPr>
          <a:xfrm>
            <a:off x="7924800" y="5047488"/>
            <a:ext cx="3803904" cy="414528"/>
          </a:xfrm>
          <a:prstGeom prst="rect">
            <a:avLst/>
          </a:prstGeom>
          <a:noFill/>
          <a:ln/>
        </p:spPr>
        <p:txBody>
          <a:bodyPr wrap="square" lIns="0" tIns="0" rIns="0" bIns="0" rtlCol="0" anchor="ctr"/>
          <a:lstStyle/>
          <a:p>
            <a:r>
              <a:rPr lang="en-US" sz="1067">
                <a:solidFill>
                  <a:srgbClr val="334155"/>
                </a:solidFill>
              </a:rPr>
              <a:t>57 items · 17 below threshold · $350,816 pending. Urgency: 4 Urgent, 52 Planning, 1 Optimal. Device health by type.</a:t>
            </a:r>
            <a:endParaRPr lang="en-US" sz="1067"/>
          </a:p>
        </p:txBody>
      </p:sp>
      <p:sp>
        <p:nvSpPr>
          <p:cNvPr id="25" name="Text 21"/>
          <p:cNvSpPr/>
          <p:nvPr/>
        </p:nvSpPr>
        <p:spPr>
          <a:xfrm>
            <a:off x="7924800" y="5535168"/>
            <a:ext cx="3803904" cy="268224"/>
          </a:xfrm>
          <a:prstGeom prst="rect">
            <a:avLst/>
          </a:prstGeom>
          <a:noFill/>
          <a:ln/>
        </p:spPr>
        <p:txBody>
          <a:bodyPr wrap="square" lIns="0" tIns="0" rIns="0" bIns="0" rtlCol="0" anchor="ctr"/>
          <a:lstStyle/>
          <a:p>
            <a:r>
              <a:rPr lang="en-US" sz="1200" b="1">
                <a:solidFill>
                  <a:srgbClr val="2563EB"/>
                </a:solidFill>
              </a:rPr>
              <a:t>Firewall 119% · Router 136%:</a:t>
            </a:r>
            <a:endParaRPr lang="en-US" sz="1200">
              <a:solidFill>
                <a:srgbClr val="2563EB"/>
              </a:solidFill>
            </a:endParaRPr>
          </a:p>
        </p:txBody>
      </p:sp>
      <p:sp>
        <p:nvSpPr>
          <p:cNvPr id="26" name="Text 22"/>
          <p:cNvSpPr/>
          <p:nvPr/>
        </p:nvSpPr>
        <p:spPr>
          <a:xfrm>
            <a:off x="7924800" y="5803392"/>
            <a:ext cx="3803904" cy="414528"/>
          </a:xfrm>
          <a:prstGeom prst="rect">
            <a:avLst/>
          </a:prstGeom>
          <a:noFill/>
          <a:ln/>
        </p:spPr>
        <p:txBody>
          <a:bodyPr wrap="square" lIns="0" tIns="0" rIns="0" bIns="0" rtlCol="0" anchor="ctr"/>
          <a:lstStyle/>
          <a:p>
            <a:r>
              <a:rPr lang="en-US" sz="1067">
                <a:solidFill>
                  <a:srgbClr val="334155"/>
                </a:solidFill>
              </a:rPr>
              <a:t>Switch 132% · Server 88% health. All managed with click-to-approve workflow.</a:t>
            </a:r>
            <a:endParaRPr lang="en-US" sz="1067"/>
          </a:p>
        </p:txBody>
      </p:sp>
      <p:sp>
        <p:nvSpPr>
          <p:cNvPr id="27" name="Rectangle 26">
            <a:extLst>
              <a:ext uri="{FF2B5EF4-FFF2-40B4-BE49-F238E27FC236}">
                <a16:creationId xmlns:a16="http://schemas.microsoft.com/office/drawing/2014/main" id="{1C4CD350-CF3B-DB06-76D2-76A876768655}"/>
              </a:ext>
            </a:extLst>
          </p:cNvPr>
          <p:cNvSpPr/>
          <p:nvPr/>
        </p:nvSpPr>
        <p:spPr>
          <a:xfrm>
            <a:off x="0" y="0"/>
            <a:ext cx="12191969" cy="859536"/>
          </a:xfrm>
          <a:prstGeom prst="rect">
            <a:avLst/>
          </a:prstGeom>
          <a:solidFill>
            <a:srgbClr val="1E27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8" name="TextBox 27">
            <a:extLst>
              <a:ext uri="{FF2B5EF4-FFF2-40B4-BE49-F238E27FC236}">
                <a16:creationId xmlns:a16="http://schemas.microsoft.com/office/drawing/2014/main" id="{0BAD9186-B7ED-3CBD-B9B9-F2614291048F}"/>
              </a:ext>
            </a:extLst>
          </p:cNvPr>
          <p:cNvSpPr txBox="1"/>
          <p:nvPr/>
        </p:nvSpPr>
        <p:spPr>
          <a:xfrm>
            <a:off x="328559" y="295343"/>
            <a:ext cx="11734769" cy="658368"/>
          </a:xfrm>
          <a:prstGeom prst="rect">
            <a:avLst/>
          </a:prstGeom>
          <a:noFill/>
        </p:spPr>
        <p:txBody>
          <a:bodyPr wrap="square" lIns="91440" tIns="45720" rIns="91440" bIns="45720" anchor="t"/>
          <a:lstStyle/>
          <a:p>
            <a:pPr algn="l" rtl="0">
              <a:defRPr/>
            </a:pPr>
            <a:r>
              <a:rPr lang="en-US" sz="2900" b="1" kern="1200">
                <a:solidFill>
                  <a:srgbClr val="FFFFFF"/>
                </a:solidFill>
                <a:latin typeface="Georgia"/>
                <a:ea typeface="+mn-ea"/>
                <a:cs typeface="+mn-cs"/>
              </a:rPr>
              <a:t>Ops Intel</a:t>
            </a:r>
            <a:r>
              <a:rPr kumimoji="0" sz="2900" b="1" i="0" u="none" strike="noStrike" kern="1200" cap="none" spc="0" normalizeH="0" baseline="0" noProof="0">
                <a:ln>
                  <a:noFill/>
                </a:ln>
                <a:solidFill>
                  <a:srgbClr val="FFFFFF"/>
                </a:solidFill>
                <a:effectLst/>
                <a:uLnTx/>
                <a:uFillTx/>
                <a:latin typeface="Georgia"/>
                <a:ea typeface="+mn-ea"/>
                <a:cs typeface="+mn-cs"/>
              </a:rPr>
              <a:t> Dashboard — </a:t>
            </a:r>
            <a:r>
              <a:rPr lang="en-US" sz="2900" b="1" kern="1200">
                <a:solidFill>
                  <a:srgbClr val="FFFFFF"/>
                </a:solidFill>
                <a:latin typeface="Georgia"/>
                <a:ea typeface="+mn-ea"/>
                <a:cs typeface="+mn-cs"/>
              </a:rPr>
              <a:t>Inventory Optimization &amp; AI Reorder</a:t>
            </a:r>
            <a:endParaRPr kumimoji="0" sz="2900" b="1" i="0" u="none" strike="noStrike" kern="1200" cap="none" spc="0" normalizeH="0" baseline="0" noProof="0">
              <a:ln>
                <a:noFill/>
              </a:ln>
              <a:solidFill>
                <a:srgbClr val="FFFFFF"/>
              </a:solidFill>
              <a:effectLst/>
              <a:uLnTx/>
              <a:uFillTx/>
              <a:latin typeface="Georgia"/>
              <a:ea typeface="+mn-ea"/>
              <a:cs typeface="+mn-cs"/>
            </a:endParaRPr>
          </a:p>
        </p:txBody>
      </p:sp>
      <p:sp>
        <p:nvSpPr>
          <p:cNvPr id="29" name="TextBox 28">
            <a:extLst>
              <a:ext uri="{FF2B5EF4-FFF2-40B4-BE49-F238E27FC236}">
                <a16:creationId xmlns:a16="http://schemas.microsoft.com/office/drawing/2014/main" id="{A196F688-24EE-D446-F0C8-13FE865BF1F5}"/>
              </a:ext>
            </a:extLst>
          </p:cNvPr>
          <p:cNvSpPr txBox="1"/>
          <p:nvPr/>
        </p:nvSpPr>
        <p:spPr>
          <a:xfrm>
            <a:off x="340465" y="50663"/>
            <a:ext cx="8229600" cy="276999"/>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chemeClr val="bg1"/>
                </a:solidFill>
                <a:effectLst/>
                <a:uLnTx/>
                <a:uFillTx/>
                <a:latin typeface="Trebuchet MS"/>
                <a:ea typeface="+mn-ea"/>
                <a:cs typeface="+mn-cs"/>
              </a:rPr>
              <a:t>Dashboard – </a:t>
            </a:r>
            <a:r>
              <a:rPr lang="en-US" sz="1200" kern="1200">
                <a:solidFill>
                  <a:schemeClr val="bg1"/>
                </a:solidFill>
                <a:latin typeface="Trebuchet MS"/>
                <a:ea typeface="+mn-ea"/>
                <a:cs typeface="+mn-cs"/>
              </a:rPr>
              <a:t>Inventory</a:t>
            </a:r>
            <a:endParaRPr lang="en-US" sz="1200" b="0" i="0" u="none" strike="noStrike" kern="1200" cap="none" spc="0" normalizeH="0" baseline="0" noProof="0">
              <a:ln>
                <a:noFill/>
              </a:ln>
              <a:solidFill>
                <a:schemeClr val="bg1"/>
              </a:solidFill>
              <a:effectLst/>
              <a:uLnTx/>
              <a:uFillTx/>
              <a:latin typeface="Trebuchet MS"/>
              <a:ea typeface="+mn-ea"/>
              <a:cs typeface="+mn-cs"/>
            </a:endParaRPr>
          </a:p>
        </p:txBody>
      </p:sp>
      <p:sp>
        <p:nvSpPr>
          <p:cNvPr id="30" name="TextBox 29">
            <a:extLst>
              <a:ext uri="{FF2B5EF4-FFF2-40B4-BE49-F238E27FC236}">
                <a16:creationId xmlns:a16="http://schemas.microsoft.com/office/drawing/2014/main" id="{848E45C9-6DFD-DBE8-F7DE-63269BBA648B}"/>
              </a:ext>
            </a:extLst>
          </p:cNvPr>
          <p:cNvSpPr txBox="1"/>
          <p:nvPr/>
        </p:nvSpPr>
        <p:spPr>
          <a:xfrm>
            <a:off x="10363169" y="45720"/>
            <a:ext cx="1737360" cy="475488"/>
          </a:xfrm>
          <a:prstGeom prst="rect">
            <a:avLst/>
          </a:prstGeom>
          <a:noFill/>
        </p:spPr>
        <p:txBody>
          <a:bodyPr wrap="square" lIns="91440" tIns="45720" rIns="91440" bIns="4572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chemeClr val="bg1"/>
                </a:solidFill>
                <a:effectLst/>
                <a:uLnTx/>
                <a:uFillTx/>
                <a:latin typeface="Trebuchet MS"/>
                <a:ea typeface="+mn-ea"/>
                <a:cs typeface="+mn-cs"/>
              </a:rPr>
              <a:t>Expected Time Spent: </a:t>
            </a:r>
            <a:r>
              <a:rPr kumimoji="0" sz="900" b="0" i="0" u="none" strike="noStrike" kern="1200" cap="none" spc="0" normalizeH="0" baseline="0" noProof="0">
                <a:ln>
                  <a:noFill/>
                </a:ln>
                <a:solidFill>
                  <a:schemeClr val="bg1"/>
                </a:solidFill>
                <a:effectLst/>
                <a:uLnTx/>
                <a:uFillTx/>
                <a:latin typeface="Trebuchet MS"/>
                <a:ea typeface="+mn-ea"/>
                <a:cs typeface="+mn-cs"/>
              </a:rPr>
              <a:t>1 w</a:t>
            </a:r>
            <a:endParaRPr lang="en-US" sz="900" b="0" i="0" u="none" strike="noStrike" kern="1200" cap="none" spc="0" normalizeH="0" baseline="0" noProof="0">
              <a:ln>
                <a:noFill/>
              </a:ln>
              <a:solidFill>
                <a:schemeClr val="bg1"/>
              </a:solidFill>
              <a:effectLst/>
              <a:uLnTx/>
              <a:uFillTx/>
              <a:latin typeface="Trebuchet MS"/>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chemeClr val="bg1"/>
                </a:solidFill>
                <a:effectLst/>
                <a:uLnTx/>
                <a:uFillTx/>
                <a:latin typeface="Trebuchet MS"/>
                <a:ea typeface="+mn-ea"/>
                <a:cs typeface="+mn-cs"/>
              </a:rPr>
              <a:t>Actual Time Spent: </a:t>
            </a:r>
            <a:r>
              <a:rPr lang="en-US" sz="900" kern="1200">
                <a:solidFill>
                  <a:schemeClr val="bg1"/>
                </a:solidFill>
                <a:latin typeface="Trebuchet MS"/>
                <a:ea typeface="+mn-ea"/>
                <a:cs typeface="+mn-cs"/>
              </a:rPr>
              <a:t>2</a:t>
            </a:r>
            <a:r>
              <a:rPr kumimoji="0" sz="900" b="0" i="0" u="none" strike="noStrike" kern="1200" cap="none" spc="0" normalizeH="0" baseline="0" noProof="0">
                <a:ln>
                  <a:noFill/>
                </a:ln>
                <a:solidFill>
                  <a:schemeClr val="bg1"/>
                </a:solidFill>
                <a:effectLst/>
                <a:uLnTx/>
                <a:uFillTx/>
                <a:latin typeface="Trebuchet MS"/>
                <a:ea typeface="+mn-ea"/>
                <a:cs typeface="+mn-cs"/>
              </a:rPr>
              <a:t> w</a:t>
            </a:r>
            <a:endParaRPr sz="900" b="0" i="0" u="none" strike="noStrike" kern="1200" cap="none" spc="0" normalizeH="0" baseline="0" noProof="0">
              <a:ln>
                <a:noFill/>
              </a:ln>
              <a:solidFill>
                <a:schemeClr val="bg1"/>
              </a:solidFill>
              <a:effectLst/>
              <a:uLnTx/>
              <a:uFillTx/>
              <a:latin typeface="Trebuchet MS"/>
              <a:ea typeface="+mn-ea"/>
              <a:cs typeface="+mn-cs"/>
            </a:endParaRPr>
          </a:p>
        </p:txBody>
      </p:sp>
    </p:spTree>
    <p:extLst>
      <p:ext uri="{BB962C8B-B14F-4D97-AF65-F5344CB8AC3E}">
        <p14:creationId xmlns:p14="http://schemas.microsoft.com/office/powerpoint/2010/main" val="56171702"/>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859536"/>
          </a:xfrm>
          <a:prstGeom prst="rect">
            <a:avLst/>
          </a:prstGeom>
          <a:solidFill>
            <a:srgbClr val="1E27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p:cNvSpPr txBox="1"/>
          <p:nvPr/>
        </p:nvSpPr>
        <p:spPr>
          <a:xfrm>
            <a:off x="328559" y="295343"/>
            <a:ext cx="11734769" cy="658368"/>
          </a:xfrm>
          <a:prstGeom prst="rect">
            <a:avLst/>
          </a:prstGeom>
          <a:noFill/>
        </p:spPr>
        <p:txBody>
          <a:bodyPr wrap="square" lIns="91440" tIns="45720" rIns="91440" bIns="45720" anchor="t"/>
          <a:lstStyle/>
          <a:p>
            <a:pPr algn="l" rtl="0">
              <a:defRPr/>
            </a:pPr>
            <a:r>
              <a:rPr lang="en-US" sz="2900" b="1" kern="1200">
                <a:solidFill>
                  <a:srgbClr val="FFFFFF"/>
                </a:solidFill>
                <a:latin typeface="Georgia"/>
                <a:ea typeface="+mn-ea"/>
                <a:cs typeface="+mn-cs"/>
              </a:rPr>
              <a:t>Ops Intel</a:t>
            </a:r>
            <a:r>
              <a:rPr kumimoji="0" sz="2900" b="1" i="0" u="none" strike="noStrike" kern="1200" cap="none" spc="0" normalizeH="0" baseline="0" noProof="0">
                <a:ln>
                  <a:noFill/>
                </a:ln>
                <a:solidFill>
                  <a:srgbClr val="FFFFFF"/>
                </a:solidFill>
                <a:effectLst/>
                <a:uLnTx/>
                <a:uFillTx/>
                <a:latin typeface="Georgia"/>
                <a:ea typeface="+mn-ea"/>
                <a:cs typeface="+mn-cs"/>
              </a:rPr>
              <a:t> Dashboard — Executive Reports &amp; Business Impact</a:t>
            </a:r>
          </a:p>
        </p:txBody>
      </p:sp>
      <p:sp>
        <p:nvSpPr>
          <p:cNvPr id="4" name="TextBox 3"/>
          <p:cNvSpPr txBox="1"/>
          <p:nvPr/>
        </p:nvSpPr>
        <p:spPr>
          <a:xfrm>
            <a:off x="328559" y="145913"/>
            <a:ext cx="8229600" cy="137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8AAEC4"/>
                </a:solidFill>
                <a:effectLst/>
                <a:uLnTx/>
                <a:uFillTx/>
                <a:latin typeface="Trebuchet MS"/>
                <a:ea typeface="+mn-ea"/>
                <a:cs typeface="+mn-cs"/>
              </a:rPr>
              <a:t>Dashboard – Executive Overview &amp; Strategic Reports</a:t>
            </a:r>
          </a:p>
        </p:txBody>
      </p:sp>
      <p:sp>
        <p:nvSpPr>
          <p:cNvPr id="5" name="TextBox 4"/>
          <p:cNvSpPr txBox="1"/>
          <p:nvPr/>
        </p:nvSpPr>
        <p:spPr>
          <a:xfrm>
            <a:off x="10363169" y="45720"/>
            <a:ext cx="1737360" cy="475488"/>
          </a:xfrm>
          <a:prstGeom prst="rect">
            <a:avLst/>
          </a:prstGeom>
          <a:noFill/>
        </p:spPr>
        <p:txBody>
          <a:bodyPr wrap="square" lIns="91440" tIns="45720" rIns="91440" bIns="4572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chemeClr val="bg1"/>
                </a:solidFill>
                <a:effectLst/>
                <a:uLnTx/>
                <a:uFillTx/>
                <a:latin typeface="Trebuchet MS"/>
                <a:ea typeface="+mn-ea"/>
                <a:cs typeface="+mn-cs"/>
              </a:rPr>
              <a:t>Expected Time Spent: </a:t>
            </a:r>
            <a:r>
              <a:rPr kumimoji="0" sz="900" b="0" i="0" u="none" strike="noStrike" kern="1200" cap="none" spc="0" normalizeH="0" baseline="0" noProof="0">
                <a:ln>
                  <a:noFill/>
                </a:ln>
                <a:solidFill>
                  <a:schemeClr val="bg1"/>
                </a:solidFill>
                <a:effectLst/>
                <a:uLnTx/>
                <a:uFillTx/>
                <a:latin typeface="Trebuchet MS"/>
                <a:ea typeface="+mn-ea"/>
                <a:cs typeface="+mn-cs"/>
              </a:rPr>
              <a:t>1 w</a:t>
            </a:r>
            <a:endParaRPr lang="en-US" sz="900" b="0" i="0" u="none" strike="noStrike" kern="1200" cap="none" spc="0" normalizeH="0" baseline="0" noProof="0">
              <a:ln>
                <a:noFill/>
              </a:ln>
              <a:solidFill>
                <a:schemeClr val="bg1"/>
              </a:solidFill>
              <a:effectLst/>
              <a:uLnTx/>
              <a:uFillTx/>
              <a:latin typeface="Trebuchet M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chemeClr val="bg1"/>
                </a:solidFill>
                <a:effectLst/>
                <a:uLnTx/>
                <a:uFillTx/>
                <a:latin typeface="Trebuchet MS"/>
                <a:ea typeface="+mn-ea"/>
                <a:cs typeface="+mn-cs"/>
              </a:rPr>
              <a:t>Actual Time Spent: </a:t>
            </a:r>
            <a:r>
              <a:rPr kumimoji="0" sz="900" b="0" i="0" u="none" strike="noStrike" kern="1200" cap="none" spc="0" normalizeH="0" baseline="0" noProof="0">
                <a:ln>
                  <a:noFill/>
                </a:ln>
                <a:solidFill>
                  <a:schemeClr val="bg1"/>
                </a:solidFill>
                <a:effectLst/>
                <a:uLnTx/>
                <a:uFillTx/>
                <a:latin typeface="Trebuchet MS"/>
                <a:ea typeface="+mn-ea"/>
                <a:cs typeface="+mn-cs"/>
              </a:rPr>
              <a:t>1 w</a:t>
            </a:r>
            <a:endParaRPr sz="900" b="0" i="0" u="none" strike="noStrike" kern="1200" cap="none" spc="0" normalizeH="0" baseline="0" noProof="0">
              <a:ln>
                <a:noFill/>
              </a:ln>
              <a:solidFill>
                <a:schemeClr val="bg1"/>
              </a:solidFill>
              <a:effectLst/>
              <a:uLnTx/>
              <a:uFillTx/>
              <a:latin typeface="Trebuchet MS"/>
              <a:ea typeface="+mn-ea"/>
              <a:cs typeface="+mn-cs"/>
            </a:endParaRPr>
          </a:p>
        </p:txBody>
      </p:sp>
      <p:sp>
        <p:nvSpPr>
          <p:cNvPr id="6" name="TextBox 5"/>
          <p:cNvSpPr txBox="1"/>
          <p:nvPr/>
        </p:nvSpPr>
        <p:spPr>
          <a:xfrm>
            <a:off x="338328" y="960120"/>
            <a:ext cx="5486400" cy="2743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8A5CF6"/>
                </a:solidFill>
                <a:effectLst/>
                <a:uLnTx/>
                <a:uFillTx/>
                <a:latin typeface="Calibri"/>
                <a:ea typeface="+mn-ea"/>
                <a:cs typeface="+mn-cs"/>
              </a:rPr>
              <a:t>Executive KPIs — From Model Outputs</a:t>
            </a:r>
          </a:p>
        </p:txBody>
      </p:sp>
      <p:sp>
        <p:nvSpPr>
          <p:cNvPr id="7" name="Rectangle 6"/>
          <p:cNvSpPr/>
          <p:nvPr/>
        </p:nvSpPr>
        <p:spPr>
          <a:xfrm>
            <a:off x="338328" y="1298448"/>
            <a:ext cx="5394960" cy="594360"/>
          </a:xfrm>
          <a:prstGeom prst="rect">
            <a:avLst/>
          </a:prstGeom>
          <a:solidFill>
            <a:srgbClr val="F8FA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TextBox 7"/>
          <p:cNvSpPr txBox="1"/>
          <p:nvPr/>
        </p:nvSpPr>
        <p:spPr>
          <a:xfrm>
            <a:off x="502920" y="1371600"/>
            <a:ext cx="1920240" cy="43891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a:ln>
                  <a:noFill/>
                </a:ln>
                <a:solidFill>
                  <a:srgbClr val="049569"/>
                </a:solidFill>
                <a:effectLst/>
                <a:uLnTx/>
                <a:uFillTx/>
                <a:latin typeface="Trebuchet MS"/>
                <a:ea typeface="+mn-ea"/>
                <a:cs typeface="+mn-cs"/>
              </a:rPr>
              <a:t>$3.92M</a:t>
            </a:r>
          </a:p>
        </p:txBody>
      </p:sp>
      <p:sp>
        <p:nvSpPr>
          <p:cNvPr id="9" name="TextBox 8"/>
          <p:cNvSpPr txBox="1"/>
          <p:nvPr/>
        </p:nvSpPr>
        <p:spPr>
          <a:xfrm>
            <a:off x="1794933" y="1461093"/>
            <a:ext cx="4029709" cy="261610"/>
          </a:xfrm>
          <a:prstGeom prst="rect">
            <a:avLst/>
          </a:prstGeom>
          <a:noFill/>
        </p:spPr>
        <p:txBody>
          <a:bodyPr wrap="square" lIns="91440" tIns="45720" rIns="91440" bIns="45720" anchor="t">
            <a:spAutoFit/>
          </a:bodyPr>
          <a:lstStyle/>
          <a:p>
            <a:pPr algn="l" rtl="0">
              <a:defRPr/>
            </a:pPr>
            <a:r>
              <a:rPr kumimoji="0" sz="1100" b="0" i="0" u="none" strike="noStrike" kern="1200" cap="none" spc="0" normalizeH="0" baseline="0" noProof="0">
                <a:ln>
                  <a:noFill/>
                </a:ln>
                <a:solidFill>
                  <a:srgbClr val="1E293A"/>
                </a:solidFill>
                <a:effectLst/>
                <a:uLnTx/>
                <a:uFillTx/>
                <a:latin typeface="Calibri"/>
                <a:ea typeface="+mn-ea"/>
                <a:cs typeface="+mn-cs"/>
              </a:rPr>
              <a:t>Total Cost Savings  (prevented failures + </a:t>
            </a:r>
            <a:r>
              <a:rPr lang="en-US" sz="1100" kern="1200">
                <a:solidFill>
                  <a:srgbClr val="1E293A"/>
                </a:solidFill>
                <a:latin typeface="Calibri"/>
                <a:ea typeface="+mn-ea"/>
                <a:cs typeface="+mn-cs"/>
              </a:rPr>
              <a:t>optimized </a:t>
            </a:r>
            <a:r>
              <a:rPr kumimoji="0" sz="1100" b="0" i="0" u="none" strike="noStrike" kern="1200" cap="none" spc="0" normalizeH="0" baseline="0" noProof="0">
                <a:ln>
                  <a:noFill/>
                </a:ln>
                <a:solidFill>
                  <a:srgbClr val="1E293A"/>
                </a:solidFill>
                <a:effectLst/>
                <a:uLnTx/>
                <a:uFillTx/>
                <a:latin typeface="Calibri"/>
                <a:ea typeface="+mn-ea"/>
                <a:cs typeface="+mn-cs"/>
              </a:rPr>
              <a:t>procurement)</a:t>
            </a:r>
          </a:p>
        </p:txBody>
      </p:sp>
      <p:sp>
        <p:nvSpPr>
          <p:cNvPr id="10" name="Rectangle 9"/>
          <p:cNvSpPr/>
          <p:nvPr/>
        </p:nvSpPr>
        <p:spPr>
          <a:xfrm>
            <a:off x="338328" y="1984248"/>
            <a:ext cx="5394960" cy="594360"/>
          </a:xfrm>
          <a:prstGeom prst="rect">
            <a:avLst/>
          </a:prstGeom>
          <a:solidFill>
            <a:srgbClr val="F8FA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TextBox 10"/>
          <p:cNvSpPr txBox="1"/>
          <p:nvPr/>
        </p:nvSpPr>
        <p:spPr>
          <a:xfrm>
            <a:off x="502920" y="2057400"/>
            <a:ext cx="1920240" cy="43891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a:ln>
                  <a:noFill/>
                </a:ln>
                <a:solidFill>
                  <a:srgbClr val="0891B1"/>
                </a:solidFill>
                <a:effectLst/>
                <a:uLnTx/>
                <a:uFillTx/>
                <a:latin typeface="Trebuchet MS"/>
                <a:ea typeface="+mn-ea"/>
                <a:cs typeface="+mn-cs"/>
              </a:rPr>
              <a:t>28.6%</a:t>
            </a:r>
          </a:p>
        </p:txBody>
      </p:sp>
      <p:sp>
        <p:nvSpPr>
          <p:cNvPr id="12" name="TextBox 11"/>
          <p:cNvSpPr txBox="1"/>
          <p:nvPr/>
        </p:nvSpPr>
        <p:spPr>
          <a:xfrm>
            <a:off x="1794933" y="2157476"/>
            <a:ext cx="3807460"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1E293A"/>
                </a:solidFill>
                <a:effectLst/>
                <a:uLnTx/>
                <a:uFillTx/>
                <a:latin typeface="Calibri"/>
                <a:ea typeface="+mn-ea"/>
                <a:cs typeface="+mn-cs"/>
              </a:rPr>
              <a:t>Downtime Reduction  (AI-predicted vs baseline resolution)</a:t>
            </a:r>
          </a:p>
        </p:txBody>
      </p:sp>
      <p:sp>
        <p:nvSpPr>
          <p:cNvPr id="13" name="Rectangle 12"/>
          <p:cNvSpPr/>
          <p:nvPr/>
        </p:nvSpPr>
        <p:spPr>
          <a:xfrm>
            <a:off x="338328" y="2670048"/>
            <a:ext cx="5394960" cy="594360"/>
          </a:xfrm>
          <a:prstGeom prst="rect">
            <a:avLst/>
          </a:prstGeom>
          <a:solidFill>
            <a:srgbClr val="F8FA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TextBox 13"/>
          <p:cNvSpPr txBox="1"/>
          <p:nvPr/>
        </p:nvSpPr>
        <p:spPr>
          <a:xfrm>
            <a:off x="502920" y="2743200"/>
            <a:ext cx="1920240" cy="400110"/>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kern="1200">
                <a:solidFill>
                  <a:srgbClr val="3A82F6"/>
                </a:solidFill>
                <a:latin typeface="Trebuchet MS"/>
                <a:ea typeface="+mn-ea"/>
                <a:cs typeface="+mn-cs"/>
              </a:rPr>
              <a:t>60.4%</a:t>
            </a:r>
            <a:endParaRPr kumimoji="0" sz="2000" b="1" i="0" u="none" strike="noStrike" kern="1200" cap="none" spc="0" normalizeH="0" baseline="0" noProof="0">
              <a:ln>
                <a:noFill/>
              </a:ln>
              <a:solidFill>
                <a:srgbClr val="3A82F6"/>
              </a:solidFill>
              <a:effectLst/>
              <a:uLnTx/>
              <a:uFillTx/>
              <a:latin typeface="Trebuchet MS"/>
              <a:ea typeface="+mn-ea"/>
              <a:cs typeface="+mn-cs"/>
            </a:endParaRPr>
          </a:p>
        </p:txBody>
      </p:sp>
      <p:sp>
        <p:nvSpPr>
          <p:cNvPr id="15" name="TextBox 14"/>
          <p:cNvSpPr txBox="1"/>
          <p:nvPr/>
        </p:nvSpPr>
        <p:spPr>
          <a:xfrm>
            <a:off x="1805517" y="2822109"/>
            <a:ext cx="3796877" cy="261610"/>
          </a:xfrm>
          <a:prstGeom prst="rect">
            <a:avLst/>
          </a:prstGeom>
          <a:noFill/>
        </p:spPr>
        <p:txBody>
          <a:bodyPr wrap="square" lIns="91440" tIns="45720" rIns="91440" bIns="45720" anchor="t">
            <a:spAutoFit/>
          </a:bodyPr>
          <a:lstStyle/>
          <a:p>
            <a:pPr algn="l" rtl="0">
              <a:defRPr/>
            </a:pPr>
            <a:r>
              <a:rPr kumimoji="0" sz="1100" b="0" i="0" u="none" strike="noStrike" kern="1200" cap="none" spc="0" normalizeH="0" baseline="0" noProof="0">
                <a:ln>
                  <a:noFill/>
                </a:ln>
                <a:solidFill>
                  <a:srgbClr val="1E293A"/>
                </a:solidFill>
                <a:effectLst/>
                <a:uLnTx/>
                <a:uFillTx/>
                <a:latin typeface="Calibri"/>
                <a:ea typeface="+mn-ea"/>
                <a:cs typeface="+mn-cs"/>
              </a:rPr>
              <a:t>SLA Compliance Score  (1 – mean sla</a:t>
            </a:r>
            <a:r>
              <a:rPr lang="en-US" sz="1100" kern="1200">
                <a:solidFill>
                  <a:srgbClr val="1E293A"/>
                </a:solidFill>
                <a:latin typeface="Calibri"/>
                <a:ea typeface="+mn-ea"/>
                <a:cs typeface="+mn-cs"/>
              </a:rPr>
              <a:t> breach probability</a:t>
            </a:r>
            <a:r>
              <a:rPr kumimoji="0" sz="1100" b="0" i="0" u="none" strike="noStrike" kern="1200" cap="none" spc="0" normalizeH="0" baseline="0" noProof="0">
                <a:ln>
                  <a:noFill/>
                </a:ln>
                <a:solidFill>
                  <a:srgbClr val="1E293A"/>
                </a:solidFill>
                <a:effectLst/>
                <a:uLnTx/>
                <a:uFillTx/>
                <a:latin typeface="Calibri"/>
                <a:ea typeface="+mn-ea"/>
                <a:cs typeface="+mn-cs"/>
              </a:rPr>
              <a:t>)</a:t>
            </a:r>
          </a:p>
        </p:txBody>
      </p:sp>
      <p:sp>
        <p:nvSpPr>
          <p:cNvPr id="16" name="Rectangle 15"/>
          <p:cNvSpPr/>
          <p:nvPr/>
        </p:nvSpPr>
        <p:spPr>
          <a:xfrm>
            <a:off x="338328" y="3355848"/>
            <a:ext cx="5394960" cy="594360"/>
          </a:xfrm>
          <a:prstGeom prst="rect">
            <a:avLst/>
          </a:prstGeom>
          <a:solidFill>
            <a:srgbClr val="F8FA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TextBox 16"/>
          <p:cNvSpPr txBox="1"/>
          <p:nvPr/>
        </p:nvSpPr>
        <p:spPr>
          <a:xfrm>
            <a:off x="502920" y="3429000"/>
            <a:ext cx="1920240" cy="43891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a:ln>
                  <a:noFill/>
                </a:ln>
                <a:solidFill>
                  <a:srgbClr val="8A5CF6"/>
                </a:solidFill>
                <a:effectLst/>
                <a:uLnTx/>
                <a:uFillTx/>
                <a:latin typeface="Trebuchet MS"/>
                <a:ea typeface="+mn-ea"/>
                <a:cs typeface="+mn-cs"/>
              </a:rPr>
              <a:t>99.3%</a:t>
            </a:r>
          </a:p>
        </p:txBody>
      </p:sp>
      <p:sp>
        <p:nvSpPr>
          <p:cNvPr id="18" name="TextBox 17"/>
          <p:cNvSpPr txBox="1"/>
          <p:nvPr/>
        </p:nvSpPr>
        <p:spPr>
          <a:xfrm>
            <a:off x="1816100" y="3518493"/>
            <a:ext cx="3786294"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1E293A"/>
                </a:solidFill>
                <a:effectLst/>
                <a:uLnTx/>
                <a:uFillTx/>
                <a:latin typeface="Calibri"/>
                <a:ea typeface="+mn-ea"/>
                <a:cs typeface="+mn-cs"/>
              </a:rPr>
              <a:t>AI Prediction Accuracy  (Operational Efficiency Score)</a:t>
            </a:r>
          </a:p>
        </p:txBody>
      </p:sp>
      <p:sp>
        <p:nvSpPr>
          <p:cNvPr id="19" name="TextBox 18"/>
          <p:cNvSpPr txBox="1"/>
          <p:nvPr/>
        </p:nvSpPr>
        <p:spPr>
          <a:xfrm>
            <a:off x="338328" y="4160520"/>
            <a:ext cx="5486400" cy="2743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049569"/>
                </a:solidFill>
                <a:effectLst/>
                <a:uLnTx/>
                <a:uFillTx/>
                <a:latin typeface="Calibri"/>
                <a:ea typeface="+mn-ea"/>
                <a:cs typeface="+mn-cs"/>
              </a:rPr>
              <a:t>Business Health Metrics</a:t>
            </a:r>
          </a:p>
        </p:txBody>
      </p:sp>
      <p:sp>
        <p:nvSpPr>
          <p:cNvPr id="20" name="TextBox 19"/>
          <p:cNvSpPr txBox="1"/>
          <p:nvPr/>
        </p:nvSpPr>
        <p:spPr>
          <a:xfrm>
            <a:off x="338328" y="4462272"/>
            <a:ext cx="5486400" cy="1384995"/>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1E293A"/>
                </a:solidFill>
                <a:effectLst/>
                <a:uLnTx/>
                <a:uFillTx/>
                <a:latin typeface="Calibri"/>
                <a:ea typeface="+mn-ea"/>
                <a:cs typeface="+mn-cs"/>
              </a:rPr>
              <a:t>Revenue Protected: $2K    |    Cost of Downtime (est.): $125K</a:t>
            </a:r>
            <a:endParaRPr lang="en-US" sz="1400" b="0" i="0" u="none" strike="noStrike" kern="1200" cap="none" spc="0" normalizeH="0" baseline="0" noProof="0">
              <a:ln>
                <a:noFill/>
              </a:ln>
              <a:solidFill>
                <a:srgbClr val="1E293A"/>
              </a:solidFill>
              <a:effectLst/>
              <a:uLnTx/>
              <a:uFillTx/>
              <a:latin typeface="Calibri"/>
              <a:ea typeface="Calibri"/>
              <a:cs typeface="Calibri"/>
            </a:endParaRPr>
          </a:p>
          <a:p>
            <a:pPr algn="l" rtl="0">
              <a:defRPr/>
            </a:pPr>
            <a:r>
              <a:rPr kumimoji="0" sz="1400" b="0" i="0" u="none" strike="noStrike" kern="1200" cap="none" spc="0" normalizeH="0" baseline="0" noProof="0">
                <a:ln>
                  <a:noFill/>
                </a:ln>
                <a:solidFill>
                  <a:srgbClr val="1E293A"/>
                </a:solidFill>
                <a:effectLst/>
                <a:uLnTx/>
                <a:uFillTx/>
                <a:latin typeface="Calibri"/>
                <a:ea typeface="+mn-ea"/>
                <a:cs typeface="+mn-cs"/>
              </a:rPr>
              <a:t>Resource ROI: 17%         </a:t>
            </a:r>
            <a:r>
              <a:rPr lang="en-US" sz="1400" kern="1200">
                <a:solidFill>
                  <a:srgbClr val="1E293A"/>
                </a:solidFill>
                <a:latin typeface="Calibri"/>
                <a:ea typeface="+mn-ea"/>
                <a:cs typeface="+mn-cs"/>
              </a:rPr>
              <a:t> </a:t>
            </a:r>
            <a:r>
              <a:rPr kumimoji="0" sz="1400" b="0" i="0" u="none" strike="noStrike" kern="1200" cap="none" spc="0" normalizeH="0" baseline="0" noProof="0">
                <a:ln>
                  <a:noFill/>
                </a:ln>
                <a:solidFill>
                  <a:srgbClr val="1E293A"/>
                </a:solidFill>
                <a:effectLst/>
                <a:uLnTx/>
                <a:uFillTx/>
                <a:latin typeface="Calibri"/>
                <a:ea typeface="+mn-ea"/>
                <a:cs typeface="+mn-cs"/>
              </a:rPr>
              <a:t>|    Procurement Cost MTD: $351K</a:t>
            </a:r>
            <a:endParaRPr sz="1400" b="0" i="0" u="none" strike="noStrike" kern="1200" cap="none" spc="0" normalizeH="0" baseline="0" noProof="0">
              <a:ln>
                <a:noFill/>
              </a:ln>
              <a:solidFill>
                <a:srgbClr val="1E293A"/>
              </a:solidFill>
              <a:effectLst/>
              <a:uLnTx/>
              <a:uFillTx/>
              <a:latin typeface="Calibri"/>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sz="1400" b="0" i="0" u="none" strike="noStrike" kern="1200" cap="none" spc="0" normalizeH="0" baseline="0" noProof="0">
              <a:ln>
                <a:noFill/>
              </a:ln>
              <a:solidFill>
                <a:srgbClr val="1E293A"/>
              </a:solidFill>
              <a:effectLst/>
              <a:uLnTx/>
              <a:uFillTx/>
              <a:latin typeface="Calibri"/>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1E293A"/>
                </a:solidFill>
                <a:effectLst/>
                <a:uLnTx/>
                <a:uFillTx/>
                <a:latin typeface="Calibri"/>
                <a:ea typeface="+mn-ea"/>
                <a:cs typeface="+mn-cs"/>
              </a:rPr>
              <a:t>Self-Healing Assets: 228 / 385  (59.2% automated remediation)</a:t>
            </a:r>
            <a:endParaRPr sz="1400" b="0" i="0" u="none" strike="noStrike" kern="1200" cap="none" spc="0" normalizeH="0" baseline="0" noProof="0">
              <a:ln>
                <a:noFill/>
              </a:ln>
              <a:solidFill>
                <a:srgbClr val="1E293A"/>
              </a:solidFill>
              <a:effectLst/>
              <a:uLnTx/>
              <a:uFillTx/>
              <a:latin typeface="Calibri"/>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1E293A"/>
                </a:solidFill>
                <a:effectLst/>
                <a:uLnTx/>
                <a:uFillTx/>
                <a:latin typeface="Calibri"/>
                <a:ea typeface="+mn-ea"/>
                <a:cs typeface="+mn-cs"/>
              </a:rPr>
              <a:t>Operational Efficiency Score: 45 / 100  (40% closure + 30% SLA + 30% asset health)</a:t>
            </a:r>
            <a:endParaRPr sz="1400" b="0" i="0" u="none" strike="noStrike" kern="1200" cap="none" spc="0" normalizeH="0" baseline="0" noProof="0">
              <a:ln>
                <a:noFill/>
              </a:ln>
              <a:solidFill>
                <a:srgbClr val="1E293A"/>
              </a:solidFill>
              <a:effectLst/>
              <a:uLnTx/>
              <a:uFillTx/>
              <a:latin typeface="Calibri"/>
              <a:ea typeface="Calibri"/>
              <a:cs typeface="Calibri"/>
            </a:endParaRPr>
          </a:p>
        </p:txBody>
      </p:sp>
      <p:sp>
        <p:nvSpPr>
          <p:cNvPr id="21" name="Rectangle 20"/>
          <p:cNvSpPr/>
          <p:nvPr/>
        </p:nvSpPr>
        <p:spPr>
          <a:xfrm>
            <a:off x="327745" y="5850707"/>
            <a:ext cx="5496983" cy="751755"/>
          </a:xfrm>
          <a:prstGeom prst="rect">
            <a:avLst/>
          </a:prstGeom>
          <a:solidFill>
            <a:srgbClr val="EFF6FF"/>
          </a:solidFill>
          <a:ln w="9525">
            <a:solidFill>
              <a:srgbClr val="3A82F6"/>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TextBox 21"/>
          <p:cNvSpPr txBox="1"/>
          <p:nvPr/>
        </p:nvSpPr>
        <p:spPr>
          <a:xfrm>
            <a:off x="411480" y="5924921"/>
            <a:ext cx="5340096" cy="600164"/>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1E3A5F"/>
                </a:solidFill>
                <a:effectLst/>
                <a:uLnTx/>
                <a:uFillTx/>
                <a:latin typeface="Calibri"/>
                <a:ea typeface="+mn-ea"/>
                <a:cs typeface="+mn-cs"/>
              </a:rPr>
              <a:t>AI-Driven Strategic Recommendations: Replace M003 (AID_055, 71% failure risk, 342d </a:t>
            </a:r>
            <a:r>
              <a:rPr lang="en-US" sz="1100" kern="1200">
                <a:solidFill>
                  <a:srgbClr val="1E3A5F"/>
                </a:solidFill>
                <a:latin typeface="Calibri"/>
                <a:ea typeface="+mn-ea"/>
                <a:cs typeface="+mn-cs"/>
              </a:rPr>
              <a:t>remaining</a:t>
            </a:r>
            <a:r>
              <a:rPr kumimoji="0" sz="1100" b="0" i="0" u="none" strike="noStrike" kern="1200" cap="none" spc="0" normalizeH="0" baseline="0" noProof="0">
                <a:ln>
                  <a:noFill/>
                </a:ln>
                <a:solidFill>
                  <a:srgbClr val="1E3A5F"/>
                </a:solidFill>
                <a:effectLst/>
                <a:uLnTx/>
                <a:uFillTx/>
                <a:latin typeface="Calibri"/>
                <a:ea typeface="+mn-ea"/>
                <a:cs typeface="+mn-cs"/>
              </a:rPr>
              <a:t>) → High Impact. Procurement review M001 (6 units at $27K, 12d lead) → Cost Saving.</a:t>
            </a:r>
          </a:p>
        </p:txBody>
      </p:sp>
      <p:cxnSp>
        <p:nvCxnSpPr>
          <p:cNvPr id="23" name="Connector 22"/>
          <p:cNvCxnSpPr/>
          <p:nvPr/>
        </p:nvCxnSpPr>
        <p:spPr>
          <a:xfrm>
            <a:off x="6035040" y="859536"/>
            <a:ext cx="0" cy="5907024"/>
          </a:xfrm>
          <a:prstGeom prst="curvedConnector3">
            <a:avLst/>
          </a:prstGeom>
          <a:ln w="12700">
            <a:solidFill>
              <a:schemeClr val="tx1">
                <a:lumMod val="50000"/>
                <a:lumOff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190488" y="960120"/>
            <a:ext cx="5669280" cy="2743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8A5CF6"/>
                </a:solidFill>
                <a:effectLst/>
                <a:uLnTx/>
                <a:uFillTx/>
                <a:latin typeface="Calibri"/>
                <a:ea typeface="+mn-ea"/>
                <a:cs typeface="+mn-cs"/>
              </a:rPr>
              <a:t>Executive Overview Dashboard</a:t>
            </a:r>
          </a:p>
        </p:txBody>
      </p:sp>
      <p:pic>
        <p:nvPicPr>
          <p:cNvPr id="25" name="Picture 24" descr="1779483542529_image.png"/>
          <p:cNvPicPr>
            <a:picLocks noChangeAspect="1"/>
          </p:cNvPicPr>
          <p:nvPr/>
        </p:nvPicPr>
        <p:blipFill>
          <a:blip r:embed="rId2"/>
          <a:stretch>
            <a:fillRect/>
          </a:stretch>
        </p:blipFill>
        <p:spPr>
          <a:xfrm>
            <a:off x="6190488" y="1298448"/>
            <a:ext cx="5669280" cy="2651760"/>
          </a:xfrm>
          <a:prstGeom prst="rect">
            <a:avLst/>
          </a:prstGeom>
        </p:spPr>
      </p:pic>
      <p:sp>
        <p:nvSpPr>
          <p:cNvPr id="26" name="TextBox 25"/>
          <p:cNvSpPr txBox="1"/>
          <p:nvPr/>
        </p:nvSpPr>
        <p:spPr>
          <a:xfrm>
            <a:off x="6190488" y="3995928"/>
            <a:ext cx="5669280" cy="2743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049569"/>
                </a:solidFill>
                <a:effectLst/>
                <a:uLnTx/>
                <a:uFillTx/>
                <a:latin typeface="Calibri"/>
                <a:ea typeface="+mn-ea"/>
                <a:cs typeface="+mn-cs"/>
              </a:rPr>
              <a:t>Strategic Milestones &amp; Recommendations</a:t>
            </a:r>
          </a:p>
        </p:txBody>
      </p:sp>
      <p:pic>
        <p:nvPicPr>
          <p:cNvPr id="27" name="Picture 26" descr="1779483558589_image.png"/>
          <p:cNvPicPr>
            <a:picLocks noChangeAspect="1"/>
          </p:cNvPicPr>
          <p:nvPr/>
        </p:nvPicPr>
        <p:blipFill>
          <a:blip r:embed="rId3"/>
          <a:stretch>
            <a:fillRect/>
          </a:stretch>
        </p:blipFill>
        <p:spPr>
          <a:xfrm>
            <a:off x="6190488" y="4315968"/>
            <a:ext cx="5669280" cy="235915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72ED2-4C8A-8CA5-D0F8-E5E0C6EADC5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1ED163D-F37C-00DC-55BA-867C7C4F0AAE}"/>
              </a:ext>
            </a:extLst>
          </p:cNvPr>
          <p:cNvSpPr/>
          <p:nvPr/>
        </p:nvSpPr>
        <p:spPr>
          <a:xfrm>
            <a:off x="0" y="0"/>
            <a:ext cx="12188952" cy="6858000"/>
          </a:xfrm>
          <a:prstGeom prst="rect">
            <a:avLst/>
          </a:prstGeom>
          <a:solidFill>
            <a:srgbClr val="071524"/>
          </a:solidFill>
          <a:ln w="12700">
            <a:solidFill>
              <a:srgbClr val="07152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a:extLst>
              <a:ext uri="{FF2B5EF4-FFF2-40B4-BE49-F238E27FC236}">
                <a16:creationId xmlns:a16="http://schemas.microsoft.com/office/drawing/2014/main" id="{BE21CF42-B29A-869F-E310-080A4F6E43B3}"/>
              </a:ext>
            </a:extLst>
          </p:cNvPr>
          <p:cNvSpPr/>
          <p:nvPr/>
        </p:nvSpPr>
        <p:spPr>
          <a:xfrm>
            <a:off x="0" y="360947"/>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C3AF104E-AA82-5081-FF97-4108B191EEF0}"/>
              </a:ext>
            </a:extLst>
          </p:cNvPr>
          <p:cNvSpPr/>
          <p:nvPr/>
        </p:nvSpPr>
        <p:spPr>
          <a:xfrm>
            <a:off x="0" y="721895"/>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F6F47C69-EEB5-87E5-8905-EBA855990690}"/>
              </a:ext>
            </a:extLst>
          </p:cNvPr>
          <p:cNvSpPr/>
          <p:nvPr/>
        </p:nvSpPr>
        <p:spPr>
          <a:xfrm>
            <a:off x="0" y="1082842"/>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a:extLst>
              <a:ext uri="{FF2B5EF4-FFF2-40B4-BE49-F238E27FC236}">
                <a16:creationId xmlns:a16="http://schemas.microsoft.com/office/drawing/2014/main" id="{3F9019AA-28D9-887E-EA45-FF6CFFF9EA18}"/>
              </a:ext>
            </a:extLst>
          </p:cNvPr>
          <p:cNvSpPr/>
          <p:nvPr/>
        </p:nvSpPr>
        <p:spPr>
          <a:xfrm>
            <a:off x="0" y="1443789"/>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a:extLst>
              <a:ext uri="{FF2B5EF4-FFF2-40B4-BE49-F238E27FC236}">
                <a16:creationId xmlns:a16="http://schemas.microsoft.com/office/drawing/2014/main" id="{090C2A4B-C6EB-65B8-6FA6-6CDA85140CE8}"/>
              </a:ext>
            </a:extLst>
          </p:cNvPr>
          <p:cNvSpPr/>
          <p:nvPr/>
        </p:nvSpPr>
        <p:spPr>
          <a:xfrm>
            <a:off x="0" y="1804737"/>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a:extLst>
              <a:ext uri="{FF2B5EF4-FFF2-40B4-BE49-F238E27FC236}">
                <a16:creationId xmlns:a16="http://schemas.microsoft.com/office/drawing/2014/main" id="{C332A27A-3714-D951-59EE-AF4FA516B028}"/>
              </a:ext>
            </a:extLst>
          </p:cNvPr>
          <p:cNvSpPr/>
          <p:nvPr/>
        </p:nvSpPr>
        <p:spPr>
          <a:xfrm>
            <a:off x="0" y="2808621"/>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a:extLst>
              <a:ext uri="{FF2B5EF4-FFF2-40B4-BE49-F238E27FC236}">
                <a16:creationId xmlns:a16="http://schemas.microsoft.com/office/drawing/2014/main" id="{6F07D196-96CD-F96D-15C9-E5448A5446EE}"/>
              </a:ext>
            </a:extLst>
          </p:cNvPr>
          <p:cNvSpPr/>
          <p:nvPr/>
        </p:nvSpPr>
        <p:spPr>
          <a:xfrm>
            <a:off x="0" y="2526632"/>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a:extLst>
              <a:ext uri="{FF2B5EF4-FFF2-40B4-BE49-F238E27FC236}">
                <a16:creationId xmlns:a16="http://schemas.microsoft.com/office/drawing/2014/main" id="{70A57DE4-9760-423D-9691-B0B1D7BE1848}"/>
              </a:ext>
            </a:extLst>
          </p:cNvPr>
          <p:cNvSpPr/>
          <p:nvPr/>
        </p:nvSpPr>
        <p:spPr>
          <a:xfrm>
            <a:off x="0" y="2887579"/>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a:extLst>
              <a:ext uri="{FF2B5EF4-FFF2-40B4-BE49-F238E27FC236}">
                <a16:creationId xmlns:a16="http://schemas.microsoft.com/office/drawing/2014/main" id="{7AF6E131-20CD-264C-FBDD-F4EA1E034BAD}"/>
              </a:ext>
            </a:extLst>
          </p:cNvPr>
          <p:cNvSpPr/>
          <p:nvPr/>
        </p:nvSpPr>
        <p:spPr>
          <a:xfrm>
            <a:off x="0" y="3248526"/>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a:extLst>
              <a:ext uri="{FF2B5EF4-FFF2-40B4-BE49-F238E27FC236}">
                <a16:creationId xmlns:a16="http://schemas.microsoft.com/office/drawing/2014/main" id="{06A4867C-3859-C111-0E98-0DC42056D8FF}"/>
              </a:ext>
            </a:extLst>
          </p:cNvPr>
          <p:cNvSpPr/>
          <p:nvPr/>
        </p:nvSpPr>
        <p:spPr>
          <a:xfrm>
            <a:off x="0" y="3609474"/>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a:extLst>
              <a:ext uri="{FF2B5EF4-FFF2-40B4-BE49-F238E27FC236}">
                <a16:creationId xmlns:a16="http://schemas.microsoft.com/office/drawing/2014/main" id="{A67C812F-FE62-0C69-6AE3-5AA5773AB42A}"/>
              </a:ext>
            </a:extLst>
          </p:cNvPr>
          <p:cNvSpPr/>
          <p:nvPr/>
        </p:nvSpPr>
        <p:spPr>
          <a:xfrm>
            <a:off x="0" y="3970421"/>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a:extLst>
              <a:ext uri="{FF2B5EF4-FFF2-40B4-BE49-F238E27FC236}">
                <a16:creationId xmlns:a16="http://schemas.microsoft.com/office/drawing/2014/main" id="{A26A3290-DCE5-DA8C-89D4-7246ABCC52D9}"/>
              </a:ext>
            </a:extLst>
          </p:cNvPr>
          <p:cNvSpPr/>
          <p:nvPr/>
        </p:nvSpPr>
        <p:spPr>
          <a:xfrm>
            <a:off x="0" y="4331368"/>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a:extLst>
              <a:ext uri="{FF2B5EF4-FFF2-40B4-BE49-F238E27FC236}">
                <a16:creationId xmlns:a16="http://schemas.microsoft.com/office/drawing/2014/main" id="{6C200BF8-F2C9-6103-B22D-38CB7E7B1D9B}"/>
              </a:ext>
            </a:extLst>
          </p:cNvPr>
          <p:cNvSpPr/>
          <p:nvPr/>
        </p:nvSpPr>
        <p:spPr>
          <a:xfrm>
            <a:off x="0" y="4692316"/>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a:extLst>
              <a:ext uri="{FF2B5EF4-FFF2-40B4-BE49-F238E27FC236}">
                <a16:creationId xmlns:a16="http://schemas.microsoft.com/office/drawing/2014/main" id="{C934AF59-7ACE-7400-D85F-18B27BD047B3}"/>
              </a:ext>
            </a:extLst>
          </p:cNvPr>
          <p:cNvSpPr/>
          <p:nvPr/>
        </p:nvSpPr>
        <p:spPr>
          <a:xfrm>
            <a:off x="0" y="5053263"/>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a:extLst>
              <a:ext uri="{FF2B5EF4-FFF2-40B4-BE49-F238E27FC236}">
                <a16:creationId xmlns:a16="http://schemas.microsoft.com/office/drawing/2014/main" id="{5B40F160-3E63-3F3E-FF72-5FC668F22104}"/>
              </a:ext>
            </a:extLst>
          </p:cNvPr>
          <p:cNvSpPr/>
          <p:nvPr/>
        </p:nvSpPr>
        <p:spPr>
          <a:xfrm>
            <a:off x="0" y="5414211"/>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a:extLst>
              <a:ext uri="{FF2B5EF4-FFF2-40B4-BE49-F238E27FC236}">
                <a16:creationId xmlns:a16="http://schemas.microsoft.com/office/drawing/2014/main" id="{5D763057-B21B-CA4F-BC69-25BD9F763C35}"/>
              </a:ext>
            </a:extLst>
          </p:cNvPr>
          <p:cNvSpPr/>
          <p:nvPr/>
        </p:nvSpPr>
        <p:spPr>
          <a:xfrm>
            <a:off x="0" y="5775158"/>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a:extLst>
              <a:ext uri="{FF2B5EF4-FFF2-40B4-BE49-F238E27FC236}">
                <a16:creationId xmlns:a16="http://schemas.microsoft.com/office/drawing/2014/main" id="{7AFF23A3-8A1E-E12C-327B-D3EC59F50F47}"/>
              </a:ext>
            </a:extLst>
          </p:cNvPr>
          <p:cNvSpPr/>
          <p:nvPr/>
        </p:nvSpPr>
        <p:spPr>
          <a:xfrm>
            <a:off x="0" y="6136105"/>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a:extLst>
              <a:ext uri="{FF2B5EF4-FFF2-40B4-BE49-F238E27FC236}">
                <a16:creationId xmlns:a16="http://schemas.microsoft.com/office/drawing/2014/main" id="{D14C7C29-6DD5-DFA3-313A-6214A54905D9}"/>
              </a:ext>
            </a:extLst>
          </p:cNvPr>
          <p:cNvSpPr/>
          <p:nvPr/>
        </p:nvSpPr>
        <p:spPr>
          <a:xfrm>
            <a:off x="0" y="6497053"/>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a:extLst>
              <a:ext uri="{FF2B5EF4-FFF2-40B4-BE49-F238E27FC236}">
                <a16:creationId xmlns:a16="http://schemas.microsoft.com/office/drawing/2014/main" id="{2ADBD92D-F80E-4653-FD26-30B97DD92EA0}"/>
              </a:ext>
            </a:extLst>
          </p:cNvPr>
          <p:cNvSpPr/>
          <p:nvPr/>
        </p:nvSpPr>
        <p:spPr>
          <a:xfrm>
            <a:off x="487558"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a:extLst>
              <a:ext uri="{FF2B5EF4-FFF2-40B4-BE49-F238E27FC236}">
                <a16:creationId xmlns:a16="http://schemas.microsoft.com/office/drawing/2014/main" id="{0F59A2FA-9C6C-BB66-AD05-EB5CFB858A74}"/>
              </a:ext>
            </a:extLst>
          </p:cNvPr>
          <p:cNvSpPr/>
          <p:nvPr/>
        </p:nvSpPr>
        <p:spPr>
          <a:xfrm>
            <a:off x="975116"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a:extLst>
              <a:ext uri="{FF2B5EF4-FFF2-40B4-BE49-F238E27FC236}">
                <a16:creationId xmlns:a16="http://schemas.microsoft.com/office/drawing/2014/main" id="{1FC6CD5E-12AE-8E97-CC1D-EF6A57A81B77}"/>
              </a:ext>
            </a:extLst>
          </p:cNvPr>
          <p:cNvSpPr/>
          <p:nvPr/>
        </p:nvSpPr>
        <p:spPr>
          <a:xfrm>
            <a:off x="1462674"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a:extLst>
              <a:ext uri="{FF2B5EF4-FFF2-40B4-BE49-F238E27FC236}">
                <a16:creationId xmlns:a16="http://schemas.microsoft.com/office/drawing/2014/main" id="{1695A80D-019A-4D26-A3E9-B5E561C8A640}"/>
              </a:ext>
            </a:extLst>
          </p:cNvPr>
          <p:cNvSpPr/>
          <p:nvPr/>
        </p:nvSpPr>
        <p:spPr>
          <a:xfrm>
            <a:off x="1950232"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a:extLst>
              <a:ext uri="{FF2B5EF4-FFF2-40B4-BE49-F238E27FC236}">
                <a16:creationId xmlns:a16="http://schemas.microsoft.com/office/drawing/2014/main" id="{359D3D1A-7FF2-3DB3-BC97-F1CCD0BFACD4}"/>
              </a:ext>
            </a:extLst>
          </p:cNvPr>
          <p:cNvSpPr/>
          <p:nvPr/>
        </p:nvSpPr>
        <p:spPr>
          <a:xfrm>
            <a:off x="2437790"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4">
            <a:extLst>
              <a:ext uri="{FF2B5EF4-FFF2-40B4-BE49-F238E27FC236}">
                <a16:creationId xmlns:a16="http://schemas.microsoft.com/office/drawing/2014/main" id="{329CFB1D-ED31-C64C-4792-ADEC1932FC06}"/>
              </a:ext>
            </a:extLst>
          </p:cNvPr>
          <p:cNvSpPr/>
          <p:nvPr/>
        </p:nvSpPr>
        <p:spPr>
          <a:xfrm>
            <a:off x="2925348"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5">
            <a:extLst>
              <a:ext uri="{FF2B5EF4-FFF2-40B4-BE49-F238E27FC236}">
                <a16:creationId xmlns:a16="http://schemas.microsoft.com/office/drawing/2014/main" id="{E2FA622B-7811-C374-8174-00B10CE7AFCA}"/>
              </a:ext>
            </a:extLst>
          </p:cNvPr>
          <p:cNvSpPr/>
          <p:nvPr/>
        </p:nvSpPr>
        <p:spPr>
          <a:xfrm>
            <a:off x="3412907"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6">
            <a:extLst>
              <a:ext uri="{FF2B5EF4-FFF2-40B4-BE49-F238E27FC236}">
                <a16:creationId xmlns:a16="http://schemas.microsoft.com/office/drawing/2014/main" id="{BDDF7C9E-595B-19C7-5C63-7FCE64234F1F}"/>
              </a:ext>
            </a:extLst>
          </p:cNvPr>
          <p:cNvSpPr/>
          <p:nvPr/>
        </p:nvSpPr>
        <p:spPr>
          <a:xfrm>
            <a:off x="3900465"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7">
            <a:extLst>
              <a:ext uri="{FF2B5EF4-FFF2-40B4-BE49-F238E27FC236}">
                <a16:creationId xmlns:a16="http://schemas.microsoft.com/office/drawing/2014/main" id="{57B60397-DC63-139C-7EB8-6DA20585BF6F}"/>
              </a:ext>
            </a:extLst>
          </p:cNvPr>
          <p:cNvSpPr/>
          <p:nvPr/>
        </p:nvSpPr>
        <p:spPr>
          <a:xfrm>
            <a:off x="4388023"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a:extLst>
              <a:ext uri="{FF2B5EF4-FFF2-40B4-BE49-F238E27FC236}">
                <a16:creationId xmlns:a16="http://schemas.microsoft.com/office/drawing/2014/main" id="{95410BCB-2CB7-0A26-13B8-B4506185312E}"/>
              </a:ext>
            </a:extLst>
          </p:cNvPr>
          <p:cNvSpPr/>
          <p:nvPr/>
        </p:nvSpPr>
        <p:spPr>
          <a:xfrm>
            <a:off x="4875581"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9">
            <a:extLst>
              <a:ext uri="{FF2B5EF4-FFF2-40B4-BE49-F238E27FC236}">
                <a16:creationId xmlns:a16="http://schemas.microsoft.com/office/drawing/2014/main" id="{8D6E2E57-FCE9-BA6C-4BAF-CBF33D2E6BCC}"/>
              </a:ext>
            </a:extLst>
          </p:cNvPr>
          <p:cNvSpPr/>
          <p:nvPr/>
        </p:nvSpPr>
        <p:spPr>
          <a:xfrm>
            <a:off x="5363139"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30">
            <a:extLst>
              <a:ext uri="{FF2B5EF4-FFF2-40B4-BE49-F238E27FC236}">
                <a16:creationId xmlns:a16="http://schemas.microsoft.com/office/drawing/2014/main" id="{22884DDF-3228-437B-4BF2-5FEC3E0FC30D}"/>
              </a:ext>
            </a:extLst>
          </p:cNvPr>
          <p:cNvSpPr/>
          <p:nvPr/>
        </p:nvSpPr>
        <p:spPr>
          <a:xfrm>
            <a:off x="5850697"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31">
            <a:extLst>
              <a:ext uri="{FF2B5EF4-FFF2-40B4-BE49-F238E27FC236}">
                <a16:creationId xmlns:a16="http://schemas.microsoft.com/office/drawing/2014/main" id="{CCE126E1-E32C-49AF-82C2-6925D623E2C0}"/>
              </a:ext>
            </a:extLst>
          </p:cNvPr>
          <p:cNvSpPr/>
          <p:nvPr/>
        </p:nvSpPr>
        <p:spPr>
          <a:xfrm>
            <a:off x="6338255"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Shape 32">
            <a:extLst>
              <a:ext uri="{FF2B5EF4-FFF2-40B4-BE49-F238E27FC236}">
                <a16:creationId xmlns:a16="http://schemas.microsoft.com/office/drawing/2014/main" id="{5460B1BA-76DD-F601-EE1F-490535DCCC19}"/>
              </a:ext>
            </a:extLst>
          </p:cNvPr>
          <p:cNvSpPr/>
          <p:nvPr/>
        </p:nvSpPr>
        <p:spPr>
          <a:xfrm>
            <a:off x="6825813"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Shape 33">
            <a:extLst>
              <a:ext uri="{FF2B5EF4-FFF2-40B4-BE49-F238E27FC236}">
                <a16:creationId xmlns:a16="http://schemas.microsoft.com/office/drawing/2014/main" id="{103F531C-0F6D-0F31-D1A1-7D3C686AF32A}"/>
              </a:ext>
            </a:extLst>
          </p:cNvPr>
          <p:cNvSpPr/>
          <p:nvPr/>
        </p:nvSpPr>
        <p:spPr>
          <a:xfrm>
            <a:off x="7313371"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34">
            <a:extLst>
              <a:ext uri="{FF2B5EF4-FFF2-40B4-BE49-F238E27FC236}">
                <a16:creationId xmlns:a16="http://schemas.microsoft.com/office/drawing/2014/main" id="{BE12B9C1-26CB-A40B-1035-04EFC13509E7}"/>
              </a:ext>
            </a:extLst>
          </p:cNvPr>
          <p:cNvSpPr/>
          <p:nvPr/>
        </p:nvSpPr>
        <p:spPr>
          <a:xfrm>
            <a:off x="7800929"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5">
            <a:extLst>
              <a:ext uri="{FF2B5EF4-FFF2-40B4-BE49-F238E27FC236}">
                <a16:creationId xmlns:a16="http://schemas.microsoft.com/office/drawing/2014/main" id="{60A4604E-356E-F797-5541-0D3595BF4AE7}"/>
              </a:ext>
            </a:extLst>
          </p:cNvPr>
          <p:cNvSpPr/>
          <p:nvPr/>
        </p:nvSpPr>
        <p:spPr>
          <a:xfrm>
            <a:off x="8288487"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6">
            <a:extLst>
              <a:ext uri="{FF2B5EF4-FFF2-40B4-BE49-F238E27FC236}">
                <a16:creationId xmlns:a16="http://schemas.microsoft.com/office/drawing/2014/main" id="{06D31205-B76B-A265-528A-6E5556CBB5A3}"/>
              </a:ext>
            </a:extLst>
          </p:cNvPr>
          <p:cNvSpPr/>
          <p:nvPr/>
        </p:nvSpPr>
        <p:spPr>
          <a:xfrm>
            <a:off x="8776045"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Shape 37">
            <a:extLst>
              <a:ext uri="{FF2B5EF4-FFF2-40B4-BE49-F238E27FC236}">
                <a16:creationId xmlns:a16="http://schemas.microsoft.com/office/drawing/2014/main" id="{6746DD39-4839-9A76-D29E-5F4A908BF8E0}"/>
              </a:ext>
            </a:extLst>
          </p:cNvPr>
          <p:cNvSpPr/>
          <p:nvPr/>
        </p:nvSpPr>
        <p:spPr>
          <a:xfrm>
            <a:off x="9263604"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Shape 38">
            <a:extLst>
              <a:ext uri="{FF2B5EF4-FFF2-40B4-BE49-F238E27FC236}">
                <a16:creationId xmlns:a16="http://schemas.microsoft.com/office/drawing/2014/main" id="{77792522-598B-241D-9383-A682711EAB63}"/>
              </a:ext>
            </a:extLst>
          </p:cNvPr>
          <p:cNvSpPr/>
          <p:nvPr/>
        </p:nvSpPr>
        <p:spPr>
          <a:xfrm>
            <a:off x="9751162"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Shape 39">
            <a:extLst>
              <a:ext uri="{FF2B5EF4-FFF2-40B4-BE49-F238E27FC236}">
                <a16:creationId xmlns:a16="http://schemas.microsoft.com/office/drawing/2014/main" id="{D30E1B13-E92C-E3CB-9D93-30142FE9E4D2}"/>
              </a:ext>
            </a:extLst>
          </p:cNvPr>
          <p:cNvSpPr/>
          <p:nvPr/>
        </p:nvSpPr>
        <p:spPr>
          <a:xfrm>
            <a:off x="10238720"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Shape 40">
            <a:extLst>
              <a:ext uri="{FF2B5EF4-FFF2-40B4-BE49-F238E27FC236}">
                <a16:creationId xmlns:a16="http://schemas.microsoft.com/office/drawing/2014/main" id="{DACAFAFB-F781-E0CB-863E-A16E23A4BD3D}"/>
              </a:ext>
            </a:extLst>
          </p:cNvPr>
          <p:cNvSpPr/>
          <p:nvPr/>
        </p:nvSpPr>
        <p:spPr>
          <a:xfrm>
            <a:off x="10726278"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Shape 41">
            <a:extLst>
              <a:ext uri="{FF2B5EF4-FFF2-40B4-BE49-F238E27FC236}">
                <a16:creationId xmlns:a16="http://schemas.microsoft.com/office/drawing/2014/main" id="{28985667-E316-573A-6307-A882947826FE}"/>
              </a:ext>
            </a:extLst>
          </p:cNvPr>
          <p:cNvSpPr/>
          <p:nvPr/>
        </p:nvSpPr>
        <p:spPr>
          <a:xfrm>
            <a:off x="11213836"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Shape 42">
            <a:extLst>
              <a:ext uri="{FF2B5EF4-FFF2-40B4-BE49-F238E27FC236}">
                <a16:creationId xmlns:a16="http://schemas.microsoft.com/office/drawing/2014/main" id="{95EB3F0E-3B58-4103-7011-559DD2BFEDD4}"/>
              </a:ext>
            </a:extLst>
          </p:cNvPr>
          <p:cNvSpPr/>
          <p:nvPr/>
        </p:nvSpPr>
        <p:spPr>
          <a:xfrm>
            <a:off x="11701394"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43">
            <a:extLst>
              <a:ext uri="{FF2B5EF4-FFF2-40B4-BE49-F238E27FC236}">
                <a16:creationId xmlns:a16="http://schemas.microsoft.com/office/drawing/2014/main" id="{49A935EB-3050-4B5E-90C4-03459D187F88}"/>
              </a:ext>
            </a:extLst>
          </p:cNvPr>
          <p:cNvSpPr/>
          <p:nvPr/>
        </p:nvSpPr>
        <p:spPr>
          <a:xfrm>
            <a:off x="0" y="0"/>
            <a:ext cx="475488" cy="6858000"/>
          </a:xfrm>
          <a:prstGeom prst="rect">
            <a:avLst/>
          </a:prstGeom>
          <a:solidFill>
            <a:srgbClr val="156082"/>
          </a:solidFill>
          <a:ln w="12700">
            <a:solidFill>
              <a:srgbClr val="15608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Shape 44">
            <a:extLst>
              <a:ext uri="{FF2B5EF4-FFF2-40B4-BE49-F238E27FC236}">
                <a16:creationId xmlns:a16="http://schemas.microsoft.com/office/drawing/2014/main" id="{45FF18B4-ED54-BEF3-8E24-8A90BB837247}"/>
              </a:ext>
            </a:extLst>
          </p:cNvPr>
          <p:cNvSpPr/>
          <p:nvPr/>
        </p:nvSpPr>
        <p:spPr>
          <a:xfrm>
            <a:off x="475488" y="0"/>
            <a:ext cx="0" cy="6858000"/>
          </a:xfrm>
          <a:prstGeom prst="line">
            <a:avLst/>
          </a:prstGeom>
          <a:noFill/>
          <a:ln w="1905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Shape 45">
            <a:extLst>
              <a:ext uri="{FF2B5EF4-FFF2-40B4-BE49-F238E27FC236}">
                <a16:creationId xmlns:a16="http://schemas.microsoft.com/office/drawing/2014/main" id="{204AAF12-4E5B-4450-A46C-22B764F86C66}"/>
              </a:ext>
            </a:extLst>
          </p:cNvPr>
          <p:cNvSpPr/>
          <p:nvPr/>
        </p:nvSpPr>
        <p:spPr>
          <a:xfrm>
            <a:off x="8412480" y="-1371600"/>
            <a:ext cx="6035040" cy="6035040"/>
          </a:xfrm>
          <a:prstGeom prst="ellipse">
            <a:avLst/>
          </a:prstGeom>
          <a:solidFill>
            <a:srgbClr val="071524">
              <a:alpha val="0"/>
            </a:srgbClr>
          </a:solidFill>
          <a:ln w="12700">
            <a:solidFill>
              <a:srgbClr val="0F9ED5">
                <a:alpha val="12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Shape 46">
            <a:extLst>
              <a:ext uri="{FF2B5EF4-FFF2-40B4-BE49-F238E27FC236}">
                <a16:creationId xmlns:a16="http://schemas.microsoft.com/office/drawing/2014/main" id="{93C49EDE-3853-F073-C11A-0BCAF4852D75}"/>
              </a:ext>
            </a:extLst>
          </p:cNvPr>
          <p:cNvSpPr/>
          <p:nvPr/>
        </p:nvSpPr>
        <p:spPr>
          <a:xfrm>
            <a:off x="9235440" y="-548640"/>
            <a:ext cx="4389120" cy="4389120"/>
          </a:xfrm>
          <a:prstGeom prst="ellipse">
            <a:avLst/>
          </a:prstGeom>
          <a:solidFill>
            <a:srgbClr val="071524">
              <a:alpha val="0"/>
            </a:srgbClr>
          </a:solidFill>
          <a:ln w="12700">
            <a:solidFill>
              <a:srgbClr val="0F9ED5">
                <a:alpha val="22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Shape 47">
            <a:extLst>
              <a:ext uri="{FF2B5EF4-FFF2-40B4-BE49-F238E27FC236}">
                <a16:creationId xmlns:a16="http://schemas.microsoft.com/office/drawing/2014/main" id="{F7C64DF4-A8DD-5029-1DBE-30A4E64A2B95}"/>
              </a:ext>
            </a:extLst>
          </p:cNvPr>
          <p:cNvSpPr/>
          <p:nvPr/>
        </p:nvSpPr>
        <p:spPr>
          <a:xfrm>
            <a:off x="10058400" y="274320"/>
            <a:ext cx="2743200" cy="2743200"/>
          </a:xfrm>
          <a:prstGeom prst="ellipse">
            <a:avLst/>
          </a:prstGeom>
          <a:solidFill>
            <a:srgbClr val="071524">
              <a:alpha val="0"/>
            </a:srgbClr>
          </a:solidFill>
          <a:ln w="12700">
            <a:solidFill>
              <a:srgbClr val="0F9ED5">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48">
            <a:extLst>
              <a:ext uri="{FF2B5EF4-FFF2-40B4-BE49-F238E27FC236}">
                <a16:creationId xmlns:a16="http://schemas.microsoft.com/office/drawing/2014/main" id="{D1B27829-8F38-8D8A-60C7-C0C15BE97458}"/>
              </a:ext>
            </a:extLst>
          </p:cNvPr>
          <p:cNvSpPr/>
          <p:nvPr/>
        </p:nvSpPr>
        <p:spPr>
          <a:xfrm>
            <a:off x="10881360" y="1097280"/>
            <a:ext cx="1097280" cy="1097280"/>
          </a:xfrm>
          <a:prstGeom prst="ellipse">
            <a:avLst/>
          </a:prstGeom>
          <a:solidFill>
            <a:srgbClr val="071524">
              <a:alpha val="0"/>
            </a:srgbClr>
          </a:solidFill>
          <a:ln w="12700">
            <a:solidFill>
              <a:srgbClr val="0F9ED5">
                <a:alpha val="5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9">
            <a:extLst>
              <a:ext uri="{FF2B5EF4-FFF2-40B4-BE49-F238E27FC236}">
                <a16:creationId xmlns:a16="http://schemas.microsoft.com/office/drawing/2014/main" id="{A0815CD7-C9B4-6591-684D-7DE3B62DD8DC}"/>
              </a:ext>
            </a:extLst>
          </p:cNvPr>
          <p:cNvSpPr/>
          <p:nvPr/>
        </p:nvSpPr>
        <p:spPr>
          <a:xfrm>
            <a:off x="11292840" y="1508760"/>
            <a:ext cx="274320" cy="274320"/>
          </a:xfrm>
          <a:prstGeom prst="ellipse">
            <a:avLst/>
          </a:prstGeom>
          <a:solidFill>
            <a:srgbClr val="0F9ED5">
              <a:alpha val="60000"/>
            </a:srgbClr>
          </a:solidFill>
          <a:ln w="1270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Shape 50">
            <a:extLst>
              <a:ext uri="{FF2B5EF4-FFF2-40B4-BE49-F238E27FC236}">
                <a16:creationId xmlns:a16="http://schemas.microsoft.com/office/drawing/2014/main" id="{B67FDB82-063A-4E0F-08E9-27BEDFBE2B1D}"/>
              </a:ext>
            </a:extLst>
          </p:cNvPr>
          <p:cNvSpPr/>
          <p:nvPr/>
        </p:nvSpPr>
        <p:spPr>
          <a:xfrm>
            <a:off x="155448" y="1179576"/>
            <a:ext cx="201168" cy="201168"/>
          </a:xfrm>
          <a:prstGeom prst="ellipse">
            <a:avLst/>
          </a:prstGeom>
          <a:solidFill>
            <a:srgbClr val="E97132"/>
          </a:solidFill>
          <a:ln w="1270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Shape 51">
            <a:extLst>
              <a:ext uri="{FF2B5EF4-FFF2-40B4-BE49-F238E27FC236}">
                <a16:creationId xmlns:a16="http://schemas.microsoft.com/office/drawing/2014/main" id="{6F3BE647-6669-23C7-0802-C7668A9356F8}"/>
              </a:ext>
            </a:extLst>
          </p:cNvPr>
          <p:cNvSpPr/>
          <p:nvPr/>
        </p:nvSpPr>
        <p:spPr>
          <a:xfrm>
            <a:off x="155448" y="2002536"/>
            <a:ext cx="201168" cy="201168"/>
          </a:xfrm>
          <a:prstGeom prst="ellipse">
            <a:avLst/>
          </a:prstGeom>
          <a:solidFill>
            <a:srgbClr val="0F9ED5"/>
          </a:solidFill>
          <a:ln w="1270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Shape 52">
            <a:extLst>
              <a:ext uri="{FF2B5EF4-FFF2-40B4-BE49-F238E27FC236}">
                <a16:creationId xmlns:a16="http://schemas.microsoft.com/office/drawing/2014/main" id="{19A3FC76-D855-F4B9-6014-A4C924BB50B2}"/>
              </a:ext>
            </a:extLst>
          </p:cNvPr>
          <p:cNvSpPr/>
          <p:nvPr/>
        </p:nvSpPr>
        <p:spPr>
          <a:xfrm>
            <a:off x="155448" y="2825496"/>
            <a:ext cx="201168" cy="201168"/>
          </a:xfrm>
          <a:prstGeom prst="ellipse">
            <a:avLst/>
          </a:prstGeom>
          <a:solidFill>
            <a:srgbClr val="196B24"/>
          </a:solidFill>
          <a:ln w="12700">
            <a:solidFill>
              <a:srgbClr val="196B2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Shape 53">
            <a:extLst>
              <a:ext uri="{FF2B5EF4-FFF2-40B4-BE49-F238E27FC236}">
                <a16:creationId xmlns:a16="http://schemas.microsoft.com/office/drawing/2014/main" id="{68196ED5-742F-C560-BE82-F8D4177D4855}"/>
              </a:ext>
            </a:extLst>
          </p:cNvPr>
          <p:cNvSpPr/>
          <p:nvPr/>
        </p:nvSpPr>
        <p:spPr>
          <a:xfrm>
            <a:off x="155448" y="3648456"/>
            <a:ext cx="201168" cy="201168"/>
          </a:xfrm>
          <a:prstGeom prst="ellipse">
            <a:avLst/>
          </a:prstGeom>
          <a:solidFill>
            <a:srgbClr val="0F9ED5"/>
          </a:solidFill>
          <a:ln w="1270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Shape 54">
            <a:extLst>
              <a:ext uri="{FF2B5EF4-FFF2-40B4-BE49-F238E27FC236}">
                <a16:creationId xmlns:a16="http://schemas.microsoft.com/office/drawing/2014/main" id="{0D6A7CF6-6A00-1E15-1DD7-5330F60F802F}"/>
              </a:ext>
            </a:extLst>
          </p:cNvPr>
          <p:cNvSpPr/>
          <p:nvPr/>
        </p:nvSpPr>
        <p:spPr>
          <a:xfrm>
            <a:off x="155448" y="4471416"/>
            <a:ext cx="201168" cy="201168"/>
          </a:xfrm>
          <a:prstGeom prst="ellipse">
            <a:avLst/>
          </a:prstGeom>
          <a:solidFill>
            <a:srgbClr val="E97132"/>
          </a:solidFill>
          <a:ln w="1270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Text 56">
            <a:extLst>
              <a:ext uri="{FF2B5EF4-FFF2-40B4-BE49-F238E27FC236}">
                <a16:creationId xmlns:a16="http://schemas.microsoft.com/office/drawing/2014/main" id="{8B3CEB36-0232-472B-D468-DFD545979B7C}"/>
              </a:ext>
            </a:extLst>
          </p:cNvPr>
          <p:cNvSpPr/>
          <p:nvPr/>
        </p:nvSpPr>
        <p:spPr>
          <a:xfrm>
            <a:off x="658368" y="2038635"/>
            <a:ext cx="8778240" cy="731520"/>
          </a:xfrm>
          <a:prstGeom prst="rect">
            <a:avLst/>
          </a:prstGeom>
          <a:noFill/>
          <a:ln/>
        </p:spPr>
        <p:txBody>
          <a:bodyPr wrap="square" lIns="91440" tIns="45720" rIns="91440" bIns="45720" rtlCol="0" anchor="ctr"/>
          <a:lstStyle/>
          <a:p>
            <a:pPr algn="l">
              <a:defRPr/>
            </a:pPr>
            <a:r>
              <a:rPr lang="en-US" sz="5600" b="1" spc="-50">
                <a:solidFill>
                  <a:srgbClr val="FFFFFF"/>
                </a:solidFill>
                <a:latin typeface="Aptos Display"/>
                <a:ea typeface="+mn-ea"/>
                <a:cs typeface="+mn-cs"/>
              </a:rPr>
              <a:t>Results &amp; Future Scope</a:t>
            </a:r>
          </a:p>
        </p:txBody>
      </p:sp>
      <p:sp>
        <p:nvSpPr>
          <p:cNvPr id="59" name="Text 57">
            <a:extLst>
              <a:ext uri="{FF2B5EF4-FFF2-40B4-BE49-F238E27FC236}">
                <a16:creationId xmlns:a16="http://schemas.microsoft.com/office/drawing/2014/main" id="{40E5855E-FE56-7C7E-1132-DB2A6032F65C}"/>
              </a:ext>
            </a:extLst>
          </p:cNvPr>
          <p:cNvSpPr/>
          <p:nvPr/>
        </p:nvSpPr>
        <p:spPr>
          <a:xfrm>
            <a:off x="658368" y="2051113"/>
            <a:ext cx="8961120" cy="512064"/>
          </a:xfrm>
          <a:prstGeom prst="rect">
            <a:avLst/>
          </a:prstGeom>
          <a:noFill/>
          <a:ln/>
        </p:spPr>
        <p:txBody>
          <a:bodyPr wrap="square"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srgbClr val="0F9ED5"/>
              </a:solidFill>
              <a:effectLst/>
              <a:uLnTx/>
              <a:uFillTx/>
              <a:latin typeface="Calibri" panose="020F0502020204030204"/>
              <a:ea typeface="Calibri"/>
              <a:cs typeface="Calibri"/>
            </a:endParaRPr>
          </a:p>
        </p:txBody>
      </p:sp>
      <p:sp>
        <p:nvSpPr>
          <p:cNvPr id="60" name="Shape 58">
            <a:extLst>
              <a:ext uri="{FF2B5EF4-FFF2-40B4-BE49-F238E27FC236}">
                <a16:creationId xmlns:a16="http://schemas.microsoft.com/office/drawing/2014/main" id="{9E77A184-A1EA-5C3C-CEEB-29065B051279}"/>
              </a:ext>
            </a:extLst>
          </p:cNvPr>
          <p:cNvSpPr/>
          <p:nvPr/>
        </p:nvSpPr>
        <p:spPr>
          <a:xfrm>
            <a:off x="658368" y="2768155"/>
            <a:ext cx="8229600" cy="0"/>
          </a:xfrm>
          <a:prstGeom prst="line">
            <a:avLst/>
          </a:prstGeom>
          <a:noFill/>
          <a:ln w="3175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62">
            <a:extLst>
              <a:ext uri="{FF2B5EF4-FFF2-40B4-BE49-F238E27FC236}">
                <a16:creationId xmlns:a16="http://schemas.microsoft.com/office/drawing/2014/main" id="{1F024F1A-B067-17D8-4D00-B9FB350BFF23}"/>
              </a:ext>
            </a:extLst>
          </p:cNvPr>
          <p:cNvSpPr/>
          <p:nvPr/>
        </p:nvSpPr>
        <p:spPr>
          <a:xfrm>
            <a:off x="658368" y="2724912"/>
            <a:ext cx="10515600" cy="0"/>
          </a:xfrm>
          <a:prstGeom prst="line">
            <a:avLst/>
          </a:prstGeom>
          <a:noFill/>
          <a:ln w="1016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Shape 66">
            <a:extLst>
              <a:ext uri="{FF2B5EF4-FFF2-40B4-BE49-F238E27FC236}">
                <a16:creationId xmlns:a16="http://schemas.microsoft.com/office/drawing/2014/main" id="{DE9ABB16-5482-46E2-22AD-F1972F6D1C8B}"/>
              </a:ext>
            </a:extLst>
          </p:cNvPr>
          <p:cNvSpPr/>
          <p:nvPr/>
        </p:nvSpPr>
        <p:spPr>
          <a:xfrm>
            <a:off x="658368" y="3383280"/>
            <a:ext cx="10515600" cy="0"/>
          </a:xfrm>
          <a:prstGeom prst="line">
            <a:avLst/>
          </a:prstGeom>
          <a:noFill/>
          <a:ln w="1016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Shape 70">
            <a:extLst>
              <a:ext uri="{FF2B5EF4-FFF2-40B4-BE49-F238E27FC236}">
                <a16:creationId xmlns:a16="http://schemas.microsoft.com/office/drawing/2014/main" id="{28415D6B-F8A8-FE33-88A7-4F495297F8DB}"/>
              </a:ext>
            </a:extLst>
          </p:cNvPr>
          <p:cNvSpPr/>
          <p:nvPr/>
        </p:nvSpPr>
        <p:spPr>
          <a:xfrm>
            <a:off x="658368" y="4041648"/>
            <a:ext cx="10515600" cy="0"/>
          </a:xfrm>
          <a:prstGeom prst="line">
            <a:avLst/>
          </a:prstGeom>
          <a:noFill/>
          <a:ln w="1016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Shape 74">
            <a:extLst>
              <a:ext uri="{FF2B5EF4-FFF2-40B4-BE49-F238E27FC236}">
                <a16:creationId xmlns:a16="http://schemas.microsoft.com/office/drawing/2014/main" id="{5107FE8D-DA1A-C408-3765-06DAF0346466}"/>
              </a:ext>
            </a:extLst>
          </p:cNvPr>
          <p:cNvSpPr/>
          <p:nvPr/>
        </p:nvSpPr>
        <p:spPr>
          <a:xfrm>
            <a:off x="475488" y="4956048"/>
            <a:ext cx="11713464" cy="0"/>
          </a:xfrm>
          <a:prstGeom prst="line">
            <a:avLst/>
          </a:prstGeom>
          <a:noFill/>
          <a:ln w="2540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Shape 75">
            <a:extLst>
              <a:ext uri="{FF2B5EF4-FFF2-40B4-BE49-F238E27FC236}">
                <a16:creationId xmlns:a16="http://schemas.microsoft.com/office/drawing/2014/main" id="{E90CC992-DD78-B3DB-4573-899982BE4605}"/>
              </a:ext>
            </a:extLst>
          </p:cNvPr>
          <p:cNvSpPr/>
          <p:nvPr/>
        </p:nvSpPr>
        <p:spPr>
          <a:xfrm>
            <a:off x="475488" y="4956048"/>
            <a:ext cx="2928366" cy="1773936"/>
          </a:xfrm>
          <a:prstGeom prst="rect">
            <a:avLst/>
          </a:prstGeom>
          <a:solidFill>
            <a:srgbClr val="0E2841"/>
          </a:solidFill>
          <a:ln w="12700">
            <a:solidFill>
              <a:srgbClr val="0E28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Shape 76">
            <a:extLst>
              <a:ext uri="{FF2B5EF4-FFF2-40B4-BE49-F238E27FC236}">
                <a16:creationId xmlns:a16="http://schemas.microsoft.com/office/drawing/2014/main" id="{7F47DAC3-23A5-3DE8-4559-4193E577A325}"/>
              </a:ext>
            </a:extLst>
          </p:cNvPr>
          <p:cNvSpPr/>
          <p:nvPr/>
        </p:nvSpPr>
        <p:spPr>
          <a:xfrm>
            <a:off x="475488" y="4956048"/>
            <a:ext cx="2928366" cy="50292"/>
          </a:xfrm>
          <a:prstGeom prst="rect">
            <a:avLst/>
          </a:prstGeom>
          <a:solidFill>
            <a:srgbClr val="E97132"/>
          </a:solidFill>
          <a:ln w="1270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Shape 77">
            <a:extLst>
              <a:ext uri="{FF2B5EF4-FFF2-40B4-BE49-F238E27FC236}">
                <a16:creationId xmlns:a16="http://schemas.microsoft.com/office/drawing/2014/main" id="{DF753D2B-E8C4-9937-7D13-479883557115}"/>
              </a:ext>
            </a:extLst>
          </p:cNvPr>
          <p:cNvSpPr/>
          <p:nvPr/>
        </p:nvSpPr>
        <p:spPr>
          <a:xfrm>
            <a:off x="3403854" y="4956048"/>
            <a:ext cx="0" cy="1773936"/>
          </a:xfrm>
          <a:prstGeom prst="line">
            <a:avLst/>
          </a:prstGeom>
          <a:noFill/>
          <a:ln w="1270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Shape 81">
            <a:extLst>
              <a:ext uri="{FF2B5EF4-FFF2-40B4-BE49-F238E27FC236}">
                <a16:creationId xmlns:a16="http://schemas.microsoft.com/office/drawing/2014/main" id="{C2135FDC-F8FE-3A5A-6FBD-4390A6E1DF59}"/>
              </a:ext>
            </a:extLst>
          </p:cNvPr>
          <p:cNvSpPr/>
          <p:nvPr/>
        </p:nvSpPr>
        <p:spPr>
          <a:xfrm>
            <a:off x="3403854" y="4956048"/>
            <a:ext cx="2928366" cy="1773936"/>
          </a:xfrm>
          <a:prstGeom prst="rect">
            <a:avLst/>
          </a:prstGeom>
          <a:solidFill>
            <a:srgbClr val="0E2841"/>
          </a:solidFill>
          <a:ln w="12700">
            <a:solidFill>
              <a:srgbClr val="0E28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Shape 82">
            <a:extLst>
              <a:ext uri="{FF2B5EF4-FFF2-40B4-BE49-F238E27FC236}">
                <a16:creationId xmlns:a16="http://schemas.microsoft.com/office/drawing/2014/main" id="{2320E21F-50E5-393B-58DA-7A798C1FEE24}"/>
              </a:ext>
            </a:extLst>
          </p:cNvPr>
          <p:cNvSpPr/>
          <p:nvPr/>
        </p:nvSpPr>
        <p:spPr>
          <a:xfrm>
            <a:off x="3403854" y="4956048"/>
            <a:ext cx="2928366" cy="50292"/>
          </a:xfrm>
          <a:prstGeom prst="rect">
            <a:avLst/>
          </a:prstGeom>
          <a:solidFill>
            <a:srgbClr val="0F9ED5"/>
          </a:solidFill>
          <a:ln w="1270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Shape 83">
            <a:extLst>
              <a:ext uri="{FF2B5EF4-FFF2-40B4-BE49-F238E27FC236}">
                <a16:creationId xmlns:a16="http://schemas.microsoft.com/office/drawing/2014/main" id="{DF937198-6D88-6BD6-AD1B-FF175B8C0EAE}"/>
              </a:ext>
            </a:extLst>
          </p:cNvPr>
          <p:cNvSpPr/>
          <p:nvPr/>
        </p:nvSpPr>
        <p:spPr>
          <a:xfrm>
            <a:off x="6332220" y="4956048"/>
            <a:ext cx="0" cy="1773936"/>
          </a:xfrm>
          <a:prstGeom prst="line">
            <a:avLst/>
          </a:prstGeom>
          <a:noFill/>
          <a:ln w="1270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Shape 87">
            <a:extLst>
              <a:ext uri="{FF2B5EF4-FFF2-40B4-BE49-F238E27FC236}">
                <a16:creationId xmlns:a16="http://schemas.microsoft.com/office/drawing/2014/main" id="{B45C4E42-8E41-E767-B252-4E1D2FB24464}"/>
              </a:ext>
            </a:extLst>
          </p:cNvPr>
          <p:cNvSpPr/>
          <p:nvPr/>
        </p:nvSpPr>
        <p:spPr>
          <a:xfrm>
            <a:off x="6332220" y="4956048"/>
            <a:ext cx="2928366" cy="1773936"/>
          </a:xfrm>
          <a:prstGeom prst="rect">
            <a:avLst/>
          </a:prstGeom>
          <a:solidFill>
            <a:srgbClr val="0E2841"/>
          </a:solidFill>
          <a:ln w="12700">
            <a:solidFill>
              <a:srgbClr val="0E28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Shape 88">
            <a:extLst>
              <a:ext uri="{FF2B5EF4-FFF2-40B4-BE49-F238E27FC236}">
                <a16:creationId xmlns:a16="http://schemas.microsoft.com/office/drawing/2014/main" id="{47DBB387-16C4-06E9-98B6-89521B97F096}"/>
              </a:ext>
            </a:extLst>
          </p:cNvPr>
          <p:cNvSpPr/>
          <p:nvPr/>
        </p:nvSpPr>
        <p:spPr>
          <a:xfrm>
            <a:off x="6332220" y="4956048"/>
            <a:ext cx="2928366" cy="50292"/>
          </a:xfrm>
          <a:prstGeom prst="rect">
            <a:avLst/>
          </a:prstGeom>
          <a:solidFill>
            <a:srgbClr val="196B24"/>
          </a:solidFill>
          <a:ln w="12700">
            <a:solidFill>
              <a:srgbClr val="196B2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Shape 89">
            <a:extLst>
              <a:ext uri="{FF2B5EF4-FFF2-40B4-BE49-F238E27FC236}">
                <a16:creationId xmlns:a16="http://schemas.microsoft.com/office/drawing/2014/main" id="{99AD0021-E2EC-E840-9559-09F0A7023EAE}"/>
              </a:ext>
            </a:extLst>
          </p:cNvPr>
          <p:cNvSpPr/>
          <p:nvPr/>
        </p:nvSpPr>
        <p:spPr>
          <a:xfrm>
            <a:off x="9260586" y="4956048"/>
            <a:ext cx="0" cy="1773936"/>
          </a:xfrm>
          <a:prstGeom prst="line">
            <a:avLst/>
          </a:prstGeom>
          <a:noFill/>
          <a:ln w="1270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Shape 93">
            <a:extLst>
              <a:ext uri="{FF2B5EF4-FFF2-40B4-BE49-F238E27FC236}">
                <a16:creationId xmlns:a16="http://schemas.microsoft.com/office/drawing/2014/main" id="{28F82DEF-0DBB-6E41-AD32-BE4E60791B19}"/>
              </a:ext>
            </a:extLst>
          </p:cNvPr>
          <p:cNvSpPr/>
          <p:nvPr/>
        </p:nvSpPr>
        <p:spPr>
          <a:xfrm>
            <a:off x="9260586" y="4956048"/>
            <a:ext cx="2928366" cy="1773936"/>
          </a:xfrm>
          <a:prstGeom prst="rect">
            <a:avLst/>
          </a:prstGeom>
          <a:solidFill>
            <a:srgbClr val="0E2841"/>
          </a:solidFill>
          <a:ln w="12700">
            <a:solidFill>
              <a:srgbClr val="0E28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Shape 94">
            <a:extLst>
              <a:ext uri="{FF2B5EF4-FFF2-40B4-BE49-F238E27FC236}">
                <a16:creationId xmlns:a16="http://schemas.microsoft.com/office/drawing/2014/main" id="{22F24601-8E52-5385-AC0C-CDB9F47726CA}"/>
              </a:ext>
            </a:extLst>
          </p:cNvPr>
          <p:cNvSpPr/>
          <p:nvPr/>
        </p:nvSpPr>
        <p:spPr>
          <a:xfrm>
            <a:off x="9260586" y="4956048"/>
            <a:ext cx="2928366" cy="50292"/>
          </a:xfrm>
          <a:prstGeom prst="rect">
            <a:avLst/>
          </a:prstGeom>
          <a:solidFill>
            <a:srgbClr val="8BAFC4"/>
          </a:solidFill>
          <a:ln w="12700">
            <a:solidFill>
              <a:srgbClr val="8BAFC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8049150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8" name="Shape 6"/>
          <p:cNvSpPr/>
          <p:nvPr/>
        </p:nvSpPr>
        <p:spPr>
          <a:xfrm>
            <a:off x="341376" y="1015577"/>
            <a:ext cx="2706624" cy="1560576"/>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SG"/>
          </a:p>
        </p:txBody>
      </p:sp>
      <p:sp>
        <p:nvSpPr>
          <p:cNvPr id="9" name="Shape 7"/>
          <p:cNvSpPr/>
          <p:nvPr/>
        </p:nvSpPr>
        <p:spPr>
          <a:xfrm>
            <a:off x="341376" y="1015577"/>
            <a:ext cx="2706624" cy="60960"/>
          </a:xfrm>
          <a:prstGeom prst="rect">
            <a:avLst/>
          </a:prstGeom>
          <a:solidFill>
            <a:srgbClr val="2563EB"/>
          </a:solidFill>
          <a:ln w="12700">
            <a:solidFill>
              <a:srgbClr val="2563EB"/>
            </a:solidFill>
            <a:prstDash val="solid"/>
          </a:ln>
        </p:spPr>
        <p:txBody>
          <a:bodyPr/>
          <a:lstStyle/>
          <a:p>
            <a:endParaRPr lang="en-SG"/>
          </a:p>
        </p:txBody>
      </p:sp>
      <p:sp>
        <p:nvSpPr>
          <p:cNvPr id="10" name="Text 8"/>
          <p:cNvSpPr/>
          <p:nvPr/>
        </p:nvSpPr>
        <p:spPr>
          <a:xfrm>
            <a:off x="341376" y="1113113"/>
            <a:ext cx="2706624"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3467" b="1">
                <a:solidFill>
                  <a:srgbClr val="2563EB"/>
                </a:solidFill>
              </a:rPr>
              <a:t>$3.92M</a:t>
            </a:r>
            <a:endParaRPr lang="en-US" sz="3467"/>
          </a:p>
        </p:txBody>
      </p:sp>
      <p:sp>
        <p:nvSpPr>
          <p:cNvPr id="11" name="Text 9"/>
          <p:cNvSpPr/>
          <p:nvPr/>
        </p:nvSpPr>
        <p:spPr>
          <a:xfrm>
            <a:off x="438912" y="1808057"/>
            <a:ext cx="2511552"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00">
                <a:solidFill>
                  <a:srgbClr val="64748B"/>
                </a:solidFill>
              </a:rPr>
              <a:t>Projected cost savings · downtime prevention + procurement</a:t>
            </a:r>
            <a:endParaRPr lang="en-US" sz="1400"/>
          </a:p>
        </p:txBody>
      </p:sp>
      <p:sp>
        <p:nvSpPr>
          <p:cNvPr id="12" name="Shape 10"/>
          <p:cNvSpPr/>
          <p:nvPr/>
        </p:nvSpPr>
        <p:spPr>
          <a:xfrm>
            <a:off x="3230880" y="1015577"/>
            <a:ext cx="2706624" cy="1560576"/>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SG"/>
          </a:p>
        </p:txBody>
      </p:sp>
      <p:sp>
        <p:nvSpPr>
          <p:cNvPr id="13" name="Shape 11"/>
          <p:cNvSpPr/>
          <p:nvPr/>
        </p:nvSpPr>
        <p:spPr>
          <a:xfrm>
            <a:off x="3230880" y="1015577"/>
            <a:ext cx="2706624" cy="60960"/>
          </a:xfrm>
          <a:prstGeom prst="rect">
            <a:avLst/>
          </a:prstGeom>
          <a:solidFill>
            <a:srgbClr val="059669"/>
          </a:solidFill>
          <a:ln w="12700">
            <a:solidFill>
              <a:srgbClr val="059669"/>
            </a:solidFill>
            <a:prstDash val="solid"/>
          </a:ln>
        </p:spPr>
        <p:txBody>
          <a:bodyPr/>
          <a:lstStyle/>
          <a:p>
            <a:endParaRPr lang="en-SG"/>
          </a:p>
        </p:txBody>
      </p:sp>
      <p:sp>
        <p:nvSpPr>
          <p:cNvPr id="14" name="Text 12"/>
          <p:cNvSpPr/>
          <p:nvPr/>
        </p:nvSpPr>
        <p:spPr>
          <a:xfrm>
            <a:off x="3230880" y="1113113"/>
            <a:ext cx="2706624"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3467" b="1">
                <a:solidFill>
                  <a:srgbClr val="059669"/>
                </a:solidFill>
              </a:rPr>
              <a:t>98.90%</a:t>
            </a:r>
            <a:endParaRPr lang="en-US" sz="3467"/>
          </a:p>
        </p:txBody>
      </p:sp>
      <p:sp>
        <p:nvSpPr>
          <p:cNvPr id="15" name="Text 13"/>
          <p:cNvSpPr/>
          <p:nvPr/>
        </p:nvSpPr>
        <p:spPr>
          <a:xfrm>
            <a:off x="3328416" y="1808057"/>
            <a:ext cx="2511552"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00">
                <a:solidFill>
                  <a:srgbClr val="64748B"/>
                </a:solidFill>
              </a:rPr>
              <a:t>RSF C-Index · 2025 holdout · 367M concordant pairs</a:t>
            </a:r>
            <a:endParaRPr lang="en-US" sz="1400"/>
          </a:p>
        </p:txBody>
      </p:sp>
      <p:sp>
        <p:nvSpPr>
          <p:cNvPr id="16" name="Shape 14"/>
          <p:cNvSpPr/>
          <p:nvPr/>
        </p:nvSpPr>
        <p:spPr>
          <a:xfrm>
            <a:off x="6120384" y="1015577"/>
            <a:ext cx="2706624" cy="1560576"/>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SG"/>
          </a:p>
        </p:txBody>
      </p:sp>
      <p:sp>
        <p:nvSpPr>
          <p:cNvPr id="17" name="Shape 15"/>
          <p:cNvSpPr/>
          <p:nvPr/>
        </p:nvSpPr>
        <p:spPr>
          <a:xfrm>
            <a:off x="6120384" y="1015577"/>
            <a:ext cx="2706624" cy="60960"/>
          </a:xfrm>
          <a:prstGeom prst="rect">
            <a:avLst/>
          </a:prstGeom>
          <a:solidFill>
            <a:srgbClr val="0891B2"/>
          </a:solidFill>
          <a:ln w="12700">
            <a:solidFill>
              <a:srgbClr val="0891B2"/>
            </a:solidFill>
            <a:prstDash val="solid"/>
          </a:ln>
        </p:spPr>
        <p:txBody>
          <a:bodyPr/>
          <a:lstStyle/>
          <a:p>
            <a:endParaRPr lang="en-SG"/>
          </a:p>
        </p:txBody>
      </p:sp>
      <p:sp>
        <p:nvSpPr>
          <p:cNvPr id="18" name="Text 16"/>
          <p:cNvSpPr/>
          <p:nvPr/>
        </p:nvSpPr>
        <p:spPr>
          <a:xfrm>
            <a:off x="6120384" y="1113113"/>
            <a:ext cx="2706624"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3467" b="1">
                <a:solidFill>
                  <a:srgbClr val="0891B2"/>
                </a:solidFill>
              </a:rPr>
              <a:t>94.7%</a:t>
            </a:r>
            <a:endParaRPr lang="en-US" sz="3467"/>
          </a:p>
        </p:txBody>
      </p:sp>
      <p:sp>
        <p:nvSpPr>
          <p:cNvPr id="19" name="Text 17"/>
          <p:cNvSpPr/>
          <p:nvPr/>
        </p:nvSpPr>
        <p:spPr>
          <a:xfrm>
            <a:off x="6217920" y="1808057"/>
            <a:ext cx="2511552"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00">
                <a:solidFill>
                  <a:srgbClr val="64748B"/>
                </a:solidFill>
              </a:rPr>
              <a:t>CatBoost breach recall · threshold 0.4922 (validation fold)</a:t>
            </a:r>
            <a:endParaRPr lang="en-US" sz="1400"/>
          </a:p>
        </p:txBody>
      </p:sp>
      <p:sp>
        <p:nvSpPr>
          <p:cNvPr id="20" name="Shape 18"/>
          <p:cNvSpPr/>
          <p:nvPr/>
        </p:nvSpPr>
        <p:spPr>
          <a:xfrm>
            <a:off x="9009888" y="1015577"/>
            <a:ext cx="2706624" cy="1560576"/>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SG"/>
          </a:p>
        </p:txBody>
      </p:sp>
      <p:sp>
        <p:nvSpPr>
          <p:cNvPr id="21" name="Shape 19"/>
          <p:cNvSpPr/>
          <p:nvPr/>
        </p:nvSpPr>
        <p:spPr>
          <a:xfrm>
            <a:off x="9009888" y="1015577"/>
            <a:ext cx="2706624" cy="60960"/>
          </a:xfrm>
          <a:prstGeom prst="rect">
            <a:avLst/>
          </a:prstGeom>
          <a:solidFill>
            <a:srgbClr val="D97706"/>
          </a:solidFill>
          <a:ln w="12700">
            <a:solidFill>
              <a:srgbClr val="D97706"/>
            </a:solidFill>
            <a:prstDash val="solid"/>
          </a:ln>
        </p:spPr>
        <p:txBody>
          <a:bodyPr/>
          <a:lstStyle/>
          <a:p>
            <a:endParaRPr lang="en-SG"/>
          </a:p>
        </p:txBody>
      </p:sp>
      <p:sp>
        <p:nvSpPr>
          <p:cNvPr id="22" name="Text 20"/>
          <p:cNvSpPr/>
          <p:nvPr/>
        </p:nvSpPr>
        <p:spPr>
          <a:xfrm>
            <a:off x="9009888" y="1113113"/>
            <a:ext cx="2706624"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3467" b="1">
                <a:solidFill>
                  <a:srgbClr val="D97706"/>
                </a:solidFill>
              </a:rPr>
              <a:t>0.951</a:t>
            </a:r>
            <a:endParaRPr lang="en-US" sz="3467"/>
          </a:p>
        </p:txBody>
      </p:sp>
      <p:sp>
        <p:nvSpPr>
          <p:cNvPr id="23" name="Text 21"/>
          <p:cNvSpPr/>
          <p:nvPr/>
        </p:nvSpPr>
        <p:spPr>
          <a:xfrm>
            <a:off x="9107424" y="1808057"/>
            <a:ext cx="2511552"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00">
                <a:solidFill>
                  <a:srgbClr val="64748B"/>
                </a:solidFill>
              </a:rPr>
              <a:t>Ticket Category ROC-AUC · Logistic Regression</a:t>
            </a:r>
            <a:endParaRPr lang="en-US" sz="1400"/>
          </a:p>
        </p:txBody>
      </p:sp>
      <p:sp>
        <p:nvSpPr>
          <p:cNvPr id="24" name="Shape 22"/>
          <p:cNvSpPr/>
          <p:nvPr/>
        </p:nvSpPr>
        <p:spPr>
          <a:xfrm>
            <a:off x="341376" y="2759033"/>
            <a:ext cx="5608320" cy="1731264"/>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SG"/>
          </a:p>
        </p:txBody>
      </p:sp>
      <p:sp>
        <p:nvSpPr>
          <p:cNvPr id="25" name="Shape 23"/>
          <p:cNvSpPr/>
          <p:nvPr/>
        </p:nvSpPr>
        <p:spPr>
          <a:xfrm>
            <a:off x="341376" y="2759033"/>
            <a:ext cx="5608320" cy="60960"/>
          </a:xfrm>
          <a:prstGeom prst="rect">
            <a:avLst/>
          </a:prstGeom>
          <a:solidFill>
            <a:srgbClr val="2563EB"/>
          </a:solidFill>
          <a:ln w="12700">
            <a:solidFill>
              <a:srgbClr val="2563EB"/>
            </a:solidFill>
            <a:prstDash val="solid"/>
          </a:ln>
        </p:spPr>
        <p:txBody>
          <a:bodyPr/>
          <a:lstStyle/>
          <a:p>
            <a:endParaRPr lang="en-SG"/>
          </a:p>
        </p:txBody>
      </p:sp>
      <p:sp>
        <p:nvSpPr>
          <p:cNvPr id="26" name="Shape 24"/>
          <p:cNvSpPr/>
          <p:nvPr/>
        </p:nvSpPr>
        <p:spPr>
          <a:xfrm>
            <a:off x="341376" y="2759033"/>
            <a:ext cx="73152" cy="1731264"/>
          </a:xfrm>
          <a:prstGeom prst="rect">
            <a:avLst/>
          </a:prstGeom>
          <a:solidFill>
            <a:srgbClr val="2563EB"/>
          </a:solidFill>
          <a:ln w="12700">
            <a:solidFill>
              <a:srgbClr val="2563EB"/>
            </a:solidFill>
            <a:prstDash val="solid"/>
          </a:ln>
        </p:spPr>
        <p:txBody>
          <a:bodyPr/>
          <a:lstStyle/>
          <a:p>
            <a:endParaRPr lang="en-SG"/>
          </a:p>
        </p:txBody>
      </p:sp>
      <p:sp>
        <p:nvSpPr>
          <p:cNvPr id="27" name="Text 25"/>
          <p:cNvSpPr/>
          <p:nvPr/>
        </p:nvSpPr>
        <p:spPr>
          <a:xfrm>
            <a:off x="524256" y="2880953"/>
            <a:ext cx="5303520" cy="31699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b="1">
                <a:solidFill>
                  <a:srgbClr val="0F172A"/>
                </a:solidFill>
              </a:rPr>
              <a:t>Ticket Intelligence</a:t>
            </a:r>
            <a:endParaRPr lang="en-US" sz="1400"/>
          </a:p>
        </p:txBody>
      </p:sp>
      <p:sp>
        <p:nvSpPr>
          <p:cNvPr id="28" name="Text 26"/>
          <p:cNvSpPr/>
          <p:nvPr/>
        </p:nvSpPr>
        <p:spPr>
          <a:xfrm>
            <a:off x="525127" y="3131748"/>
            <a:ext cx="5377313" cy="742867"/>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200" b="1">
                <a:solidFill>
                  <a:srgbClr val="2563EB"/>
                </a:solidFill>
                <a:ea typeface="+mn-lt"/>
                <a:cs typeface="+mn-lt"/>
              </a:rPr>
              <a:t>Category LR 84.2% AUC 0.951 · Issue Type LR 71.8% F1 0.728 ( XGBoost near-tied: 72.9% acc ) · Resolution Time R²=0.837 RMSE 513min · 15,363 tickets in retrieval index · 37 action log entries</a:t>
            </a:r>
            <a:endParaRPr lang="en-US">
              <a:ea typeface="+mn-lt"/>
              <a:cs typeface="+mn-lt"/>
            </a:endParaRPr>
          </a:p>
        </p:txBody>
      </p:sp>
      <p:sp>
        <p:nvSpPr>
          <p:cNvPr id="29" name="Text 27"/>
          <p:cNvSpPr/>
          <p:nvPr/>
        </p:nvSpPr>
        <p:spPr>
          <a:xfrm>
            <a:off x="524256" y="3783161"/>
            <a:ext cx="5303520"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i="1">
                <a:solidFill>
                  <a:srgbClr val="64748B"/>
                </a:solidFill>
              </a:rPr>
              <a:t>Automated routing replaces manual triage. Recommendation engine provides expected TTR. AHP assigns engineer in &lt;1s. Known: 31.69% missing descriptions cap retrieval precision.</a:t>
            </a:r>
            <a:endParaRPr lang="en-US" sz="1200">
              <a:ea typeface="Calibri"/>
              <a:cs typeface="Calibri"/>
            </a:endParaRPr>
          </a:p>
        </p:txBody>
      </p:sp>
      <p:sp>
        <p:nvSpPr>
          <p:cNvPr id="30" name="Shape 28"/>
          <p:cNvSpPr/>
          <p:nvPr/>
        </p:nvSpPr>
        <p:spPr>
          <a:xfrm>
            <a:off x="6230112" y="2759033"/>
            <a:ext cx="5608320" cy="1731264"/>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SG"/>
          </a:p>
        </p:txBody>
      </p:sp>
      <p:sp>
        <p:nvSpPr>
          <p:cNvPr id="31" name="Shape 29"/>
          <p:cNvSpPr/>
          <p:nvPr/>
        </p:nvSpPr>
        <p:spPr>
          <a:xfrm>
            <a:off x="6230112" y="2759033"/>
            <a:ext cx="5608320" cy="60960"/>
          </a:xfrm>
          <a:prstGeom prst="rect">
            <a:avLst/>
          </a:prstGeom>
          <a:solidFill>
            <a:srgbClr val="0891B2"/>
          </a:solidFill>
          <a:ln w="12700">
            <a:solidFill>
              <a:srgbClr val="0891B2"/>
            </a:solidFill>
            <a:prstDash val="solid"/>
          </a:ln>
        </p:spPr>
        <p:txBody>
          <a:bodyPr/>
          <a:lstStyle/>
          <a:p>
            <a:endParaRPr lang="en-SG"/>
          </a:p>
        </p:txBody>
      </p:sp>
      <p:sp>
        <p:nvSpPr>
          <p:cNvPr id="32" name="Shape 30"/>
          <p:cNvSpPr/>
          <p:nvPr/>
        </p:nvSpPr>
        <p:spPr>
          <a:xfrm>
            <a:off x="6230112" y="2759033"/>
            <a:ext cx="73152" cy="1731264"/>
          </a:xfrm>
          <a:prstGeom prst="rect">
            <a:avLst/>
          </a:prstGeom>
          <a:solidFill>
            <a:srgbClr val="0891B2"/>
          </a:solidFill>
          <a:ln w="12700">
            <a:solidFill>
              <a:srgbClr val="0891B2"/>
            </a:solidFill>
            <a:prstDash val="solid"/>
          </a:ln>
        </p:spPr>
        <p:txBody>
          <a:bodyPr/>
          <a:lstStyle/>
          <a:p>
            <a:endParaRPr lang="en-SG"/>
          </a:p>
        </p:txBody>
      </p:sp>
      <p:sp>
        <p:nvSpPr>
          <p:cNvPr id="33" name="Text 31"/>
          <p:cNvSpPr/>
          <p:nvPr/>
        </p:nvSpPr>
        <p:spPr>
          <a:xfrm>
            <a:off x="6412992" y="2880953"/>
            <a:ext cx="5303520" cy="31699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b="1">
                <a:solidFill>
                  <a:srgbClr val="0F172A"/>
                </a:solidFill>
              </a:rPr>
              <a:t>SLA Breach</a:t>
            </a:r>
            <a:endParaRPr lang="en-US" sz="1400"/>
          </a:p>
        </p:txBody>
      </p:sp>
      <p:sp>
        <p:nvSpPr>
          <p:cNvPr id="34" name="Text 32"/>
          <p:cNvSpPr/>
          <p:nvPr/>
        </p:nvSpPr>
        <p:spPr>
          <a:xfrm>
            <a:off x="6412992" y="3246713"/>
            <a:ext cx="5303520" cy="51206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b="1">
                <a:solidFill>
                  <a:srgbClr val="0891B2"/>
                </a:solidFill>
              </a:rPr>
              <a:t>CatBoost AUC 0.5058 · Recall 94.7% at threshold 0.4922 · F1 0.566 · 22,476 tickets scored · 20,823 medium-risk · 0 High-risk</a:t>
            </a:r>
            <a:endParaRPr lang="en-US" sz="1200">
              <a:ea typeface="Calibri"/>
              <a:cs typeface="Calibri"/>
            </a:endParaRPr>
          </a:p>
        </p:txBody>
      </p:sp>
      <p:sp>
        <p:nvSpPr>
          <p:cNvPr id="35" name="Text 33"/>
          <p:cNvSpPr/>
          <p:nvPr/>
        </p:nvSpPr>
        <p:spPr>
          <a:xfrm>
            <a:off x="6412992" y="3783161"/>
            <a:ext cx="5303520"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200" i="1">
                <a:solidFill>
                  <a:srgbClr val="64748B"/>
                </a:solidFill>
              </a:rPr>
              <a:t>Proactive escalation before breach. Four-tier chain live. </a:t>
            </a:r>
            <a:r>
              <a:rPr lang="en-US" sz="1200" i="1">
                <a:solidFill>
                  <a:srgbClr val="64748B"/>
                </a:solidFill>
                <a:ea typeface="+mn-lt"/>
                <a:cs typeface="+mn-lt"/>
              </a:rPr>
              <a:t>AUC ~0.50 is expected on synthetic data because breach rates are nearly-uniform across key dimensions. Recall was prioritized because missing a breach is operationally more costly than generating a false alert.</a:t>
            </a:r>
            <a:endParaRPr lang="en-US" sz="1200" i="1">
              <a:solidFill>
                <a:srgbClr val="64748B"/>
              </a:solidFill>
              <a:ea typeface="Calibri"/>
              <a:cs typeface="Calibri"/>
            </a:endParaRPr>
          </a:p>
        </p:txBody>
      </p:sp>
      <p:sp>
        <p:nvSpPr>
          <p:cNvPr id="36" name="Shape 34"/>
          <p:cNvSpPr/>
          <p:nvPr/>
        </p:nvSpPr>
        <p:spPr>
          <a:xfrm>
            <a:off x="341376" y="4660985"/>
            <a:ext cx="5608320" cy="1731264"/>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SG"/>
          </a:p>
        </p:txBody>
      </p:sp>
      <p:sp>
        <p:nvSpPr>
          <p:cNvPr id="37" name="Shape 35"/>
          <p:cNvSpPr/>
          <p:nvPr/>
        </p:nvSpPr>
        <p:spPr>
          <a:xfrm>
            <a:off x="341376" y="4660985"/>
            <a:ext cx="5608320" cy="60960"/>
          </a:xfrm>
          <a:prstGeom prst="rect">
            <a:avLst/>
          </a:prstGeom>
          <a:solidFill>
            <a:srgbClr val="059669"/>
          </a:solidFill>
          <a:ln w="12700">
            <a:solidFill>
              <a:srgbClr val="059669"/>
            </a:solidFill>
            <a:prstDash val="solid"/>
          </a:ln>
        </p:spPr>
        <p:txBody>
          <a:bodyPr/>
          <a:lstStyle/>
          <a:p>
            <a:endParaRPr lang="en-SG"/>
          </a:p>
        </p:txBody>
      </p:sp>
      <p:sp>
        <p:nvSpPr>
          <p:cNvPr id="38" name="Shape 36"/>
          <p:cNvSpPr/>
          <p:nvPr/>
        </p:nvSpPr>
        <p:spPr>
          <a:xfrm>
            <a:off x="341376" y="4660985"/>
            <a:ext cx="73152" cy="1731264"/>
          </a:xfrm>
          <a:prstGeom prst="rect">
            <a:avLst/>
          </a:prstGeom>
          <a:solidFill>
            <a:srgbClr val="059669"/>
          </a:solidFill>
          <a:ln w="12700">
            <a:solidFill>
              <a:srgbClr val="059669"/>
            </a:solidFill>
            <a:prstDash val="solid"/>
          </a:ln>
        </p:spPr>
        <p:txBody>
          <a:bodyPr/>
          <a:lstStyle/>
          <a:p>
            <a:endParaRPr lang="en-SG"/>
          </a:p>
        </p:txBody>
      </p:sp>
      <p:sp>
        <p:nvSpPr>
          <p:cNvPr id="39" name="Text 37"/>
          <p:cNvSpPr/>
          <p:nvPr/>
        </p:nvSpPr>
        <p:spPr>
          <a:xfrm>
            <a:off x="524256" y="4782905"/>
            <a:ext cx="5303520" cy="31699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b="1">
                <a:solidFill>
                  <a:srgbClr val="0F172A"/>
                </a:solidFill>
              </a:rPr>
              <a:t>Predictive Maintenance</a:t>
            </a:r>
            <a:endParaRPr lang="en-US" sz="1400"/>
          </a:p>
        </p:txBody>
      </p:sp>
      <p:sp>
        <p:nvSpPr>
          <p:cNvPr id="40" name="Text 38"/>
          <p:cNvSpPr/>
          <p:nvPr/>
        </p:nvSpPr>
        <p:spPr>
          <a:xfrm>
            <a:off x="524256" y="5095749"/>
            <a:ext cx="5197687" cy="5649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b="1">
                <a:solidFill>
                  <a:srgbClr val="059669"/>
                </a:solidFill>
              </a:rPr>
              <a:t>RSF C-Index 98.90% · 367.5M concordant vs 4.1M discordant · 5 features from 152 · 128 assets within lead-time window</a:t>
            </a:r>
            <a:endParaRPr lang="en-US" sz="1200"/>
          </a:p>
        </p:txBody>
      </p:sp>
      <p:sp>
        <p:nvSpPr>
          <p:cNvPr id="41" name="Text 39"/>
          <p:cNvSpPr/>
          <p:nvPr/>
        </p:nvSpPr>
        <p:spPr>
          <a:xfrm>
            <a:off x="524256" y="5685113"/>
            <a:ext cx="5303520"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i="1">
                <a:solidFill>
                  <a:srgbClr val="64748B"/>
                </a:solidFill>
              </a:rPr>
              <a:t>Converts reactive replacement to planned procurement. CPU + ticket-count signals dominate. Maintenance history structurally blocked — sponsor committed to asset-level tracking.</a:t>
            </a:r>
            <a:endParaRPr lang="en-US" sz="1200"/>
          </a:p>
        </p:txBody>
      </p:sp>
      <p:sp>
        <p:nvSpPr>
          <p:cNvPr id="42" name="Shape 40"/>
          <p:cNvSpPr/>
          <p:nvPr/>
        </p:nvSpPr>
        <p:spPr>
          <a:xfrm>
            <a:off x="6230112" y="4660985"/>
            <a:ext cx="5608320" cy="1731264"/>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SG"/>
          </a:p>
        </p:txBody>
      </p:sp>
      <p:sp>
        <p:nvSpPr>
          <p:cNvPr id="43" name="Shape 41"/>
          <p:cNvSpPr/>
          <p:nvPr/>
        </p:nvSpPr>
        <p:spPr>
          <a:xfrm>
            <a:off x="6230112" y="4660985"/>
            <a:ext cx="5608320" cy="60960"/>
          </a:xfrm>
          <a:prstGeom prst="rect">
            <a:avLst/>
          </a:prstGeom>
          <a:solidFill>
            <a:srgbClr val="D97706"/>
          </a:solidFill>
          <a:ln w="12700">
            <a:solidFill>
              <a:srgbClr val="D97706"/>
            </a:solidFill>
            <a:prstDash val="solid"/>
          </a:ln>
        </p:spPr>
        <p:txBody>
          <a:bodyPr/>
          <a:lstStyle/>
          <a:p>
            <a:endParaRPr lang="en-SG"/>
          </a:p>
        </p:txBody>
      </p:sp>
      <p:sp>
        <p:nvSpPr>
          <p:cNvPr id="44" name="Shape 42"/>
          <p:cNvSpPr/>
          <p:nvPr/>
        </p:nvSpPr>
        <p:spPr>
          <a:xfrm>
            <a:off x="6230112" y="4660985"/>
            <a:ext cx="73152" cy="1731264"/>
          </a:xfrm>
          <a:prstGeom prst="rect">
            <a:avLst/>
          </a:prstGeom>
          <a:solidFill>
            <a:srgbClr val="D97706"/>
          </a:solidFill>
          <a:ln w="12700">
            <a:solidFill>
              <a:srgbClr val="D97706"/>
            </a:solidFill>
            <a:prstDash val="solid"/>
          </a:ln>
        </p:spPr>
        <p:txBody>
          <a:bodyPr/>
          <a:lstStyle/>
          <a:p>
            <a:endParaRPr lang="en-SG"/>
          </a:p>
        </p:txBody>
      </p:sp>
      <p:sp>
        <p:nvSpPr>
          <p:cNvPr id="45" name="Text 43"/>
          <p:cNvSpPr/>
          <p:nvPr/>
        </p:nvSpPr>
        <p:spPr>
          <a:xfrm>
            <a:off x="6412992" y="4782905"/>
            <a:ext cx="5303520" cy="31699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b="1">
                <a:solidFill>
                  <a:srgbClr val="0F172A"/>
                </a:solidFill>
              </a:rPr>
              <a:t>Procurement</a:t>
            </a:r>
            <a:endParaRPr lang="en-US" sz="1400"/>
          </a:p>
        </p:txBody>
      </p:sp>
      <p:sp>
        <p:nvSpPr>
          <p:cNvPr id="46" name="Text 44"/>
          <p:cNvSpPr/>
          <p:nvPr/>
        </p:nvSpPr>
        <p:spPr>
          <a:xfrm>
            <a:off x="6412992" y="5148665"/>
            <a:ext cx="5303520" cy="51206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b="1">
                <a:solidFill>
                  <a:srgbClr val="D97706"/>
                </a:solidFill>
              </a:rPr>
              <a:t>57 assets assessed · All </a:t>
            </a:r>
            <a:r>
              <a:rPr lang="en-US" sz="1200" b="1" i="1" err="1">
                <a:solidFill>
                  <a:srgbClr val="D97706"/>
                </a:solidFill>
              </a:rPr>
              <a:t>to_order_flag</a:t>
            </a:r>
            <a:r>
              <a:rPr lang="en-US" sz="1200" b="1">
                <a:solidFill>
                  <a:srgbClr val="D97706"/>
                </a:solidFill>
              </a:rPr>
              <a:t> = False · $350.82K MTD tracked · Lead times 5–13 days integrated</a:t>
            </a:r>
            <a:endParaRPr lang="en-US" sz="1200"/>
          </a:p>
        </p:txBody>
      </p:sp>
      <p:sp>
        <p:nvSpPr>
          <p:cNvPr id="47" name="Text 45"/>
          <p:cNvSpPr/>
          <p:nvPr/>
        </p:nvSpPr>
        <p:spPr>
          <a:xfrm>
            <a:off x="6412992" y="5685113"/>
            <a:ext cx="5303520"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i="1">
                <a:solidFill>
                  <a:srgbClr val="64748B"/>
                </a:solidFill>
              </a:rPr>
              <a:t>Standing monitor: triggers automatically when inventory falls below threshold. Eliminates 15–20% emergency premium. Uniform 40-unit threshold is synthetic placeholder.</a:t>
            </a:r>
            <a:endParaRPr lang="en-US" sz="1200"/>
          </a:p>
        </p:txBody>
      </p:sp>
      <p:sp>
        <p:nvSpPr>
          <p:cNvPr id="57" name="Rectangle 56">
            <a:extLst>
              <a:ext uri="{FF2B5EF4-FFF2-40B4-BE49-F238E27FC236}">
                <a16:creationId xmlns:a16="http://schemas.microsoft.com/office/drawing/2014/main" id="{831009D8-A96C-46DE-19E6-3A8B608CACCA}"/>
              </a:ext>
            </a:extLst>
          </p:cNvPr>
          <p:cNvSpPr/>
          <p:nvPr/>
        </p:nvSpPr>
        <p:spPr>
          <a:xfrm>
            <a:off x="0" y="0"/>
            <a:ext cx="12191969" cy="859536"/>
          </a:xfrm>
          <a:prstGeom prst="rect">
            <a:avLst/>
          </a:prstGeom>
          <a:solidFill>
            <a:srgbClr val="1E27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9" name="TextBox 58">
            <a:extLst>
              <a:ext uri="{FF2B5EF4-FFF2-40B4-BE49-F238E27FC236}">
                <a16:creationId xmlns:a16="http://schemas.microsoft.com/office/drawing/2014/main" id="{CCD7EEF8-B0F2-1638-C195-329066BA84D4}"/>
              </a:ext>
            </a:extLst>
          </p:cNvPr>
          <p:cNvSpPr txBox="1"/>
          <p:nvPr/>
        </p:nvSpPr>
        <p:spPr>
          <a:xfrm>
            <a:off x="339142" y="274177"/>
            <a:ext cx="11724186" cy="584284"/>
          </a:xfrm>
          <a:prstGeom prst="rect">
            <a:avLst/>
          </a:prstGeom>
          <a:noFill/>
        </p:spPr>
        <p:txBody>
          <a:bodyPr wrap="square" lIns="91440" tIns="45720" rIns="91440" bIns="45720" anchor="t"/>
          <a:lstStyle/>
          <a:p>
            <a:pPr algn="l">
              <a:defRPr/>
            </a:pPr>
            <a:r>
              <a:rPr lang="en-US" sz="2900" b="1" kern="1200">
                <a:solidFill>
                  <a:srgbClr val="FFFFFF"/>
                </a:solidFill>
                <a:latin typeface="Georgia"/>
                <a:ea typeface="+mn-ea"/>
                <a:cs typeface="+mn-cs"/>
              </a:rPr>
              <a:t>Results </a:t>
            </a:r>
            <a:r>
              <a:rPr kumimoji="0" lang="en-US" sz="2900" b="1" i="0" u="none" strike="noStrike" kern="1200" cap="none" spc="0" normalizeH="0" baseline="0" noProof="0">
                <a:ln>
                  <a:noFill/>
                </a:ln>
                <a:solidFill>
                  <a:srgbClr val="FFFFFF"/>
                </a:solidFill>
                <a:effectLst/>
                <a:uLnTx/>
                <a:uFillTx/>
                <a:latin typeface="Georgia"/>
                <a:ea typeface="+mn-ea"/>
                <a:cs typeface="+mn-cs"/>
              </a:rPr>
              <a:t>&amp; </a:t>
            </a:r>
            <a:r>
              <a:rPr lang="en-US" sz="2900" b="1" kern="1200">
                <a:solidFill>
                  <a:srgbClr val="FFFFFF"/>
                </a:solidFill>
                <a:latin typeface="Georgia"/>
                <a:ea typeface="+mn-ea"/>
                <a:cs typeface="+mn-cs"/>
              </a:rPr>
              <a:t>Key Insights — Across All Four Modules</a:t>
            </a:r>
          </a:p>
          <a:p>
            <a:pPr algn="l">
              <a:defRPr/>
            </a:pPr>
            <a:endParaRPr lang="en-US" sz="2900" b="1" i="0" u="none" strike="noStrike" kern="1200" cap="none" spc="0" normalizeH="0" baseline="0" noProof="0">
              <a:ln>
                <a:noFill/>
              </a:ln>
              <a:solidFill>
                <a:srgbClr val="FFFFFF"/>
              </a:solidFill>
              <a:effectLst/>
              <a:uLnTx/>
              <a:uFillTx/>
              <a:latin typeface="Georgia"/>
              <a:ea typeface="+mn-ea"/>
              <a:cs typeface="+mn-cs"/>
            </a:endParaRPr>
          </a:p>
        </p:txBody>
      </p:sp>
      <p:sp>
        <p:nvSpPr>
          <p:cNvPr id="61" name="TextBox 60">
            <a:extLst>
              <a:ext uri="{FF2B5EF4-FFF2-40B4-BE49-F238E27FC236}">
                <a16:creationId xmlns:a16="http://schemas.microsoft.com/office/drawing/2014/main" id="{267F6A40-8712-474C-32F3-9C2CF0720E18}"/>
              </a:ext>
            </a:extLst>
          </p:cNvPr>
          <p:cNvSpPr txBox="1"/>
          <p:nvPr/>
        </p:nvSpPr>
        <p:spPr>
          <a:xfrm>
            <a:off x="339142" y="40080"/>
            <a:ext cx="8229600" cy="230832"/>
          </a:xfrm>
          <a:prstGeom prst="rect">
            <a:avLst/>
          </a:prstGeom>
          <a:noFill/>
        </p:spPr>
        <p:txBody>
          <a:bodyPr wrap="square" lIns="91440" tIns="45720" rIns="91440" bIns="45720" anchor="t">
            <a:spAutoFit/>
          </a:bodyPr>
          <a:lstStyle/>
          <a:p>
            <a:pPr marL="0" lvl="0" indent="0" algn="l" defTabSz="914400">
              <a:lnSpc>
                <a:spcPct val="100000"/>
              </a:lnSpc>
              <a:buNone/>
              <a:tabLst/>
              <a:defRPr/>
            </a:pPr>
            <a:r>
              <a:rPr lang="en-US" sz="900" kern="1200">
                <a:solidFill>
                  <a:srgbClr val="8AAEC4"/>
                </a:solidFill>
                <a:latin typeface="Trebuchet MS"/>
                <a:ea typeface="+mn-ea"/>
                <a:cs typeface="+mn-cs"/>
              </a:rPr>
              <a:t>Results</a:t>
            </a:r>
            <a:endParaRPr lang="en-US" sz="900" b="0" i="0" u="none" strike="noStrike" kern="1200" cap="none" spc="0" normalizeH="0" baseline="0" noProof="0">
              <a:ln>
                <a:noFill/>
              </a:ln>
              <a:solidFill>
                <a:srgbClr val="8AAEC4"/>
              </a:solidFill>
              <a:effectLst/>
              <a:uLnTx/>
              <a:uFillTx/>
              <a:latin typeface="Trebuchet MS"/>
              <a:ea typeface="+mn-ea"/>
              <a:cs typeface="+mn-cs"/>
            </a:endParaRPr>
          </a:p>
        </p:txBody>
      </p:sp>
    </p:spTree>
    <p:extLst>
      <p:ext uri="{BB962C8B-B14F-4D97-AF65-F5344CB8AC3E}">
        <p14:creationId xmlns:p14="http://schemas.microsoft.com/office/powerpoint/2010/main" val="1956838277"/>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8" name="Shape 6"/>
          <p:cNvSpPr/>
          <p:nvPr/>
        </p:nvSpPr>
        <p:spPr>
          <a:xfrm>
            <a:off x="341376" y="941493"/>
            <a:ext cx="5608320" cy="1682496"/>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SG"/>
          </a:p>
        </p:txBody>
      </p:sp>
      <p:sp>
        <p:nvSpPr>
          <p:cNvPr id="9" name="Shape 7"/>
          <p:cNvSpPr/>
          <p:nvPr/>
        </p:nvSpPr>
        <p:spPr>
          <a:xfrm>
            <a:off x="341376" y="941493"/>
            <a:ext cx="5608320" cy="73152"/>
          </a:xfrm>
          <a:prstGeom prst="rect">
            <a:avLst/>
          </a:prstGeom>
          <a:solidFill>
            <a:schemeClr val="accent6">
              <a:lumMod val="75000"/>
            </a:schemeClr>
          </a:solidFill>
          <a:ln w="12700">
            <a:solidFill>
              <a:srgbClr val="2563EB"/>
            </a:solidFill>
            <a:prstDash val="solid"/>
          </a:ln>
        </p:spPr>
        <p:txBody>
          <a:bodyPr/>
          <a:lstStyle/>
          <a:p>
            <a:endParaRPr lang="en-SG"/>
          </a:p>
        </p:txBody>
      </p:sp>
      <p:grpSp>
        <p:nvGrpSpPr>
          <p:cNvPr id="56" name="Group 55">
            <a:extLst>
              <a:ext uri="{FF2B5EF4-FFF2-40B4-BE49-F238E27FC236}">
                <a16:creationId xmlns:a16="http://schemas.microsoft.com/office/drawing/2014/main" id="{FC9D5D3D-CB5B-826E-096C-27B8E2661F73}"/>
              </a:ext>
            </a:extLst>
          </p:cNvPr>
          <p:cNvGrpSpPr/>
          <p:nvPr/>
        </p:nvGrpSpPr>
        <p:grpSpPr>
          <a:xfrm>
            <a:off x="487680" y="1119548"/>
            <a:ext cx="2564553" cy="363473"/>
            <a:chOff x="487680" y="1119548"/>
            <a:chExt cx="2564553" cy="363473"/>
          </a:xfrm>
        </p:grpSpPr>
        <p:sp>
          <p:nvSpPr>
            <p:cNvPr id="10" name="Shape 8"/>
            <p:cNvSpPr/>
            <p:nvPr/>
          </p:nvSpPr>
          <p:spPr>
            <a:xfrm>
              <a:off x="487680" y="1119548"/>
              <a:ext cx="2564553" cy="352889"/>
            </a:xfrm>
            <a:prstGeom prst="rect">
              <a:avLst/>
            </a:prstGeom>
            <a:solidFill>
              <a:srgbClr val="F1F5F9"/>
            </a:solidFill>
            <a:ln w="12700">
              <a:solidFill>
                <a:srgbClr val="E2E8F0"/>
              </a:solidFill>
              <a:prstDash val="solid"/>
            </a:ln>
          </p:spPr>
          <p:txBody>
            <a:bodyPr/>
            <a:lstStyle/>
            <a:p>
              <a:endParaRPr lang="en-SG"/>
            </a:p>
          </p:txBody>
        </p:sp>
        <p:sp>
          <p:nvSpPr>
            <p:cNvPr id="11" name="Text 9"/>
            <p:cNvSpPr/>
            <p:nvPr/>
          </p:nvSpPr>
          <p:spPr>
            <a:xfrm>
              <a:off x="487680" y="1119548"/>
              <a:ext cx="2416386" cy="363473"/>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00" b="1">
                  <a:solidFill>
                    <a:schemeClr val="accent6">
                      <a:lumMod val="76000"/>
                    </a:schemeClr>
                  </a:solidFill>
                </a:rPr>
                <a:t>Short-Term (0–3 months)</a:t>
              </a:r>
              <a:endParaRPr lang="en-US" sz="1400">
                <a:solidFill>
                  <a:schemeClr val="accent6">
                    <a:lumMod val="76000"/>
                  </a:schemeClr>
                </a:solidFill>
                <a:ea typeface="Calibri"/>
                <a:cs typeface="Calibri"/>
              </a:endParaRPr>
            </a:p>
          </p:txBody>
        </p:sp>
      </p:grpSp>
      <p:sp>
        <p:nvSpPr>
          <p:cNvPr id="12" name="Text 10"/>
          <p:cNvSpPr/>
          <p:nvPr/>
        </p:nvSpPr>
        <p:spPr>
          <a:xfrm>
            <a:off x="485987" y="1521713"/>
            <a:ext cx="5315796" cy="294217"/>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400" b="1">
                <a:solidFill>
                  <a:srgbClr val="0F172A"/>
                </a:solidFill>
              </a:rPr>
              <a:t>Mandatory ticket detailed description at creation</a:t>
            </a:r>
            <a:endParaRPr lang="en-US" sz="1400">
              <a:ea typeface="Calibri"/>
              <a:cs typeface="Calibri"/>
            </a:endParaRPr>
          </a:p>
        </p:txBody>
      </p:sp>
      <p:sp>
        <p:nvSpPr>
          <p:cNvPr id="13" name="Text 11"/>
          <p:cNvSpPr/>
          <p:nvPr/>
        </p:nvSpPr>
        <p:spPr>
          <a:xfrm>
            <a:off x="487680" y="1954191"/>
            <a:ext cx="5305129" cy="52349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a:solidFill>
                  <a:srgbClr val="334155"/>
                </a:solidFill>
              </a:rPr>
              <a:t>Closes the 31.69% NLP gap with a governance rule — immediate improvement to retrieval precision and engineer assignment quality without model retraining.</a:t>
            </a:r>
            <a:endParaRPr lang="en-US" sz="1200">
              <a:ea typeface="Calibri"/>
              <a:cs typeface="Calibri"/>
            </a:endParaRPr>
          </a:p>
        </p:txBody>
      </p:sp>
      <p:sp>
        <p:nvSpPr>
          <p:cNvPr id="14" name="Shape 12"/>
          <p:cNvSpPr/>
          <p:nvPr/>
        </p:nvSpPr>
        <p:spPr>
          <a:xfrm>
            <a:off x="6230112" y="941493"/>
            <a:ext cx="5608320" cy="1682496"/>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SG"/>
          </a:p>
        </p:txBody>
      </p:sp>
      <p:sp>
        <p:nvSpPr>
          <p:cNvPr id="15" name="Shape 13"/>
          <p:cNvSpPr/>
          <p:nvPr/>
        </p:nvSpPr>
        <p:spPr>
          <a:xfrm>
            <a:off x="6230112" y="941493"/>
            <a:ext cx="5608320" cy="73152"/>
          </a:xfrm>
          <a:prstGeom prst="rect">
            <a:avLst/>
          </a:prstGeom>
          <a:solidFill>
            <a:schemeClr val="accent6">
              <a:lumMod val="75000"/>
            </a:schemeClr>
          </a:solidFill>
          <a:ln w="12700">
            <a:solidFill>
              <a:srgbClr val="0891B2"/>
            </a:solidFill>
            <a:prstDash val="solid"/>
          </a:ln>
        </p:spPr>
        <p:txBody>
          <a:bodyPr/>
          <a:lstStyle/>
          <a:p>
            <a:endParaRPr lang="en-SG"/>
          </a:p>
        </p:txBody>
      </p:sp>
      <p:sp>
        <p:nvSpPr>
          <p:cNvPr id="18" name="Text 16"/>
          <p:cNvSpPr/>
          <p:nvPr/>
        </p:nvSpPr>
        <p:spPr>
          <a:xfrm>
            <a:off x="6374723" y="1479380"/>
            <a:ext cx="3230880" cy="3048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b="1">
                <a:solidFill>
                  <a:srgbClr val="0F172A"/>
                </a:solidFill>
              </a:rPr>
              <a:t>Asset-level maintenance tracking</a:t>
            </a:r>
            <a:endParaRPr lang="en-US" sz="1400"/>
          </a:p>
        </p:txBody>
      </p:sp>
      <p:sp>
        <p:nvSpPr>
          <p:cNvPr id="19" name="Text 17"/>
          <p:cNvSpPr/>
          <p:nvPr/>
        </p:nvSpPr>
        <p:spPr>
          <a:xfrm>
            <a:off x="6376416" y="1954191"/>
            <a:ext cx="5305129" cy="52349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a:solidFill>
                  <a:srgbClr val="334155"/>
                </a:solidFill>
              </a:rPr>
              <a:t>Sponsor committed. Adding maintenance history as a survival predictor expected to push C-Index further and provide direct time-between-repairs signal per asset.</a:t>
            </a:r>
            <a:endParaRPr lang="en-US" sz="1200"/>
          </a:p>
        </p:txBody>
      </p:sp>
      <p:sp>
        <p:nvSpPr>
          <p:cNvPr id="20" name="Shape 18"/>
          <p:cNvSpPr/>
          <p:nvPr/>
        </p:nvSpPr>
        <p:spPr>
          <a:xfrm>
            <a:off x="341376" y="2794677"/>
            <a:ext cx="5608320" cy="1682496"/>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SG"/>
          </a:p>
        </p:txBody>
      </p:sp>
      <p:sp>
        <p:nvSpPr>
          <p:cNvPr id="21" name="Shape 19"/>
          <p:cNvSpPr/>
          <p:nvPr/>
        </p:nvSpPr>
        <p:spPr>
          <a:xfrm>
            <a:off x="341376" y="2794677"/>
            <a:ext cx="5608320" cy="73152"/>
          </a:xfrm>
          <a:prstGeom prst="rect">
            <a:avLst/>
          </a:prstGeom>
          <a:solidFill>
            <a:schemeClr val="accent6">
              <a:lumMod val="75000"/>
            </a:schemeClr>
          </a:solidFill>
          <a:ln w="12700">
            <a:solidFill>
              <a:srgbClr val="059669"/>
            </a:solidFill>
            <a:prstDash val="solid"/>
          </a:ln>
        </p:spPr>
        <p:txBody>
          <a:bodyPr/>
          <a:lstStyle/>
          <a:p>
            <a:endParaRPr lang="en-SG"/>
          </a:p>
        </p:txBody>
      </p:sp>
      <p:sp>
        <p:nvSpPr>
          <p:cNvPr id="24" name="Text 22"/>
          <p:cNvSpPr/>
          <p:nvPr/>
        </p:nvSpPr>
        <p:spPr>
          <a:xfrm>
            <a:off x="485987" y="3332564"/>
            <a:ext cx="3230880" cy="3048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b="1">
                <a:solidFill>
                  <a:srgbClr val="0F172A"/>
                </a:solidFill>
              </a:rPr>
              <a:t>Live Engineer Assignment Integration</a:t>
            </a:r>
            <a:endParaRPr lang="en-US" sz="1400"/>
          </a:p>
        </p:txBody>
      </p:sp>
      <p:sp>
        <p:nvSpPr>
          <p:cNvPr id="25" name="Text 23"/>
          <p:cNvSpPr/>
          <p:nvPr/>
        </p:nvSpPr>
        <p:spPr>
          <a:xfrm>
            <a:off x="487680" y="3648625"/>
            <a:ext cx="5305129" cy="68224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a:solidFill>
                  <a:srgbClr val="334155"/>
                </a:solidFill>
              </a:rPr>
              <a:t>Connect real-time engineer availability and active-ticket count to the AHP assignment module — converting suggestions into firm assignments. Requires sponsor's ITSM API access.</a:t>
            </a:r>
            <a:endParaRPr lang="en-US" sz="1200"/>
          </a:p>
        </p:txBody>
      </p:sp>
      <p:sp>
        <p:nvSpPr>
          <p:cNvPr id="26" name="Shape 24"/>
          <p:cNvSpPr/>
          <p:nvPr/>
        </p:nvSpPr>
        <p:spPr>
          <a:xfrm>
            <a:off x="6230112" y="2794677"/>
            <a:ext cx="5608320" cy="1682496"/>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SG"/>
          </a:p>
        </p:txBody>
      </p:sp>
      <p:sp>
        <p:nvSpPr>
          <p:cNvPr id="27" name="Shape 25"/>
          <p:cNvSpPr/>
          <p:nvPr/>
        </p:nvSpPr>
        <p:spPr>
          <a:xfrm>
            <a:off x="6230112" y="2794677"/>
            <a:ext cx="5608320" cy="73152"/>
          </a:xfrm>
          <a:prstGeom prst="rect">
            <a:avLst/>
          </a:prstGeom>
          <a:solidFill>
            <a:srgbClr val="D97706"/>
          </a:solidFill>
          <a:ln w="12700">
            <a:solidFill>
              <a:srgbClr val="D97706"/>
            </a:solidFill>
            <a:prstDash val="solid"/>
          </a:ln>
        </p:spPr>
        <p:txBody>
          <a:bodyPr/>
          <a:lstStyle/>
          <a:p>
            <a:endParaRPr lang="en-SG"/>
          </a:p>
        </p:txBody>
      </p:sp>
      <p:sp>
        <p:nvSpPr>
          <p:cNvPr id="30" name="Text 28"/>
          <p:cNvSpPr/>
          <p:nvPr/>
        </p:nvSpPr>
        <p:spPr>
          <a:xfrm>
            <a:off x="6374723" y="3332564"/>
            <a:ext cx="3230880" cy="3048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b="1">
                <a:solidFill>
                  <a:srgbClr val="0F172A"/>
                </a:solidFill>
              </a:rPr>
              <a:t>Survival Model Live Telemetry Connection</a:t>
            </a:r>
            <a:endParaRPr lang="en-US" sz="1400"/>
          </a:p>
        </p:txBody>
      </p:sp>
      <p:sp>
        <p:nvSpPr>
          <p:cNvPr id="31" name="Text 29"/>
          <p:cNvSpPr/>
          <p:nvPr/>
        </p:nvSpPr>
        <p:spPr>
          <a:xfrm>
            <a:off x="6376416" y="3638041"/>
            <a:ext cx="5305129" cy="692828"/>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a:solidFill>
                  <a:srgbClr val="334155"/>
                </a:solidFill>
              </a:rPr>
              <a:t>Replace batch JSON telemetry inputs with live infrastructure monitoring feed (Nagios / Datadog / Prometheus). Enables proactive alerts before CPU threshold breach.</a:t>
            </a:r>
            <a:endParaRPr lang="en-US" sz="1200"/>
          </a:p>
        </p:txBody>
      </p:sp>
      <p:sp>
        <p:nvSpPr>
          <p:cNvPr id="32" name="Shape 30"/>
          <p:cNvSpPr/>
          <p:nvPr/>
        </p:nvSpPr>
        <p:spPr>
          <a:xfrm>
            <a:off x="341376" y="4647861"/>
            <a:ext cx="5608320" cy="1682496"/>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SG"/>
          </a:p>
        </p:txBody>
      </p:sp>
      <p:sp>
        <p:nvSpPr>
          <p:cNvPr id="33" name="Shape 31"/>
          <p:cNvSpPr/>
          <p:nvPr/>
        </p:nvSpPr>
        <p:spPr>
          <a:xfrm>
            <a:off x="341376" y="4647861"/>
            <a:ext cx="5608320" cy="73152"/>
          </a:xfrm>
          <a:prstGeom prst="rect">
            <a:avLst/>
          </a:prstGeom>
          <a:solidFill>
            <a:schemeClr val="accent2"/>
          </a:solidFill>
          <a:ln w="12700">
            <a:solidFill>
              <a:srgbClr val="1E3A5F"/>
            </a:solidFill>
            <a:prstDash val="solid"/>
          </a:ln>
        </p:spPr>
        <p:txBody>
          <a:bodyPr/>
          <a:lstStyle/>
          <a:p>
            <a:endParaRPr lang="en-SG"/>
          </a:p>
        </p:txBody>
      </p:sp>
      <p:sp>
        <p:nvSpPr>
          <p:cNvPr id="36" name="Text 34"/>
          <p:cNvSpPr/>
          <p:nvPr/>
        </p:nvSpPr>
        <p:spPr>
          <a:xfrm>
            <a:off x="485987" y="5196332"/>
            <a:ext cx="3230880" cy="3048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b="1">
                <a:solidFill>
                  <a:srgbClr val="0F172A"/>
                </a:solidFill>
              </a:rPr>
              <a:t>Sentence-Transformer / BERT Upgrade</a:t>
            </a:r>
            <a:endParaRPr lang="en-US" sz="1400"/>
          </a:p>
        </p:txBody>
      </p:sp>
      <p:sp>
        <p:nvSpPr>
          <p:cNvPr id="37" name="Text 35"/>
          <p:cNvSpPr/>
          <p:nvPr/>
        </p:nvSpPr>
        <p:spPr>
          <a:xfrm>
            <a:off x="487680" y="5649976"/>
            <a:ext cx="5305129" cy="68224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a:solidFill>
                  <a:srgbClr val="334155"/>
                </a:solidFill>
              </a:rPr>
              <a:t>Once description completeness improves past ~70%, upgrade from TF-IDF to Sentence-Transformers. Expected: +5–8pp F1 on issue type, +15pp retrieval precision.</a:t>
            </a:r>
            <a:endParaRPr lang="en-US" sz="1200"/>
          </a:p>
        </p:txBody>
      </p:sp>
      <p:sp>
        <p:nvSpPr>
          <p:cNvPr id="38" name="Shape 36"/>
          <p:cNvSpPr/>
          <p:nvPr/>
        </p:nvSpPr>
        <p:spPr>
          <a:xfrm>
            <a:off x="6230112" y="4647861"/>
            <a:ext cx="5608320" cy="1682496"/>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SG"/>
          </a:p>
        </p:txBody>
      </p:sp>
      <p:sp>
        <p:nvSpPr>
          <p:cNvPr id="39" name="Shape 37"/>
          <p:cNvSpPr/>
          <p:nvPr/>
        </p:nvSpPr>
        <p:spPr>
          <a:xfrm>
            <a:off x="6230112" y="4647861"/>
            <a:ext cx="5608320" cy="73152"/>
          </a:xfrm>
          <a:prstGeom prst="rect">
            <a:avLst/>
          </a:prstGeom>
          <a:solidFill>
            <a:srgbClr val="DC2626"/>
          </a:solidFill>
          <a:ln w="12700">
            <a:solidFill>
              <a:srgbClr val="DC2626"/>
            </a:solidFill>
            <a:prstDash val="solid"/>
          </a:ln>
        </p:spPr>
        <p:txBody>
          <a:bodyPr/>
          <a:lstStyle/>
          <a:p>
            <a:endParaRPr lang="en-SG"/>
          </a:p>
        </p:txBody>
      </p:sp>
      <p:sp>
        <p:nvSpPr>
          <p:cNvPr id="42" name="Text 40"/>
          <p:cNvSpPr/>
          <p:nvPr/>
        </p:nvSpPr>
        <p:spPr>
          <a:xfrm>
            <a:off x="6374723" y="5196331"/>
            <a:ext cx="4299796" cy="28363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b="1">
                <a:solidFill>
                  <a:srgbClr val="0F172A"/>
                </a:solidFill>
              </a:rPr>
              <a:t>ServiceNow / Jira Integration + Multi-Client SaaS</a:t>
            </a:r>
            <a:endParaRPr lang="en-US" sz="1400"/>
          </a:p>
        </p:txBody>
      </p:sp>
      <p:sp>
        <p:nvSpPr>
          <p:cNvPr id="43" name="Text 41"/>
          <p:cNvSpPr/>
          <p:nvPr/>
        </p:nvSpPr>
        <p:spPr>
          <a:xfrm>
            <a:off x="6376416" y="5649976"/>
            <a:ext cx="5305129" cy="68224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a:solidFill>
                  <a:srgbClr val="334155"/>
                </a:solidFill>
              </a:rPr>
              <a:t>Direct ITSM API for native ticket routing. Multi-tenant platform for multiple Innodatatics clients. Sponsor confirmed Middle East project replication interest.</a:t>
            </a:r>
            <a:endParaRPr lang="en-US" sz="1200"/>
          </a:p>
        </p:txBody>
      </p:sp>
      <p:sp>
        <p:nvSpPr>
          <p:cNvPr id="51" name="Rectangle 50">
            <a:extLst>
              <a:ext uri="{FF2B5EF4-FFF2-40B4-BE49-F238E27FC236}">
                <a16:creationId xmlns:a16="http://schemas.microsoft.com/office/drawing/2014/main" id="{5FC87CF4-B417-9DF7-3AB0-F3162848BAE2}"/>
              </a:ext>
            </a:extLst>
          </p:cNvPr>
          <p:cNvSpPr/>
          <p:nvPr/>
        </p:nvSpPr>
        <p:spPr>
          <a:xfrm>
            <a:off x="0" y="0"/>
            <a:ext cx="12191969" cy="859536"/>
          </a:xfrm>
          <a:prstGeom prst="rect">
            <a:avLst/>
          </a:prstGeom>
          <a:solidFill>
            <a:srgbClr val="1E27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3" name="TextBox 52">
            <a:extLst>
              <a:ext uri="{FF2B5EF4-FFF2-40B4-BE49-F238E27FC236}">
                <a16:creationId xmlns:a16="http://schemas.microsoft.com/office/drawing/2014/main" id="{32C96CD1-3507-04BF-9F68-C3A63EC24733}"/>
              </a:ext>
            </a:extLst>
          </p:cNvPr>
          <p:cNvSpPr txBox="1"/>
          <p:nvPr/>
        </p:nvSpPr>
        <p:spPr>
          <a:xfrm>
            <a:off x="339142" y="274177"/>
            <a:ext cx="11724186" cy="584284"/>
          </a:xfrm>
          <a:prstGeom prst="rect">
            <a:avLst/>
          </a:prstGeom>
          <a:noFill/>
        </p:spPr>
        <p:txBody>
          <a:bodyPr wrap="square" lIns="91440" tIns="45720" rIns="91440" bIns="45720" anchor="t"/>
          <a:lstStyle/>
          <a:p>
            <a:pPr algn="l">
              <a:defRPr/>
            </a:pPr>
            <a:r>
              <a:rPr lang="en-US" sz="2900" b="1" kern="1200">
                <a:solidFill>
                  <a:srgbClr val="FFFFFF"/>
                </a:solidFill>
                <a:latin typeface="Georgia"/>
                <a:ea typeface="+mn-ea"/>
                <a:cs typeface="+mn-cs"/>
              </a:rPr>
              <a:t>Future Scope </a:t>
            </a:r>
            <a:r>
              <a:rPr kumimoji="0" lang="en-US" sz="2900" b="1" i="0" u="none" strike="noStrike" kern="1200" cap="none" spc="0" normalizeH="0" baseline="0" noProof="0">
                <a:ln>
                  <a:noFill/>
                </a:ln>
                <a:solidFill>
                  <a:srgbClr val="FFFFFF"/>
                </a:solidFill>
                <a:effectLst/>
                <a:uLnTx/>
                <a:uFillTx/>
                <a:latin typeface="Georgia"/>
                <a:ea typeface="+mn-ea"/>
                <a:cs typeface="+mn-cs"/>
              </a:rPr>
              <a:t>&amp; </a:t>
            </a:r>
            <a:r>
              <a:rPr lang="en-US" sz="2900" b="1" kern="1200">
                <a:solidFill>
                  <a:srgbClr val="FFFFFF"/>
                </a:solidFill>
                <a:latin typeface="Georgia"/>
                <a:ea typeface="+mn-ea"/>
                <a:cs typeface="+mn-cs"/>
              </a:rPr>
              <a:t>Scalability</a:t>
            </a:r>
          </a:p>
        </p:txBody>
      </p:sp>
      <p:sp>
        <p:nvSpPr>
          <p:cNvPr id="55" name="TextBox 54">
            <a:extLst>
              <a:ext uri="{FF2B5EF4-FFF2-40B4-BE49-F238E27FC236}">
                <a16:creationId xmlns:a16="http://schemas.microsoft.com/office/drawing/2014/main" id="{FC80CDC3-09C6-C785-CEBF-5900A8537F5C}"/>
              </a:ext>
            </a:extLst>
          </p:cNvPr>
          <p:cNvSpPr txBox="1"/>
          <p:nvPr/>
        </p:nvSpPr>
        <p:spPr>
          <a:xfrm>
            <a:off x="339142" y="40080"/>
            <a:ext cx="8229600" cy="230832"/>
          </a:xfrm>
          <a:prstGeom prst="rect">
            <a:avLst/>
          </a:prstGeom>
          <a:noFill/>
        </p:spPr>
        <p:txBody>
          <a:bodyPr wrap="square" lIns="91440" tIns="45720" rIns="91440" bIns="45720" anchor="t">
            <a:spAutoFit/>
          </a:bodyPr>
          <a:lstStyle/>
          <a:p>
            <a:pPr algn="l">
              <a:defRPr/>
            </a:pPr>
            <a:r>
              <a:rPr lang="en-US" sz="900" kern="1200">
                <a:solidFill>
                  <a:srgbClr val="8AAEC4"/>
                </a:solidFill>
                <a:latin typeface="Trebuchet MS"/>
                <a:ea typeface="+mn-ea"/>
                <a:cs typeface="+mn-cs"/>
              </a:rPr>
              <a:t>Future Scope</a:t>
            </a:r>
            <a:endParaRPr lang="en-US">
              <a:ea typeface="+mn-ea"/>
              <a:cs typeface="+mn-cs"/>
            </a:endParaRPr>
          </a:p>
        </p:txBody>
      </p:sp>
      <p:grpSp>
        <p:nvGrpSpPr>
          <p:cNvPr id="61" name="Group 60">
            <a:extLst>
              <a:ext uri="{FF2B5EF4-FFF2-40B4-BE49-F238E27FC236}">
                <a16:creationId xmlns:a16="http://schemas.microsoft.com/office/drawing/2014/main" id="{42D5B462-FB21-8876-1076-02AE5EF821AB}"/>
              </a:ext>
            </a:extLst>
          </p:cNvPr>
          <p:cNvGrpSpPr/>
          <p:nvPr/>
        </p:nvGrpSpPr>
        <p:grpSpPr>
          <a:xfrm>
            <a:off x="6372012" y="1119548"/>
            <a:ext cx="2564553" cy="363473"/>
            <a:chOff x="487680" y="1119548"/>
            <a:chExt cx="2564553" cy="363473"/>
          </a:xfrm>
        </p:grpSpPr>
        <p:sp>
          <p:nvSpPr>
            <p:cNvPr id="62" name="Shape 8">
              <a:extLst>
                <a:ext uri="{FF2B5EF4-FFF2-40B4-BE49-F238E27FC236}">
                  <a16:creationId xmlns:a16="http://schemas.microsoft.com/office/drawing/2014/main" id="{69BF8F92-2886-86E3-F644-854837E32112}"/>
                </a:ext>
              </a:extLst>
            </p:cNvPr>
            <p:cNvSpPr/>
            <p:nvPr/>
          </p:nvSpPr>
          <p:spPr>
            <a:xfrm>
              <a:off x="487680" y="1119548"/>
              <a:ext cx="2564553" cy="352889"/>
            </a:xfrm>
            <a:prstGeom prst="rect">
              <a:avLst/>
            </a:prstGeom>
            <a:solidFill>
              <a:srgbClr val="F1F5F9"/>
            </a:solidFill>
            <a:ln w="12700">
              <a:solidFill>
                <a:srgbClr val="E2E8F0"/>
              </a:solidFill>
              <a:prstDash val="solid"/>
            </a:ln>
          </p:spPr>
          <p:txBody>
            <a:bodyPr/>
            <a:lstStyle/>
            <a:p>
              <a:endParaRPr lang="en-SG"/>
            </a:p>
          </p:txBody>
        </p:sp>
        <p:sp>
          <p:nvSpPr>
            <p:cNvPr id="63" name="Text 9">
              <a:extLst>
                <a:ext uri="{FF2B5EF4-FFF2-40B4-BE49-F238E27FC236}">
                  <a16:creationId xmlns:a16="http://schemas.microsoft.com/office/drawing/2014/main" id="{4C43BA68-7A5E-1510-2119-6418D8911EDB}"/>
                </a:ext>
              </a:extLst>
            </p:cNvPr>
            <p:cNvSpPr/>
            <p:nvPr/>
          </p:nvSpPr>
          <p:spPr>
            <a:xfrm>
              <a:off x="487680" y="1119548"/>
              <a:ext cx="2416386" cy="363473"/>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00" b="1">
                  <a:solidFill>
                    <a:schemeClr val="accent6">
                      <a:lumMod val="76000"/>
                    </a:schemeClr>
                  </a:solidFill>
                </a:rPr>
                <a:t>Short-Term (0–3 months)</a:t>
              </a:r>
              <a:endParaRPr lang="en-US" sz="1400">
                <a:solidFill>
                  <a:schemeClr val="accent6">
                    <a:lumMod val="76000"/>
                  </a:schemeClr>
                </a:solidFill>
                <a:ea typeface="Calibri"/>
                <a:cs typeface="Calibri"/>
              </a:endParaRPr>
            </a:p>
          </p:txBody>
        </p:sp>
      </p:grpSp>
      <p:grpSp>
        <p:nvGrpSpPr>
          <p:cNvPr id="64" name="Group 63">
            <a:extLst>
              <a:ext uri="{FF2B5EF4-FFF2-40B4-BE49-F238E27FC236}">
                <a16:creationId xmlns:a16="http://schemas.microsoft.com/office/drawing/2014/main" id="{1C61B682-B3F7-92F8-A9E9-29BDD60AD660}"/>
              </a:ext>
            </a:extLst>
          </p:cNvPr>
          <p:cNvGrpSpPr/>
          <p:nvPr/>
        </p:nvGrpSpPr>
        <p:grpSpPr>
          <a:xfrm>
            <a:off x="487679" y="2939881"/>
            <a:ext cx="2564553" cy="363473"/>
            <a:chOff x="487680" y="1119548"/>
            <a:chExt cx="2564553" cy="363473"/>
          </a:xfrm>
        </p:grpSpPr>
        <p:sp>
          <p:nvSpPr>
            <p:cNvPr id="65" name="Shape 8">
              <a:extLst>
                <a:ext uri="{FF2B5EF4-FFF2-40B4-BE49-F238E27FC236}">
                  <a16:creationId xmlns:a16="http://schemas.microsoft.com/office/drawing/2014/main" id="{1ACD052F-C7FE-0196-4F36-B6D79845E9CA}"/>
                </a:ext>
              </a:extLst>
            </p:cNvPr>
            <p:cNvSpPr/>
            <p:nvPr/>
          </p:nvSpPr>
          <p:spPr>
            <a:xfrm>
              <a:off x="487680" y="1119548"/>
              <a:ext cx="2564553" cy="352889"/>
            </a:xfrm>
            <a:prstGeom prst="rect">
              <a:avLst/>
            </a:prstGeom>
            <a:solidFill>
              <a:srgbClr val="F1F5F9"/>
            </a:solidFill>
            <a:ln w="12700">
              <a:solidFill>
                <a:srgbClr val="E2E8F0"/>
              </a:solidFill>
              <a:prstDash val="solid"/>
            </a:ln>
          </p:spPr>
          <p:txBody>
            <a:bodyPr/>
            <a:lstStyle/>
            <a:p>
              <a:endParaRPr lang="en-SG"/>
            </a:p>
          </p:txBody>
        </p:sp>
        <p:sp>
          <p:nvSpPr>
            <p:cNvPr id="66" name="Text 9">
              <a:extLst>
                <a:ext uri="{FF2B5EF4-FFF2-40B4-BE49-F238E27FC236}">
                  <a16:creationId xmlns:a16="http://schemas.microsoft.com/office/drawing/2014/main" id="{21C35EC0-9321-5476-59E5-74A871FC7352}"/>
                </a:ext>
              </a:extLst>
            </p:cNvPr>
            <p:cNvSpPr/>
            <p:nvPr/>
          </p:nvSpPr>
          <p:spPr>
            <a:xfrm>
              <a:off x="487680" y="1119548"/>
              <a:ext cx="2416386" cy="363473"/>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00" b="1">
                  <a:solidFill>
                    <a:schemeClr val="accent6">
                      <a:lumMod val="76000"/>
                    </a:schemeClr>
                  </a:solidFill>
                </a:rPr>
                <a:t>Short-Term (0–3 months)</a:t>
              </a:r>
              <a:endParaRPr lang="en-US" sz="1400">
                <a:solidFill>
                  <a:schemeClr val="accent6">
                    <a:lumMod val="76000"/>
                  </a:schemeClr>
                </a:solidFill>
                <a:ea typeface="Calibri"/>
                <a:cs typeface="Calibri"/>
              </a:endParaRPr>
            </a:p>
          </p:txBody>
        </p:sp>
      </p:grpSp>
      <p:grpSp>
        <p:nvGrpSpPr>
          <p:cNvPr id="67" name="Group 66">
            <a:extLst>
              <a:ext uri="{FF2B5EF4-FFF2-40B4-BE49-F238E27FC236}">
                <a16:creationId xmlns:a16="http://schemas.microsoft.com/office/drawing/2014/main" id="{EDE9DAEC-9ECA-5D9D-B366-058A3D0CE6EE}"/>
              </a:ext>
            </a:extLst>
          </p:cNvPr>
          <p:cNvGrpSpPr/>
          <p:nvPr/>
        </p:nvGrpSpPr>
        <p:grpSpPr>
          <a:xfrm>
            <a:off x="6372013" y="2939880"/>
            <a:ext cx="2564553" cy="363473"/>
            <a:chOff x="487680" y="1119548"/>
            <a:chExt cx="2564553" cy="363473"/>
          </a:xfrm>
        </p:grpSpPr>
        <p:sp>
          <p:nvSpPr>
            <p:cNvPr id="68" name="Shape 8">
              <a:extLst>
                <a:ext uri="{FF2B5EF4-FFF2-40B4-BE49-F238E27FC236}">
                  <a16:creationId xmlns:a16="http://schemas.microsoft.com/office/drawing/2014/main" id="{565EF885-F415-E248-ACCD-9169B362F72C}"/>
                </a:ext>
              </a:extLst>
            </p:cNvPr>
            <p:cNvSpPr/>
            <p:nvPr/>
          </p:nvSpPr>
          <p:spPr>
            <a:xfrm>
              <a:off x="487680" y="1119548"/>
              <a:ext cx="2564553" cy="352889"/>
            </a:xfrm>
            <a:prstGeom prst="rect">
              <a:avLst/>
            </a:prstGeom>
            <a:solidFill>
              <a:srgbClr val="F1F5F9"/>
            </a:solidFill>
            <a:ln w="12700">
              <a:solidFill>
                <a:srgbClr val="E2E8F0"/>
              </a:solidFill>
              <a:prstDash val="solid"/>
            </a:ln>
          </p:spPr>
          <p:txBody>
            <a:bodyPr/>
            <a:lstStyle/>
            <a:p>
              <a:endParaRPr lang="en-SG"/>
            </a:p>
          </p:txBody>
        </p:sp>
        <p:sp>
          <p:nvSpPr>
            <p:cNvPr id="69" name="Text 9">
              <a:extLst>
                <a:ext uri="{FF2B5EF4-FFF2-40B4-BE49-F238E27FC236}">
                  <a16:creationId xmlns:a16="http://schemas.microsoft.com/office/drawing/2014/main" id="{3E48AF78-653D-24FC-A6F8-940A61DFA3B6}"/>
                </a:ext>
              </a:extLst>
            </p:cNvPr>
            <p:cNvSpPr/>
            <p:nvPr/>
          </p:nvSpPr>
          <p:spPr>
            <a:xfrm>
              <a:off x="487680" y="1119548"/>
              <a:ext cx="2416386" cy="363473"/>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00" b="1">
                  <a:solidFill>
                    <a:schemeClr val="accent2"/>
                  </a:solidFill>
                </a:rPr>
                <a:t>Medium-Term (3–6 months)</a:t>
              </a:r>
              <a:endParaRPr lang="en-US" sz="1400">
                <a:solidFill>
                  <a:schemeClr val="accent2"/>
                </a:solidFill>
                <a:ea typeface="Calibri"/>
                <a:cs typeface="Calibri"/>
              </a:endParaRPr>
            </a:p>
          </p:txBody>
        </p:sp>
      </p:grpSp>
      <p:grpSp>
        <p:nvGrpSpPr>
          <p:cNvPr id="70" name="Group 69">
            <a:extLst>
              <a:ext uri="{FF2B5EF4-FFF2-40B4-BE49-F238E27FC236}">
                <a16:creationId xmlns:a16="http://schemas.microsoft.com/office/drawing/2014/main" id="{9DC139D3-71D1-3D0C-B9FB-931AD1C81DB6}"/>
              </a:ext>
            </a:extLst>
          </p:cNvPr>
          <p:cNvGrpSpPr/>
          <p:nvPr/>
        </p:nvGrpSpPr>
        <p:grpSpPr>
          <a:xfrm>
            <a:off x="487679" y="4834296"/>
            <a:ext cx="2564553" cy="363473"/>
            <a:chOff x="487680" y="1119548"/>
            <a:chExt cx="2564553" cy="363473"/>
          </a:xfrm>
        </p:grpSpPr>
        <p:sp>
          <p:nvSpPr>
            <p:cNvPr id="71" name="Shape 8">
              <a:extLst>
                <a:ext uri="{FF2B5EF4-FFF2-40B4-BE49-F238E27FC236}">
                  <a16:creationId xmlns:a16="http://schemas.microsoft.com/office/drawing/2014/main" id="{0139035B-C641-909E-03DC-C2667CAE8195}"/>
                </a:ext>
              </a:extLst>
            </p:cNvPr>
            <p:cNvSpPr/>
            <p:nvPr/>
          </p:nvSpPr>
          <p:spPr>
            <a:xfrm>
              <a:off x="487680" y="1119548"/>
              <a:ext cx="2564553" cy="352889"/>
            </a:xfrm>
            <a:prstGeom prst="rect">
              <a:avLst/>
            </a:prstGeom>
            <a:solidFill>
              <a:srgbClr val="F1F5F9"/>
            </a:solidFill>
            <a:ln w="12700">
              <a:solidFill>
                <a:srgbClr val="E2E8F0"/>
              </a:solidFill>
              <a:prstDash val="solid"/>
            </a:ln>
          </p:spPr>
          <p:txBody>
            <a:bodyPr/>
            <a:lstStyle/>
            <a:p>
              <a:endParaRPr lang="en-SG"/>
            </a:p>
          </p:txBody>
        </p:sp>
        <p:sp>
          <p:nvSpPr>
            <p:cNvPr id="72" name="Text 9">
              <a:extLst>
                <a:ext uri="{FF2B5EF4-FFF2-40B4-BE49-F238E27FC236}">
                  <a16:creationId xmlns:a16="http://schemas.microsoft.com/office/drawing/2014/main" id="{DF1147D8-4036-D2AD-144A-F3D19D59F376}"/>
                </a:ext>
              </a:extLst>
            </p:cNvPr>
            <p:cNvSpPr/>
            <p:nvPr/>
          </p:nvSpPr>
          <p:spPr>
            <a:xfrm>
              <a:off x="487680" y="1119548"/>
              <a:ext cx="2416386" cy="363473"/>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00" b="1">
                  <a:solidFill>
                    <a:schemeClr val="accent2"/>
                  </a:solidFill>
                </a:rPr>
                <a:t>Medium-Term (3–6 months)</a:t>
              </a:r>
              <a:endParaRPr lang="en-US" sz="1400">
                <a:solidFill>
                  <a:schemeClr val="accent2"/>
                </a:solidFill>
                <a:ea typeface="Calibri"/>
                <a:cs typeface="Calibri"/>
              </a:endParaRPr>
            </a:p>
          </p:txBody>
        </p:sp>
      </p:grpSp>
      <p:grpSp>
        <p:nvGrpSpPr>
          <p:cNvPr id="73" name="Group 72">
            <a:extLst>
              <a:ext uri="{FF2B5EF4-FFF2-40B4-BE49-F238E27FC236}">
                <a16:creationId xmlns:a16="http://schemas.microsoft.com/office/drawing/2014/main" id="{63FB2345-4CCC-1935-7714-D65FA356223B}"/>
              </a:ext>
            </a:extLst>
          </p:cNvPr>
          <p:cNvGrpSpPr/>
          <p:nvPr/>
        </p:nvGrpSpPr>
        <p:grpSpPr>
          <a:xfrm>
            <a:off x="6372013" y="4834296"/>
            <a:ext cx="2564553" cy="363473"/>
            <a:chOff x="487680" y="1119548"/>
            <a:chExt cx="2564553" cy="363473"/>
          </a:xfrm>
        </p:grpSpPr>
        <p:sp>
          <p:nvSpPr>
            <p:cNvPr id="74" name="Shape 8">
              <a:extLst>
                <a:ext uri="{FF2B5EF4-FFF2-40B4-BE49-F238E27FC236}">
                  <a16:creationId xmlns:a16="http://schemas.microsoft.com/office/drawing/2014/main" id="{00164112-C211-0BC6-AC0A-DC04439EDF0E}"/>
                </a:ext>
              </a:extLst>
            </p:cNvPr>
            <p:cNvSpPr/>
            <p:nvPr/>
          </p:nvSpPr>
          <p:spPr>
            <a:xfrm>
              <a:off x="487680" y="1119548"/>
              <a:ext cx="2564553" cy="352889"/>
            </a:xfrm>
            <a:prstGeom prst="rect">
              <a:avLst/>
            </a:prstGeom>
            <a:solidFill>
              <a:srgbClr val="F1F5F9"/>
            </a:solidFill>
            <a:ln w="12700">
              <a:solidFill>
                <a:srgbClr val="E2E8F0"/>
              </a:solidFill>
              <a:prstDash val="solid"/>
            </a:ln>
          </p:spPr>
          <p:txBody>
            <a:bodyPr/>
            <a:lstStyle/>
            <a:p>
              <a:endParaRPr lang="en-SG"/>
            </a:p>
          </p:txBody>
        </p:sp>
        <p:sp>
          <p:nvSpPr>
            <p:cNvPr id="75" name="Text 9">
              <a:extLst>
                <a:ext uri="{FF2B5EF4-FFF2-40B4-BE49-F238E27FC236}">
                  <a16:creationId xmlns:a16="http://schemas.microsoft.com/office/drawing/2014/main" id="{39978E69-F894-7D01-E49B-D959863D68BC}"/>
                </a:ext>
              </a:extLst>
            </p:cNvPr>
            <p:cNvSpPr/>
            <p:nvPr/>
          </p:nvSpPr>
          <p:spPr>
            <a:xfrm>
              <a:off x="487680" y="1119548"/>
              <a:ext cx="2416386" cy="363473"/>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00" b="1">
                  <a:solidFill>
                    <a:srgbClr val="FF0000"/>
                  </a:solidFill>
                </a:rPr>
                <a:t>Long-Term (6–9 months)</a:t>
              </a:r>
              <a:endParaRPr lang="en-US" sz="1400">
                <a:solidFill>
                  <a:srgbClr val="FF0000"/>
                </a:solidFill>
                <a:ea typeface="Calibri"/>
                <a:cs typeface="Calibri"/>
              </a:endParaRPr>
            </a:p>
          </p:txBody>
        </p:sp>
      </p:grpSp>
    </p:spTree>
    <p:extLst>
      <p:ext uri="{BB962C8B-B14F-4D97-AF65-F5344CB8AC3E}">
        <p14:creationId xmlns:p14="http://schemas.microsoft.com/office/powerpoint/2010/main" val="217526970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8" name="Shape 6"/>
          <p:cNvSpPr/>
          <p:nvPr/>
        </p:nvSpPr>
        <p:spPr>
          <a:xfrm>
            <a:off x="341376" y="1026160"/>
            <a:ext cx="5608320" cy="1682496"/>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SG"/>
          </a:p>
        </p:txBody>
      </p:sp>
      <p:sp>
        <p:nvSpPr>
          <p:cNvPr id="9" name="Shape 7"/>
          <p:cNvSpPr/>
          <p:nvPr/>
        </p:nvSpPr>
        <p:spPr>
          <a:xfrm>
            <a:off x="341376" y="1026160"/>
            <a:ext cx="85344" cy="1682496"/>
          </a:xfrm>
          <a:prstGeom prst="rect">
            <a:avLst/>
          </a:prstGeom>
          <a:solidFill>
            <a:srgbClr val="2563EB"/>
          </a:solidFill>
          <a:ln w="12700">
            <a:solidFill>
              <a:srgbClr val="2563EB"/>
            </a:solidFill>
            <a:prstDash val="solid"/>
          </a:ln>
        </p:spPr>
        <p:txBody>
          <a:bodyPr/>
          <a:lstStyle/>
          <a:p>
            <a:endParaRPr lang="en-SG"/>
          </a:p>
        </p:txBody>
      </p:sp>
      <p:sp>
        <p:nvSpPr>
          <p:cNvPr id="10" name="Shape 8"/>
          <p:cNvSpPr/>
          <p:nvPr/>
        </p:nvSpPr>
        <p:spPr>
          <a:xfrm>
            <a:off x="426720" y="1026160"/>
            <a:ext cx="5522976" cy="73152"/>
          </a:xfrm>
          <a:prstGeom prst="rect">
            <a:avLst/>
          </a:prstGeom>
          <a:solidFill>
            <a:srgbClr val="2563EB"/>
          </a:solidFill>
          <a:ln w="12700">
            <a:solidFill>
              <a:srgbClr val="2563EB"/>
            </a:solidFill>
            <a:prstDash val="solid"/>
          </a:ln>
        </p:spPr>
        <p:txBody>
          <a:bodyPr/>
          <a:lstStyle/>
          <a:p>
            <a:endParaRPr lang="en-SG"/>
          </a:p>
        </p:txBody>
      </p:sp>
      <p:sp>
        <p:nvSpPr>
          <p:cNvPr id="11" name="Text 9"/>
          <p:cNvSpPr/>
          <p:nvPr/>
        </p:nvSpPr>
        <p:spPr>
          <a:xfrm>
            <a:off x="560832" y="1148080"/>
            <a:ext cx="5242560"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b="1">
                <a:solidFill>
                  <a:srgbClr val="0F172A"/>
                </a:solidFill>
              </a:rPr>
              <a:t>Data quality beats model complexity</a:t>
            </a:r>
            <a:endParaRPr lang="en-US" sz="1600"/>
          </a:p>
        </p:txBody>
      </p:sp>
      <p:sp>
        <p:nvSpPr>
          <p:cNvPr id="12" name="Text 10"/>
          <p:cNvSpPr/>
          <p:nvPr/>
        </p:nvSpPr>
        <p:spPr>
          <a:xfrm>
            <a:off x="560832" y="1574800"/>
            <a:ext cx="5242560" cy="99974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a:solidFill>
                  <a:srgbClr val="334155"/>
                </a:solidFill>
              </a:rPr>
              <a:t>The 31.69% missing description rate was more damaging than any algorithm choice. A mandatory description field at ticket creation outperforms months of model tuning.</a:t>
            </a:r>
            <a:endParaRPr lang="en-US" sz="1400"/>
          </a:p>
        </p:txBody>
      </p:sp>
      <p:sp>
        <p:nvSpPr>
          <p:cNvPr id="13" name="Shape 11"/>
          <p:cNvSpPr/>
          <p:nvPr/>
        </p:nvSpPr>
        <p:spPr>
          <a:xfrm>
            <a:off x="6230112" y="1026160"/>
            <a:ext cx="5608320" cy="1682496"/>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SG"/>
          </a:p>
        </p:txBody>
      </p:sp>
      <p:sp>
        <p:nvSpPr>
          <p:cNvPr id="14" name="Shape 12"/>
          <p:cNvSpPr/>
          <p:nvPr/>
        </p:nvSpPr>
        <p:spPr>
          <a:xfrm>
            <a:off x="6230112" y="1026160"/>
            <a:ext cx="85344" cy="1682496"/>
          </a:xfrm>
          <a:prstGeom prst="rect">
            <a:avLst/>
          </a:prstGeom>
          <a:solidFill>
            <a:srgbClr val="DC2626"/>
          </a:solidFill>
          <a:ln w="12700">
            <a:solidFill>
              <a:srgbClr val="DC2626"/>
            </a:solidFill>
            <a:prstDash val="solid"/>
          </a:ln>
        </p:spPr>
        <p:txBody>
          <a:bodyPr/>
          <a:lstStyle/>
          <a:p>
            <a:endParaRPr lang="en-SG"/>
          </a:p>
        </p:txBody>
      </p:sp>
      <p:sp>
        <p:nvSpPr>
          <p:cNvPr id="15" name="Shape 13"/>
          <p:cNvSpPr/>
          <p:nvPr/>
        </p:nvSpPr>
        <p:spPr>
          <a:xfrm>
            <a:off x="6315456" y="1026160"/>
            <a:ext cx="5522976" cy="73152"/>
          </a:xfrm>
          <a:prstGeom prst="rect">
            <a:avLst/>
          </a:prstGeom>
          <a:solidFill>
            <a:srgbClr val="DC2626"/>
          </a:solidFill>
          <a:ln w="12700">
            <a:solidFill>
              <a:srgbClr val="DC2626"/>
            </a:solidFill>
            <a:prstDash val="solid"/>
          </a:ln>
        </p:spPr>
        <p:txBody>
          <a:bodyPr/>
          <a:lstStyle/>
          <a:p>
            <a:endParaRPr lang="en-SG"/>
          </a:p>
        </p:txBody>
      </p:sp>
      <p:sp>
        <p:nvSpPr>
          <p:cNvPr id="16" name="Text 14"/>
          <p:cNvSpPr/>
          <p:nvPr/>
        </p:nvSpPr>
        <p:spPr>
          <a:xfrm>
            <a:off x="6449568" y="1148080"/>
            <a:ext cx="5242560"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b="1">
                <a:solidFill>
                  <a:srgbClr val="0F172A"/>
                </a:solidFill>
              </a:rPr>
              <a:t>Flat distributions require cost-framing</a:t>
            </a:r>
            <a:endParaRPr lang="en-US" sz="1600"/>
          </a:p>
        </p:txBody>
      </p:sp>
      <p:sp>
        <p:nvSpPr>
          <p:cNvPr id="17" name="Text 15"/>
          <p:cNvSpPr/>
          <p:nvPr/>
        </p:nvSpPr>
        <p:spPr>
          <a:xfrm>
            <a:off x="6449568" y="1574800"/>
            <a:ext cx="5242560" cy="99974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400">
                <a:solidFill>
                  <a:srgbClr val="334155"/>
                </a:solidFill>
                <a:ea typeface="+mn-lt"/>
                <a:cs typeface="+mn-lt"/>
              </a:rPr>
              <a:t>When breach rates are nearly uniform, discrimination metrics such as AUC become less informative. In this setting, recall is the more operationally relevant metric because missing a breach has a higher business cost than generating a false alert.</a:t>
            </a:r>
            <a:endParaRPr lang="en-US">
              <a:ea typeface="+mn-lt"/>
              <a:cs typeface="+mn-lt"/>
            </a:endParaRPr>
          </a:p>
        </p:txBody>
      </p:sp>
      <p:sp>
        <p:nvSpPr>
          <p:cNvPr id="18" name="Shape 16"/>
          <p:cNvSpPr/>
          <p:nvPr/>
        </p:nvSpPr>
        <p:spPr>
          <a:xfrm>
            <a:off x="341376" y="2879344"/>
            <a:ext cx="5608320" cy="1682496"/>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SG"/>
          </a:p>
        </p:txBody>
      </p:sp>
      <p:sp>
        <p:nvSpPr>
          <p:cNvPr id="19" name="Shape 17"/>
          <p:cNvSpPr/>
          <p:nvPr/>
        </p:nvSpPr>
        <p:spPr>
          <a:xfrm>
            <a:off x="341376" y="2879344"/>
            <a:ext cx="85344" cy="1682496"/>
          </a:xfrm>
          <a:prstGeom prst="rect">
            <a:avLst/>
          </a:prstGeom>
          <a:solidFill>
            <a:srgbClr val="0891B2"/>
          </a:solidFill>
          <a:ln w="12700">
            <a:solidFill>
              <a:srgbClr val="0891B2"/>
            </a:solidFill>
            <a:prstDash val="solid"/>
          </a:ln>
        </p:spPr>
        <p:txBody>
          <a:bodyPr/>
          <a:lstStyle/>
          <a:p>
            <a:endParaRPr lang="en-SG"/>
          </a:p>
        </p:txBody>
      </p:sp>
      <p:sp>
        <p:nvSpPr>
          <p:cNvPr id="20" name="Shape 18"/>
          <p:cNvSpPr/>
          <p:nvPr/>
        </p:nvSpPr>
        <p:spPr>
          <a:xfrm>
            <a:off x="426720" y="2879344"/>
            <a:ext cx="5522976" cy="73152"/>
          </a:xfrm>
          <a:prstGeom prst="rect">
            <a:avLst/>
          </a:prstGeom>
          <a:solidFill>
            <a:srgbClr val="0891B2"/>
          </a:solidFill>
          <a:ln w="12700">
            <a:solidFill>
              <a:srgbClr val="0891B2"/>
            </a:solidFill>
            <a:prstDash val="solid"/>
          </a:ln>
        </p:spPr>
        <p:txBody>
          <a:bodyPr/>
          <a:lstStyle/>
          <a:p>
            <a:endParaRPr lang="en-SG"/>
          </a:p>
        </p:txBody>
      </p:sp>
      <p:sp>
        <p:nvSpPr>
          <p:cNvPr id="21" name="Text 19"/>
          <p:cNvSpPr/>
          <p:nvPr/>
        </p:nvSpPr>
        <p:spPr>
          <a:xfrm>
            <a:off x="560832" y="3001264"/>
            <a:ext cx="5242560"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b="1">
                <a:solidFill>
                  <a:srgbClr val="0F172A"/>
                </a:solidFill>
              </a:rPr>
              <a:t>Feature cascade discipline works</a:t>
            </a:r>
            <a:endParaRPr lang="en-US" sz="1600"/>
          </a:p>
        </p:txBody>
      </p:sp>
      <p:sp>
        <p:nvSpPr>
          <p:cNvPr id="22" name="Text 20"/>
          <p:cNvSpPr/>
          <p:nvPr/>
        </p:nvSpPr>
        <p:spPr>
          <a:xfrm>
            <a:off x="560832" y="3427984"/>
            <a:ext cx="5242560" cy="99974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a:solidFill>
                  <a:srgbClr val="334155"/>
                </a:solidFill>
              </a:rPr>
              <a:t>152 features → 5 through rigorous five-stage cascade. Fewer, better features produced a higher C-Index and better interpretability than any kitchen-sink feature set.</a:t>
            </a:r>
            <a:endParaRPr lang="en-US" sz="1400"/>
          </a:p>
        </p:txBody>
      </p:sp>
      <p:sp>
        <p:nvSpPr>
          <p:cNvPr id="23" name="Shape 21"/>
          <p:cNvSpPr/>
          <p:nvPr/>
        </p:nvSpPr>
        <p:spPr>
          <a:xfrm>
            <a:off x="6230112" y="2879344"/>
            <a:ext cx="5608320" cy="1682496"/>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SG"/>
          </a:p>
        </p:txBody>
      </p:sp>
      <p:sp>
        <p:nvSpPr>
          <p:cNvPr id="24" name="Shape 22"/>
          <p:cNvSpPr/>
          <p:nvPr/>
        </p:nvSpPr>
        <p:spPr>
          <a:xfrm>
            <a:off x="6230112" y="2879344"/>
            <a:ext cx="85344" cy="1682496"/>
          </a:xfrm>
          <a:prstGeom prst="rect">
            <a:avLst/>
          </a:prstGeom>
          <a:solidFill>
            <a:srgbClr val="059669"/>
          </a:solidFill>
          <a:ln w="12700">
            <a:solidFill>
              <a:srgbClr val="059669"/>
            </a:solidFill>
            <a:prstDash val="solid"/>
          </a:ln>
        </p:spPr>
        <p:txBody>
          <a:bodyPr/>
          <a:lstStyle/>
          <a:p>
            <a:endParaRPr lang="en-SG"/>
          </a:p>
        </p:txBody>
      </p:sp>
      <p:sp>
        <p:nvSpPr>
          <p:cNvPr id="25" name="Shape 23"/>
          <p:cNvSpPr/>
          <p:nvPr/>
        </p:nvSpPr>
        <p:spPr>
          <a:xfrm>
            <a:off x="6315456" y="2879344"/>
            <a:ext cx="5522976" cy="73152"/>
          </a:xfrm>
          <a:prstGeom prst="rect">
            <a:avLst/>
          </a:prstGeom>
          <a:solidFill>
            <a:srgbClr val="059669"/>
          </a:solidFill>
          <a:ln w="12700">
            <a:solidFill>
              <a:srgbClr val="059669"/>
            </a:solidFill>
            <a:prstDash val="solid"/>
          </a:ln>
        </p:spPr>
        <p:txBody>
          <a:bodyPr/>
          <a:lstStyle/>
          <a:p>
            <a:endParaRPr lang="en-SG"/>
          </a:p>
        </p:txBody>
      </p:sp>
      <p:sp>
        <p:nvSpPr>
          <p:cNvPr id="26" name="Text 24"/>
          <p:cNvSpPr/>
          <p:nvPr/>
        </p:nvSpPr>
        <p:spPr>
          <a:xfrm>
            <a:off x="6449568" y="3001264"/>
            <a:ext cx="5242560"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b="1">
                <a:solidFill>
                  <a:srgbClr val="0F172A"/>
                </a:solidFill>
              </a:rPr>
              <a:t>End-to-end integration reveals hidden dependencies</a:t>
            </a:r>
            <a:endParaRPr lang="en-US" sz="1600"/>
          </a:p>
        </p:txBody>
      </p:sp>
      <p:sp>
        <p:nvSpPr>
          <p:cNvPr id="27" name="Text 25"/>
          <p:cNvSpPr/>
          <p:nvPr/>
        </p:nvSpPr>
        <p:spPr>
          <a:xfrm>
            <a:off x="6449568" y="3427984"/>
            <a:ext cx="5242560" cy="99974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a:solidFill>
                  <a:srgbClr val="334155"/>
                </a:solidFill>
              </a:rPr>
              <a:t>Building a full-stack platform exposed schema drift, null handling across modules, and output format consistency across 15 JSON files — as much work as the models themselves.</a:t>
            </a:r>
            <a:endParaRPr lang="en-US" sz="1400"/>
          </a:p>
        </p:txBody>
      </p:sp>
      <p:sp>
        <p:nvSpPr>
          <p:cNvPr id="28" name="Shape 26"/>
          <p:cNvSpPr/>
          <p:nvPr/>
        </p:nvSpPr>
        <p:spPr>
          <a:xfrm>
            <a:off x="341376" y="4732528"/>
            <a:ext cx="5608320" cy="1682496"/>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SG"/>
          </a:p>
        </p:txBody>
      </p:sp>
      <p:sp>
        <p:nvSpPr>
          <p:cNvPr id="29" name="Shape 27"/>
          <p:cNvSpPr/>
          <p:nvPr/>
        </p:nvSpPr>
        <p:spPr>
          <a:xfrm>
            <a:off x="341376" y="4732528"/>
            <a:ext cx="85344" cy="1682496"/>
          </a:xfrm>
          <a:prstGeom prst="rect">
            <a:avLst/>
          </a:prstGeom>
          <a:solidFill>
            <a:srgbClr val="D97706"/>
          </a:solidFill>
          <a:ln w="12700">
            <a:solidFill>
              <a:srgbClr val="D97706"/>
            </a:solidFill>
            <a:prstDash val="solid"/>
          </a:ln>
        </p:spPr>
        <p:txBody>
          <a:bodyPr/>
          <a:lstStyle/>
          <a:p>
            <a:endParaRPr lang="en-SG"/>
          </a:p>
        </p:txBody>
      </p:sp>
      <p:sp>
        <p:nvSpPr>
          <p:cNvPr id="30" name="Shape 28"/>
          <p:cNvSpPr/>
          <p:nvPr/>
        </p:nvSpPr>
        <p:spPr>
          <a:xfrm>
            <a:off x="426720" y="4732528"/>
            <a:ext cx="5522976" cy="73152"/>
          </a:xfrm>
          <a:prstGeom prst="rect">
            <a:avLst/>
          </a:prstGeom>
          <a:solidFill>
            <a:srgbClr val="D97706"/>
          </a:solidFill>
          <a:ln w="12700">
            <a:solidFill>
              <a:srgbClr val="D97706"/>
            </a:solidFill>
            <a:prstDash val="solid"/>
          </a:ln>
        </p:spPr>
        <p:txBody>
          <a:bodyPr/>
          <a:lstStyle/>
          <a:p>
            <a:endParaRPr lang="en-SG"/>
          </a:p>
        </p:txBody>
      </p:sp>
      <p:sp>
        <p:nvSpPr>
          <p:cNvPr id="31" name="Text 29"/>
          <p:cNvSpPr/>
          <p:nvPr/>
        </p:nvSpPr>
        <p:spPr>
          <a:xfrm>
            <a:off x="560832" y="4854448"/>
            <a:ext cx="5242560"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b="1">
                <a:solidFill>
                  <a:srgbClr val="0F172A"/>
                </a:solidFill>
              </a:rPr>
              <a:t>Sponsor validation changes how you present</a:t>
            </a:r>
            <a:endParaRPr lang="en-US" sz="1600"/>
          </a:p>
        </p:txBody>
      </p:sp>
      <p:sp>
        <p:nvSpPr>
          <p:cNvPr id="32" name="Text 30"/>
          <p:cNvSpPr/>
          <p:nvPr/>
        </p:nvSpPr>
        <p:spPr>
          <a:xfrm>
            <a:off x="560832" y="5281168"/>
            <a:ext cx="5242560" cy="99974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400">
                <a:solidFill>
                  <a:srgbClr val="334155"/>
                </a:solidFill>
                <a:ea typeface="+mn-lt"/>
                <a:cs typeface="+mn-lt"/>
              </a:rPr>
              <a:t>Sponsor validation ensures results are interpreted in the correct operational context. Understanding data limitations is as important as understanding model performance.</a:t>
            </a:r>
            <a:endParaRPr lang="en-US">
              <a:ea typeface="+mn-lt"/>
              <a:cs typeface="+mn-lt"/>
            </a:endParaRPr>
          </a:p>
          <a:p>
            <a:pPr marL="0" indent="0">
              <a:buNone/>
            </a:pPr>
            <a:endParaRPr lang="en-US" sz="1400">
              <a:solidFill>
                <a:srgbClr val="334155"/>
              </a:solidFill>
              <a:ea typeface="Calibri"/>
              <a:cs typeface="Calibri"/>
            </a:endParaRPr>
          </a:p>
        </p:txBody>
      </p:sp>
      <p:sp>
        <p:nvSpPr>
          <p:cNvPr id="33" name="Shape 31"/>
          <p:cNvSpPr/>
          <p:nvPr/>
        </p:nvSpPr>
        <p:spPr>
          <a:xfrm>
            <a:off x="6230112" y="4732528"/>
            <a:ext cx="5608320" cy="1682496"/>
          </a:xfrm>
          <a:prstGeom prst="rect">
            <a:avLst/>
          </a:prstGeom>
          <a:solidFill>
            <a:srgbClr val="FFFFFF"/>
          </a:solidFill>
          <a:ln w="12700">
            <a:solidFill>
              <a:srgbClr val="E2E8F0"/>
            </a:solidFill>
            <a:prstDash val="solid"/>
          </a:ln>
          <a:effectLst>
            <a:outerShdw blurRad="76200" dist="25400" dir="8100000" algn="bl" rotWithShape="0">
              <a:srgbClr val="000000">
                <a:alpha val="8000"/>
              </a:srgbClr>
            </a:outerShdw>
          </a:effectLst>
        </p:spPr>
        <p:txBody>
          <a:bodyPr/>
          <a:lstStyle/>
          <a:p>
            <a:endParaRPr lang="en-SG"/>
          </a:p>
        </p:txBody>
      </p:sp>
      <p:sp>
        <p:nvSpPr>
          <p:cNvPr id="34" name="Shape 32"/>
          <p:cNvSpPr/>
          <p:nvPr/>
        </p:nvSpPr>
        <p:spPr>
          <a:xfrm>
            <a:off x="6230112" y="4732528"/>
            <a:ext cx="85344" cy="1682496"/>
          </a:xfrm>
          <a:prstGeom prst="rect">
            <a:avLst/>
          </a:prstGeom>
          <a:solidFill>
            <a:srgbClr val="1E3A5F"/>
          </a:solidFill>
          <a:ln w="12700">
            <a:solidFill>
              <a:srgbClr val="1E3A5F"/>
            </a:solidFill>
            <a:prstDash val="solid"/>
          </a:ln>
        </p:spPr>
        <p:txBody>
          <a:bodyPr/>
          <a:lstStyle/>
          <a:p>
            <a:endParaRPr lang="en-SG"/>
          </a:p>
        </p:txBody>
      </p:sp>
      <p:sp>
        <p:nvSpPr>
          <p:cNvPr id="35" name="Shape 33"/>
          <p:cNvSpPr/>
          <p:nvPr/>
        </p:nvSpPr>
        <p:spPr>
          <a:xfrm>
            <a:off x="6315456" y="4732528"/>
            <a:ext cx="5522976" cy="73152"/>
          </a:xfrm>
          <a:prstGeom prst="rect">
            <a:avLst/>
          </a:prstGeom>
          <a:solidFill>
            <a:srgbClr val="1E3A5F"/>
          </a:solidFill>
          <a:ln w="12700">
            <a:solidFill>
              <a:srgbClr val="1E3A5F"/>
            </a:solidFill>
            <a:prstDash val="solid"/>
          </a:ln>
        </p:spPr>
        <p:txBody>
          <a:bodyPr/>
          <a:lstStyle/>
          <a:p>
            <a:endParaRPr lang="en-SG"/>
          </a:p>
        </p:txBody>
      </p:sp>
      <p:sp>
        <p:nvSpPr>
          <p:cNvPr id="36" name="Text 34"/>
          <p:cNvSpPr/>
          <p:nvPr/>
        </p:nvSpPr>
        <p:spPr>
          <a:xfrm>
            <a:off x="6449568" y="4854448"/>
            <a:ext cx="5242560"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b="1">
                <a:solidFill>
                  <a:srgbClr val="0F172A"/>
                </a:solidFill>
              </a:rPr>
              <a:t>Own the gap between academic and operational metrics</a:t>
            </a:r>
            <a:endParaRPr lang="en-US" sz="1600"/>
          </a:p>
        </p:txBody>
      </p:sp>
      <p:sp>
        <p:nvSpPr>
          <p:cNvPr id="37" name="Text 35"/>
          <p:cNvSpPr/>
          <p:nvPr/>
        </p:nvSpPr>
        <p:spPr>
          <a:xfrm>
            <a:off x="6449568" y="5281168"/>
            <a:ext cx="5242560" cy="99974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a:solidFill>
                  <a:srgbClr val="334155"/>
                </a:solidFill>
              </a:rPr>
              <a:t>C-Index 98.90% looks impressive. AUC 0.51 looks weak. Both are correct given their data context. Explaining that clearly and pre-emptively is as important as achieving the numbers.</a:t>
            </a:r>
            <a:endParaRPr lang="en-US" sz="1400"/>
          </a:p>
        </p:txBody>
      </p:sp>
      <p:sp>
        <p:nvSpPr>
          <p:cNvPr id="39" name="Rectangle 38">
            <a:extLst>
              <a:ext uri="{FF2B5EF4-FFF2-40B4-BE49-F238E27FC236}">
                <a16:creationId xmlns:a16="http://schemas.microsoft.com/office/drawing/2014/main" id="{803171D9-0D43-145B-DCA6-000240C03D48}"/>
              </a:ext>
            </a:extLst>
          </p:cNvPr>
          <p:cNvSpPr/>
          <p:nvPr/>
        </p:nvSpPr>
        <p:spPr>
          <a:xfrm>
            <a:off x="0" y="0"/>
            <a:ext cx="12191969" cy="859536"/>
          </a:xfrm>
          <a:prstGeom prst="rect">
            <a:avLst/>
          </a:prstGeom>
          <a:solidFill>
            <a:srgbClr val="1E27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1" name="TextBox 40">
            <a:extLst>
              <a:ext uri="{FF2B5EF4-FFF2-40B4-BE49-F238E27FC236}">
                <a16:creationId xmlns:a16="http://schemas.microsoft.com/office/drawing/2014/main" id="{C957A703-FB34-143F-E977-AD7A22D13FDD}"/>
              </a:ext>
            </a:extLst>
          </p:cNvPr>
          <p:cNvSpPr txBox="1"/>
          <p:nvPr/>
        </p:nvSpPr>
        <p:spPr>
          <a:xfrm>
            <a:off x="339142" y="274177"/>
            <a:ext cx="11724186" cy="584284"/>
          </a:xfrm>
          <a:prstGeom prst="rect">
            <a:avLst/>
          </a:prstGeom>
          <a:noFill/>
        </p:spPr>
        <p:txBody>
          <a:bodyPr wrap="square" lIns="91440" tIns="45720" rIns="91440" bIns="45720" anchor="t"/>
          <a:lstStyle/>
          <a:p>
            <a:pPr algn="l">
              <a:defRPr/>
            </a:pPr>
            <a:r>
              <a:rPr lang="en-US" sz="2900" b="1" kern="1200">
                <a:solidFill>
                  <a:srgbClr val="FFFFFF"/>
                </a:solidFill>
                <a:latin typeface="Georgia"/>
                <a:ea typeface="+mn-ea"/>
                <a:cs typeface="+mn-cs"/>
              </a:rPr>
              <a:t>Key Takeaways — What This Project Taught Us</a:t>
            </a:r>
          </a:p>
        </p:txBody>
      </p:sp>
      <p:sp>
        <p:nvSpPr>
          <p:cNvPr id="43" name="TextBox 42">
            <a:extLst>
              <a:ext uri="{FF2B5EF4-FFF2-40B4-BE49-F238E27FC236}">
                <a16:creationId xmlns:a16="http://schemas.microsoft.com/office/drawing/2014/main" id="{FE09C3F9-3156-25A4-485C-69D82351CD37}"/>
              </a:ext>
            </a:extLst>
          </p:cNvPr>
          <p:cNvSpPr txBox="1"/>
          <p:nvPr/>
        </p:nvSpPr>
        <p:spPr>
          <a:xfrm>
            <a:off x="339142" y="40080"/>
            <a:ext cx="8229600" cy="230832"/>
          </a:xfrm>
          <a:prstGeom prst="rect">
            <a:avLst/>
          </a:prstGeom>
          <a:noFill/>
        </p:spPr>
        <p:txBody>
          <a:bodyPr wrap="square" lIns="91440" tIns="45720" rIns="91440" bIns="45720" anchor="t">
            <a:spAutoFit/>
          </a:bodyPr>
          <a:lstStyle/>
          <a:p>
            <a:pPr algn="l">
              <a:defRPr/>
            </a:pPr>
            <a:r>
              <a:rPr lang="en-US" sz="900" kern="1200">
                <a:solidFill>
                  <a:srgbClr val="8AAEC4"/>
                </a:solidFill>
                <a:latin typeface="Trebuchet MS"/>
                <a:ea typeface="+mn-ea"/>
                <a:cs typeface="+mn-cs"/>
              </a:rPr>
              <a:t>Learnings</a:t>
            </a:r>
            <a:endParaRPr lang="en-US">
              <a:ea typeface="+mn-ea"/>
              <a:cs typeface="+mn-cs"/>
            </a:endParaRPr>
          </a:p>
        </p:txBody>
      </p:sp>
    </p:spTree>
    <p:extLst>
      <p:ext uri="{BB962C8B-B14F-4D97-AF65-F5344CB8AC3E}">
        <p14:creationId xmlns:p14="http://schemas.microsoft.com/office/powerpoint/2010/main" val="1074388928"/>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628F3-37B5-8853-3490-F0DAC80AF0A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F30DBDD-3E0D-D326-1089-FF1403D04210}"/>
              </a:ext>
            </a:extLst>
          </p:cNvPr>
          <p:cNvSpPr/>
          <p:nvPr/>
        </p:nvSpPr>
        <p:spPr>
          <a:xfrm>
            <a:off x="0" y="0"/>
            <a:ext cx="12188952" cy="6858000"/>
          </a:xfrm>
          <a:prstGeom prst="rect">
            <a:avLst/>
          </a:prstGeom>
          <a:solidFill>
            <a:srgbClr val="071524"/>
          </a:solidFill>
          <a:ln w="12700">
            <a:solidFill>
              <a:srgbClr val="07152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a:extLst>
              <a:ext uri="{FF2B5EF4-FFF2-40B4-BE49-F238E27FC236}">
                <a16:creationId xmlns:a16="http://schemas.microsoft.com/office/drawing/2014/main" id="{BA88E0D1-5A9E-FBD3-B369-C4E910A32C89}"/>
              </a:ext>
            </a:extLst>
          </p:cNvPr>
          <p:cNvSpPr/>
          <p:nvPr/>
        </p:nvSpPr>
        <p:spPr>
          <a:xfrm>
            <a:off x="0" y="360947"/>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C80D7A89-D090-33C0-8D1D-DEBA0467AF46}"/>
              </a:ext>
            </a:extLst>
          </p:cNvPr>
          <p:cNvSpPr/>
          <p:nvPr/>
        </p:nvSpPr>
        <p:spPr>
          <a:xfrm>
            <a:off x="0" y="721895"/>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3DFB98FA-92CC-5685-0CAE-2CEE71820DD0}"/>
              </a:ext>
            </a:extLst>
          </p:cNvPr>
          <p:cNvSpPr/>
          <p:nvPr/>
        </p:nvSpPr>
        <p:spPr>
          <a:xfrm>
            <a:off x="0" y="1082842"/>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a:extLst>
              <a:ext uri="{FF2B5EF4-FFF2-40B4-BE49-F238E27FC236}">
                <a16:creationId xmlns:a16="http://schemas.microsoft.com/office/drawing/2014/main" id="{302A1C9E-5594-3967-EFC5-2575F371FB3E}"/>
              </a:ext>
            </a:extLst>
          </p:cNvPr>
          <p:cNvSpPr/>
          <p:nvPr/>
        </p:nvSpPr>
        <p:spPr>
          <a:xfrm>
            <a:off x="0" y="1443789"/>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a:extLst>
              <a:ext uri="{FF2B5EF4-FFF2-40B4-BE49-F238E27FC236}">
                <a16:creationId xmlns:a16="http://schemas.microsoft.com/office/drawing/2014/main" id="{6D692690-41D6-600D-EDC0-AB3D555B7DC6}"/>
              </a:ext>
            </a:extLst>
          </p:cNvPr>
          <p:cNvSpPr/>
          <p:nvPr/>
        </p:nvSpPr>
        <p:spPr>
          <a:xfrm>
            <a:off x="0" y="1804737"/>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a:extLst>
              <a:ext uri="{FF2B5EF4-FFF2-40B4-BE49-F238E27FC236}">
                <a16:creationId xmlns:a16="http://schemas.microsoft.com/office/drawing/2014/main" id="{FD233675-2CDD-DECE-0AF1-CD8FF3E9373F}"/>
              </a:ext>
            </a:extLst>
          </p:cNvPr>
          <p:cNvSpPr/>
          <p:nvPr/>
        </p:nvSpPr>
        <p:spPr>
          <a:xfrm>
            <a:off x="0" y="2808621"/>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a:extLst>
              <a:ext uri="{FF2B5EF4-FFF2-40B4-BE49-F238E27FC236}">
                <a16:creationId xmlns:a16="http://schemas.microsoft.com/office/drawing/2014/main" id="{5EB9E11C-185A-36B3-782A-889C4E703D5B}"/>
              </a:ext>
            </a:extLst>
          </p:cNvPr>
          <p:cNvSpPr/>
          <p:nvPr/>
        </p:nvSpPr>
        <p:spPr>
          <a:xfrm>
            <a:off x="0" y="2526632"/>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a:extLst>
              <a:ext uri="{FF2B5EF4-FFF2-40B4-BE49-F238E27FC236}">
                <a16:creationId xmlns:a16="http://schemas.microsoft.com/office/drawing/2014/main" id="{BD6B9046-B12A-43E6-C31A-E3A4ED2C488B}"/>
              </a:ext>
            </a:extLst>
          </p:cNvPr>
          <p:cNvSpPr/>
          <p:nvPr/>
        </p:nvSpPr>
        <p:spPr>
          <a:xfrm>
            <a:off x="0" y="2887579"/>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a:extLst>
              <a:ext uri="{FF2B5EF4-FFF2-40B4-BE49-F238E27FC236}">
                <a16:creationId xmlns:a16="http://schemas.microsoft.com/office/drawing/2014/main" id="{60B22A1F-7868-20E1-00AC-B335C0259E16}"/>
              </a:ext>
            </a:extLst>
          </p:cNvPr>
          <p:cNvSpPr/>
          <p:nvPr/>
        </p:nvSpPr>
        <p:spPr>
          <a:xfrm>
            <a:off x="0" y="3248526"/>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a:extLst>
              <a:ext uri="{FF2B5EF4-FFF2-40B4-BE49-F238E27FC236}">
                <a16:creationId xmlns:a16="http://schemas.microsoft.com/office/drawing/2014/main" id="{D8727F68-7092-5129-BB81-D0196943FC1A}"/>
              </a:ext>
            </a:extLst>
          </p:cNvPr>
          <p:cNvSpPr/>
          <p:nvPr/>
        </p:nvSpPr>
        <p:spPr>
          <a:xfrm>
            <a:off x="0" y="3609474"/>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a:extLst>
              <a:ext uri="{FF2B5EF4-FFF2-40B4-BE49-F238E27FC236}">
                <a16:creationId xmlns:a16="http://schemas.microsoft.com/office/drawing/2014/main" id="{C5825F75-C5C1-7145-6C52-0B2334D9C7A1}"/>
              </a:ext>
            </a:extLst>
          </p:cNvPr>
          <p:cNvSpPr/>
          <p:nvPr/>
        </p:nvSpPr>
        <p:spPr>
          <a:xfrm>
            <a:off x="0" y="3970421"/>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a:extLst>
              <a:ext uri="{FF2B5EF4-FFF2-40B4-BE49-F238E27FC236}">
                <a16:creationId xmlns:a16="http://schemas.microsoft.com/office/drawing/2014/main" id="{AC145E1E-03AB-0748-765A-01FEB8FC529B}"/>
              </a:ext>
            </a:extLst>
          </p:cNvPr>
          <p:cNvSpPr/>
          <p:nvPr/>
        </p:nvSpPr>
        <p:spPr>
          <a:xfrm>
            <a:off x="0" y="4331368"/>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a:extLst>
              <a:ext uri="{FF2B5EF4-FFF2-40B4-BE49-F238E27FC236}">
                <a16:creationId xmlns:a16="http://schemas.microsoft.com/office/drawing/2014/main" id="{1C5A6156-F0FB-DEF8-6F5E-0B8BF537767B}"/>
              </a:ext>
            </a:extLst>
          </p:cNvPr>
          <p:cNvSpPr/>
          <p:nvPr/>
        </p:nvSpPr>
        <p:spPr>
          <a:xfrm>
            <a:off x="0" y="4692316"/>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a:extLst>
              <a:ext uri="{FF2B5EF4-FFF2-40B4-BE49-F238E27FC236}">
                <a16:creationId xmlns:a16="http://schemas.microsoft.com/office/drawing/2014/main" id="{E27C4971-D346-1ED8-84F4-00AD08241B9A}"/>
              </a:ext>
            </a:extLst>
          </p:cNvPr>
          <p:cNvSpPr/>
          <p:nvPr/>
        </p:nvSpPr>
        <p:spPr>
          <a:xfrm>
            <a:off x="0" y="5053263"/>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a:extLst>
              <a:ext uri="{FF2B5EF4-FFF2-40B4-BE49-F238E27FC236}">
                <a16:creationId xmlns:a16="http://schemas.microsoft.com/office/drawing/2014/main" id="{8E9F7CC6-3581-9D80-60DC-129D262818F2}"/>
              </a:ext>
            </a:extLst>
          </p:cNvPr>
          <p:cNvSpPr/>
          <p:nvPr/>
        </p:nvSpPr>
        <p:spPr>
          <a:xfrm>
            <a:off x="0" y="5414211"/>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a:extLst>
              <a:ext uri="{FF2B5EF4-FFF2-40B4-BE49-F238E27FC236}">
                <a16:creationId xmlns:a16="http://schemas.microsoft.com/office/drawing/2014/main" id="{01251A4A-468B-0265-1D54-0655B58DB529}"/>
              </a:ext>
            </a:extLst>
          </p:cNvPr>
          <p:cNvSpPr/>
          <p:nvPr/>
        </p:nvSpPr>
        <p:spPr>
          <a:xfrm>
            <a:off x="0" y="5775158"/>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a:extLst>
              <a:ext uri="{FF2B5EF4-FFF2-40B4-BE49-F238E27FC236}">
                <a16:creationId xmlns:a16="http://schemas.microsoft.com/office/drawing/2014/main" id="{A8E94740-6097-9586-1708-BB4FC17B863C}"/>
              </a:ext>
            </a:extLst>
          </p:cNvPr>
          <p:cNvSpPr/>
          <p:nvPr/>
        </p:nvSpPr>
        <p:spPr>
          <a:xfrm>
            <a:off x="0" y="6136105"/>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a:extLst>
              <a:ext uri="{FF2B5EF4-FFF2-40B4-BE49-F238E27FC236}">
                <a16:creationId xmlns:a16="http://schemas.microsoft.com/office/drawing/2014/main" id="{7F599038-C1D5-4574-D685-ADA78CB3260F}"/>
              </a:ext>
            </a:extLst>
          </p:cNvPr>
          <p:cNvSpPr/>
          <p:nvPr/>
        </p:nvSpPr>
        <p:spPr>
          <a:xfrm>
            <a:off x="0" y="6497053"/>
            <a:ext cx="12188952" cy="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a:extLst>
              <a:ext uri="{FF2B5EF4-FFF2-40B4-BE49-F238E27FC236}">
                <a16:creationId xmlns:a16="http://schemas.microsoft.com/office/drawing/2014/main" id="{D2C1F67E-C7F6-C9D0-8D54-D838F3398E17}"/>
              </a:ext>
            </a:extLst>
          </p:cNvPr>
          <p:cNvSpPr/>
          <p:nvPr/>
        </p:nvSpPr>
        <p:spPr>
          <a:xfrm>
            <a:off x="487558"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a:extLst>
              <a:ext uri="{FF2B5EF4-FFF2-40B4-BE49-F238E27FC236}">
                <a16:creationId xmlns:a16="http://schemas.microsoft.com/office/drawing/2014/main" id="{C08F1866-F465-DB9C-A090-3ABB5D94BA53}"/>
              </a:ext>
            </a:extLst>
          </p:cNvPr>
          <p:cNvSpPr/>
          <p:nvPr/>
        </p:nvSpPr>
        <p:spPr>
          <a:xfrm>
            <a:off x="975116"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a:extLst>
              <a:ext uri="{FF2B5EF4-FFF2-40B4-BE49-F238E27FC236}">
                <a16:creationId xmlns:a16="http://schemas.microsoft.com/office/drawing/2014/main" id="{A688E85E-A19D-126C-2D5A-183242FB0662}"/>
              </a:ext>
            </a:extLst>
          </p:cNvPr>
          <p:cNvSpPr/>
          <p:nvPr/>
        </p:nvSpPr>
        <p:spPr>
          <a:xfrm>
            <a:off x="1462674"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a:extLst>
              <a:ext uri="{FF2B5EF4-FFF2-40B4-BE49-F238E27FC236}">
                <a16:creationId xmlns:a16="http://schemas.microsoft.com/office/drawing/2014/main" id="{B08ADEF6-08B8-5A6B-C3E5-D61260C88E59}"/>
              </a:ext>
            </a:extLst>
          </p:cNvPr>
          <p:cNvSpPr/>
          <p:nvPr/>
        </p:nvSpPr>
        <p:spPr>
          <a:xfrm>
            <a:off x="1950232"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a:extLst>
              <a:ext uri="{FF2B5EF4-FFF2-40B4-BE49-F238E27FC236}">
                <a16:creationId xmlns:a16="http://schemas.microsoft.com/office/drawing/2014/main" id="{1B0D7C04-BDF1-787D-D955-3C36178F5F4A}"/>
              </a:ext>
            </a:extLst>
          </p:cNvPr>
          <p:cNvSpPr/>
          <p:nvPr/>
        </p:nvSpPr>
        <p:spPr>
          <a:xfrm>
            <a:off x="2437790"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4">
            <a:extLst>
              <a:ext uri="{FF2B5EF4-FFF2-40B4-BE49-F238E27FC236}">
                <a16:creationId xmlns:a16="http://schemas.microsoft.com/office/drawing/2014/main" id="{2EEDD242-AB29-11F8-E975-60E8513606A1}"/>
              </a:ext>
            </a:extLst>
          </p:cNvPr>
          <p:cNvSpPr/>
          <p:nvPr/>
        </p:nvSpPr>
        <p:spPr>
          <a:xfrm>
            <a:off x="2925348"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5">
            <a:extLst>
              <a:ext uri="{FF2B5EF4-FFF2-40B4-BE49-F238E27FC236}">
                <a16:creationId xmlns:a16="http://schemas.microsoft.com/office/drawing/2014/main" id="{BCCCF411-6061-20B4-EC66-B0AA960694BF}"/>
              </a:ext>
            </a:extLst>
          </p:cNvPr>
          <p:cNvSpPr/>
          <p:nvPr/>
        </p:nvSpPr>
        <p:spPr>
          <a:xfrm>
            <a:off x="3412907"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6">
            <a:extLst>
              <a:ext uri="{FF2B5EF4-FFF2-40B4-BE49-F238E27FC236}">
                <a16:creationId xmlns:a16="http://schemas.microsoft.com/office/drawing/2014/main" id="{7A4E85B2-C307-E63C-7B72-8E7302DE4811}"/>
              </a:ext>
            </a:extLst>
          </p:cNvPr>
          <p:cNvSpPr/>
          <p:nvPr/>
        </p:nvSpPr>
        <p:spPr>
          <a:xfrm>
            <a:off x="3900465"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7">
            <a:extLst>
              <a:ext uri="{FF2B5EF4-FFF2-40B4-BE49-F238E27FC236}">
                <a16:creationId xmlns:a16="http://schemas.microsoft.com/office/drawing/2014/main" id="{BA8692D1-DDFC-4359-C888-07989F902436}"/>
              </a:ext>
            </a:extLst>
          </p:cNvPr>
          <p:cNvSpPr/>
          <p:nvPr/>
        </p:nvSpPr>
        <p:spPr>
          <a:xfrm>
            <a:off x="4388023"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a:extLst>
              <a:ext uri="{FF2B5EF4-FFF2-40B4-BE49-F238E27FC236}">
                <a16:creationId xmlns:a16="http://schemas.microsoft.com/office/drawing/2014/main" id="{F03C96A8-6737-A2FA-7327-F91948BF6DD3}"/>
              </a:ext>
            </a:extLst>
          </p:cNvPr>
          <p:cNvSpPr/>
          <p:nvPr/>
        </p:nvSpPr>
        <p:spPr>
          <a:xfrm>
            <a:off x="4875581"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9">
            <a:extLst>
              <a:ext uri="{FF2B5EF4-FFF2-40B4-BE49-F238E27FC236}">
                <a16:creationId xmlns:a16="http://schemas.microsoft.com/office/drawing/2014/main" id="{C6E6B20C-5FA2-F5C3-667C-9E669C7D94A6}"/>
              </a:ext>
            </a:extLst>
          </p:cNvPr>
          <p:cNvSpPr/>
          <p:nvPr/>
        </p:nvSpPr>
        <p:spPr>
          <a:xfrm>
            <a:off x="5363139"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30">
            <a:extLst>
              <a:ext uri="{FF2B5EF4-FFF2-40B4-BE49-F238E27FC236}">
                <a16:creationId xmlns:a16="http://schemas.microsoft.com/office/drawing/2014/main" id="{4D8AAF76-DF3F-D20E-64FB-D6C1B613F527}"/>
              </a:ext>
            </a:extLst>
          </p:cNvPr>
          <p:cNvSpPr/>
          <p:nvPr/>
        </p:nvSpPr>
        <p:spPr>
          <a:xfrm>
            <a:off x="5850697"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31">
            <a:extLst>
              <a:ext uri="{FF2B5EF4-FFF2-40B4-BE49-F238E27FC236}">
                <a16:creationId xmlns:a16="http://schemas.microsoft.com/office/drawing/2014/main" id="{5BEACF81-F1C9-74B9-77B6-9BD48CFB58B7}"/>
              </a:ext>
            </a:extLst>
          </p:cNvPr>
          <p:cNvSpPr/>
          <p:nvPr/>
        </p:nvSpPr>
        <p:spPr>
          <a:xfrm>
            <a:off x="6338255"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Shape 32">
            <a:extLst>
              <a:ext uri="{FF2B5EF4-FFF2-40B4-BE49-F238E27FC236}">
                <a16:creationId xmlns:a16="http://schemas.microsoft.com/office/drawing/2014/main" id="{E67A3BC5-5610-926C-73CD-465B10F5E9FA}"/>
              </a:ext>
            </a:extLst>
          </p:cNvPr>
          <p:cNvSpPr/>
          <p:nvPr/>
        </p:nvSpPr>
        <p:spPr>
          <a:xfrm>
            <a:off x="6825813"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Shape 33">
            <a:extLst>
              <a:ext uri="{FF2B5EF4-FFF2-40B4-BE49-F238E27FC236}">
                <a16:creationId xmlns:a16="http://schemas.microsoft.com/office/drawing/2014/main" id="{90C2FF41-72EB-954A-BDBD-032FE8974157}"/>
              </a:ext>
            </a:extLst>
          </p:cNvPr>
          <p:cNvSpPr/>
          <p:nvPr/>
        </p:nvSpPr>
        <p:spPr>
          <a:xfrm>
            <a:off x="7313371"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34">
            <a:extLst>
              <a:ext uri="{FF2B5EF4-FFF2-40B4-BE49-F238E27FC236}">
                <a16:creationId xmlns:a16="http://schemas.microsoft.com/office/drawing/2014/main" id="{8933E6F3-F3F5-B973-7210-07510B717576}"/>
              </a:ext>
            </a:extLst>
          </p:cNvPr>
          <p:cNvSpPr/>
          <p:nvPr/>
        </p:nvSpPr>
        <p:spPr>
          <a:xfrm>
            <a:off x="7800929"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5">
            <a:extLst>
              <a:ext uri="{FF2B5EF4-FFF2-40B4-BE49-F238E27FC236}">
                <a16:creationId xmlns:a16="http://schemas.microsoft.com/office/drawing/2014/main" id="{829B3FC8-955F-405C-A2CC-B4EF9526886D}"/>
              </a:ext>
            </a:extLst>
          </p:cNvPr>
          <p:cNvSpPr/>
          <p:nvPr/>
        </p:nvSpPr>
        <p:spPr>
          <a:xfrm>
            <a:off x="8288487"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6">
            <a:extLst>
              <a:ext uri="{FF2B5EF4-FFF2-40B4-BE49-F238E27FC236}">
                <a16:creationId xmlns:a16="http://schemas.microsoft.com/office/drawing/2014/main" id="{F5AB0DCC-AA25-5DBA-C868-86477D4EBEFB}"/>
              </a:ext>
            </a:extLst>
          </p:cNvPr>
          <p:cNvSpPr/>
          <p:nvPr/>
        </p:nvSpPr>
        <p:spPr>
          <a:xfrm>
            <a:off x="8776045"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Shape 37">
            <a:extLst>
              <a:ext uri="{FF2B5EF4-FFF2-40B4-BE49-F238E27FC236}">
                <a16:creationId xmlns:a16="http://schemas.microsoft.com/office/drawing/2014/main" id="{9B38DC99-E00D-ACB8-7F91-EC4E2CB1AF3F}"/>
              </a:ext>
            </a:extLst>
          </p:cNvPr>
          <p:cNvSpPr/>
          <p:nvPr/>
        </p:nvSpPr>
        <p:spPr>
          <a:xfrm>
            <a:off x="9263604"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Shape 38">
            <a:extLst>
              <a:ext uri="{FF2B5EF4-FFF2-40B4-BE49-F238E27FC236}">
                <a16:creationId xmlns:a16="http://schemas.microsoft.com/office/drawing/2014/main" id="{B0ED07DD-3E5F-4E8B-36D0-9F916D21FB03}"/>
              </a:ext>
            </a:extLst>
          </p:cNvPr>
          <p:cNvSpPr/>
          <p:nvPr/>
        </p:nvSpPr>
        <p:spPr>
          <a:xfrm>
            <a:off x="9751162"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Shape 39">
            <a:extLst>
              <a:ext uri="{FF2B5EF4-FFF2-40B4-BE49-F238E27FC236}">
                <a16:creationId xmlns:a16="http://schemas.microsoft.com/office/drawing/2014/main" id="{86A9F69C-035F-186A-18D8-4BE6D9C408F8}"/>
              </a:ext>
            </a:extLst>
          </p:cNvPr>
          <p:cNvSpPr/>
          <p:nvPr/>
        </p:nvSpPr>
        <p:spPr>
          <a:xfrm>
            <a:off x="10238720"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Shape 40">
            <a:extLst>
              <a:ext uri="{FF2B5EF4-FFF2-40B4-BE49-F238E27FC236}">
                <a16:creationId xmlns:a16="http://schemas.microsoft.com/office/drawing/2014/main" id="{3BE1D806-3F1A-33AA-64D9-B1AE7F649928}"/>
              </a:ext>
            </a:extLst>
          </p:cNvPr>
          <p:cNvSpPr/>
          <p:nvPr/>
        </p:nvSpPr>
        <p:spPr>
          <a:xfrm>
            <a:off x="10726278"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Shape 41">
            <a:extLst>
              <a:ext uri="{FF2B5EF4-FFF2-40B4-BE49-F238E27FC236}">
                <a16:creationId xmlns:a16="http://schemas.microsoft.com/office/drawing/2014/main" id="{680D89BE-1151-5809-53ED-BD969060E004}"/>
              </a:ext>
            </a:extLst>
          </p:cNvPr>
          <p:cNvSpPr/>
          <p:nvPr/>
        </p:nvSpPr>
        <p:spPr>
          <a:xfrm>
            <a:off x="11213836"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Shape 42">
            <a:extLst>
              <a:ext uri="{FF2B5EF4-FFF2-40B4-BE49-F238E27FC236}">
                <a16:creationId xmlns:a16="http://schemas.microsoft.com/office/drawing/2014/main" id="{B9679242-AF47-8C70-952E-DF7E6EFF0844}"/>
              </a:ext>
            </a:extLst>
          </p:cNvPr>
          <p:cNvSpPr/>
          <p:nvPr/>
        </p:nvSpPr>
        <p:spPr>
          <a:xfrm>
            <a:off x="11701394" y="0"/>
            <a:ext cx="0" cy="6858000"/>
          </a:xfrm>
          <a:prstGeom prst="line">
            <a:avLst/>
          </a:prstGeom>
          <a:noFill/>
          <a:ln w="6350">
            <a:solidFill>
              <a:srgbClr val="0C1E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43">
            <a:extLst>
              <a:ext uri="{FF2B5EF4-FFF2-40B4-BE49-F238E27FC236}">
                <a16:creationId xmlns:a16="http://schemas.microsoft.com/office/drawing/2014/main" id="{E7914A08-33C9-8055-728D-CE296F4B503D}"/>
              </a:ext>
            </a:extLst>
          </p:cNvPr>
          <p:cNvSpPr/>
          <p:nvPr/>
        </p:nvSpPr>
        <p:spPr>
          <a:xfrm>
            <a:off x="0" y="0"/>
            <a:ext cx="475488" cy="6858000"/>
          </a:xfrm>
          <a:prstGeom prst="rect">
            <a:avLst/>
          </a:prstGeom>
          <a:solidFill>
            <a:srgbClr val="156082"/>
          </a:solidFill>
          <a:ln w="12700">
            <a:solidFill>
              <a:srgbClr val="15608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Shape 44">
            <a:extLst>
              <a:ext uri="{FF2B5EF4-FFF2-40B4-BE49-F238E27FC236}">
                <a16:creationId xmlns:a16="http://schemas.microsoft.com/office/drawing/2014/main" id="{8194656C-D6EF-E201-AD1E-D145B5A5EA5E}"/>
              </a:ext>
            </a:extLst>
          </p:cNvPr>
          <p:cNvSpPr/>
          <p:nvPr/>
        </p:nvSpPr>
        <p:spPr>
          <a:xfrm>
            <a:off x="475488" y="0"/>
            <a:ext cx="0" cy="6858000"/>
          </a:xfrm>
          <a:prstGeom prst="line">
            <a:avLst/>
          </a:prstGeom>
          <a:noFill/>
          <a:ln w="1905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Shape 45">
            <a:extLst>
              <a:ext uri="{FF2B5EF4-FFF2-40B4-BE49-F238E27FC236}">
                <a16:creationId xmlns:a16="http://schemas.microsoft.com/office/drawing/2014/main" id="{B4143DD7-EA0B-AFA1-747C-8F351CC37390}"/>
              </a:ext>
            </a:extLst>
          </p:cNvPr>
          <p:cNvSpPr/>
          <p:nvPr/>
        </p:nvSpPr>
        <p:spPr>
          <a:xfrm>
            <a:off x="8412480" y="-1371600"/>
            <a:ext cx="6035040" cy="6035040"/>
          </a:xfrm>
          <a:prstGeom prst="ellipse">
            <a:avLst/>
          </a:prstGeom>
          <a:solidFill>
            <a:srgbClr val="071524">
              <a:alpha val="0"/>
            </a:srgbClr>
          </a:solidFill>
          <a:ln w="12700">
            <a:solidFill>
              <a:srgbClr val="0F9ED5">
                <a:alpha val="12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Shape 46">
            <a:extLst>
              <a:ext uri="{FF2B5EF4-FFF2-40B4-BE49-F238E27FC236}">
                <a16:creationId xmlns:a16="http://schemas.microsoft.com/office/drawing/2014/main" id="{69FF98C4-E0F5-C457-1A3B-FBEA4E48F13B}"/>
              </a:ext>
            </a:extLst>
          </p:cNvPr>
          <p:cNvSpPr/>
          <p:nvPr/>
        </p:nvSpPr>
        <p:spPr>
          <a:xfrm>
            <a:off x="9235440" y="-548640"/>
            <a:ext cx="4389120" cy="4389120"/>
          </a:xfrm>
          <a:prstGeom prst="ellipse">
            <a:avLst/>
          </a:prstGeom>
          <a:solidFill>
            <a:srgbClr val="071524">
              <a:alpha val="0"/>
            </a:srgbClr>
          </a:solidFill>
          <a:ln w="12700">
            <a:solidFill>
              <a:srgbClr val="0F9ED5">
                <a:alpha val="22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Shape 47">
            <a:extLst>
              <a:ext uri="{FF2B5EF4-FFF2-40B4-BE49-F238E27FC236}">
                <a16:creationId xmlns:a16="http://schemas.microsoft.com/office/drawing/2014/main" id="{5243168E-B17A-DB80-CFF6-762C6503B7D1}"/>
              </a:ext>
            </a:extLst>
          </p:cNvPr>
          <p:cNvSpPr/>
          <p:nvPr/>
        </p:nvSpPr>
        <p:spPr>
          <a:xfrm>
            <a:off x="10058400" y="274320"/>
            <a:ext cx="2743200" cy="2743200"/>
          </a:xfrm>
          <a:prstGeom prst="ellipse">
            <a:avLst/>
          </a:prstGeom>
          <a:solidFill>
            <a:srgbClr val="071524">
              <a:alpha val="0"/>
            </a:srgbClr>
          </a:solidFill>
          <a:ln w="12700">
            <a:solidFill>
              <a:srgbClr val="0F9ED5">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48">
            <a:extLst>
              <a:ext uri="{FF2B5EF4-FFF2-40B4-BE49-F238E27FC236}">
                <a16:creationId xmlns:a16="http://schemas.microsoft.com/office/drawing/2014/main" id="{07B15617-AC52-505A-2A96-E5BC32DC4DC3}"/>
              </a:ext>
            </a:extLst>
          </p:cNvPr>
          <p:cNvSpPr/>
          <p:nvPr/>
        </p:nvSpPr>
        <p:spPr>
          <a:xfrm>
            <a:off x="10881360" y="1097280"/>
            <a:ext cx="1097280" cy="1097280"/>
          </a:xfrm>
          <a:prstGeom prst="ellipse">
            <a:avLst/>
          </a:prstGeom>
          <a:solidFill>
            <a:srgbClr val="071524">
              <a:alpha val="0"/>
            </a:srgbClr>
          </a:solidFill>
          <a:ln w="12700">
            <a:solidFill>
              <a:srgbClr val="0F9ED5">
                <a:alpha val="5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9">
            <a:extLst>
              <a:ext uri="{FF2B5EF4-FFF2-40B4-BE49-F238E27FC236}">
                <a16:creationId xmlns:a16="http://schemas.microsoft.com/office/drawing/2014/main" id="{F375B743-F1B5-DE35-8A7B-553D99ACF846}"/>
              </a:ext>
            </a:extLst>
          </p:cNvPr>
          <p:cNvSpPr/>
          <p:nvPr/>
        </p:nvSpPr>
        <p:spPr>
          <a:xfrm>
            <a:off x="11292840" y="1508760"/>
            <a:ext cx="274320" cy="274320"/>
          </a:xfrm>
          <a:prstGeom prst="ellipse">
            <a:avLst/>
          </a:prstGeom>
          <a:solidFill>
            <a:srgbClr val="0F9ED5">
              <a:alpha val="60000"/>
            </a:srgbClr>
          </a:solidFill>
          <a:ln w="1270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Shape 50">
            <a:extLst>
              <a:ext uri="{FF2B5EF4-FFF2-40B4-BE49-F238E27FC236}">
                <a16:creationId xmlns:a16="http://schemas.microsoft.com/office/drawing/2014/main" id="{EBD6384B-9ED5-428A-CB6B-C60EADEECF59}"/>
              </a:ext>
            </a:extLst>
          </p:cNvPr>
          <p:cNvSpPr/>
          <p:nvPr/>
        </p:nvSpPr>
        <p:spPr>
          <a:xfrm>
            <a:off x="155448" y="1179576"/>
            <a:ext cx="201168" cy="201168"/>
          </a:xfrm>
          <a:prstGeom prst="ellipse">
            <a:avLst/>
          </a:prstGeom>
          <a:solidFill>
            <a:srgbClr val="E97132"/>
          </a:solidFill>
          <a:ln w="1270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Shape 51">
            <a:extLst>
              <a:ext uri="{FF2B5EF4-FFF2-40B4-BE49-F238E27FC236}">
                <a16:creationId xmlns:a16="http://schemas.microsoft.com/office/drawing/2014/main" id="{7A8A8448-E940-1FE9-4302-00783E516E76}"/>
              </a:ext>
            </a:extLst>
          </p:cNvPr>
          <p:cNvSpPr/>
          <p:nvPr/>
        </p:nvSpPr>
        <p:spPr>
          <a:xfrm>
            <a:off x="155448" y="2002536"/>
            <a:ext cx="201168" cy="201168"/>
          </a:xfrm>
          <a:prstGeom prst="ellipse">
            <a:avLst/>
          </a:prstGeom>
          <a:solidFill>
            <a:srgbClr val="0F9ED5"/>
          </a:solidFill>
          <a:ln w="1270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Shape 52">
            <a:extLst>
              <a:ext uri="{FF2B5EF4-FFF2-40B4-BE49-F238E27FC236}">
                <a16:creationId xmlns:a16="http://schemas.microsoft.com/office/drawing/2014/main" id="{0C8E3C03-A5AF-01CF-BEA3-268BA61E44CC}"/>
              </a:ext>
            </a:extLst>
          </p:cNvPr>
          <p:cNvSpPr/>
          <p:nvPr/>
        </p:nvSpPr>
        <p:spPr>
          <a:xfrm>
            <a:off x="155448" y="2825496"/>
            <a:ext cx="201168" cy="201168"/>
          </a:xfrm>
          <a:prstGeom prst="ellipse">
            <a:avLst/>
          </a:prstGeom>
          <a:solidFill>
            <a:srgbClr val="196B24"/>
          </a:solidFill>
          <a:ln w="12700">
            <a:solidFill>
              <a:srgbClr val="196B2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Shape 53">
            <a:extLst>
              <a:ext uri="{FF2B5EF4-FFF2-40B4-BE49-F238E27FC236}">
                <a16:creationId xmlns:a16="http://schemas.microsoft.com/office/drawing/2014/main" id="{E72BB662-1AFD-4471-2C41-EA2701B1B515}"/>
              </a:ext>
            </a:extLst>
          </p:cNvPr>
          <p:cNvSpPr/>
          <p:nvPr/>
        </p:nvSpPr>
        <p:spPr>
          <a:xfrm>
            <a:off x="155448" y="3648456"/>
            <a:ext cx="201168" cy="201168"/>
          </a:xfrm>
          <a:prstGeom prst="ellipse">
            <a:avLst/>
          </a:prstGeom>
          <a:solidFill>
            <a:srgbClr val="0F9ED5"/>
          </a:solidFill>
          <a:ln w="1270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Shape 54">
            <a:extLst>
              <a:ext uri="{FF2B5EF4-FFF2-40B4-BE49-F238E27FC236}">
                <a16:creationId xmlns:a16="http://schemas.microsoft.com/office/drawing/2014/main" id="{E183D286-8CD9-9283-767E-8A0110540343}"/>
              </a:ext>
            </a:extLst>
          </p:cNvPr>
          <p:cNvSpPr/>
          <p:nvPr/>
        </p:nvSpPr>
        <p:spPr>
          <a:xfrm>
            <a:off x="155448" y="4471416"/>
            <a:ext cx="201168" cy="201168"/>
          </a:xfrm>
          <a:prstGeom prst="ellipse">
            <a:avLst/>
          </a:prstGeom>
          <a:solidFill>
            <a:srgbClr val="E97132"/>
          </a:solidFill>
          <a:ln w="1270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Text 56">
            <a:extLst>
              <a:ext uri="{FF2B5EF4-FFF2-40B4-BE49-F238E27FC236}">
                <a16:creationId xmlns:a16="http://schemas.microsoft.com/office/drawing/2014/main" id="{AE613E19-930A-0C57-1FE5-CFB136DE23BF}"/>
              </a:ext>
            </a:extLst>
          </p:cNvPr>
          <p:cNvSpPr/>
          <p:nvPr/>
        </p:nvSpPr>
        <p:spPr>
          <a:xfrm>
            <a:off x="658368" y="2038635"/>
            <a:ext cx="8778240" cy="731520"/>
          </a:xfrm>
          <a:prstGeom prst="rect">
            <a:avLst/>
          </a:prstGeom>
          <a:noFill/>
          <a:ln/>
        </p:spPr>
        <p:txBody>
          <a:bodyPr wrap="square" lIns="91440" tIns="45720" rIns="91440" bIns="45720" rtlCol="0" anchor="ctr"/>
          <a:lstStyle/>
          <a:p>
            <a:pPr algn="l">
              <a:defRPr/>
            </a:pPr>
            <a:r>
              <a:rPr lang="en-US" sz="5600" b="1" spc="-50">
                <a:solidFill>
                  <a:srgbClr val="FFFFFF"/>
                </a:solidFill>
                <a:latin typeface="Aptos Display"/>
                <a:ea typeface="+mn-ea"/>
                <a:cs typeface="+mn-cs"/>
              </a:rPr>
              <a:t>Thank You</a:t>
            </a:r>
            <a:endParaRPr lang="en-US"/>
          </a:p>
        </p:txBody>
      </p:sp>
      <p:sp>
        <p:nvSpPr>
          <p:cNvPr id="59" name="Text 57">
            <a:extLst>
              <a:ext uri="{FF2B5EF4-FFF2-40B4-BE49-F238E27FC236}">
                <a16:creationId xmlns:a16="http://schemas.microsoft.com/office/drawing/2014/main" id="{E15513EC-BB2C-8FBC-78F4-6F896B2DFFDB}"/>
              </a:ext>
            </a:extLst>
          </p:cNvPr>
          <p:cNvSpPr/>
          <p:nvPr/>
        </p:nvSpPr>
        <p:spPr>
          <a:xfrm>
            <a:off x="658368" y="2051113"/>
            <a:ext cx="8961120" cy="512064"/>
          </a:xfrm>
          <a:prstGeom prst="rect">
            <a:avLst/>
          </a:prstGeom>
          <a:noFill/>
          <a:ln/>
        </p:spPr>
        <p:txBody>
          <a:bodyPr wrap="square"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srgbClr val="0F9ED5"/>
              </a:solidFill>
              <a:effectLst/>
              <a:uLnTx/>
              <a:uFillTx/>
              <a:latin typeface="Calibri" panose="020F0502020204030204"/>
              <a:ea typeface="Calibri"/>
              <a:cs typeface="Calibri"/>
            </a:endParaRPr>
          </a:p>
        </p:txBody>
      </p:sp>
      <p:sp>
        <p:nvSpPr>
          <p:cNvPr id="60" name="Shape 58">
            <a:extLst>
              <a:ext uri="{FF2B5EF4-FFF2-40B4-BE49-F238E27FC236}">
                <a16:creationId xmlns:a16="http://schemas.microsoft.com/office/drawing/2014/main" id="{BC903F30-CB45-1879-8A90-E33CA03DEB5B}"/>
              </a:ext>
            </a:extLst>
          </p:cNvPr>
          <p:cNvSpPr/>
          <p:nvPr/>
        </p:nvSpPr>
        <p:spPr>
          <a:xfrm>
            <a:off x="658368" y="2768155"/>
            <a:ext cx="8229600" cy="0"/>
          </a:xfrm>
          <a:prstGeom prst="line">
            <a:avLst/>
          </a:prstGeom>
          <a:noFill/>
          <a:ln w="3175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62">
            <a:extLst>
              <a:ext uri="{FF2B5EF4-FFF2-40B4-BE49-F238E27FC236}">
                <a16:creationId xmlns:a16="http://schemas.microsoft.com/office/drawing/2014/main" id="{651410E7-F1B7-8938-AE1E-80B30BE1D44D}"/>
              </a:ext>
            </a:extLst>
          </p:cNvPr>
          <p:cNvSpPr/>
          <p:nvPr/>
        </p:nvSpPr>
        <p:spPr>
          <a:xfrm>
            <a:off x="658368" y="2724912"/>
            <a:ext cx="10515600" cy="0"/>
          </a:xfrm>
          <a:prstGeom prst="line">
            <a:avLst/>
          </a:prstGeom>
          <a:noFill/>
          <a:ln w="1016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Shape 66">
            <a:extLst>
              <a:ext uri="{FF2B5EF4-FFF2-40B4-BE49-F238E27FC236}">
                <a16:creationId xmlns:a16="http://schemas.microsoft.com/office/drawing/2014/main" id="{64520A9A-452A-1711-B14C-4698FAA22FF2}"/>
              </a:ext>
            </a:extLst>
          </p:cNvPr>
          <p:cNvSpPr/>
          <p:nvPr/>
        </p:nvSpPr>
        <p:spPr>
          <a:xfrm>
            <a:off x="658368" y="3383280"/>
            <a:ext cx="10515600" cy="0"/>
          </a:xfrm>
          <a:prstGeom prst="line">
            <a:avLst/>
          </a:prstGeom>
          <a:noFill/>
          <a:ln w="1016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Shape 70">
            <a:extLst>
              <a:ext uri="{FF2B5EF4-FFF2-40B4-BE49-F238E27FC236}">
                <a16:creationId xmlns:a16="http://schemas.microsoft.com/office/drawing/2014/main" id="{7E0D1434-0049-443F-04B3-77D5783CA782}"/>
              </a:ext>
            </a:extLst>
          </p:cNvPr>
          <p:cNvSpPr/>
          <p:nvPr/>
        </p:nvSpPr>
        <p:spPr>
          <a:xfrm>
            <a:off x="658368" y="4041648"/>
            <a:ext cx="10515600" cy="0"/>
          </a:xfrm>
          <a:prstGeom prst="line">
            <a:avLst/>
          </a:prstGeom>
          <a:noFill/>
          <a:ln w="1016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Shape 74">
            <a:extLst>
              <a:ext uri="{FF2B5EF4-FFF2-40B4-BE49-F238E27FC236}">
                <a16:creationId xmlns:a16="http://schemas.microsoft.com/office/drawing/2014/main" id="{A5F5DB7A-057D-D27B-D010-BC345A139747}"/>
              </a:ext>
            </a:extLst>
          </p:cNvPr>
          <p:cNvSpPr/>
          <p:nvPr/>
        </p:nvSpPr>
        <p:spPr>
          <a:xfrm>
            <a:off x="475488" y="4956048"/>
            <a:ext cx="11713464" cy="0"/>
          </a:xfrm>
          <a:prstGeom prst="line">
            <a:avLst/>
          </a:prstGeom>
          <a:noFill/>
          <a:ln w="2540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Shape 75">
            <a:extLst>
              <a:ext uri="{FF2B5EF4-FFF2-40B4-BE49-F238E27FC236}">
                <a16:creationId xmlns:a16="http://schemas.microsoft.com/office/drawing/2014/main" id="{2980AE0C-CE7E-2B10-0F70-D50697BE6CC5}"/>
              </a:ext>
            </a:extLst>
          </p:cNvPr>
          <p:cNvSpPr/>
          <p:nvPr/>
        </p:nvSpPr>
        <p:spPr>
          <a:xfrm>
            <a:off x="475488" y="4956048"/>
            <a:ext cx="2928366" cy="1773936"/>
          </a:xfrm>
          <a:prstGeom prst="rect">
            <a:avLst/>
          </a:prstGeom>
          <a:solidFill>
            <a:srgbClr val="0E2841"/>
          </a:solidFill>
          <a:ln w="12700">
            <a:solidFill>
              <a:srgbClr val="0E28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Shape 76">
            <a:extLst>
              <a:ext uri="{FF2B5EF4-FFF2-40B4-BE49-F238E27FC236}">
                <a16:creationId xmlns:a16="http://schemas.microsoft.com/office/drawing/2014/main" id="{6235B6A0-C4B9-5042-84A6-6934191A57D3}"/>
              </a:ext>
            </a:extLst>
          </p:cNvPr>
          <p:cNvSpPr/>
          <p:nvPr/>
        </p:nvSpPr>
        <p:spPr>
          <a:xfrm>
            <a:off x="475488" y="4956048"/>
            <a:ext cx="2928366" cy="50292"/>
          </a:xfrm>
          <a:prstGeom prst="rect">
            <a:avLst/>
          </a:prstGeom>
          <a:solidFill>
            <a:srgbClr val="E97132"/>
          </a:solidFill>
          <a:ln w="12700">
            <a:solidFill>
              <a:srgbClr val="E971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Shape 77">
            <a:extLst>
              <a:ext uri="{FF2B5EF4-FFF2-40B4-BE49-F238E27FC236}">
                <a16:creationId xmlns:a16="http://schemas.microsoft.com/office/drawing/2014/main" id="{36202184-1597-2FD9-59DA-60426BF5E845}"/>
              </a:ext>
            </a:extLst>
          </p:cNvPr>
          <p:cNvSpPr/>
          <p:nvPr/>
        </p:nvSpPr>
        <p:spPr>
          <a:xfrm>
            <a:off x="3403854" y="4956048"/>
            <a:ext cx="0" cy="1773936"/>
          </a:xfrm>
          <a:prstGeom prst="line">
            <a:avLst/>
          </a:prstGeom>
          <a:noFill/>
          <a:ln w="1270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Shape 81">
            <a:extLst>
              <a:ext uri="{FF2B5EF4-FFF2-40B4-BE49-F238E27FC236}">
                <a16:creationId xmlns:a16="http://schemas.microsoft.com/office/drawing/2014/main" id="{A1E202FC-60DE-3883-D4E4-C9F38744073C}"/>
              </a:ext>
            </a:extLst>
          </p:cNvPr>
          <p:cNvSpPr/>
          <p:nvPr/>
        </p:nvSpPr>
        <p:spPr>
          <a:xfrm>
            <a:off x="3403854" y="4956048"/>
            <a:ext cx="2928366" cy="1773936"/>
          </a:xfrm>
          <a:prstGeom prst="rect">
            <a:avLst/>
          </a:prstGeom>
          <a:solidFill>
            <a:srgbClr val="0E2841"/>
          </a:solidFill>
          <a:ln w="12700">
            <a:solidFill>
              <a:srgbClr val="0E28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Shape 82">
            <a:extLst>
              <a:ext uri="{FF2B5EF4-FFF2-40B4-BE49-F238E27FC236}">
                <a16:creationId xmlns:a16="http://schemas.microsoft.com/office/drawing/2014/main" id="{BA4058A2-DF3F-8AD4-2CE6-D69C815E18F3}"/>
              </a:ext>
            </a:extLst>
          </p:cNvPr>
          <p:cNvSpPr/>
          <p:nvPr/>
        </p:nvSpPr>
        <p:spPr>
          <a:xfrm>
            <a:off x="3403854" y="4956048"/>
            <a:ext cx="2928366" cy="50292"/>
          </a:xfrm>
          <a:prstGeom prst="rect">
            <a:avLst/>
          </a:prstGeom>
          <a:solidFill>
            <a:srgbClr val="0F9ED5"/>
          </a:solidFill>
          <a:ln w="12700">
            <a:solidFill>
              <a:srgbClr val="0F9E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Shape 83">
            <a:extLst>
              <a:ext uri="{FF2B5EF4-FFF2-40B4-BE49-F238E27FC236}">
                <a16:creationId xmlns:a16="http://schemas.microsoft.com/office/drawing/2014/main" id="{5B9F96FA-FC9E-4D82-64D6-BDCCF413FBB7}"/>
              </a:ext>
            </a:extLst>
          </p:cNvPr>
          <p:cNvSpPr/>
          <p:nvPr/>
        </p:nvSpPr>
        <p:spPr>
          <a:xfrm>
            <a:off x="6332220" y="4956048"/>
            <a:ext cx="0" cy="1773936"/>
          </a:xfrm>
          <a:prstGeom prst="line">
            <a:avLst/>
          </a:prstGeom>
          <a:noFill/>
          <a:ln w="1270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Shape 87">
            <a:extLst>
              <a:ext uri="{FF2B5EF4-FFF2-40B4-BE49-F238E27FC236}">
                <a16:creationId xmlns:a16="http://schemas.microsoft.com/office/drawing/2014/main" id="{3DB3A125-CF13-7E98-1013-DA6C99B47A26}"/>
              </a:ext>
            </a:extLst>
          </p:cNvPr>
          <p:cNvSpPr/>
          <p:nvPr/>
        </p:nvSpPr>
        <p:spPr>
          <a:xfrm>
            <a:off x="6332220" y="4956048"/>
            <a:ext cx="2928366" cy="1773936"/>
          </a:xfrm>
          <a:prstGeom prst="rect">
            <a:avLst/>
          </a:prstGeom>
          <a:solidFill>
            <a:srgbClr val="0E2841"/>
          </a:solidFill>
          <a:ln w="12700">
            <a:solidFill>
              <a:srgbClr val="0E28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Shape 88">
            <a:extLst>
              <a:ext uri="{FF2B5EF4-FFF2-40B4-BE49-F238E27FC236}">
                <a16:creationId xmlns:a16="http://schemas.microsoft.com/office/drawing/2014/main" id="{B3D9A8E2-FF89-6E9D-A1CC-38F4C5B10A52}"/>
              </a:ext>
            </a:extLst>
          </p:cNvPr>
          <p:cNvSpPr/>
          <p:nvPr/>
        </p:nvSpPr>
        <p:spPr>
          <a:xfrm>
            <a:off x="6332220" y="4956048"/>
            <a:ext cx="2928366" cy="50292"/>
          </a:xfrm>
          <a:prstGeom prst="rect">
            <a:avLst/>
          </a:prstGeom>
          <a:solidFill>
            <a:srgbClr val="196B24"/>
          </a:solidFill>
          <a:ln w="12700">
            <a:solidFill>
              <a:srgbClr val="196B2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Shape 89">
            <a:extLst>
              <a:ext uri="{FF2B5EF4-FFF2-40B4-BE49-F238E27FC236}">
                <a16:creationId xmlns:a16="http://schemas.microsoft.com/office/drawing/2014/main" id="{256C7CE2-FC33-1B25-8D2F-C168D6F048B3}"/>
              </a:ext>
            </a:extLst>
          </p:cNvPr>
          <p:cNvSpPr/>
          <p:nvPr/>
        </p:nvSpPr>
        <p:spPr>
          <a:xfrm>
            <a:off x="9260586" y="4956048"/>
            <a:ext cx="0" cy="1773936"/>
          </a:xfrm>
          <a:prstGeom prst="line">
            <a:avLst/>
          </a:prstGeom>
          <a:noFill/>
          <a:ln w="12700">
            <a:solidFill>
              <a:srgbClr val="0D20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Shape 93">
            <a:extLst>
              <a:ext uri="{FF2B5EF4-FFF2-40B4-BE49-F238E27FC236}">
                <a16:creationId xmlns:a16="http://schemas.microsoft.com/office/drawing/2014/main" id="{796600B1-C6BE-CB04-93BC-AC27EEFB8BBD}"/>
              </a:ext>
            </a:extLst>
          </p:cNvPr>
          <p:cNvSpPr/>
          <p:nvPr/>
        </p:nvSpPr>
        <p:spPr>
          <a:xfrm>
            <a:off x="9260586" y="4956048"/>
            <a:ext cx="2928366" cy="1773936"/>
          </a:xfrm>
          <a:prstGeom prst="rect">
            <a:avLst/>
          </a:prstGeom>
          <a:solidFill>
            <a:srgbClr val="0E2841"/>
          </a:solidFill>
          <a:ln w="12700">
            <a:solidFill>
              <a:srgbClr val="0E28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Shape 94">
            <a:extLst>
              <a:ext uri="{FF2B5EF4-FFF2-40B4-BE49-F238E27FC236}">
                <a16:creationId xmlns:a16="http://schemas.microsoft.com/office/drawing/2014/main" id="{1B8EAF9E-C594-F44E-23EC-22AA2F6490C2}"/>
              </a:ext>
            </a:extLst>
          </p:cNvPr>
          <p:cNvSpPr/>
          <p:nvPr/>
        </p:nvSpPr>
        <p:spPr>
          <a:xfrm>
            <a:off x="9260586" y="4956048"/>
            <a:ext cx="2928366" cy="50292"/>
          </a:xfrm>
          <a:prstGeom prst="rect">
            <a:avLst/>
          </a:prstGeom>
          <a:solidFill>
            <a:srgbClr val="8BAFC4"/>
          </a:solidFill>
          <a:ln w="12700">
            <a:solidFill>
              <a:srgbClr val="8BAFC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39021361"/>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34</Slides>
  <Notes>21</Notes>
  <HiddenSlides>0</HiddenSlides>
  <ScaleCrop>false</ScaleCrop>
  <HeadingPairs>
    <vt:vector size="4" baseType="variant">
      <vt:variant>
        <vt:lpstr>Theme</vt:lpstr>
      </vt:variant>
      <vt:variant>
        <vt:i4>3</vt:i4>
      </vt:variant>
      <vt:variant>
        <vt:lpstr>Slide Titles</vt:lpstr>
      </vt:variant>
      <vt:variant>
        <vt:i4>34</vt:i4>
      </vt:variant>
    </vt:vector>
  </HeadingPairs>
  <TitlesOfParts>
    <vt:vector size="37" baseType="lpstr">
      <vt:lpstr>Office Theme</vt:lpstr>
      <vt:lpstr>1_Office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Objective: to predict Assets with Client that are going to fail in next lead-time window</vt:lpstr>
      <vt:lpstr>Objective: to predict Assets with Client that are going to fail in next lead-time window</vt:lpstr>
      <vt:lpstr>PowerPoint Presentation</vt:lpstr>
      <vt:lpstr>Objective : Based on the predicted failure from Survival Model get a Units to Order to keep the min Inventory level needed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4</cp:revision>
  <dcterms:created xsi:type="dcterms:W3CDTF">2026-05-22T15:21:00Z</dcterms:created>
  <dcterms:modified xsi:type="dcterms:W3CDTF">2026-05-31T06:19:28Z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2026-04-10T00:00:00Z</vt:filetime>
  </property>
  <property fmtid="{D5CDD505-2E9C-101B-9397-08002B2CF9AE}" pid="4" name="LastSaved">
    <vt:filetime>2026-05-22T00:00:00Z</vt:filetime>
  </property>
</Properties>
</file>